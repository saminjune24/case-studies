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6858000" cx="12192000"/>
  <p:notesSz cx="6858000" cy="9144000"/>
  <p:embeddedFontLst>
    <p:embeddedFont>
      <p:font typeface="Robo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72">
          <p15:clr>
            <a:srgbClr val="A4A3A4"/>
          </p15:clr>
        </p15:guide>
        <p15:guide id="2" pos="3504">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34" roundtripDataSignature="AMtx7mgwjc9+7yV75dMVzxepHZjsivPjP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Kevin Shi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0D0F28-333F-405D-B1C5-C04AB20D663B}">
  <a:tblStyle styleId="{BE0D0F28-333F-405D-B1C5-C04AB20D663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72" orient="horz"/>
        <p:guide pos="3504"/>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4.xml"/><Relationship Id="rId33" Type="http://schemas.openxmlformats.org/officeDocument/2006/relationships/font" Target="fonts/Roboto-boldItalic.fntdata"/><Relationship Id="rId10" Type="http://schemas.openxmlformats.org/officeDocument/2006/relationships/slide" Target="slides/slide3.xml"/><Relationship Id="rId32" Type="http://schemas.openxmlformats.org/officeDocument/2006/relationships/font" Target="fonts/Roboto-italic.fntdata"/><Relationship Id="rId13" Type="http://schemas.openxmlformats.org/officeDocument/2006/relationships/slide" Target="slides/slide6.xml"/><Relationship Id="rId12" Type="http://schemas.openxmlformats.org/officeDocument/2006/relationships/slide" Target="slides/slide5.xml"/><Relationship Id="rId34" Type="http://customschemas.google.com/relationships/presentationmetadata" Target="meta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2-09T14:00:33.862">
    <p:pos x="6000" y="0"/>
    <p:text>Added a potential slide for explaining the various options for digital trust initiatives.</p:text>
    <p:extLst>
      <p:ext uri="{C676402C-5697-4E1C-873F-D02D1690AC5C}">
        <p15:threadingInfo timeZoneBias="0"/>
      </p:ext>
      <p:ext uri="http://customooxmlschemas.google.com/">
        <go:slidesCustomData xmlns:go="http://customooxmlschemas.google.com/" commentPostId="AAABcLt1zZo"/>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2-07T22:41:31.704">
    <p:pos x="6000" y="0"/>
    <p:text>Added a potential step of hiring a CSO</p:text>
    <p:extLst>
      <p:ext uri="{C676402C-5697-4E1C-873F-D02D1690AC5C}">
        <p15:threadingInfo timeZoneBias="0"/>
      </p:ext>
      <p:ext uri="http://customooxmlschemas.google.com/">
        <go:slidesCustomData xmlns:go="http://customooxmlschemas.google.com/" commentPostId="AAABcLt1zZ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d8e13a7dad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2d8e13a7dad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g2d8e13a7dad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2f95645efb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2f95645efb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O</a:t>
            </a:r>
            <a:r>
              <a:rPr lang="en-US"/>
              <a:t>ne of the largest health providers in US. Heavily regulated industry with a complex stakeholder structure: patients, physicians [associations, unions], regulators, shareholders, etc.</a:t>
            </a:r>
            <a:endParaRPr/>
          </a:p>
          <a:p>
            <a:pPr indent="0" lvl="0" marL="0" rtl="0" algn="l">
              <a:spcBef>
                <a:spcPts val="0"/>
              </a:spcBef>
              <a:spcAft>
                <a:spcPts val="0"/>
              </a:spcAft>
              <a:buNone/>
            </a:pPr>
            <a:r>
              <a:t/>
            </a:r>
            <a:endParaRPr/>
          </a:p>
        </p:txBody>
      </p:sp>
      <p:sp>
        <p:nvSpPr>
          <p:cNvPr id="107" name="Google Shape;107;g32f95645efb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303852d907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303852d907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Industry undergoes a “perfect storm”: call for higher affordability and </a:t>
            </a:r>
            <a:r>
              <a:rPr lang="en-US"/>
              <a:t>shift</a:t>
            </a:r>
            <a:r>
              <a:rPr lang="en-US"/>
              <a:t> in patient needs (aging population, preventive and off-site care), cost inflation and labor shortage, pressure from public markets.</a:t>
            </a:r>
            <a:endParaRPr/>
          </a:p>
          <a:p>
            <a:pPr indent="0" lvl="0" marL="0" rtl="0" algn="l">
              <a:spcBef>
                <a:spcPts val="0"/>
              </a:spcBef>
              <a:spcAft>
                <a:spcPts val="0"/>
              </a:spcAft>
              <a:buNone/>
            </a:pPr>
            <a:r>
              <a:rPr lang="en-US"/>
              <a:t>AI is considered as a likely solution, but it rises new data governance and ethical issues</a:t>
            </a:r>
            <a:endParaRPr/>
          </a:p>
        </p:txBody>
      </p:sp>
      <p:sp>
        <p:nvSpPr>
          <p:cNvPr id="130" name="Google Shape;130;g3303852d907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US"/>
              <a:t>Self-</a:t>
            </a:r>
            <a:r>
              <a:rPr lang="en-US"/>
              <a:t>explanatory</a:t>
            </a:r>
            <a:endParaRPr/>
          </a:p>
        </p:txBody>
      </p:sp>
      <p:sp>
        <p:nvSpPr>
          <p:cNvPr id="139" name="Google Shape;1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f95645ef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32f95645ef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2f95645ef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d8e13a7dad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d8e13a7dad_0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Step 1: </a:t>
            </a:r>
            <a:r>
              <a:rPr lang="en-US"/>
              <a:t>assess</a:t>
            </a:r>
            <a:r>
              <a:rPr lang="en-US"/>
              <a:t> </a:t>
            </a:r>
            <a:r>
              <a:rPr lang="en-US"/>
              <a:t>current practices, as is - before rollout of digital and AI transformation. Conduct interviews and benchmark against best practices and regulation.</a:t>
            </a:r>
            <a:endParaRPr/>
          </a:p>
          <a:p>
            <a:pPr indent="0" lvl="0" marL="0" rtl="0" algn="l">
              <a:spcBef>
                <a:spcPts val="0"/>
              </a:spcBef>
              <a:spcAft>
                <a:spcPts val="0"/>
              </a:spcAft>
              <a:buNone/>
            </a:pPr>
            <a:r>
              <a:t/>
            </a:r>
            <a:endParaRPr/>
          </a:p>
        </p:txBody>
      </p:sp>
      <p:sp>
        <p:nvSpPr>
          <p:cNvPr id="157" name="Google Shape;157;g2d8e13a7dad_0_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d8e13a7dad_0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d8e13a7dad_0_2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No </a:t>
            </a:r>
            <a:r>
              <a:rPr lang="en-US"/>
              <a:t>comments</a:t>
            </a:r>
            <a:r>
              <a:rPr lang="en-US"/>
              <a:t>, just read key </a:t>
            </a:r>
            <a:r>
              <a:rPr lang="en-US"/>
              <a:t>elements</a:t>
            </a:r>
            <a:r>
              <a:rPr lang="en-US"/>
              <a:t> aloud :)</a:t>
            </a:r>
            <a:endParaRPr/>
          </a:p>
        </p:txBody>
      </p:sp>
      <p:sp>
        <p:nvSpPr>
          <p:cNvPr id="167" name="Google Shape;167;g2d8e13a7dad_0_2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d8e13a7dad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d8e13a7dad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company is compliant with existing regulation, but certain improvements are needed align with rollout of AI and </a:t>
            </a:r>
            <a:r>
              <a:rPr lang="en-US"/>
              <a:t>digital</a:t>
            </a:r>
            <a:r>
              <a:rPr lang="en-US"/>
              <a:t> transformation of the business.</a:t>
            </a:r>
            <a:endParaRPr/>
          </a:p>
        </p:txBody>
      </p:sp>
      <p:sp>
        <p:nvSpPr>
          <p:cNvPr id="176" name="Google Shape;176;g2d8e13a7dad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Digital trust roadmap </a:t>
            </a:r>
            <a:r>
              <a:rPr lang="en-US"/>
              <a:t>should</a:t>
            </a:r>
            <a:r>
              <a:rPr lang="en-US"/>
              <a:t> be aligned </a:t>
            </a:r>
            <a:r>
              <a:rPr lang="en-US"/>
              <a:t>with</a:t>
            </a:r>
            <a:r>
              <a:rPr lang="en-US"/>
              <a:t> </a:t>
            </a:r>
            <a:r>
              <a:rPr lang="en-US"/>
              <a:t>rollout of AI and digital transformation of the business. It’s critical to map relevant actions and milestones of those two tracks.</a:t>
            </a:r>
            <a:endParaRPr/>
          </a:p>
        </p:txBody>
      </p:sp>
      <p:sp>
        <p:nvSpPr>
          <p:cNvPr id="186" name="Google Shape;18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d8e13a7dad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2d8e13a7dad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g2d8e13a7dad_0_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Aside from the traditional digital trust model, two alternative models include the non-invasive data governance and zero trust models. The non-invasive </a:t>
            </a:r>
            <a:r>
              <a:rPr lang="en-US"/>
              <a:t>data governance model is in response to the authoritarian, top-down nature of the traditional model. For this model, data stewardship is key. The responsibilities of the data steward are identified and recognized according to their existing responsibilities, rather than being assigned to as additional work. However, a more conservative approach would be the zero trust model, which is what we are proposing.</a:t>
            </a:r>
            <a:endParaRPr/>
          </a:p>
        </p:txBody>
      </p:sp>
      <p:sp>
        <p:nvSpPr>
          <p:cNvPr id="212" name="Google Shape;2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d8e13a7dad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2d8e13a7dad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purpose of the zero trust model is for organizations to not trust anything. More specifically, requiring all users that are inside or outside of the organization to be authenticated and authorized before being granted access to applications and data. For a company like CHS that has highly confidential patient data, it is crucial to take the most conservative approach to ensure protection and mitigate cyber or ransomware threats.</a:t>
            </a:r>
            <a:endParaRPr/>
          </a:p>
        </p:txBody>
      </p:sp>
      <p:sp>
        <p:nvSpPr>
          <p:cNvPr id="221" name="Google Shape;221;g2d8e13a7dad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d8e13a7dad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2d8e13a7dad_0_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Some advantages of a zero trust model include the company-wide usage of multi-factor authentication to access any accounts, microsegmentation of the data systems, and using AI to detect cyber threats in real time.</a:t>
            </a:r>
            <a:endParaRPr/>
          </a:p>
        </p:txBody>
      </p:sp>
      <p:sp>
        <p:nvSpPr>
          <p:cNvPr id="231" name="Google Shape;231;g2d8e13a7dad_0_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d8e13a7dad_0_2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2d8e13a7dad_0_2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Looking at the cost benefit analysis of implementing a zero trust </a:t>
            </a:r>
            <a:r>
              <a:rPr lang="en-US"/>
              <a:t>model</a:t>
            </a:r>
            <a:r>
              <a:rPr lang="en-US"/>
              <a:t>, you can see that data breaches and security incidents are significantly reduced due to the strict security. The usage of AI becomes more apparent as </a:t>
            </a:r>
            <a:r>
              <a:rPr lang="en-US"/>
              <a:t>mentioned</a:t>
            </a:r>
            <a:r>
              <a:rPr lang="en-US"/>
              <a:t> with the threat detection. Finally, the return on investment becomes more guaranteed as the company is less susceptible to breach costs.</a:t>
            </a:r>
            <a:endParaRPr/>
          </a:p>
        </p:txBody>
      </p:sp>
      <p:sp>
        <p:nvSpPr>
          <p:cNvPr id="245" name="Google Shape;245;g2d8e13a7dad_0_2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d8e13a7dad_0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g2d8e13a7dad_0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a:t>The zero trust model does come with some challenges however. For example, the employees may be skeptical about the more conservative protocols. A solution for this would be to provide training programs, display support from executives, and provide clear communication about the benefits of zero trust. Another challenge may be multi factor authentication causing slower workflows. A solution for this would be to implement adaptive authentication to balance security with user experience. Integrating zero trust may be complex for legacy </a:t>
            </a:r>
            <a:r>
              <a:rPr lang="en-US"/>
              <a:t>system as it can be resource intensive. It is important to implement using a phased approach beginning with the areas with the highest risks and gradually expanding. Finally, there may be concerns of zero trust being too expensive. As mentioned before, the improved ROI becomes more guaranteed as breaches get reduced.</a:t>
            </a:r>
            <a:endParaRPr/>
          </a:p>
        </p:txBody>
      </p:sp>
      <p:sp>
        <p:nvSpPr>
          <p:cNvPr id="254" name="Google Shape;254;g2d8e13a7dad_0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d8e13a7dad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2d8e13a7dad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our 5 step plan to implement zero trust within the organization. We begin by requiring multi factor authentication to all employees for secure identity verification. We then restrict data access based on job roles. Perform network segmentation by isolating security zones to prevent breaches. Going forward, grant data access only to those that have a valid business case. Finally, we will have continuous monitoring using AI to detect and stop threats in real time.</a:t>
            </a:r>
            <a:endParaRPr/>
          </a:p>
        </p:txBody>
      </p:sp>
      <p:sp>
        <p:nvSpPr>
          <p:cNvPr id="263" name="Google Shape;263;g2d8e13a7dad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d8e13a7dad_0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2d8e13a7dad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estimate </a:t>
            </a:r>
            <a:r>
              <a:rPr lang="en-US"/>
              <a:t>implementation</a:t>
            </a:r>
            <a:r>
              <a:rPr lang="en-US"/>
              <a:t> to be completed in about 18 months. Phase 1, which occurs within the first 3 to 6 months, includes defining policies and conducting security risk assessments. Phase 2, which is within the 6 to 12 month range, includes implementing multi factor authentication and AI monitoring systems. Finally, phase 3 will show the organization having implemented zero trust across all clinical operations.</a:t>
            </a:r>
            <a:endParaRPr/>
          </a:p>
        </p:txBody>
      </p:sp>
      <p:sp>
        <p:nvSpPr>
          <p:cNvPr id="272" name="Google Shape;272;g2d8e13a7dad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d8e13a7dad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2d8e13a7dad_0_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the zero trust model has been implemented organization-wide, we recommend a few more actions that can further strengthen the organization. Launching an AI education program for the patients and clinicians, so they can better understand the advancements in the field. Using AI for real time threat monitoring. Measure KPIs to continue to see if zero trust is working and digital trust is being achieved. Finally, hire a Chief Security Officer to allow the organization to have more trust in leadership and get an objective view of public trust.</a:t>
            </a:r>
            <a:endParaRPr/>
          </a:p>
        </p:txBody>
      </p:sp>
      <p:sp>
        <p:nvSpPr>
          <p:cNvPr id="292" name="Google Shape;292;g2d8e13a7dad_0_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d8e13a7dad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2d8e13a7dad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g2d8e13a7dad_0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d8ec65fa7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2d8ec65fa7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g2d8ec65fa7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d8e13a7dad_0_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2d8e13a7dad_0_1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g2d8e13a7dad_0_1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3" name="Shape 13"/>
        <p:cNvGrpSpPr/>
        <p:nvPr/>
      </p:nvGrpSpPr>
      <p:grpSpPr>
        <a:xfrm>
          <a:off x="0" y="0"/>
          <a:ext cx="0" cy="0"/>
          <a:chOff x="0" y="0"/>
          <a:chExt cx="0" cy="0"/>
        </a:xfrm>
      </p:grpSpPr>
      <p:grpSp>
        <p:nvGrpSpPr>
          <p:cNvPr id="14" name="Google Shape;14;g32f76dadf62_0_265"/>
          <p:cNvGrpSpPr/>
          <p:nvPr/>
        </p:nvGrpSpPr>
        <p:grpSpPr>
          <a:xfrm>
            <a:off x="8130968" y="7"/>
            <a:ext cx="4060732" cy="2707359"/>
            <a:chOff x="6098378" y="5"/>
            <a:chExt cx="3045625" cy="2030570"/>
          </a:xfrm>
        </p:grpSpPr>
        <p:sp>
          <p:nvSpPr>
            <p:cNvPr id="15" name="Google Shape;15;g32f76dadf62_0_265"/>
            <p:cNvSpPr/>
            <p:nvPr/>
          </p:nvSpPr>
          <p:spPr>
            <a:xfrm>
              <a:off x="8128803" y="16"/>
              <a:ext cx="1015200" cy="10152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 name="Google Shape;16;g32f76dadf62_0_265"/>
            <p:cNvSpPr/>
            <p:nvPr/>
          </p:nvSpPr>
          <p:spPr>
            <a:xfrm flipH="1">
              <a:off x="7113463" y="5"/>
              <a:ext cx="1015200" cy="1015200"/>
            </a:xfrm>
            <a:prstGeom prst="rtTriangle">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 name="Google Shape;17;g32f76dadf62_0_265"/>
            <p:cNvSpPr/>
            <p:nvPr/>
          </p:nvSpPr>
          <p:spPr>
            <a:xfrm flipH="1" rot="10800000">
              <a:off x="7113588" y="107"/>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 name="Google Shape;18;g32f76dadf62_0_265"/>
            <p:cNvSpPr/>
            <p:nvPr/>
          </p:nvSpPr>
          <p:spPr>
            <a:xfrm rot="10800000">
              <a:off x="6098378" y="97"/>
              <a:ext cx="1015200" cy="1015200"/>
            </a:xfrm>
            <a:prstGeom prst="rtTriangle">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 name="Google Shape;19;g32f76dadf62_0_265"/>
            <p:cNvSpPr/>
            <p:nvPr/>
          </p:nvSpPr>
          <p:spPr>
            <a:xfrm rot="10800000">
              <a:off x="8128789" y="1015375"/>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0" name="Google Shape;20;g32f76dadf62_0_265"/>
          <p:cNvSpPr txBox="1"/>
          <p:nvPr>
            <p:ph type="ctrTitle"/>
          </p:nvPr>
        </p:nvSpPr>
        <p:spPr>
          <a:xfrm>
            <a:off x="797467" y="2366963"/>
            <a:ext cx="10962900" cy="11184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5600"/>
              <a:buNone/>
              <a:defRPr sz="5600">
                <a:solidFill>
                  <a:schemeClr val="lt1"/>
                </a:solidFill>
              </a:defRPr>
            </a:lvl1pPr>
            <a:lvl2pPr lvl="1">
              <a:spcBef>
                <a:spcPts val="0"/>
              </a:spcBef>
              <a:spcAft>
                <a:spcPts val="0"/>
              </a:spcAft>
              <a:buClr>
                <a:schemeClr val="lt1"/>
              </a:buClr>
              <a:buSzPts val="5600"/>
              <a:buNone/>
              <a:defRPr sz="5600">
                <a:solidFill>
                  <a:schemeClr val="lt1"/>
                </a:solidFill>
              </a:defRPr>
            </a:lvl2pPr>
            <a:lvl3pPr lvl="2">
              <a:spcBef>
                <a:spcPts val="0"/>
              </a:spcBef>
              <a:spcAft>
                <a:spcPts val="0"/>
              </a:spcAft>
              <a:buClr>
                <a:schemeClr val="lt1"/>
              </a:buClr>
              <a:buSzPts val="5600"/>
              <a:buNone/>
              <a:defRPr sz="5600">
                <a:solidFill>
                  <a:schemeClr val="lt1"/>
                </a:solidFill>
              </a:defRPr>
            </a:lvl3pPr>
            <a:lvl4pPr lvl="3">
              <a:spcBef>
                <a:spcPts val="0"/>
              </a:spcBef>
              <a:spcAft>
                <a:spcPts val="0"/>
              </a:spcAft>
              <a:buClr>
                <a:schemeClr val="lt1"/>
              </a:buClr>
              <a:buSzPts val="5600"/>
              <a:buNone/>
              <a:defRPr sz="5600">
                <a:solidFill>
                  <a:schemeClr val="lt1"/>
                </a:solidFill>
              </a:defRPr>
            </a:lvl4pPr>
            <a:lvl5pPr lvl="4">
              <a:spcBef>
                <a:spcPts val="0"/>
              </a:spcBef>
              <a:spcAft>
                <a:spcPts val="0"/>
              </a:spcAft>
              <a:buClr>
                <a:schemeClr val="lt1"/>
              </a:buClr>
              <a:buSzPts val="5600"/>
              <a:buNone/>
              <a:defRPr sz="5600">
                <a:solidFill>
                  <a:schemeClr val="lt1"/>
                </a:solidFill>
              </a:defRPr>
            </a:lvl5pPr>
            <a:lvl6pPr lvl="5">
              <a:spcBef>
                <a:spcPts val="0"/>
              </a:spcBef>
              <a:spcAft>
                <a:spcPts val="0"/>
              </a:spcAft>
              <a:buClr>
                <a:schemeClr val="lt1"/>
              </a:buClr>
              <a:buSzPts val="5600"/>
              <a:buNone/>
              <a:defRPr sz="5600">
                <a:solidFill>
                  <a:schemeClr val="lt1"/>
                </a:solidFill>
              </a:defRPr>
            </a:lvl6pPr>
            <a:lvl7pPr lvl="6">
              <a:spcBef>
                <a:spcPts val="0"/>
              </a:spcBef>
              <a:spcAft>
                <a:spcPts val="0"/>
              </a:spcAft>
              <a:buClr>
                <a:schemeClr val="lt1"/>
              </a:buClr>
              <a:buSzPts val="5600"/>
              <a:buNone/>
              <a:defRPr sz="5600">
                <a:solidFill>
                  <a:schemeClr val="lt1"/>
                </a:solidFill>
              </a:defRPr>
            </a:lvl7pPr>
            <a:lvl8pPr lvl="7">
              <a:spcBef>
                <a:spcPts val="0"/>
              </a:spcBef>
              <a:spcAft>
                <a:spcPts val="0"/>
              </a:spcAft>
              <a:buClr>
                <a:schemeClr val="lt1"/>
              </a:buClr>
              <a:buSzPts val="5600"/>
              <a:buNone/>
              <a:defRPr sz="5600">
                <a:solidFill>
                  <a:schemeClr val="lt1"/>
                </a:solidFill>
              </a:defRPr>
            </a:lvl8pPr>
            <a:lvl9pPr lvl="8">
              <a:spcBef>
                <a:spcPts val="0"/>
              </a:spcBef>
              <a:spcAft>
                <a:spcPts val="0"/>
              </a:spcAft>
              <a:buClr>
                <a:schemeClr val="lt1"/>
              </a:buClr>
              <a:buSzPts val="5600"/>
              <a:buNone/>
              <a:defRPr sz="5600">
                <a:solidFill>
                  <a:schemeClr val="lt1"/>
                </a:solidFill>
              </a:defRPr>
            </a:lvl9pPr>
          </a:lstStyle>
          <a:p/>
        </p:txBody>
      </p:sp>
      <p:sp>
        <p:nvSpPr>
          <p:cNvPr id="21" name="Google Shape;21;g32f76dadf62_0_265"/>
          <p:cNvSpPr txBox="1"/>
          <p:nvPr>
            <p:ph idx="1" type="subTitle"/>
          </p:nvPr>
        </p:nvSpPr>
        <p:spPr>
          <a:xfrm>
            <a:off x="797451" y="3621217"/>
            <a:ext cx="10962900" cy="5772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lt1"/>
              </a:buClr>
              <a:buSzPts val="2800"/>
              <a:buNone/>
              <a:defRPr sz="2800">
                <a:solidFill>
                  <a:schemeClr val="lt1"/>
                </a:solidFill>
              </a:defRPr>
            </a:lvl1pPr>
            <a:lvl2pPr lvl="1">
              <a:lnSpc>
                <a:spcPct val="100000"/>
              </a:lnSpc>
              <a:spcBef>
                <a:spcPts val="0"/>
              </a:spcBef>
              <a:spcAft>
                <a:spcPts val="0"/>
              </a:spcAft>
              <a:buClr>
                <a:schemeClr val="lt1"/>
              </a:buClr>
              <a:buSzPts val="2800"/>
              <a:buNone/>
              <a:defRPr sz="2800">
                <a:solidFill>
                  <a:schemeClr val="lt1"/>
                </a:solidFill>
              </a:defRPr>
            </a:lvl2pPr>
            <a:lvl3pPr lvl="2">
              <a:lnSpc>
                <a:spcPct val="100000"/>
              </a:lnSpc>
              <a:spcBef>
                <a:spcPts val="0"/>
              </a:spcBef>
              <a:spcAft>
                <a:spcPts val="0"/>
              </a:spcAft>
              <a:buClr>
                <a:schemeClr val="lt1"/>
              </a:buClr>
              <a:buSzPts val="2800"/>
              <a:buNone/>
              <a:defRPr sz="2800">
                <a:solidFill>
                  <a:schemeClr val="lt1"/>
                </a:solidFill>
              </a:defRPr>
            </a:lvl3pPr>
            <a:lvl4pPr lvl="3">
              <a:lnSpc>
                <a:spcPct val="100000"/>
              </a:lnSpc>
              <a:spcBef>
                <a:spcPts val="0"/>
              </a:spcBef>
              <a:spcAft>
                <a:spcPts val="0"/>
              </a:spcAft>
              <a:buClr>
                <a:schemeClr val="lt1"/>
              </a:buClr>
              <a:buSzPts val="2800"/>
              <a:buNone/>
              <a:defRPr sz="2800">
                <a:solidFill>
                  <a:schemeClr val="lt1"/>
                </a:solidFill>
              </a:defRPr>
            </a:lvl4pPr>
            <a:lvl5pPr lvl="4">
              <a:lnSpc>
                <a:spcPct val="100000"/>
              </a:lnSpc>
              <a:spcBef>
                <a:spcPts val="0"/>
              </a:spcBef>
              <a:spcAft>
                <a:spcPts val="0"/>
              </a:spcAft>
              <a:buClr>
                <a:schemeClr val="lt1"/>
              </a:buClr>
              <a:buSzPts val="2800"/>
              <a:buNone/>
              <a:defRPr sz="2800">
                <a:solidFill>
                  <a:schemeClr val="lt1"/>
                </a:solidFill>
              </a:defRPr>
            </a:lvl5pPr>
            <a:lvl6pPr lvl="5">
              <a:lnSpc>
                <a:spcPct val="100000"/>
              </a:lnSpc>
              <a:spcBef>
                <a:spcPts val="0"/>
              </a:spcBef>
              <a:spcAft>
                <a:spcPts val="0"/>
              </a:spcAft>
              <a:buClr>
                <a:schemeClr val="lt1"/>
              </a:buClr>
              <a:buSzPts val="2800"/>
              <a:buNone/>
              <a:defRPr sz="2800">
                <a:solidFill>
                  <a:schemeClr val="lt1"/>
                </a:solidFill>
              </a:defRPr>
            </a:lvl6pPr>
            <a:lvl7pPr lvl="6">
              <a:lnSpc>
                <a:spcPct val="100000"/>
              </a:lnSpc>
              <a:spcBef>
                <a:spcPts val="0"/>
              </a:spcBef>
              <a:spcAft>
                <a:spcPts val="0"/>
              </a:spcAft>
              <a:buClr>
                <a:schemeClr val="lt1"/>
              </a:buClr>
              <a:buSzPts val="2800"/>
              <a:buNone/>
              <a:defRPr sz="2800">
                <a:solidFill>
                  <a:schemeClr val="lt1"/>
                </a:solidFill>
              </a:defRPr>
            </a:lvl7pPr>
            <a:lvl8pPr lvl="7">
              <a:lnSpc>
                <a:spcPct val="100000"/>
              </a:lnSpc>
              <a:spcBef>
                <a:spcPts val="0"/>
              </a:spcBef>
              <a:spcAft>
                <a:spcPts val="0"/>
              </a:spcAft>
              <a:buClr>
                <a:schemeClr val="lt1"/>
              </a:buClr>
              <a:buSzPts val="2800"/>
              <a:buNone/>
              <a:defRPr sz="2800">
                <a:solidFill>
                  <a:schemeClr val="lt1"/>
                </a:solidFill>
              </a:defRPr>
            </a:lvl8pPr>
            <a:lvl9pPr lvl="8">
              <a:lnSpc>
                <a:spcPct val="100000"/>
              </a:lnSpc>
              <a:spcBef>
                <a:spcPts val="0"/>
              </a:spcBef>
              <a:spcAft>
                <a:spcPts val="0"/>
              </a:spcAft>
              <a:buClr>
                <a:schemeClr val="lt1"/>
              </a:buClr>
              <a:buSzPts val="2800"/>
              <a:buNone/>
              <a:defRPr sz="2800">
                <a:solidFill>
                  <a:schemeClr val="lt1"/>
                </a:solidFill>
              </a:defRPr>
            </a:lvl9pPr>
          </a:lstStyle>
          <a:p/>
        </p:txBody>
      </p:sp>
      <p:sp>
        <p:nvSpPr>
          <p:cNvPr id="22" name="Google Shape;22;g32f76dadf62_0_265"/>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3" name="Shape 23"/>
        <p:cNvGrpSpPr/>
        <p:nvPr/>
      </p:nvGrpSpPr>
      <p:grpSpPr>
        <a:xfrm>
          <a:off x="0" y="0"/>
          <a:ext cx="0" cy="0"/>
          <a:chOff x="0" y="0"/>
          <a:chExt cx="0" cy="0"/>
        </a:xfrm>
      </p:grpSpPr>
      <p:grpSp>
        <p:nvGrpSpPr>
          <p:cNvPr id="24" name="Google Shape;24;g32f76dadf62_0_275"/>
          <p:cNvGrpSpPr/>
          <p:nvPr/>
        </p:nvGrpSpPr>
        <p:grpSpPr>
          <a:xfrm>
            <a:off x="8130968" y="7"/>
            <a:ext cx="4060732" cy="2707359"/>
            <a:chOff x="6098378" y="5"/>
            <a:chExt cx="3045625" cy="2030570"/>
          </a:xfrm>
        </p:grpSpPr>
        <p:sp>
          <p:nvSpPr>
            <p:cNvPr id="25" name="Google Shape;25;g32f76dadf62_0_275"/>
            <p:cNvSpPr/>
            <p:nvPr/>
          </p:nvSpPr>
          <p:spPr>
            <a:xfrm>
              <a:off x="8128803" y="16"/>
              <a:ext cx="1015200" cy="10152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 name="Google Shape;26;g32f76dadf62_0_275"/>
            <p:cNvSpPr/>
            <p:nvPr/>
          </p:nvSpPr>
          <p:spPr>
            <a:xfrm flipH="1">
              <a:off x="7113463" y="5"/>
              <a:ext cx="1015200" cy="1015200"/>
            </a:xfrm>
            <a:prstGeom prst="rtTriangle">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 name="Google Shape;27;g32f76dadf62_0_275"/>
            <p:cNvSpPr/>
            <p:nvPr/>
          </p:nvSpPr>
          <p:spPr>
            <a:xfrm flipH="1" rot="10800000">
              <a:off x="7113588" y="107"/>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g32f76dadf62_0_275"/>
            <p:cNvSpPr/>
            <p:nvPr/>
          </p:nvSpPr>
          <p:spPr>
            <a:xfrm rot="10800000">
              <a:off x="6098378" y="97"/>
              <a:ext cx="1015200" cy="1015200"/>
            </a:xfrm>
            <a:prstGeom prst="rtTriangle">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 name="Google Shape;29;g32f76dadf62_0_275"/>
            <p:cNvSpPr/>
            <p:nvPr/>
          </p:nvSpPr>
          <p:spPr>
            <a:xfrm rot="10800000">
              <a:off x="8128789" y="1015375"/>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0" name="Google Shape;30;g32f76dadf62_0_275"/>
          <p:cNvSpPr txBox="1"/>
          <p:nvPr>
            <p:ph type="title"/>
          </p:nvPr>
        </p:nvSpPr>
        <p:spPr>
          <a:xfrm>
            <a:off x="797467" y="2869796"/>
            <a:ext cx="10962900" cy="11184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5600"/>
              <a:buNone/>
              <a:defRPr sz="5600">
                <a:solidFill>
                  <a:schemeClr val="lt1"/>
                </a:solidFill>
              </a:defRPr>
            </a:lvl1pPr>
            <a:lvl2pPr lvl="1">
              <a:spcBef>
                <a:spcPts val="0"/>
              </a:spcBef>
              <a:spcAft>
                <a:spcPts val="0"/>
              </a:spcAft>
              <a:buClr>
                <a:schemeClr val="lt1"/>
              </a:buClr>
              <a:buSzPts val="5600"/>
              <a:buNone/>
              <a:defRPr sz="5600">
                <a:solidFill>
                  <a:schemeClr val="lt1"/>
                </a:solidFill>
              </a:defRPr>
            </a:lvl2pPr>
            <a:lvl3pPr lvl="2">
              <a:spcBef>
                <a:spcPts val="0"/>
              </a:spcBef>
              <a:spcAft>
                <a:spcPts val="0"/>
              </a:spcAft>
              <a:buClr>
                <a:schemeClr val="lt1"/>
              </a:buClr>
              <a:buSzPts val="5600"/>
              <a:buNone/>
              <a:defRPr sz="5600">
                <a:solidFill>
                  <a:schemeClr val="lt1"/>
                </a:solidFill>
              </a:defRPr>
            </a:lvl3pPr>
            <a:lvl4pPr lvl="3">
              <a:spcBef>
                <a:spcPts val="0"/>
              </a:spcBef>
              <a:spcAft>
                <a:spcPts val="0"/>
              </a:spcAft>
              <a:buClr>
                <a:schemeClr val="lt1"/>
              </a:buClr>
              <a:buSzPts val="5600"/>
              <a:buNone/>
              <a:defRPr sz="5600">
                <a:solidFill>
                  <a:schemeClr val="lt1"/>
                </a:solidFill>
              </a:defRPr>
            </a:lvl4pPr>
            <a:lvl5pPr lvl="4">
              <a:spcBef>
                <a:spcPts val="0"/>
              </a:spcBef>
              <a:spcAft>
                <a:spcPts val="0"/>
              </a:spcAft>
              <a:buClr>
                <a:schemeClr val="lt1"/>
              </a:buClr>
              <a:buSzPts val="5600"/>
              <a:buNone/>
              <a:defRPr sz="5600">
                <a:solidFill>
                  <a:schemeClr val="lt1"/>
                </a:solidFill>
              </a:defRPr>
            </a:lvl5pPr>
            <a:lvl6pPr lvl="5">
              <a:spcBef>
                <a:spcPts val="0"/>
              </a:spcBef>
              <a:spcAft>
                <a:spcPts val="0"/>
              </a:spcAft>
              <a:buClr>
                <a:schemeClr val="lt1"/>
              </a:buClr>
              <a:buSzPts val="5600"/>
              <a:buNone/>
              <a:defRPr sz="5600">
                <a:solidFill>
                  <a:schemeClr val="lt1"/>
                </a:solidFill>
              </a:defRPr>
            </a:lvl6pPr>
            <a:lvl7pPr lvl="6">
              <a:spcBef>
                <a:spcPts val="0"/>
              </a:spcBef>
              <a:spcAft>
                <a:spcPts val="0"/>
              </a:spcAft>
              <a:buClr>
                <a:schemeClr val="lt1"/>
              </a:buClr>
              <a:buSzPts val="5600"/>
              <a:buNone/>
              <a:defRPr sz="5600">
                <a:solidFill>
                  <a:schemeClr val="lt1"/>
                </a:solidFill>
              </a:defRPr>
            </a:lvl7pPr>
            <a:lvl8pPr lvl="7">
              <a:spcBef>
                <a:spcPts val="0"/>
              </a:spcBef>
              <a:spcAft>
                <a:spcPts val="0"/>
              </a:spcAft>
              <a:buClr>
                <a:schemeClr val="lt1"/>
              </a:buClr>
              <a:buSzPts val="5600"/>
              <a:buNone/>
              <a:defRPr sz="5600">
                <a:solidFill>
                  <a:schemeClr val="lt1"/>
                </a:solidFill>
              </a:defRPr>
            </a:lvl8pPr>
            <a:lvl9pPr lvl="8">
              <a:spcBef>
                <a:spcPts val="0"/>
              </a:spcBef>
              <a:spcAft>
                <a:spcPts val="0"/>
              </a:spcAft>
              <a:buClr>
                <a:schemeClr val="lt1"/>
              </a:buClr>
              <a:buSzPts val="5600"/>
              <a:buNone/>
              <a:defRPr sz="5600">
                <a:solidFill>
                  <a:schemeClr val="lt1"/>
                </a:solidFill>
              </a:defRPr>
            </a:lvl9pPr>
          </a:lstStyle>
          <a:p/>
        </p:txBody>
      </p:sp>
      <p:sp>
        <p:nvSpPr>
          <p:cNvPr id="31" name="Google Shape;31;g32f76dadf62_0_275"/>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grpSp>
        <p:nvGrpSpPr>
          <p:cNvPr id="33" name="Google Shape;33;g32f76dadf62_0_284"/>
          <p:cNvGrpSpPr/>
          <p:nvPr/>
        </p:nvGrpSpPr>
        <p:grpSpPr>
          <a:xfrm>
            <a:off x="0" y="5204762"/>
            <a:ext cx="12191695" cy="1653192"/>
            <a:chOff x="0" y="3903669"/>
            <a:chExt cx="9144000" cy="1239925"/>
          </a:xfrm>
        </p:grpSpPr>
        <p:sp>
          <p:nvSpPr>
            <p:cNvPr id="34" name="Google Shape;34;g32f76dadf62_0_284"/>
            <p:cNvSpPr/>
            <p:nvPr/>
          </p:nvSpPr>
          <p:spPr>
            <a:xfrm>
              <a:off x="8154895" y="3903669"/>
              <a:ext cx="989100" cy="987900"/>
            </a:xfrm>
            <a:prstGeom prst="rtTriangle">
              <a:avLst/>
            </a:pr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 name="Google Shape;35;g32f76dadf62_0_284"/>
            <p:cNvSpPr/>
            <p:nvPr/>
          </p:nvSpPr>
          <p:spPr>
            <a:xfrm flipH="1">
              <a:off x="6181163" y="3903669"/>
              <a:ext cx="989100" cy="987900"/>
            </a:xfrm>
            <a:prstGeom prst="rtTriangle">
              <a:avLst/>
            </a:pr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 name="Google Shape;36;g32f76dadf62_0_284"/>
            <p:cNvSpPr/>
            <p:nvPr/>
          </p:nvSpPr>
          <p:spPr>
            <a:xfrm>
              <a:off x="7170274" y="3903669"/>
              <a:ext cx="989100" cy="987900"/>
            </a:xfrm>
            <a:prstGeom prst="rect">
              <a:avLst/>
            </a:pr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g32f76dadf62_0_284"/>
            <p:cNvSpPr/>
            <p:nvPr/>
          </p:nvSpPr>
          <p:spPr>
            <a:xfrm rot="10800000">
              <a:off x="8154757" y="3903682"/>
              <a:ext cx="989100" cy="9879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g32f76dadf62_0_284"/>
            <p:cNvSpPr/>
            <p:nvPr/>
          </p:nvSpPr>
          <p:spPr>
            <a:xfrm>
              <a:off x="0" y="4891594"/>
              <a:ext cx="9144000" cy="252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9" name="Google Shape;39;g32f76dadf62_0_284"/>
          <p:cNvSpPr txBox="1"/>
          <p:nvPr>
            <p:ph type="title"/>
          </p:nvPr>
        </p:nvSpPr>
        <p:spPr>
          <a:xfrm>
            <a:off x="415600" y="546667"/>
            <a:ext cx="11360700" cy="8103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0" name="Google Shape;40;g32f76dadf62_0_284"/>
          <p:cNvSpPr txBox="1"/>
          <p:nvPr>
            <p:ph idx="1" type="body"/>
          </p:nvPr>
        </p:nvSpPr>
        <p:spPr>
          <a:xfrm>
            <a:off x="415600" y="1639833"/>
            <a:ext cx="11360700" cy="44520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1" name="Google Shape;41;g32f76dadf62_0_284"/>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 name="Shape 42"/>
        <p:cNvGrpSpPr/>
        <p:nvPr/>
      </p:nvGrpSpPr>
      <p:grpSpPr>
        <a:xfrm>
          <a:off x="0" y="0"/>
          <a:ext cx="0" cy="0"/>
          <a:chOff x="0" y="0"/>
          <a:chExt cx="0" cy="0"/>
        </a:xfrm>
      </p:grpSpPr>
      <p:sp>
        <p:nvSpPr>
          <p:cNvPr id="43" name="Google Shape;43;g32f76dadf62_0_294"/>
          <p:cNvSpPr txBox="1"/>
          <p:nvPr>
            <p:ph type="title"/>
          </p:nvPr>
        </p:nvSpPr>
        <p:spPr>
          <a:xfrm>
            <a:off x="415600" y="546667"/>
            <a:ext cx="11360700" cy="8103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4" name="Google Shape;44;g32f76dadf62_0_294"/>
          <p:cNvSpPr txBox="1"/>
          <p:nvPr>
            <p:ph idx="1" type="body"/>
          </p:nvPr>
        </p:nvSpPr>
        <p:spPr>
          <a:xfrm>
            <a:off x="415600" y="1639967"/>
            <a:ext cx="5333100" cy="44520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45" name="Google Shape;45;g32f76dadf62_0_294"/>
          <p:cNvSpPr txBox="1"/>
          <p:nvPr>
            <p:ph idx="2" type="body"/>
          </p:nvPr>
        </p:nvSpPr>
        <p:spPr>
          <a:xfrm>
            <a:off x="6443200" y="1639967"/>
            <a:ext cx="5333100" cy="44520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46" name="Google Shape;46;g32f76dadf62_0_294"/>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g32f76dadf62_0_299"/>
          <p:cNvSpPr txBox="1"/>
          <p:nvPr>
            <p:ph type="title"/>
          </p:nvPr>
        </p:nvSpPr>
        <p:spPr>
          <a:xfrm>
            <a:off x="415600" y="546667"/>
            <a:ext cx="11360700" cy="8103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9" name="Google Shape;49;g32f76dadf62_0_299"/>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0" name="Shape 50"/>
        <p:cNvGrpSpPr/>
        <p:nvPr/>
      </p:nvGrpSpPr>
      <p:grpSpPr>
        <a:xfrm>
          <a:off x="0" y="0"/>
          <a:ext cx="0" cy="0"/>
          <a:chOff x="0" y="0"/>
          <a:chExt cx="0" cy="0"/>
        </a:xfrm>
      </p:grpSpPr>
      <p:sp>
        <p:nvSpPr>
          <p:cNvPr id="51" name="Google Shape;51;g32f76dadf62_0_302"/>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52" name="Google Shape;52;g32f76dadf62_0_302"/>
          <p:cNvSpPr txBox="1"/>
          <p:nvPr>
            <p:ph idx="1" type="body"/>
          </p:nvPr>
        </p:nvSpPr>
        <p:spPr>
          <a:xfrm>
            <a:off x="415600" y="1954405"/>
            <a:ext cx="3744000" cy="41376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53" name="Google Shape;53;g32f76dadf62_0_302"/>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4" name="Shape 54"/>
        <p:cNvGrpSpPr/>
        <p:nvPr/>
      </p:nvGrpSpPr>
      <p:grpSpPr>
        <a:xfrm>
          <a:off x="0" y="0"/>
          <a:ext cx="0" cy="0"/>
          <a:chOff x="0" y="0"/>
          <a:chExt cx="0" cy="0"/>
        </a:xfrm>
      </p:grpSpPr>
      <p:grpSp>
        <p:nvGrpSpPr>
          <p:cNvPr id="55" name="Google Shape;55;g32f76dadf62_0_306"/>
          <p:cNvGrpSpPr/>
          <p:nvPr/>
        </p:nvGrpSpPr>
        <p:grpSpPr>
          <a:xfrm>
            <a:off x="8130968" y="7"/>
            <a:ext cx="4060732" cy="2707359"/>
            <a:chOff x="6098378" y="5"/>
            <a:chExt cx="3045625" cy="2030570"/>
          </a:xfrm>
        </p:grpSpPr>
        <p:sp>
          <p:nvSpPr>
            <p:cNvPr id="56" name="Google Shape;56;g32f76dadf62_0_306"/>
            <p:cNvSpPr/>
            <p:nvPr/>
          </p:nvSpPr>
          <p:spPr>
            <a:xfrm>
              <a:off x="8128803" y="16"/>
              <a:ext cx="1015200" cy="1015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 name="Google Shape;57;g32f76dadf62_0_306"/>
            <p:cNvSpPr/>
            <p:nvPr/>
          </p:nvSpPr>
          <p:spPr>
            <a:xfrm flipH="1">
              <a:off x="7113463" y="5"/>
              <a:ext cx="1015200" cy="1015200"/>
            </a:xfrm>
            <a:prstGeom prst="rtTriangle">
              <a:avLst/>
            </a:pr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 name="Google Shape;58;g32f76dadf62_0_306"/>
            <p:cNvSpPr/>
            <p:nvPr/>
          </p:nvSpPr>
          <p:spPr>
            <a:xfrm flipH="1" rot="10800000">
              <a:off x="7113588" y="107"/>
              <a:ext cx="1015200" cy="10152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 name="Google Shape;59;g32f76dadf62_0_306"/>
            <p:cNvSpPr/>
            <p:nvPr/>
          </p:nvSpPr>
          <p:spPr>
            <a:xfrm rot="10800000">
              <a:off x="6098378" y="97"/>
              <a:ext cx="1015200" cy="1015200"/>
            </a:xfrm>
            <a:prstGeom prst="rtTriangle">
              <a:avLst/>
            </a:pr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 name="Google Shape;60;g32f76dadf62_0_306"/>
            <p:cNvSpPr/>
            <p:nvPr/>
          </p:nvSpPr>
          <p:spPr>
            <a:xfrm rot="10800000">
              <a:off x="8128789" y="1015375"/>
              <a:ext cx="1015200" cy="1015200"/>
            </a:xfrm>
            <a:prstGeom prst="rtTriangle">
              <a:avLst/>
            </a:pr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61" name="Google Shape;61;g32f76dadf62_0_306"/>
          <p:cNvSpPr txBox="1"/>
          <p:nvPr>
            <p:ph type="title"/>
          </p:nvPr>
        </p:nvSpPr>
        <p:spPr>
          <a:xfrm>
            <a:off x="653667" y="701800"/>
            <a:ext cx="7491600" cy="5454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6400"/>
              <a:buNone/>
              <a:defRPr sz="6400">
                <a:solidFill>
                  <a:schemeClr val="lt1"/>
                </a:solidFill>
              </a:defRPr>
            </a:lvl1pPr>
            <a:lvl2pPr lvl="1">
              <a:spcBef>
                <a:spcPts val="0"/>
              </a:spcBef>
              <a:spcAft>
                <a:spcPts val="0"/>
              </a:spcAft>
              <a:buClr>
                <a:schemeClr val="lt1"/>
              </a:buClr>
              <a:buSzPts val="6400"/>
              <a:buNone/>
              <a:defRPr sz="6400">
                <a:solidFill>
                  <a:schemeClr val="lt1"/>
                </a:solidFill>
              </a:defRPr>
            </a:lvl2pPr>
            <a:lvl3pPr lvl="2">
              <a:spcBef>
                <a:spcPts val="0"/>
              </a:spcBef>
              <a:spcAft>
                <a:spcPts val="0"/>
              </a:spcAft>
              <a:buClr>
                <a:schemeClr val="lt1"/>
              </a:buClr>
              <a:buSzPts val="6400"/>
              <a:buNone/>
              <a:defRPr sz="6400">
                <a:solidFill>
                  <a:schemeClr val="lt1"/>
                </a:solidFill>
              </a:defRPr>
            </a:lvl3pPr>
            <a:lvl4pPr lvl="3">
              <a:spcBef>
                <a:spcPts val="0"/>
              </a:spcBef>
              <a:spcAft>
                <a:spcPts val="0"/>
              </a:spcAft>
              <a:buClr>
                <a:schemeClr val="lt1"/>
              </a:buClr>
              <a:buSzPts val="6400"/>
              <a:buNone/>
              <a:defRPr sz="6400">
                <a:solidFill>
                  <a:schemeClr val="lt1"/>
                </a:solidFill>
              </a:defRPr>
            </a:lvl4pPr>
            <a:lvl5pPr lvl="4">
              <a:spcBef>
                <a:spcPts val="0"/>
              </a:spcBef>
              <a:spcAft>
                <a:spcPts val="0"/>
              </a:spcAft>
              <a:buClr>
                <a:schemeClr val="lt1"/>
              </a:buClr>
              <a:buSzPts val="6400"/>
              <a:buNone/>
              <a:defRPr sz="6400">
                <a:solidFill>
                  <a:schemeClr val="lt1"/>
                </a:solidFill>
              </a:defRPr>
            </a:lvl5pPr>
            <a:lvl6pPr lvl="5">
              <a:spcBef>
                <a:spcPts val="0"/>
              </a:spcBef>
              <a:spcAft>
                <a:spcPts val="0"/>
              </a:spcAft>
              <a:buClr>
                <a:schemeClr val="lt1"/>
              </a:buClr>
              <a:buSzPts val="6400"/>
              <a:buNone/>
              <a:defRPr sz="6400">
                <a:solidFill>
                  <a:schemeClr val="lt1"/>
                </a:solidFill>
              </a:defRPr>
            </a:lvl6pPr>
            <a:lvl7pPr lvl="6">
              <a:spcBef>
                <a:spcPts val="0"/>
              </a:spcBef>
              <a:spcAft>
                <a:spcPts val="0"/>
              </a:spcAft>
              <a:buClr>
                <a:schemeClr val="lt1"/>
              </a:buClr>
              <a:buSzPts val="6400"/>
              <a:buNone/>
              <a:defRPr sz="6400">
                <a:solidFill>
                  <a:schemeClr val="lt1"/>
                </a:solidFill>
              </a:defRPr>
            </a:lvl7pPr>
            <a:lvl8pPr lvl="7">
              <a:spcBef>
                <a:spcPts val="0"/>
              </a:spcBef>
              <a:spcAft>
                <a:spcPts val="0"/>
              </a:spcAft>
              <a:buClr>
                <a:schemeClr val="lt1"/>
              </a:buClr>
              <a:buSzPts val="6400"/>
              <a:buNone/>
              <a:defRPr sz="6400">
                <a:solidFill>
                  <a:schemeClr val="lt1"/>
                </a:solidFill>
              </a:defRPr>
            </a:lvl8pPr>
            <a:lvl9pPr lvl="8">
              <a:spcBef>
                <a:spcPts val="0"/>
              </a:spcBef>
              <a:spcAft>
                <a:spcPts val="0"/>
              </a:spcAft>
              <a:buClr>
                <a:schemeClr val="lt1"/>
              </a:buClr>
              <a:buSzPts val="6400"/>
              <a:buNone/>
              <a:defRPr sz="6400">
                <a:solidFill>
                  <a:schemeClr val="lt1"/>
                </a:solidFill>
              </a:defRPr>
            </a:lvl9pPr>
          </a:lstStyle>
          <a:p/>
        </p:txBody>
      </p:sp>
      <p:sp>
        <p:nvSpPr>
          <p:cNvPr id="62" name="Google Shape;62;g32f76dadf62_0_306"/>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g32f76dadf62_0_315"/>
          <p:cNvSpPr/>
          <p:nvPr/>
        </p:nvSpPr>
        <p:spPr>
          <a:xfrm>
            <a:off x="6096000" y="-233"/>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65" name="Google Shape;65;g32f76dadf62_0_315"/>
          <p:cNvCxnSpPr/>
          <p:nvPr/>
        </p:nvCxnSpPr>
        <p:spPr>
          <a:xfrm>
            <a:off x="6706233" y="5994000"/>
            <a:ext cx="624300" cy="0"/>
          </a:xfrm>
          <a:prstGeom prst="straightConnector1">
            <a:avLst/>
          </a:prstGeom>
          <a:noFill/>
          <a:ln cap="flat" cmpd="sng" w="19050">
            <a:solidFill>
              <a:schemeClr val="lt1"/>
            </a:solidFill>
            <a:prstDash val="solid"/>
            <a:round/>
            <a:headEnd len="sm" w="sm" type="none"/>
            <a:tailEnd len="sm" w="sm" type="none"/>
          </a:ln>
        </p:spPr>
      </p:cxnSp>
      <p:sp>
        <p:nvSpPr>
          <p:cNvPr id="66" name="Google Shape;66;g32f76dadf62_0_315"/>
          <p:cNvSpPr txBox="1"/>
          <p:nvPr>
            <p:ph type="title"/>
          </p:nvPr>
        </p:nvSpPr>
        <p:spPr>
          <a:xfrm>
            <a:off x="354000" y="1534800"/>
            <a:ext cx="5393700" cy="2085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67" name="Google Shape;67;g32f76dadf62_0_315"/>
          <p:cNvSpPr txBox="1"/>
          <p:nvPr>
            <p:ph idx="1" type="subTitle"/>
          </p:nvPr>
        </p:nvSpPr>
        <p:spPr>
          <a:xfrm>
            <a:off x="354000" y="3692002"/>
            <a:ext cx="5393700" cy="16923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8" name="Google Shape;68;g32f76dadf62_0_315"/>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lt1"/>
              </a:buClr>
              <a:buSzPts val="24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0"/>
              </a:spcBef>
              <a:spcAft>
                <a:spcPts val="0"/>
              </a:spcAft>
              <a:buClr>
                <a:schemeClr val="lt1"/>
              </a:buClr>
              <a:buSzPts val="1900"/>
              <a:buChar char="■"/>
              <a:defRPr>
                <a:solidFill>
                  <a:schemeClr val="lt1"/>
                </a:solidFill>
              </a:defRPr>
            </a:lvl3pPr>
            <a:lvl4pPr indent="-349250" lvl="3" marL="1828800">
              <a:spcBef>
                <a:spcPts val="0"/>
              </a:spcBef>
              <a:spcAft>
                <a:spcPts val="0"/>
              </a:spcAft>
              <a:buClr>
                <a:schemeClr val="lt1"/>
              </a:buClr>
              <a:buSzPts val="1900"/>
              <a:buChar char="●"/>
              <a:defRPr>
                <a:solidFill>
                  <a:schemeClr val="lt1"/>
                </a:solidFill>
              </a:defRPr>
            </a:lvl4pPr>
            <a:lvl5pPr indent="-349250" lvl="4" marL="2286000">
              <a:spcBef>
                <a:spcPts val="0"/>
              </a:spcBef>
              <a:spcAft>
                <a:spcPts val="0"/>
              </a:spcAft>
              <a:buClr>
                <a:schemeClr val="lt1"/>
              </a:buClr>
              <a:buSzPts val="1900"/>
              <a:buChar char="○"/>
              <a:defRPr>
                <a:solidFill>
                  <a:schemeClr val="lt1"/>
                </a:solidFill>
              </a:defRPr>
            </a:lvl5pPr>
            <a:lvl6pPr indent="-349250" lvl="5" marL="2743200">
              <a:spcBef>
                <a:spcPts val="0"/>
              </a:spcBef>
              <a:spcAft>
                <a:spcPts val="0"/>
              </a:spcAft>
              <a:buClr>
                <a:schemeClr val="lt1"/>
              </a:buClr>
              <a:buSzPts val="1900"/>
              <a:buChar char="■"/>
              <a:defRPr>
                <a:solidFill>
                  <a:schemeClr val="lt1"/>
                </a:solidFill>
              </a:defRPr>
            </a:lvl6pPr>
            <a:lvl7pPr indent="-349250" lvl="6" marL="3200400">
              <a:spcBef>
                <a:spcPts val="0"/>
              </a:spcBef>
              <a:spcAft>
                <a:spcPts val="0"/>
              </a:spcAft>
              <a:buClr>
                <a:schemeClr val="lt1"/>
              </a:buClr>
              <a:buSzPts val="1900"/>
              <a:buChar char="●"/>
              <a:defRPr>
                <a:solidFill>
                  <a:schemeClr val="lt1"/>
                </a:solidFill>
              </a:defRPr>
            </a:lvl7pPr>
            <a:lvl8pPr indent="-349250" lvl="7" marL="3657600">
              <a:spcBef>
                <a:spcPts val="0"/>
              </a:spcBef>
              <a:spcAft>
                <a:spcPts val="0"/>
              </a:spcAft>
              <a:buClr>
                <a:schemeClr val="lt1"/>
              </a:buClr>
              <a:buSzPts val="1900"/>
              <a:buChar char="○"/>
              <a:defRPr>
                <a:solidFill>
                  <a:schemeClr val="lt1"/>
                </a:solidFill>
              </a:defRPr>
            </a:lvl8pPr>
            <a:lvl9pPr indent="-349250" lvl="8" marL="4114800">
              <a:spcBef>
                <a:spcPts val="0"/>
              </a:spcBef>
              <a:spcAft>
                <a:spcPts val="0"/>
              </a:spcAft>
              <a:buClr>
                <a:schemeClr val="lt1"/>
              </a:buClr>
              <a:buSzPts val="1900"/>
              <a:buChar char="■"/>
              <a:defRPr>
                <a:solidFill>
                  <a:schemeClr val="lt1"/>
                </a:solidFill>
              </a:defRPr>
            </a:lvl9pPr>
          </a:lstStyle>
          <a:p/>
        </p:txBody>
      </p:sp>
      <p:sp>
        <p:nvSpPr>
          <p:cNvPr id="69" name="Google Shape;69;g32f76dadf62_0_315"/>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g32f76dadf62_0_322"/>
          <p:cNvSpPr txBox="1"/>
          <p:nvPr>
            <p:ph idx="1" type="body"/>
          </p:nvPr>
        </p:nvSpPr>
        <p:spPr>
          <a:xfrm>
            <a:off x="426000" y="5640767"/>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72" name="Google Shape;72;g32f76dadf62_0_322"/>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g32f76dadf62_0_325"/>
          <p:cNvGrpSpPr/>
          <p:nvPr/>
        </p:nvGrpSpPr>
        <p:grpSpPr>
          <a:xfrm>
            <a:off x="8130968" y="7"/>
            <a:ext cx="4060732" cy="2707359"/>
            <a:chOff x="6098378" y="5"/>
            <a:chExt cx="3045625" cy="2030570"/>
          </a:xfrm>
        </p:grpSpPr>
        <p:sp>
          <p:nvSpPr>
            <p:cNvPr id="75" name="Google Shape;75;g32f76dadf62_0_325"/>
            <p:cNvSpPr/>
            <p:nvPr/>
          </p:nvSpPr>
          <p:spPr>
            <a:xfrm>
              <a:off x="8128803" y="16"/>
              <a:ext cx="1015200" cy="10152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 name="Google Shape;76;g32f76dadf62_0_325"/>
            <p:cNvSpPr/>
            <p:nvPr/>
          </p:nvSpPr>
          <p:spPr>
            <a:xfrm flipH="1">
              <a:off x="7113463" y="5"/>
              <a:ext cx="1015200" cy="1015200"/>
            </a:xfrm>
            <a:prstGeom prst="rtTriangle">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 name="Google Shape;77;g32f76dadf62_0_325"/>
            <p:cNvSpPr/>
            <p:nvPr/>
          </p:nvSpPr>
          <p:spPr>
            <a:xfrm flipH="1" rot="10800000">
              <a:off x="7113588" y="107"/>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 name="Google Shape;78;g32f76dadf62_0_325"/>
            <p:cNvSpPr/>
            <p:nvPr/>
          </p:nvSpPr>
          <p:spPr>
            <a:xfrm rot="10800000">
              <a:off x="6098378" y="97"/>
              <a:ext cx="1015200" cy="1015200"/>
            </a:xfrm>
            <a:prstGeom prst="rtTriangle">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 name="Google Shape;79;g32f76dadf62_0_325"/>
            <p:cNvSpPr/>
            <p:nvPr/>
          </p:nvSpPr>
          <p:spPr>
            <a:xfrm rot="10800000">
              <a:off x="8128789" y="1015375"/>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80" name="Google Shape;80;g32f76dadf62_0_325"/>
          <p:cNvSpPr txBox="1"/>
          <p:nvPr>
            <p:ph hasCustomPrompt="1" type="title"/>
          </p:nvPr>
        </p:nvSpPr>
        <p:spPr>
          <a:xfrm>
            <a:off x="415600" y="1674733"/>
            <a:ext cx="11360700" cy="2707500"/>
          </a:xfrm>
          <a:prstGeom prst="rect">
            <a:avLst/>
          </a:prstGeom>
        </p:spPr>
        <p:txBody>
          <a:bodyPr anchorCtr="0" anchor="b" bIns="121900" lIns="121900" spcFirstLastPara="1" rIns="121900" wrap="square" tIns="121900">
            <a:normAutofit/>
          </a:bodyPr>
          <a:lstStyle>
            <a:lvl1pPr lvl="0" algn="ctr">
              <a:spcBef>
                <a:spcPts val="0"/>
              </a:spcBef>
              <a:spcAft>
                <a:spcPts val="0"/>
              </a:spcAft>
              <a:buClr>
                <a:schemeClr val="lt1"/>
              </a:buClr>
              <a:buSzPts val="16000"/>
              <a:buNone/>
              <a:defRPr sz="16000">
                <a:solidFill>
                  <a:schemeClr val="lt1"/>
                </a:solidFill>
              </a:defRPr>
            </a:lvl1pPr>
            <a:lvl2pPr lvl="1" algn="ctr">
              <a:spcBef>
                <a:spcPts val="0"/>
              </a:spcBef>
              <a:spcAft>
                <a:spcPts val="0"/>
              </a:spcAft>
              <a:buClr>
                <a:schemeClr val="lt1"/>
              </a:buClr>
              <a:buSzPts val="16000"/>
              <a:buNone/>
              <a:defRPr sz="16000">
                <a:solidFill>
                  <a:schemeClr val="lt1"/>
                </a:solidFill>
              </a:defRPr>
            </a:lvl2pPr>
            <a:lvl3pPr lvl="2" algn="ctr">
              <a:spcBef>
                <a:spcPts val="0"/>
              </a:spcBef>
              <a:spcAft>
                <a:spcPts val="0"/>
              </a:spcAft>
              <a:buClr>
                <a:schemeClr val="lt1"/>
              </a:buClr>
              <a:buSzPts val="16000"/>
              <a:buNone/>
              <a:defRPr sz="16000">
                <a:solidFill>
                  <a:schemeClr val="lt1"/>
                </a:solidFill>
              </a:defRPr>
            </a:lvl3pPr>
            <a:lvl4pPr lvl="3" algn="ctr">
              <a:spcBef>
                <a:spcPts val="0"/>
              </a:spcBef>
              <a:spcAft>
                <a:spcPts val="0"/>
              </a:spcAft>
              <a:buClr>
                <a:schemeClr val="lt1"/>
              </a:buClr>
              <a:buSzPts val="16000"/>
              <a:buNone/>
              <a:defRPr sz="16000">
                <a:solidFill>
                  <a:schemeClr val="lt1"/>
                </a:solidFill>
              </a:defRPr>
            </a:lvl4pPr>
            <a:lvl5pPr lvl="4" algn="ctr">
              <a:spcBef>
                <a:spcPts val="0"/>
              </a:spcBef>
              <a:spcAft>
                <a:spcPts val="0"/>
              </a:spcAft>
              <a:buClr>
                <a:schemeClr val="lt1"/>
              </a:buClr>
              <a:buSzPts val="16000"/>
              <a:buNone/>
              <a:defRPr sz="16000">
                <a:solidFill>
                  <a:schemeClr val="lt1"/>
                </a:solidFill>
              </a:defRPr>
            </a:lvl5pPr>
            <a:lvl6pPr lvl="5" algn="ctr">
              <a:spcBef>
                <a:spcPts val="0"/>
              </a:spcBef>
              <a:spcAft>
                <a:spcPts val="0"/>
              </a:spcAft>
              <a:buClr>
                <a:schemeClr val="lt1"/>
              </a:buClr>
              <a:buSzPts val="16000"/>
              <a:buNone/>
              <a:defRPr sz="16000">
                <a:solidFill>
                  <a:schemeClr val="lt1"/>
                </a:solidFill>
              </a:defRPr>
            </a:lvl6pPr>
            <a:lvl7pPr lvl="6" algn="ctr">
              <a:spcBef>
                <a:spcPts val="0"/>
              </a:spcBef>
              <a:spcAft>
                <a:spcPts val="0"/>
              </a:spcAft>
              <a:buClr>
                <a:schemeClr val="lt1"/>
              </a:buClr>
              <a:buSzPts val="16000"/>
              <a:buNone/>
              <a:defRPr sz="16000">
                <a:solidFill>
                  <a:schemeClr val="lt1"/>
                </a:solidFill>
              </a:defRPr>
            </a:lvl7pPr>
            <a:lvl8pPr lvl="7" algn="ctr">
              <a:spcBef>
                <a:spcPts val="0"/>
              </a:spcBef>
              <a:spcAft>
                <a:spcPts val="0"/>
              </a:spcAft>
              <a:buClr>
                <a:schemeClr val="lt1"/>
              </a:buClr>
              <a:buSzPts val="16000"/>
              <a:buNone/>
              <a:defRPr sz="16000">
                <a:solidFill>
                  <a:schemeClr val="lt1"/>
                </a:solidFill>
              </a:defRPr>
            </a:lvl8pPr>
            <a:lvl9pPr lvl="8" algn="ctr">
              <a:spcBef>
                <a:spcPts val="0"/>
              </a:spcBef>
              <a:spcAft>
                <a:spcPts val="0"/>
              </a:spcAft>
              <a:buClr>
                <a:schemeClr val="lt1"/>
              </a:buClr>
              <a:buSzPts val="16000"/>
              <a:buNone/>
              <a:defRPr sz="16000">
                <a:solidFill>
                  <a:schemeClr val="lt1"/>
                </a:solidFill>
              </a:defRPr>
            </a:lvl9pPr>
          </a:lstStyle>
          <a:p>
            <a:r>
              <a:t>xx%</a:t>
            </a:r>
          </a:p>
        </p:txBody>
      </p:sp>
      <p:sp>
        <p:nvSpPr>
          <p:cNvPr id="81" name="Google Shape;81;g32f76dadf62_0_325"/>
          <p:cNvSpPr txBox="1"/>
          <p:nvPr>
            <p:ph idx="1" type="body"/>
          </p:nvPr>
        </p:nvSpPr>
        <p:spPr>
          <a:xfrm>
            <a:off x="415600" y="4492300"/>
            <a:ext cx="11360700" cy="17091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Clr>
                <a:schemeClr val="lt1"/>
              </a:buClr>
              <a:buSzPts val="2400"/>
              <a:buChar char="●"/>
              <a:defRPr>
                <a:solidFill>
                  <a:schemeClr val="lt1"/>
                </a:solidFill>
              </a:defRPr>
            </a:lvl1pPr>
            <a:lvl2pPr indent="-349250" lvl="1" marL="914400" algn="ctr">
              <a:spcBef>
                <a:spcPts val="0"/>
              </a:spcBef>
              <a:spcAft>
                <a:spcPts val="0"/>
              </a:spcAft>
              <a:buClr>
                <a:schemeClr val="lt1"/>
              </a:buClr>
              <a:buSzPts val="1900"/>
              <a:buChar char="○"/>
              <a:defRPr>
                <a:solidFill>
                  <a:schemeClr val="lt1"/>
                </a:solidFill>
              </a:defRPr>
            </a:lvl2pPr>
            <a:lvl3pPr indent="-349250" lvl="2" marL="1371600" algn="ctr">
              <a:spcBef>
                <a:spcPts val="0"/>
              </a:spcBef>
              <a:spcAft>
                <a:spcPts val="0"/>
              </a:spcAft>
              <a:buClr>
                <a:schemeClr val="lt1"/>
              </a:buClr>
              <a:buSzPts val="1900"/>
              <a:buChar char="■"/>
              <a:defRPr>
                <a:solidFill>
                  <a:schemeClr val="lt1"/>
                </a:solidFill>
              </a:defRPr>
            </a:lvl3pPr>
            <a:lvl4pPr indent="-349250" lvl="3" marL="1828800" algn="ctr">
              <a:spcBef>
                <a:spcPts val="0"/>
              </a:spcBef>
              <a:spcAft>
                <a:spcPts val="0"/>
              </a:spcAft>
              <a:buClr>
                <a:schemeClr val="lt1"/>
              </a:buClr>
              <a:buSzPts val="1900"/>
              <a:buChar char="●"/>
              <a:defRPr>
                <a:solidFill>
                  <a:schemeClr val="lt1"/>
                </a:solidFill>
              </a:defRPr>
            </a:lvl4pPr>
            <a:lvl5pPr indent="-349250" lvl="4" marL="2286000" algn="ctr">
              <a:spcBef>
                <a:spcPts val="0"/>
              </a:spcBef>
              <a:spcAft>
                <a:spcPts val="0"/>
              </a:spcAft>
              <a:buClr>
                <a:schemeClr val="lt1"/>
              </a:buClr>
              <a:buSzPts val="1900"/>
              <a:buChar char="○"/>
              <a:defRPr>
                <a:solidFill>
                  <a:schemeClr val="lt1"/>
                </a:solidFill>
              </a:defRPr>
            </a:lvl5pPr>
            <a:lvl6pPr indent="-349250" lvl="5" marL="2743200" algn="ctr">
              <a:spcBef>
                <a:spcPts val="0"/>
              </a:spcBef>
              <a:spcAft>
                <a:spcPts val="0"/>
              </a:spcAft>
              <a:buClr>
                <a:schemeClr val="lt1"/>
              </a:buClr>
              <a:buSzPts val="1900"/>
              <a:buChar char="■"/>
              <a:defRPr>
                <a:solidFill>
                  <a:schemeClr val="lt1"/>
                </a:solidFill>
              </a:defRPr>
            </a:lvl6pPr>
            <a:lvl7pPr indent="-349250" lvl="6" marL="3200400" algn="ctr">
              <a:spcBef>
                <a:spcPts val="0"/>
              </a:spcBef>
              <a:spcAft>
                <a:spcPts val="0"/>
              </a:spcAft>
              <a:buClr>
                <a:schemeClr val="lt1"/>
              </a:buClr>
              <a:buSzPts val="1900"/>
              <a:buChar char="●"/>
              <a:defRPr>
                <a:solidFill>
                  <a:schemeClr val="lt1"/>
                </a:solidFill>
              </a:defRPr>
            </a:lvl7pPr>
            <a:lvl8pPr indent="-349250" lvl="7" marL="3657600" algn="ctr">
              <a:spcBef>
                <a:spcPts val="0"/>
              </a:spcBef>
              <a:spcAft>
                <a:spcPts val="0"/>
              </a:spcAft>
              <a:buClr>
                <a:schemeClr val="lt1"/>
              </a:buClr>
              <a:buSzPts val="1900"/>
              <a:buChar char="○"/>
              <a:defRPr>
                <a:solidFill>
                  <a:schemeClr val="lt1"/>
                </a:solidFill>
              </a:defRPr>
            </a:lvl8pPr>
            <a:lvl9pPr indent="-349250" lvl="8" marL="4114800" algn="ctr">
              <a:spcBef>
                <a:spcPts val="0"/>
              </a:spcBef>
              <a:spcAft>
                <a:spcPts val="0"/>
              </a:spcAft>
              <a:buClr>
                <a:schemeClr val="lt1"/>
              </a:buClr>
              <a:buSzPts val="1900"/>
              <a:buChar char="■"/>
              <a:defRPr>
                <a:solidFill>
                  <a:schemeClr val="lt1"/>
                </a:solidFill>
              </a:defRPr>
            </a:lvl9pPr>
          </a:lstStyle>
          <a:p/>
        </p:txBody>
      </p:sp>
      <p:sp>
        <p:nvSpPr>
          <p:cNvPr id="82" name="Google Shape;82;g32f76dadf62_0_325"/>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g32f76dadf62_0_335"/>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5" name="Shape 85"/>
        <p:cNvGrpSpPr/>
        <p:nvPr/>
      </p:nvGrpSpPr>
      <p:grpSpPr>
        <a:xfrm>
          <a:off x="0" y="0"/>
          <a:ext cx="0" cy="0"/>
          <a:chOff x="0" y="0"/>
          <a:chExt cx="0" cy="0"/>
        </a:xfrm>
      </p:grpSpPr>
      <p:sp>
        <p:nvSpPr>
          <p:cNvPr id="86" name="Google Shape;86;g32f76dadf62_0_33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87" name="Google Shape;87;g32f76dadf62_0_33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1600"/>
              </a:spcAft>
              <a:buClr>
                <a:schemeClr val="dk1"/>
              </a:buClr>
              <a:buSzPts val="1800"/>
              <a:buChar char="■"/>
              <a:defRPr/>
            </a:lvl9pPr>
          </a:lstStyle>
          <a:p/>
        </p:txBody>
      </p:sp>
      <p:sp>
        <p:nvSpPr>
          <p:cNvPr id="88" name="Google Shape;88;g32f76dadf62_0_33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g32f76dadf62_0_33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g32f76dadf62_0_3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9" name="Shape 9"/>
        <p:cNvGrpSpPr/>
        <p:nvPr/>
      </p:nvGrpSpPr>
      <p:grpSpPr>
        <a:xfrm>
          <a:off x="0" y="0"/>
          <a:ext cx="0" cy="0"/>
          <a:chOff x="0" y="0"/>
          <a:chExt cx="0" cy="0"/>
        </a:xfrm>
      </p:grpSpPr>
      <p:sp>
        <p:nvSpPr>
          <p:cNvPr id="10" name="Google Shape;10;g32f76dadf62_0_261"/>
          <p:cNvSpPr txBox="1"/>
          <p:nvPr>
            <p:ph type="title"/>
          </p:nvPr>
        </p:nvSpPr>
        <p:spPr>
          <a:xfrm>
            <a:off x="415600" y="546667"/>
            <a:ext cx="11360700" cy="8103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1pPr>
            <a:lvl2pPr lvl="1">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2pPr>
            <a:lvl3pPr lvl="2">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3pPr>
            <a:lvl4pPr lvl="3">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4pPr>
            <a:lvl5pPr lvl="4">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5pPr>
            <a:lvl6pPr lvl="5">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6pPr>
            <a:lvl7pPr lvl="6">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7pPr>
            <a:lvl8pPr lvl="7">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8pPr>
            <a:lvl9pPr lvl="8">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9pPr>
          </a:lstStyle>
          <a:p/>
        </p:txBody>
      </p:sp>
      <p:sp>
        <p:nvSpPr>
          <p:cNvPr id="11" name="Google Shape;11;g32f76dadf62_0_261"/>
          <p:cNvSpPr txBox="1"/>
          <p:nvPr>
            <p:ph idx="1" type="body"/>
          </p:nvPr>
        </p:nvSpPr>
        <p:spPr>
          <a:xfrm>
            <a:off x="415600" y="1639833"/>
            <a:ext cx="11360700" cy="44520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Font typeface="Roboto"/>
              <a:buChar char="●"/>
              <a:defRPr sz="2400">
                <a:solidFill>
                  <a:schemeClr val="dk2"/>
                </a:solidFill>
                <a:latin typeface="Roboto"/>
                <a:ea typeface="Roboto"/>
                <a:cs typeface="Roboto"/>
                <a:sym typeface="Roboto"/>
              </a:defRPr>
            </a:lvl1pPr>
            <a:lvl2pPr indent="-349250" lvl="1" marL="9144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2pPr>
            <a:lvl3pPr indent="-349250" lvl="2" marL="13716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3pPr>
            <a:lvl4pPr indent="-349250" lvl="3" marL="18288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4pPr>
            <a:lvl5pPr indent="-349250" lvl="4" marL="22860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5pPr>
            <a:lvl6pPr indent="-349250" lvl="5" marL="27432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6pPr>
            <a:lvl7pPr indent="-349250" lvl="6" marL="32004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7pPr>
            <a:lvl8pPr indent="-349250" lvl="7" marL="36576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8pPr>
            <a:lvl9pPr indent="-349250" lvl="8" marL="41148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9pPr>
          </a:lstStyle>
          <a:p/>
        </p:txBody>
      </p:sp>
      <p:sp>
        <p:nvSpPr>
          <p:cNvPr id="12" name="Google Shape;12;g32f76dadf62_0_261"/>
          <p:cNvSpPr txBox="1"/>
          <p:nvPr>
            <p:ph idx="12" type="sldNum"/>
          </p:nvPr>
        </p:nvSpPr>
        <p:spPr>
          <a:xfrm>
            <a:off x="11280575" y="6201587"/>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lt1"/>
                </a:solidFill>
                <a:latin typeface="Roboto"/>
                <a:ea typeface="Roboto"/>
                <a:cs typeface="Roboto"/>
                <a:sym typeface="Roboto"/>
              </a:defRPr>
            </a:lvl1pPr>
            <a:lvl2pPr lvl="1" algn="r">
              <a:buNone/>
              <a:defRPr sz="1300">
                <a:solidFill>
                  <a:schemeClr val="lt1"/>
                </a:solidFill>
                <a:latin typeface="Roboto"/>
                <a:ea typeface="Roboto"/>
                <a:cs typeface="Roboto"/>
                <a:sym typeface="Roboto"/>
              </a:defRPr>
            </a:lvl2pPr>
            <a:lvl3pPr lvl="2" algn="r">
              <a:buNone/>
              <a:defRPr sz="1300">
                <a:solidFill>
                  <a:schemeClr val="lt1"/>
                </a:solidFill>
                <a:latin typeface="Roboto"/>
                <a:ea typeface="Roboto"/>
                <a:cs typeface="Roboto"/>
                <a:sym typeface="Roboto"/>
              </a:defRPr>
            </a:lvl3pPr>
            <a:lvl4pPr lvl="3" algn="r">
              <a:buNone/>
              <a:defRPr sz="1300">
                <a:solidFill>
                  <a:schemeClr val="lt1"/>
                </a:solidFill>
                <a:latin typeface="Roboto"/>
                <a:ea typeface="Roboto"/>
                <a:cs typeface="Roboto"/>
                <a:sym typeface="Roboto"/>
              </a:defRPr>
            </a:lvl4pPr>
            <a:lvl5pPr lvl="4" algn="r">
              <a:buNone/>
              <a:defRPr sz="1300">
                <a:solidFill>
                  <a:schemeClr val="lt1"/>
                </a:solidFill>
                <a:latin typeface="Roboto"/>
                <a:ea typeface="Roboto"/>
                <a:cs typeface="Roboto"/>
                <a:sym typeface="Roboto"/>
              </a:defRPr>
            </a:lvl5pPr>
            <a:lvl6pPr lvl="5" algn="r">
              <a:buNone/>
              <a:defRPr sz="1300">
                <a:solidFill>
                  <a:schemeClr val="lt1"/>
                </a:solidFill>
                <a:latin typeface="Roboto"/>
                <a:ea typeface="Roboto"/>
                <a:cs typeface="Roboto"/>
                <a:sym typeface="Roboto"/>
              </a:defRPr>
            </a:lvl6pPr>
            <a:lvl7pPr lvl="6" algn="r">
              <a:buNone/>
              <a:defRPr sz="1300">
                <a:solidFill>
                  <a:schemeClr val="lt1"/>
                </a:solidFill>
                <a:latin typeface="Roboto"/>
                <a:ea typeface="Roboto"/>
                <a:cs typeface="Roboto"/>
                <a:sym typeface="Roboto"/>
              </a:defRPr>
            </a:lvl7pPr>
            <a:lvl8pPr lvl="7" algn="r">
              <a:buNone/>
              <a:defRPr sz="1300">
                <a:solidFill>
                  <a:schemeClr val="lt1"/>
                </a:solidFill>
                <a:latin typeface="Roboto"/>
                <a:ea typeface="Roboto"/>
                <a:cs typeface="Roboto"/>
                <a:sym typeface="Roboto"/>
              </a:defRPr>
            </a:lvl8pPr>
            <a:lvl9pPr lvl="8" algn="r">
              <a:buNone/>
              <a:defRPr sz="13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comments" Target="../comments/commen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comments" Target="../comments/commen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hyperlink" Target="https://cylera.com/implementing-zero-trust-in-healthcare" TargetMode="External"/><Relationship Id="rId4" Type="http://schemas.openxmlformats.org/officeDocument/2006/relationships/hyperlink" Target="https://healthtechmagazine.net/article/2023/02/zero-trust-in-healthcare-perfcon" TargetMode="External"/><Relationship Id="rId5" Type="http://schemas.openxmlformats.org/officeDocument/2006/relationships/hyperlink" Target="https://doi.org/10.6028/NIST.AI.100-1" TargetMode="External"/><Relationship Id="rId6" Type="http://schemas.openxmlformats.org/officeDocument/2006/relationships/hyperlink" Target="https://doi.org/10.6028/NIST.SP.800-207" TargetMode="External"/><Relationship Id="rId7" Type="http://schemas.openxmlformats.org/officeDocument/2006/relationships/hyperlink" Target="https://pmc.ncbi.nlm.nih.gov/articles/PMC1035966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hyperlink" Target="https://www.reuters.com/technology/cybersecurity/biden-administration-proposes-new-cybersecurity-rules-limit-impact-healthcare-2024-12-27" TargetMode="External"/><Relationship Id="rId4" Type="http://schemas.openxmlformats.org/officeDocument/2006/relationships/hyperlink" Target="https://www.hhs.gov/sites/default/files/zero-trust.pdf" TargetMode="External"/><Relationship Id="rId5" Type="http://schemas.openxmlformats.org/officeDocument/2006/relationships/hyperlink" Target="https://www.hhs.gov/sites/default/files/zero-trust.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type="ctrTitle"/>
          </p:nvPr>
        </p:nvSpPr>
        <p:spPr>
          <a:xfrm>
            <a:off x="797467" y="2366963"/>
            <a:ext cx="10962900" cy="1118400"/>
          </a:xfrm>
          <a:prstGeom prst="rect">
            <a:avLst/>
          </a:prstGeom>
          <a:noFill/>
          <a:ln>
            <a:noFill/>
          </a:ln>
        </p:spPr>
        <p:txBody>
          <a:bodyPr anchorCtr="0" anchor="b" bIns="45700" lIns="91425" spcFirstLastPara="1" rIns="91425" wrap="square" tIns="45700">
            <a:noAutofit/>
          </a:bodyPr>
          <a:lstStyle/>
          <a:p>
            <a:pPr indent="0" lvl="0" marL="0" rtl="0" algn="ctr">
              <a:lnSpc>
                <a:spcPct val="115000"/>
              </a:lnSpc>
              <a:spcBef>
                <a:spcPts val="0"/>
              </a:spcBef>
              <a:spcAft>
                <a:spcPts val="0"/>
              </a:spcAft>
              <a:buClr>
                <a:schemeClr val="dk1"/>
              </a:buClr>
              <a:buSzPts val="1100"/>
              <a:buFont typeface="Arial"/>
              <a:buNone/>
            </a:pPr>
            <a:r>
              <a:rPr lang="en-US" sz="5000">
                <a:latin typeface="Calibri"/>
                <a:ea typeface="Calibri"/>
                <a:cs typeface="Calibri"/>
                <a:sym typeface="Calibri"/>
              </a:rPr>
              <a:t>Building Digital Trust &amp; Zero Trust Security: A Strategic Roadmap for CHS</a:t>
            </a:r>
            <a:endParaRPr sz="5000">
              <a:latin typeface="Calibri"/>
              <a:ea typeface="Calibri"/>
              <a:cs typeface="Calibri"/>
              <a:sym typeface="Calibri"/>
            </a:endParaRPr>
          </a:p>
        </p:txBody>
      </p:sp>
      <p:sp>
        <p:nvSpPr>
          <p:cNvPr id="97" name="Google Shape;97;p1"/>
          <p:cNvSpPr txBox="1"/>
          <p:nvPr>
            <p:ph idx="1" type="subTitle"/>
          </p:nvPr>
        </p:nvSpPr>
        <p:spPr>
          <a:xfrm>
            <a:off x="1524000" y="3602037"/>
            <a:ext cx="9144000" cy="19848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t/>
            </a:r>
            <a:endParaRPr sz="1800">
              <a:latin typeface="Calibri"/>
              <a:ea typeface="Calibri"/>
              <a:cs typeface="Calibri"/>
              <a:sym typeface="Calibri"/>
            </a:endParaRPr>
          </a:p>
          <a:p>
            <a:pPr indent="0" lvl="0" marL="0" rtl="0" algn="ctr">
              <a:lnSpc>
                <a:spcPct val="90000"/>
              </a:lnSpc>
              <a:spcBef>
                <a:spcPts val="1000"/>
              </a:spcBef>
              <a:spcAft>
                <a:spcPts val="0"/>
              </a:spcAft>
              <a:buClr>
                <a:schemeClr val="dk1"/>
              </a:buClr>
              <a:buSzPts val="2400"/>
              <a:buNone/>
            </a:pPr>
            <a:r>
              <a:rPr lang="en-US" sz="1800">
                <a:latin typeface="Calibri"/>
                <a:ea typeface="Calibri"/>
                <a:cs typeface="Calibri"/>
                <a:sym typeface="Calibri"/>
              </a:rPr>
              <a:t>Catalyst Strategy </a:t>
            </a:r>
            <a:r>
              <a:rPr lang="en-US" sz="1800">
                <a:latin typeface="Calibri"/>
                <a:ea typeface="Calibri"/>
                <a:cs typeface="Calibri"/>
                <a:sym typeface="Calibri"/>
              </a:rPr>
              <a:t>Consultancy</a:t>
            </a:r>
            <a:endParaRPr sz="1800">
              <a:latin typeface="Calibri"/>
              <a:ea typeface="Calibri"/>
              <a:cs typeface="Calibri"/>
              <a:sym typeface="Calibri"/>
            </a:endParaRPr>
          </a:p>
          <a:p>
            <a:pPr indent="0" lvl="0" marL="0" rtl="0" algn="ctr">
              <a:lnSpc>
                <a:spcPct val="90000"/>
              </a:lnSpc>
              <a:spcBef>
                <a:spcPts val="1000"/>
              </a:spcBef>
              <a:spcAft>
                <a:spcPts val="0"/>
              </a:spcAft>
              <a:buClr>
                <a:schemeClr val="dk1"/>
              </a:buClr>
              <a:buSzPts val="2400"/>
              <a:buNone/>
            </a:pPr>
            <a:r>
              <a:rPr lang="en-US" sz="1800">
                <a:latin typeface="Calibri"/>
                <a:ea typeface="Calibri"/>
                <a:cs typeface="Calibri"/>
                <a:sym typeface="Calibri"/>
              </a:rPr>
              <a:t>Samin Bahizad, Victor Shlepov, Trey Pezzetti, Kevin Shin</a:t>
            </a:r>
            <a:endParaRPr sz="1800">
              <a:latin typeface="Calibri"/>
              <a:ea typeface="Calibri"/>
              <a:cs typeface="Calibri"/>
              <a:sym typeface="Calibri"/>
            </a:endParaRPr>
          </a:p>
          <a:p>
            <a:pPr indent="0" lvl="0" marL="0" rtl="0" algn="ctr">
              <a:lnSpc>
                <a:spcPct val="90000"/>
              </a:lnSpc>
              <a:spcBef>
                <a:spcPts val="1000"/>
              </a:spcBef>
              <a:spcAft>
                <a:spcPts val="0"/>
              </a:spcAft>
              <a:buClr>
                <a:schemeClr val="dk1"/>
              </a:buClr>
              <a:buSzPts val="2400"/>
              <a:buNone/>
            </a:pPr>
            <a:r>
              <a:rPr lang="en-US" sz="1800">
                <a:latin typeface="Calibri"/>
                <a:ea typeface="Calibri"/>
                <a:cs typeface="Calibri"/>
                <a:sym typeface="Calibri"/>
              </a:rPr>
              <a:t>Feb 9, 2025</a:t>
            </a:r>
            <a:endParaRPr sz="1800">
              <a:latin typeface="Calibri"/>
              <a:ea typeface="Calibri"/>
              <a:cs typeface="Calibri"/>
              <a:sym typeface="Calibri"/>
            </a:endParaRPr>
          </a:p>
          <a:p>
            <a:pPr indent="0" lvl="0" marL="0" rtl="0" algn="ctr">
              <a:lnSpc>
                <a:spcPct val="90000"/>
              </a:lnSpc>
              <a:spcBef>
                <a:spcPts val="1000"/>
              </a:spcBef>
              <a:spcAft>
                <a:spcPts val="0"/>
              </a:spcAft>
              <a:buClr>
                <a:schemeClr val="dk1"/>
              </a:buClr>
              <a:buSzPts val="2400"/>
              <a:buNone/>
            </a:pPr>
            <a:r>
              <a:t/>
            </a:r>
            <a:endParaRPr sz="1800">
              <a:latin typeface="Calibri"/>
              <a:ea typeface="Calibri"/>
              <a:cs typeface="Calibri"/>
              <a:sym typeface="Calibri"/>
            </a:endParaRPr>
          </a:p>
          <a:p>
            <a:pPr indent="0" lvl="0" marL="0" rtl="0" algn="ctr">
              <a:lnSpc>
                <a:spcPct val="90000"/>
              </a:lnSpc>
              <a:spcBef>
                <a:spcPts val="1000"/>
              </a:spcBef>
              <a:spcAft>
                <a:spcPts val="0"/>
              </a:spcAft>
              <a:buClr>
                <a:schemeClr val="dk1"/>
              </a:buClr>
              <a:buSzPts val="2400"/>
              <a:buNone/>
            </a:pPr>
            <a:r>
              <a:t/>
            </a:r>
            <a:endParaRPr sz="18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2d8e13a7dad_0_87"/>
          <p:cNvSpPr txBox="1"/>
          <p:nvPr>
            <p:ph type="ctrTitle"/>
          </p:nvPr>
        </p:nvSpPr>
        <p:spPr>
          <a:xfrm>
            <a:off x="1524000" y="1921463"/>
            <a:ext cx="9144000" cy="2387700"/>
          </a:xfrm>
          <a:prstGeom prst="rect">
            <a:avLst/>
          </a:prstGeom>
          <a:noFill/>
          <a:ln>
            <a:noFill/>
          </a:ln>
        </p:spPr>
        <p:txBody>
          <a:bodyPr anchorCtr="0" anchor="b"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US" sz="3900">
                <a:latin typeface="Calibri"/>
                <a:ea typeface="Calibri"/>
                <a:cs typeface="Calibri"/>
                <a:sym typeface="Calibri"/>
              </a:rPr>
              <a:t>Section 1: Client Overview and Need for Digital Trust</a:t>
            </a:r>
            <a:endParaRPr sz="44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2f95645efb_0_5"/>
          <p:cNvSpPr/>
          <p:nvPr/>
        </p:nvSpPr>
        <p:spPr>
          <a:xfrm flipH="1" rot="10800000">
            <a:off x="0" y="96"/>
            <a:ext cx="12192000" cy="2371038"/>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2100" u="none" cap="none" strike="noStrike">
              <a:solidFill>
                <a:schemeClr val="dk1"/>
              </a:solidFill>
              <a:latin typeface="Calibri"/>
              <a:ea typeface="Calibri"/>
              <a:cs typeface="Calibri"/>
              <a:sym typeface="Calibri"/>
            </a:endParaRPr>
          </a:p>
        </p:txBody>
      </p:sp>
      <p:sp>
        <p:nvSpPr>
          <p:cNvPr id="110" name="Google Shape;110;g32f95645efb_0_5"/>
          <p:cNvSpPr txBox="1"/>
          <p:nvPr>
            <p:ph type="title"/>
          </p:nvPr>
        </p:nvSpPr>
        <p:spPr>
          <a:xfrm>
            <a:off x="389675" y="415267"/>
            <a:ext cx="11360700" cy="8103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SzPts val="990"/>
              <a:buNone/>
            </a:pPr>
            <a:r>
              <a:rPr b="1" lang="en-US" sz="3900">
                <a:latin typeface="Calibri"/>
                <a:ea typeface="Calibri"/>
                <a:cs typeface="Calibri"/>
                <a:sym typeface="Calibri"/>
              </a:rPr>
              <a:t>Client Overview: Community Health Systems (CHS)</a:t>
            </a:r>
            <a:endParaRPr b="1" sz="3900">
              <a:latin typeface="Calibri"/>
              <a:ea typeface="Calibri"/>
              <a:cs typeface="Calibri"/>
              <a:sym typeface="Calibri"/>
            </a:endParaRPr>
          </a:p>
        </p:txBody>
      </p:sp>
      <p:grpSp>
        <p:nvGrpSpPr>
          <p:cNvPr id="111" name="Google Shape;111;g32f95645efb_0_5"/>
          <p:cNvGrpSpPr/>
          <p:nvPr/>
        </p:nvGrpSpPr>
        <p:grpSpPr>
          <a:xfrm>
            <a:off x="1543022" y="1996375"/>
            <a:ext cx="9054011" cy="4734361"/>
            <a:chOff x="70177" y="433018"/>
            <a:chExt cx="5258457" cy="3355323"/>
          </a:xfrm>
        </p:grpSpPr>
        <p:sp>
          <p:nvSpPr>
            <p:cNvPr id="112" name="Google Shape;112;g32f95645efb_0_5"/>
            <p:cNvSpPr/>
            <p:nvPr/>
          </p:nvSpPr>
          <p:spPr>
            <a:xfrm>
              <a:off x="403159" y="433035"/>
              <a:ext cx="1020000" cy="992100"/>
            </a:xfrm>
            <a:prstGeom prst="rect">
              <a:avLst/>
            </a:prstGeom>
            <a:blipFill rotWithShape="1">
              <a:blip r:embed="rId3">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p:txBody>
        </p:sp>
        <p:sp>
          <p:nvSpPr>
            <p:cNvPr id="113" name="Google Shape;113;g32f95645efb_0_5"/>
            <p:cNvSpPr/>
            <p:nvPr/>
          </p:nvSpPr>
          <p:spPr>
            <a:xfrm>
              <a:off x="70177" y="1191830"/>
              <a:ext cx="1569600" cy="62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p:txBody>
        </p:sp>
        <p:sp>
          <p:nvSpPr>
            <p:cNvPr id="114" name="Google Shape;114;g32f95645efb_0_5"/>
            <p:cNvSpPr txBox="1"/>
            <p:nvPr/>
          </p:nvSpPr>
          <p:spPr>
            <a:xfrm>
              <a:off x="170967" y="1391544"/>
              <a:ext cx="1468800" cy="83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600">
                  <a:solidFill>
                    <a:schemeClr val="dk1"/>
                  </a:solidFill>
                  <a:latin typeface="Calibri"/>
                  <a:ea typeface="Calibri"/>
                  <a:cs typeface="Calibri"/>
                  <a:sym typeface="Calibri"/>
                </a:rPr>
                <a:t>One of the nation’s leading healthcare providers.CHS operates 67 acute-care hospitals and more than 1,000 other sites of care</a:t>
              </a:r>
              <a:endParaRPr sz="1600">
                <a:solidFill>
                  <a:schemeClr val="dk1"/>
                </a:solidFill>
                <a:latin typeface="Calibri"/>
                <a:ea typeface="Calibri"/>
                <a:cs typeface="Calibri"/>
                <a:sym typeface="Calibri"/>
              </a:endParaRPr>
            </a:p>
          </p:txBody>
        </p:sp>
        <p:sp>
          <p:nvSpPr>
            <p:cNvPr id="115" name="Google Shape;115;g32f95645efb_0_5"/>
            <p:cNvSpPr/>
            <p:nvPr/>
          </p:nvSpPr>
          <p:spPr>
            <a:xfrm>
              <a:off x="2189080" y="433018"/>
              <a:ext cx="1020000" cy="992100"/>
            </a:xfrm>
            <a:prstGeom prst="rect">
              <a:avLst/>
            </a:prstGeom>
            <a:blipFill rotWithShape="1">
              <a:blip r:embed="rId4">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p:txBody>
        </p:sp>
        <p:sp>
          <p:nvSpPr>
            <p:cNvPr id="116" name="Google Shape;116;g32f95645efb_0_5"/>
            <p:cNvSpPr/>
            <p:nvPr/>
          </p:nvSpPr>
          <p:spPr>
            <a:xfrm>
              <a:off x="1914606" y="1191830"/>
              <a:ext cx="1569600" cy="62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p:txBody>
        </p:sp>
        <p:sp>
          <p:nvSpPr>
            <p:cNvPr id="117" name="Google Shape;117;g32f95645efb_0_5"/>
            <p:cNvSpPr txBox="1"/>
            <p:nvPr/>
          </p:nvSpPr>
          <p:spPr>
            <a:xfrm>
              <a:off x="1960662" y="1361896"/>
              <a:ext cx="1569600" cy="627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lang="en-US" sz="1600">
                  <a:solidFill>
                    <a:schemeClr val="dk1"/>
                  </a:solidFill>
                  <a:latin typeface="Calibri"/>
                  <a:ea typeface="Calibri"/>
                  <a:cs typeface="Calibri"/>
                  <a:sym typeface="Calibri"/>
                </a:rPr>
                <a:t>Nationwide presence from Alaska to Florida and Pennsylvania to Arizona. </a:t>
              </a:r>
              <a:endParaRPr sz="1600">
                <a:solidFill>
                  <a:schemeClr val="dk1"/>
                </a:solidFill>
                <a:latin typeface="Calibri"/>
                <a:ea typeface="Calibri"/>
                <a:cs typeface="Calibri"/>
                <a:sym typeface="Calibri"/>
              </a:endParaRPr>
            </a:p>
          </p:txBody>
        </p:sp>
        <p:sp>
          <p:nvSpPr>
            <p:cNvPr id="118" name="Google Shape;118;g32f95645efb_0_5"/>
            <p:cNvSpPr/>
            <p:nvPr/>
          </p:nvSpPr>
          <p:spPr>
            <a:xfrm>
              <a:off x="4033516" y="433036"/>
              <a:ext cx="1020000" cy="928800"/>
            </a:xfrm>
            <a:prstGeom prst="rect">
              <a:avLst/>
            </a:prstGeom>
            <a:blipFill rotWithShape="1">
              <a:blip r:embed="rId5">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p:txBody>
        </p:sp>
        <p:sp>
          <p:nvSpPr>
            <p:cNvPr id="119" name="Google Shape;119;g32f95645efb_0_5"/>
            <p:cNvSpPr/>
            <p:nvPr/>
          </p:nvSpPr>
          <p:spPr>
            <a:xfrm>
              <a:off x="3759034" y="1191830"/>
              <a:ext cx="1569600" cy="62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p:txBody>
        </p:sp>
        <p:sp>
          <p:nvSpPr>
            <p:cNvPr id="120" name="Google Shape;120;g32f95645efb_0_5"/>
            <p:cNvSpPr txBox="1"/>
            <p:nvPr/>
          </p:nvSpPr>
          <p:spPr>
            <a:xfrm>
              <a:off x="3759034" y="1494904"/>
              <a:ext cx="1569600" cy="627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i="0" lang="en-US" sz="1600" u="none" cap="none" strike="noStrike">
                  <a:solidFill>
                    <a:schemeClr val="dk1"/>
                  </a:solidFill>
                  <a:latin typeface="Calibri"/>
                  <a:ea typeface="Calibri"/>
                  <a:cs typeface="Calibri"/>
                  <a:sym typeface="Calibri"/>
                </a:rPr>
                <a:t>5 million outpatient and </a:t>
              </a:r>
              <a:r>
                <a:rPr lang="en-US" sz="1600">
                  <a:solidFill>
                    <a:schemeClr val="dk1"/>
                  </a:solidFill>
                  <a:latin typeface="Calibri"/>
                  <a:ea typeface="Calibri"/>
                  <a:cs typeface="Calibri"/>
                  <a:sym typeface="Calibri"/>
                </a:rPr>
                <a:t>434,000 </a:t>
              </a:r>
              <a:r>
                <a:rPr i="0" lang="en-US" sz="1600" u="none" cap="none" strike="noStrike">
                  <a:solidFill>
                    <a:schemeClr val="dk1"/>
                  </a:solidFill>
                  <a:latin typeface="Calibri"/>
                  <a:ea typeface="Calibri"/>
                  <a:cs typeface="Calibri"/>
                  <a:sym typeface="Calibri"/>
                </a:rPr>
                <a:t>thousand inpatient visits annually</a:t>
              </a:r>
              <a:endParaRPr sz="1600">
                <a:solidFill>
                  <a:schemeClr val="dk1"/>
                </a:solidFill>
                <a:latin typeface="Calibri"/>
                <a:ea typeface="Calibri"/>
                <a:cs typeface="Calibri"/>
                <a:sym typeface="Calibri"/>
              </a:endParaRPr>
            </a:p>
          </p:txBody>
        </p:sp>
        <p:sp>
          <p:nvSpPr>
            <p:cNvPr id="121" name="Google Shape;121;g32f95645efb_0_5"/>
            <p:cNvSpPr/>
            <p:nvPr/>
          </p:nvSpPr>
          <p:spPr>
            <a:xfrm>
              <a:off x="1091129" y="2212146"/>
              <a:ext cx="1195800" cy="928800"/>
            </a:xfrm>
            <a:prstGeom prst="rect">
              <a:avLst/>
            </a:prstGeom>
            <a:blipFill rotWithShape="1">
              <a:blip r:embed="rId6">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p:txBody>
        </p:sp>
        <p:sp>
          <p:nvSpPr>
            <p:cNvPr id="122" name="Google Shape;122;g32f95645efb_0_5"/>
            <p:cNvSpPr/>
            <p:nvPr/>
          </p:nvSpPr>
          <p:spPr>
            <a:xfrm>
              <a:off x="992391" y="3160441"/>
              <a:ext cx="1569600" cy="62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p:txBody>
        </p:sp>
        <p:sp>
          <p:nvSpPr>
            <p:cNvPr id="123" name="Google Shape;123;g32f95645efb_0_5"/>
            <p:cNvSpPr txBox="1"/>
            <p:nvPr/>
          </p:nvSpPr>
          <p:spPr>
            <a:xfrm>
              <a:off x="992391" y="3082044"/>
              <a:ext cx="1569600" cy="627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i="0" lang="en-US" sz="1600" u="none" cap="none" strike="noStrike">
                  <a:solidFill>
                    <a:schemeClr val="dk1"/>
                  </a:solidFill>
                  <a:latin typeface="Calibri"/>
                  <a:ea typeface="Calibri"/>
                  <a:cs typeface="Calibri"/>
                  <a:sym typeface="Calibri"/>
                </a:rPr>
                <a:t>76,000 staff members, including 5,500 physicians</a:t>
              </a:r>
              <a:endParaRPr sz="1600">
                <a:latin typeface="Calibri"/>
                <a:ea typeface="Calibri"/>
                <a:cs typeface="Calibri"/>
                <a:sym typeface="Calibri"/>
              </a:endParaRPr>
            </a:p>
          </p:txBody>
        </p:sp>
        <p:sp>
          <p:nvSpPr>
            <p:cNvPr id="124" name="Google Shape;124;g32f95645efb_0_5"/>
            <p:cNvSpPr/>
            <p:nvPr/>
          </p:nvSpPr>
          <p:spPr>
            <a:xfrm>
              <a:off x="3046409" y="2212164"/>
              <a:ext cx="1115400" cy="928800"/>
            </a:xfrm>
            <a:prstGeom prst="rect">
              <a:avLst/>
            </a:prstGeom>
            <a:blipFill rotWithShape="1">
              <a:blip r:embed="rId7">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p:txBody>
        </p:sp>
        <p:sp>
          <p:nvSpPr>
            <p:cNvPr id="125" name="Google Shape;125;g32f95645efb_0_5"/>
            <p:cNvSpPr/>
            <p:nvPr/>
          </p:nvSpPr>
          <p:spPr>
            <a:xfrm>
              <a:off x="2836820" y="3160441"/>
              <a:ext cx="1569600" cy="627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p:txBody>
        </p:sp>
        <p:sp>
          <p:nvSpPr>
            <p:cNvPr id="126" name="Google Shape;126;g32f95645efb_0_5"/>
            <p:cNvSpPr txBox="1"/>
            <p:nvPr/>
          </p:nvSpPr>
          <p:spPr>
            <a:xfrm>
              <a:off x="2836820" y="3160437"/>
              <a:ext cx="1569600" cy="627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i="0" lang="en-US" sz="1600" u="none" cap="none" strike="noStrike">
                  <a:solidFill>
                    <a:schemeClr val="dk1"/>
                  </a:solidFill>
                  <a:latin typeface="Calibri"/>
                  <a:ea typeface="Calibri"/>
                  <a:cs typeface="Calibri"/>
                  <a:sym typeface="Calibri"/>
                </a:rPr>
                <a:t>Consolidated revenue USD13.8 billion</a:t>
              </a:r>
              <a:endParaRPr sz="1600">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303852d907_0_4"/>
          <p:cNvSpPr/>
          <p:nvPr/>
        </p:nvSpPr>
        <p:spPr>
          <a:xfrm flipH="1" rot="10800000">
            <a:off x="0" y="96"/>
            <a:ext cx="12192000" cy="2371038"/>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Calibri"/>
              <a:ea typeface="Calibri"/>
              <a:cs typeface="Calibri"/>
              <a:sym typeface="Calibri"/>
            </a:endParaRPr>
          </a:p>
        </p:txBody>
      </p:sp>
      <p:sp>
        <p:nvSpPr>
          <p:cNvPr id="133" name="Google Shape;133;g3303852d907_0_4"/>
          <p:cNvSpPr txBox="1"/>
          <p:nvPr>
            <p:ph type="title"/>
          </p:nvPr>
        </p:nvSpPr>
        <p:spPr>
          <a:xfrm>
            <a:off x="349900" y="415292"/>
            <a:ext cx="11360700" cy="810300"/>
          </a:xfrm>
          <a:prstGeom prst="rect">
            <a:avLst/>
          </a:prstGeom>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b="1" lang="en-US" sz="3900">
                <a:latin typeface="Calibri"/>
                <a:ea typeface="Calibri"/>
                <a:cs typeface="Calibri"/>
                <a:sym typeface="Calibri"/>
              </a:rPr>
              <a:t>Trends and Challenges </a:t>
            </a:r>
            <a:endParaRPr b="1" sz="3900">
              <a:latin typeface="Calibri"/>
              <a:ea typeface="Calibri"/>
              <a:cs typeface="Calibri"/>
              <a:sym typeface="Calibri"/>
            </a:endParaRPr>
          </a:p>
        </p:txBody>
      </p:sp>
      <p:sp>
        <p:nvSpPr>
          <p:cNvPr id="134" name="Google Shape;134;g3303852d907_0_4"/>
          <p:cNvSpPr txBox="1"/>
          <p:nvPr/>
        </p:nvSpPr>
        <p:spPr>
          <a:xfrm>
            <a:off x="800650" y="2371125"/>
            <a:ext cx="10590600" cy="317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2300">
                <a:solidFill>
                  <a:schemeClr val="dk1"/>
                </a:solidFill>
                <a:latin typeface="Calibri"/>
                <a:ea typeface="Calibri"/>
                <a:cs typeface="Calibri"/>
                <a:sym typeface="Calibri"/>
              </a:rPr>
              <a:t>Current Trends &amp; Industry Challenges</a:t>
            </a:r>
            <a:endParaRPr b="1" sz="2300">
              <a:solidFill>
                <a:schemeClr val="dk1"/>
              </a:solidFill>
              <a:latin typeface="Calibri"/>
              <a:ea typeface="Calibri"/>
              <a:cs typeface="Calibri"/>
              <a:sym typeface="Calibri"/>
            </a:endParaRPr>
          </a:p>
          <a:p>
            <a:pPr indent="-342900" lvl="0" marL="457200" rtl="0" algn="l">
              <a:lnSpc>
                <a:spcPct val="115000"/>
              </a:lnSpc>
              <a:spcBef>
                <a:spcPts val="1200"/>
              </a:spcBef>
              <a:spcAft>
                <a:spcPts val="0"/>
              </a:spcAft>
              <a:buClr>
                <a:schemeClr val="dk1"/>
              </a:buClr>
              <a:buSzPts val="1800"/>
              <a:buFont typeface="Calibri"/>
              <a:buChar char="●"/>
            </a:pPr>
            <a:r>
              <a:rPr lang="en-US" sz="1800" u="sng">
                <a:solidFill>
                  <a:schemeClr val="dk1"/>
                </a:solidFill>
                <a:latin typeface="Calibri"/>
                <a:ea typeface="Calibri"/>
                <a:cs typeface="Calibri"/>
                <a:sym typeface="Calibri"/>
              </a:rPr>
              <a:t>Shift to Preventative Healthcare: </a:t>
            </a:r>
            <a:r>
              <a:rPr lang="en-US" sz="1800">
                <a:solidFill>
                  <a:schemeClr val="dk1"/>
                </a:solidFill>
                <a:latin typeface="Calibri"/>
                <a:ea typeface="Calibri"/>
                <a:cs typeface="Calibri"/>
                <a:sym typeface="Calibri"/>
              </a:rPr>
              <a:t>Focus on wellness and early intervention</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US" sz="1800" u="sng">
                <a:solidFill>
                  <a:schemeClr val="dk1"/>
                </a:solidFill>
                <a:latin typeface="Calibri"/>
                <a:ea typeface="Calibri"/>
                <a:cs typeface="Calibri"/>
                <a:sym typeface="Calibri"/>
              </a:rPr>
              <a:t>Remote &amp; Telehealth Growth:</a:t>
            </a:r>
            <a:r>
              <a:rPr lang="en-US" sz="1800">
                <a:solidFill>
                  <a:schemeClr val="dk1"/>
                </a:solidFill>
                <a:latin typeface="Calibri"/>
                <a:ea typeface="Calibri"/>
                <a:cs typeface="Calibri"/>
                <a:sym typeface="Calibri"/>
              </a:rPr>
              <a:t> Increased reliance on digital health solutions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US" sz="1800" u="sng">
                <a:solidFill>
                  <a:schemeClr val="dk1"/>
                </a:solidFill>
                <a:latin typeface="Calibri"/>
                <a:ea typeface="Calibri"/>
                <a:cs typeface="Calibri"/>
                <a:sym typeface="Calibri"/>
              </a:rPr>
              <a:t>Rising Cybersecurity Threats: </a:t>
            </a:r>
            <a:r>
              <a:rPr lang="en-US" sz="1800">
                <a:solidFill>
                  <a:schemeClr val="dk1"/>
                </a:solidFill>
                <a:latin typeface="Calibri"/>
                <a:ea typeface="Calibri"/>
                <a:cs typeface="Calibri"/>
                <a:sym typeface="Calibri"/>
              </a:rPr>
              <a:t>More frequent data breaches and ransomware attacks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US" sz="1800" u="sng">
                <a:solidFill>
                  <a:schemeClr val="dk1"/>
                </a:solidFill>
                <a:latin typeface="Calibri"/>
                <a:ea typeface="Calibri"/>
                <a:cs typeface="Calibri"/>
                <a:sym typeface="Calibri"/>
              </a:rPr>
              <a:t>Regulatory Complexity: </a:t>
            </a:r>
            <a:r>
              <a:rPr lang="en-US" sz="1800">
                <a:solidFill>
                  <a:schemeClr val="dk1"/>
                </a:solidFill>
                <a:latin typeface="Calibri"/>
                <a:ea typeface="Calibri"/>
                <a:cs typeface="Calibri"/>
                <a:sym typeface="Calibri"/>
              </a:rPr>
              <a:t>Compliance with HIPAA, HITECH, and evolving AI governance laws</a:t>
            </a:r>
            <a:endParaRPr sz="1800">
              <a:solidFill>
                <a:schemeClr val="dk1"/>
              </a:solidFill>
              <a:latin typeface="Calibri"/>
              <a:ea typeface="Calibri"/>
              <a:cs typeface="Calibri"/>
              <a:sym typeface="Calibri"/>
            </a:endParaRPr>
          </a:p>
          <a:p>
            <a:pPr indent="-342900" lvl="0" marL="457200" rtl="0" algn="l">
              <a:lnSpc>
                <a:spcPct val="115000"/>
              </a:lnSpc>
              <a:spcBef>
                <a:spcPts val="0"/>
              </a:spcBef>
              <a:spcAft>
                <a:spcPts val="0"/>
              </a:spcAft>
              <a:buClr>
                <a:schemeClr val="dk1"/>
              </a:buClr>
              <a:buSzPts val="1800"/>
              <a:buFont typeface="Calibri"/>
              <a:buChar char="●"/>
            </a:pPr>
            <a:r>
              <a:rPr lang="en-US" sz="1800" u="sng">
                <a:solidFill>
                  <a:schemeClr val="dk1"/>
                </a:solidFill>
                <a:latin typeface="Calibri"/>
                <a:ea typeface="Calibri"/>
                <a:cs typeface="Calibri"/>
                <a:sym typeface="Calibri"/>
              </a:rPr>
              <a:t>AI in Healthcare:</a:t>
            </a:r>
            <a:r>
              <a:rPr lang="en-US" sz="1800">
                <a:solidFill>
                  <a:schemeClr val="dk1"/>
                </a:solidFill>
                <a:latin typeface="Calibri"/>
                <a:ea typeface="Calibri"/>
                <a:cs typeface="Calibri"/>
                <a:sym typeface="Calibri"/>
              </a:rPr>
              <a:t> Expanding role in diagnostics, decision support, and automation while raising ethical and security concerns</a:t>
            </a:r>
            <a:endParaRPr sz="18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sz="2350">
              <a:solidFill>
                <a:schemeClr val="dk1"/>
              </a:solidFill>
              <a:latin typeface="Calibri"/>
              <a:ea typeface="Calibri"/>
              <a:cs typeface="Calibri"/>
              <a:sym typeface="Calibri"/>
            </a:endParaRPr>
          </a:p>
        </p:txBody>
      </p:sp>
      <p:sp>
        <p:nvSpPr>
          <p:cNvPr id="135" name="Google Shape;135;g3303852d907_0_4"/>
          <p:cNvSpPr txBox="1"/>
          <p:nvPr/>
        </p:nvSpPr>
        <p:spPr>
          <a:xfrm>
            <a:off x="9925650"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latin typeface="Calibri"/>
                <a:ea typeface="Calibri"/>
                <a:cs typeface="Calibri"/>
                <a:sym typeface="Calibri"/>
              </a:rPr>
              <a:t>(Reuters 2024)</a:t>
            </a:r>
            <a:endParaRPr sz="23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lt1"/>
              </a:solidFill>
              <a:latin typeface="Calibri"/>
              <a:ea typeface="Calibri"/>
              <a:cs typeface="Calibri"/>
              <a:sym typeface="Calibri"/>
            </a:endParaRPr>
          </a:p>
        </p:txBody>
      </p:sp>
      <p:sp>
        <p:nvSpPr>
          <p:cNvPr id="142" name="Google Shape;142;p2"/>
          <p:cNvSpPr/>
          <p:nvPr/>
        </p:nvSpPr>
        <p:spPr>
          <a:xfrm flipH="1" rot="10800000">
            <a:off x="0" y="0"/>
            <a:ext cx="12192000" cy="2371134"/>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800" u="none" cap="none" strike="noStrike">
              <a:solidFill>
                <a:schemeClr val="dk1"/>
              </a:solidFill>
              <a:latin typeface="Calibri"/>
              <a:ea typeface="Calibri"/>
              <a:cs typeface="Calibri"/>
              <a:sym typeface="Calibri"/>
            </a:endParaRPr>
          </a:p>
        </p:txBody>
      </p:sp>
      <p:sp>
        <p:nvSpPr>
          <p:cNvPr id="143" name="Google Shape;143;p2"/>
          <p:cNvSpPr txBox="1"/>
          <p:nvPr>
            <p:ph type="title"/>
          </p:nvPr>
        </p:nvSpPr>
        <p:spPr>
          <a:xfrm>
            <a:off x="575425" y="365125"/>
            <a:ext cx="10515600" cy="9303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US" sz="3900">
                <a:latin typeface="Calibri"/>
                <a:ea typeface="Calibri"/>
                <a:cs typeface="Calibri"/>
                <a:sym typeface="Calibri"/>
              </a:rPr>
              <a:t>T</a:t>
            </a:r>
            <a:r>
              <a:rPr b="1" lang="en-US" sz="3900">
                <a:latin typeface="Calibri"/>
                <a:ea typeface="Calibri"/>
                <a:cs typeface="Calibri"/>
                <a:sym typeface="Calibri"/>
              </a:rPr>
              <a:t>he Digital Trust Imperative</a:t>
            </a:r>
            <a:endParaRPr b="1" sz="3900">
              <a:latin typeface="Calibri"/>
              <a:ea typeface="Calibri"/>
              <a:cs typeface="Calibri"/>
              <a:sym typeface="Calibri"/>
            </a:endParaRPr>
          </a:p>
        </p:txBody>
      </p:sp>
      <p:sp>
        <p:nvSpPr>
          <p:cNvPr id="144" name="Google Shape;144;p2"/>
          <p:cNvSpPr txBox="1"/>
          <p:nvPr/>
        </p:nvSpPr>
        <p:spPr>
          <a:xfrm>
            <a:off x="955229" y="2134000"/>
            <a:ext cx="7121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Why Trust Matters</a:t>
            </a:r>
            <a:endParaRPr b="1" sz="2400">
              <a:solidFill>
                <a:schemeClr val="dk1"/>
              </a:solidFill>
              <a:latin typeface="Calibri"/>
              <a:ea typeface="Calibri"/>
              <a:cs typeface="Calibri"/>
              <a:sym typeface="Calibri"/>
            </a:endParaRPr>
          </a:p>
        </p:txBody>
      </p:sp>
      <p:sp>
        <p:nvSpPr>
          <p:cNvPr id="145" name="Google Shape;145;p2"/>
          <p:cNvSpPr txBox="1"/>
          <p:nvPr/>
        </p:nvSpPr>
        <p:spPr>
          <a:xfrm>
            <a:off x="955226" y="2738900"/>
            <a:ext cx="4973400" cy="3182400"/>
          </a:xfrm>
          <a:prstGeom prst="rect">
            <a:avLst/>
          </a:prstGeom>
          <a:noFill/>
          <a:ln>
            <a:noFill/>
          </a:ln>
        </p:spPr>
        <p:txBody>
          <a:bodyPr anchorCtr="0" anchor="t" bIns="0" lIns="0" spcFirstLastPara="1" rIns="0" wrap="square" tIns="0">
            <a:noAutofit/>
          </a:bodyPr>
          <a:lstStyle/>
          <a:p>
            <a:pPr indent="-355600" lvl="0" marL="4572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Enhancing patient safety and care quality</a:t>
            </a:r>
            <a:endParaRPr sz="2000">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Ensuring data privacy and regulatory compliance</a:t>
            </a:r>
            <a:endParaRPr sz="2000">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Building confidence in AI-driven and digital healthcare solutions</a:t>
            </a:r>
            <a:endParaRPr sz="2000">
              <a:solidFill>
                <a:schemeClr val="dk1"/>
              </a:solidFill>
              <a:latin typeface="Calibri"/>
              <a:ea typeface="Calibri"/>
              <a:cs typeface="Calibri"/>
              <a:sym typeface="Calibri"/>
            </a:endParaRPr>
          </a:p>
        </p:txBody>
      </p:sp>
      <p:sp>
        <p:nvSpPr>
          <p:cNvPr id="146" name="Google Shape;146;p2"/>
          <p:cNvSpPr txBox="1"/>
          <p:nvPr/>
        </p:nvSpPr>
        <p:spPr>
          <a:xfrm>
            <a:off x="6096000" y="2024100"/>
            <a:ext cx="5624100" cy="328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latin typeface="Calibri"/>
                <a:ea typeface="Calibri"/>
                <a:cs typeface="Calibri"/>
                <a:sym typeface="Calibri"/>
              </a:rPr>
              <a:t>The Role of Digital Trust</a:t>
            </a:r>
            <a:endParaRPr b="1" sz="2400">
              <a:solidFill>
                <a:schemeClr val="dk1"/>
              </a:solidFill>
              <a:latin typeface="Calibri"/>
              <a:ea typeface="Calibri"/>
              <a:cs typeface="Calibri"/>
              <a:sym typeface="Calibri"/>
            </a:endParaRPr>
          </a:p>
          <a:p>
            <a:pPr indent="-355600" lvl="0" marL="457200" rtl="0" algn="l">
              <a:lnSpc>
                <a:spcPct val="115000"/>
              </a:lnSpc>
              <a:spcBef>
                <a:spcPts val="12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Secure, transparent data practices that align with HIPAA/HITECH</a:t>
            </a:r>
            <a:endParaRPr sz="2000">
              <a:solidFill>
                <a:schemeClr val="dk1"/>
              </a:solidFill>
              <a:latin typeface="Calibri"/>
              <a:ea typeface="Calibri"/>
              <a:cs typeface="Calibri"/>
              <a:sym typeface="Calibri"/>
            </a:endParaRPr>
          </a:p>
          <a:p>
            <a:pPr indent="-355600" lvl="0" marL="457200" rtl="0" algn="l">
              <a:lnSpc>
                <a:spcPct val="115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Trustworthy AI and digital tools that improve patient outcomes</a:t>
            </a:r>
            <a:endParaRPr sz="2000">
              <a:solidFill>
                <a:schemeClr val="dk1"/>
              </a:solidFill>
              <a:latin typeface="Calibri"/>
              <a:ea typeface="Calibri"/>
              <a:cs typeface="Calibri"/>
              <a:sym typeface="Calibri"/>
            </a:endParaRPr>
          </a:p>
          <a:p>
            <a:pPr indent="-355600" lvl="0" marL="457200" rtl="0" algn="l">
              <a:lnSpc>
                <a:spcPct val="115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A foundation for scaling innovative digital health initiatives</a:t>
            </a:r>
            <a:endParaRPr sz="20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sz="1600">
              <a:solidFill>
                <a:schemeClr val="dk1"/>
              </a:solidFill>
              <a:latin typeface="Calibri"/>
              <a:ea typeface="Calibri"/>
              <a:cs typeface="Calibri"/>
              <a:sym typeface="Calibri"/>
            </a:endParaRPr>
          </a:p>
        </p:txBody>
      </p:sp>
      <p:sp>
        <p:nvSpPr>
          <p:cNvPr id="147" name="Google Shape;147;p2"/>
          <p:cNvSpPr txBox="1"/>
          <p:nvPr/>
        </p:nvSpPr>
        <p:spPr>
          <a:xfrm>
            <a:off x="9925650"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latin typeface="Calibri"/>
                <a:ea typeface="Calibri"/>
                <a:cs typeface="Calibri"/>
                <a:sym typeface="Calibri"/>
              </a:rPr>
              <a:t>(HHS 2024)</a:t>
            </a:r>
            <a:endParaRPr sz="23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2f95645efb_0_0"/>
          <p:cNvSpPr txBox="1"/>
          <p:nvPr>
            <p:ph type="ctrTitle"/>
          </p:nvPr>
        </p:nvSpPr>
        <p:spPr>
          <a:xfrm>
            <a:off x="1524000" y="1921463"/>
            <a:ext cx="9144000" cy="2387700"/>
          </a:xfrm>
          <a:prstGeom prst="rect">
            <a:avLst/>
          </a:prstGeom>
          <a:noFill/>
          <a:ln>
            <a:noFill/>
          </a:ln>
        </p:spPr>
        <p:txBody>
          <a:bodyPr anchorCtr="0" anchor="b"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US" sz="3900">
                <a:latin typeface="Calibri"/>
                <a:ea typeface="Calibri"/>
                <a:cs typeface="Calibri"/>
                <a:sym typeface="Calibri"/>
              </a:rPr>
              <a:t>Section 2: Digital Trust Assessment &amp; Roadmap</a:t>
            </a:r>
            <a:endParaRPr sz="44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d8e13a7dad_0_53"/>
          <p:cNvSpPr/>
          <p:nvPr/>
        </p:nvSpPr>
        <p:spPr>
          <a:xfrm flipH="1" rot="10800000">
            <a:off x="0" y="2173"/>
            <a:ext cx="12192000" cy="1968527"/>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g2d8e13a7dad_0_53"/>
          <p:cNvSpPr txBox="1"/>
          <p:nvPr>
            <p:ph type="title"/>
          </p:nvPr>
        </p:nvSpPr>
        <p:spPr>
          <a:xfrm>
            <a:off x="415650" y="283917"/>
            <a:ext cx="11360700" cy="810300"/>
          </a:xfrm>
          <a:prstGeom prst="rect">
            <a:avLst/>
          </a:prstGeom>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b="1" lang="en-US" sz="3900">
                <a:latin typeface="Calibri"/>
                <a:ea typeface="Calibri"/>
                <a:cs typeface="Calibri"/>
                <a:sym typeface="Calibri"/>
              </a:rPr>
              <a:t>Digital Trust Assessment Framework</a:t>
            </a:r>
            <a:endParaRPr b="1" sz="3900">
              <a:latin typeface="Calibri"/>
              <a:ea typeface="Calibri"/>
              <a:cs typeface="Calibri"/>
              <a:sym typeface="Calibri"/>
            </a:endParaRPr>
          </a:p>
        </p:txBody>
      </p:sp>
      <p:sp>
        <p:nvSpPr>
          <p:cNvPr id="161" name="Google Shape;161;g2d8e13a7dad_0_53"/>
          <p:cNvSpPr txBox="1"/>
          <p:nvPr/>
        </p:nvSpPr>
        <p:spPr>
          <a:xfrm>
            <a:off x="415600" y="1822900"/>
            <a:ext cx="7877700" cy="484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000">
                <a:solidFill>
                  <a:schemeClr val="dk1"/>
                </a:solidFill>
                <a:latin typeface="Calibri"/>
                <a:ea typeface="Calibri"/>
                <a:cs typeface="Calibri"/>
                <a:sym typeface="Calibri"/>
              </a:rPr>
              <a:t>Key Components to Evaluate:</a:t>
            </a:r>
            <a:endParaRPr b="1" sz="2000">
              <a:solidFill>
                <a:schemeClr val="dk1"/>
              </a:solidFill>
              <a:latin typeface="Calibri"/>
              <a:ea typeface="Calibri"/>
              <a:cs typeface="Calibri"/>
              <a:sym typeface="Calibri"/>
            </a:endParaRPr>
          </a:p>
          <a:p>
            <a:pPr indent="-355600" lvl="0" marL="457200" rtl="0" algn="l">
              <a:lnSpc>
                <a:spcPct val="115000"/>
              </a:lnSpc>
              <a:spcBef>
                <a:spcPts val="1200"/>
              </a:spcBef>
              <a:spcAft>
                <a:spcPts val="0"/>
              </a:spcAft>
              <a:buClr>
                <a:schemeClr val="dk1"/>
              </a:buClr>
              <a:buSzPts val="2000"/>
              <a:buChar char="●"/>
            </a:pPr>
            <a:r>
              <a:rPr b="1" lang="en-US" sz="2000">
                <a:solidFill>
                  <a:schemeClr val="dk1"/>
                </a:solidFill>
                <a:latin typeface="Calibri"/>
                <a:ea typeface="Calibri"/>
                <a:cs typeface="Calibri"/>
                <a:sym typeface="Calibri"/>
              </a:rPr>
              <a:t>Data Privacy &amp; Security:</a:t>
            </a:r>
            <a:r>
              <a:rPr lang="en-US" sz="2000">
                <a:solidFill>
                  <a:schemeClr val="dk1"/>
                </a:solidFill>
                <a:latin typeface="Calibri"/>
                <a:ea typeface="Calibri"/>
                <a:cs typeface="Calibri"/>
                <a:sym typeface="Calibri"/>
              </a:rPr>
              <a:t> HIPAA/HITECH compliance, data encryption, secure storage</a:t>
            </a:r>
            <a:endParaRPr sz="2000">
              <a:solidFill>
                <a:schemeClr val="dk1"/>
              </a:solidFill>
              <a:latin typeface="Calibri"/>
              <a:ea typeface="Calibri"/>
              <a:cs typeface="Calibri"/>
              <a:sym typeface="Calibri"/>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latin typeface="Calibri"/>
                <a:ea typeface="Calibri"/>
                <a:cs typeface="Calibri"/>
                <a:sym typeface="Calibri"/>
              </a:rPr>
              <a:t>AI Transparency &amp; Explainability:</a:t>
            </a:r>
            <a:r>
              <a:rPr lang="en-US" sz="2000">
                <a:solidFill>
                  <a:schemeClr val="dk1"/>
                </a:solidFill>
                <a:latin typeface="Calibri"/>
                <a:ea typeface="Calibri"/>
                <a:cs typeface="Calibri"/>
                <a:sym typeface="Calibri"/>
              </a:rPr>
              <a:t> How AI decisions are communicated to clinicians and patients</a:t>
            </a:r>
            <a:endParaRPr sz="2000">
              <a:solidFill>
                <a:schemeClr val="dk1"/>
              </a:solidFill>
              <a:latin typeface="Calibri"/>
              <a:ea typeface="Calibri"/>
              <a:cs typeface="Calibri"/>
              <a:sym typeface="Calibri"/>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latin typeface="Calibri"/>
                <a:ea typeface="Calibri"/>
                <a:cs typeface="Calibri"/>
                <a:sym typeface="Calibri"/>
              </a:rPr>
              <a:t>Stakeholder Trust:</a:t>
            </a:r>
            <a:r>
              <a:rPr lang="en-US" sz="2000">
                <a:solidFill>
                  <a:schemeClr val="dk1"/>
                </a:solidFill>
                <a:latin typeface="Calibri"/>
                <a:ea typeface="Calibri"/>
                <a:cs typeface="Calibri"/>
                <a:sym typeface="Calibri"/>
              </a:rPr>
              <a:t> Engagement and education for clinicians, staff, and patients</a:t>
            </a:r>
            <a:endParaRPr sz="2000">
              <a:solidFill>
                <a:schemeClr val="dk1"/>
              </a:solidFill>
              <a:latin typeface="Calibri"/>
              <a:ea typeface="Calibri"/>
              <a:cs typeface="Calibri"/>
              <a:sym typeface="Calibri"/>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latin typeface="Calibri"/>
                <a:ea typeface="Calibri"/>
                <a:cs typeface="Calibri"/>
                <a:sym typeface="Calibri"/>
              </a:rPr>
              <a:t>Regulatory Compliance:</a:t>
            </a:r>
            <a:r>
              <a:rPr lang="en-US" sz="2000">
                <a:solidFill>
                  <a:schemeClr val="dk1"/>
                </a:solidFill>
                <a:latin typeface="Calibri"/>
                <a:ea typeface="Calibri"/>
                <a:cs typeface="Calibri"/>
                <a:sym typeface="Calibri"/>
              </a:rPr>
              <a:t> Meeting and exceeding current standards</a:t>
            </a:r>
            <a:endParaRPr b="1" sz="20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US" sz="2000">
                <a:solidFill>
                  <a:schemeClr val="dk1"/>
                </a:solidFill>
                <a:latin typeface="Calibri"/>
                <a:ea typeface="Calibri"/>
                <a:cs typeface="Calibri"/>
                <a:sym typeface="Calibri"/>
              </a:rPr>
              <a:t>Our Approach:</a:t>
            </a:r>
            <a:endParaRPr b="1" sz="2000">
              <a:solidFill>
                <a:schemeClr val="dk1"/>
              </a:solidFill>
              <a:latin typeface="Calibri"/>
              <a:ea typeface="Calibri"/>
              <a:cs typeface="Calibri"/>
              <a:sym typeface="Calibri"/>
            </a:endParaRPr>
          </a:p>
          <a:p>
            <a:pPr indent="-355600" lvl="0" marL="457200" rtl="0" algn="l">
              <a:lnSpc>
                <a:spcPct val="115000"/>
              </a:lnSpc>
              <a:spcBef>
                <a:spcPts val="120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Interviews and surveys across clinical and administrative departments</a:t>
            </a:r>
            <a:endParaRPr sz="2000">
              <a:solidFill>
                <a:schemeClr val="dk1"/>
              </a:solidFill>
              <a:latin typeface="Calibri"/>
              <a:ea typeface="Calibri"/>
              <a:cs typeface="Calibri"/>
              <a:sym typeface="Calibri"/>
            </a:endParaRPr>
          </a:p>
          <a:p>
            <a:pPr indent="-355600" lvl="0" marL="457200" rtl="0" algn="l">
              <a:lnSpc>
                <a:spcPct val="115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Benchmarking against industry best practices and regulatory guidelines</a:t>
            </a:r>
            <a:endParaRPr b="1" sz="2000">
              <a:solidFill>
                <a:schemeClr val="dk1"/>
              </a:solidFill>
              <a:latin typeface="Calibri"/>
              <a:ea typeface="Calibri"/>
              <a:cs typeface="Calibri"/>
              <a:sym typeface="Calibri"/>
            </a:endParaRPr>
          </a:p>
        </p:txBody>
      </p:sp>
      <p:pic>
        <p:nvPicPr>
          <p:cNvPr id="162" name="Google Shape;162;g2d8e13a7dad_0_53"/>
          <p:cNvPicPr preferRelativeResize="0"/>
          <p:nvPr/>
        </p:nvPicPr>
        <p:blipFill>
          <a:blip r:embed="rId3">
            <a:alphaModFix/>
          </a:blip>
          <a:stretch>
            <a:fillRect/>
          </a:stretch>
        </p:blipFill>
        <p:spPr>
          <a:xfrm>
            <a:off x="8560650" y="2224225"/>
            <a:ext cx="3265100" cy="3265100"/>
          </a:xfrm>
          <a:prstGeom prst="rect">
            <a:avLst/>
          </a:prstGeom>
          <a:noFill/>
          <a:ln>
            <a:noFill/>
          </a:ln>
        </p:spPr>
      </p:pic>
      <p:sp>
        <p:nvSpPr>
          <p:cNvPr id="163" name="Google Shape;163;g2d8e13a7dad_0_53"/>
          <p:cNvSpPr txBox="1"/>
          <p:nvPr/>
        </p:nvSpPr>
        <p:spPr>
          <a:xfrm>
            <a:off x="9925650"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(HHS 2024)</a:t>
            </a:r>
            <a:endParaRPr sz="235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d8e13a7dad_0_230"/>
          <p:cNvSpPr/>
          <p:nvPr/>
        </p:nvSpPr>
        <p:spPr>
          <a:xfrm flipH="1" rot="10800000">
            <a:off x="0" y="127"/>
            <a:ext cx="12192000" cy="2132047"/>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g2d8e13a7dad_0_230"/>
          <p:cNvSpPr txBox="1"/>
          <p:nvPr>
            <p:ph type="title"/>
          </p:nvPr>
        </p:nvSpPr>
        <p:spPr>
          <a:xfrm>
            <a:off x="415650" y="316742"/>
            <a:ext cx="11360700" cy="810300"/>
          </a:xfrm>
          <a:prstGeom prst="rect">
            <a:avLst/>
          </a:prstGeom>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b="1" lang="en-US" sz="3900">
                <a:latin typeface="Calibri"/>
                <a:ea typeface="Calibri"/>
                <a:cs typeface="Calibri"/>
                <a:sym typeface="Calibri"/>
              </a:rPr>
              <a:t>Digital Trust Assessment – How We Measured It</a:t>
            </a:r>
            <a:endParaRPr b="1" sz="3900">
              <a:latin typeface="Calibri"/>
              <a:ea typeface="Calibri"/>
              <a:cs typeface="Calibri"/>
              <a:sym typeface="Calibri"/>
            </a:endParaRPr>
          </a:p>
        </p:txBody>
      </p:sp>
      <p:sp>
        <p:nvSpPr>
          <p:cNvPr id="171" name="Google Shape;171;g2d8e13a7dad_0_230"/>
          <p:cNvSpPr txBox="1"/>
          <p:nvPr/>
        </p:nvSpPr>
        <p:spPr>
          <a:xfrm>
            <a:off x="870400" y="2132175"/>
            <a:ext cx="10099800" cy="3073800"/>
          </a:xfrm>
          <a:prstGeom prst="rect">
            <a:avLst/>
          </a:prstGeom>
          <a:noFill/>
          <a:ln>
            <a:noFill/>
          </a:ln>
        </p:spPr>
        <p:txBody>
          <a:bodyPr anchorCtr="0" anchor="t" bIns="91425" lIns="91425" spcFirstLastPara="1" rIns="91425" wrap="square" tIns="91425">
            <a:spAutoFit/>
          </a:bodyPr>
          <a:lstStyle/>
          <a:p>
            <a:pPr indent="-374650" lvl="0" marL="457200" rtl="0" algn="l">
              <a:lnSpc>
                <a:spcPct val="115000"/>
              </a:lnSpc>
              <a:spcBef>
                <a:spcPts val="1200"/>
              </a:spcBef>
              <a:spcAft>
                <a:spcPts val="0"/>
              </a:spcAft>
              <a:buClr>
                <a:schemeClr val="dk1"/>
              </a:buClr>
              <a:buSzPts val="2300"/>
              <a:buChar char="●"/>
            </a:pPr>
            <a:r>
              <a:rPr b="1" lang="en-US" sz="2300">
                <a:solidFill>
                  <a:schemeClr val="dk1"/>
                </a:solidFill>
                <a:latin typeface="Calibri"/>
                <a:ea typeface="Calibri"/>
                <a:cs typeface="Calibri"/>
                <a:sym typeface="Calibri"/>
              </a:rPr>
              <a:t>Framework Used:</a:t>
            </a:r>
            <a:r>
              <a:rPr lang="en-US" sz="2300">
                <a:solidFill>
                  <a:schemeClr val="dk1"/>
                </a:solidFill>
                <a:latin typeface="Calibri"/>
                <a:ea typeface="Calibri"/>
                <a:cs typeface="Calibri"/>
                <a:sym typeface="Calibri"/>
              </a:rPr>
              <a:t> NIST Digital Trust Framework, industry benchmarking</a:t>
            </a:r>
            <a:endParaRPr sz="2300">
              <a:solidFill>
                <a:schemeClr val="dk1"/>
              </a:solidFill>
              <a:latin typeface="Calibri"/>
              <a:ea typeface="Calibri"/>
              <a:cs typeface="Calibri"/>
              <a:sym typeface="Calibri"/>
            </a:endParaRPr>
          </a:p>
          <a:p>
            <a:pPr indent="-374650" lvl="0" marL="457200" rtl="0" algn="l">
              <a:lnSpc>
                <a:spcPct val="115000"/>
              </a:lnSpc>
              <a:spcBef>
                <a:spcPts val="0"/>
              </a:spcBef>
              <a:spcAft>
                <a:spcPts val="0"/>
              </a:spcAft>
              <a:buClr>
                <a:schemeClr val="dk1"/>
              </a:buClr>
              <a:buSzPts val="2300"/>
              <a:buFont typeface="Calibri"/>
              <a:buChar char="●"/>
            </a:pPr>
            <a:r>
              <a:rPr b="1" lang="en-US" sz="2300">
                <a:solidFill>
                  <a:schemeClr val="dk1"/>
                </a:solidFill>
                <a:latin typeface="Calibri"/>
                <a:ea typeface="Calibri"/>
                <a:cs typeface="Calibri"/>
                <a:sym typeface="Calibri"/>
              </a:rPr>
              <a:t>Methodology:</a:t>
            </a:r>
            <a:endParaRPr b="1" sz="2300">
              <a:solidFill>
                <a:schemeClr val="dk1"/>
              </a:solidFill>
              <a:latin typeface="Calibri"/>
              <a:ea typeface="Calibri"/>
              <a:cs typeface="Calibri"/>
              <a:sym typeface="Calibri"/>
            </a:endParaRPr>
          </a:p>
          <a:p>
            <a:pPr indent="-374650" lvl="1" marL="914400" rtl="0" algn="l">
              <a:lnSpc>
                <a:spcPct val="115000"/>
              </a:lnSpc>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Stakeholder surveys (clinicians, patients, administrators)</a:t>
            </a:r>
            <a:endParaRPr sz="2300">
              <a:solidFill>
                <a:schemeClr val="dk1"/>
              </a:solidFill>
              <a:latin typeface="Calibri"/>
              <a:ea typeface="Calibri"/>
              <a:cs typeface="Calibri"/>
              <a:sym typeface="Calibri"/>
            </a:endParaRPr>
          </a:p>
          <a:p>
            <a:pPr indent="-374650" lvl="1" marL="914400" rtl="0" algn="l">
              <a:lnSpc>
                <a:spcPct val="115000"/>
              </a:lnSpc>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Regulatory compliance audit</a:t>
            </a:r>
            <a:endParaRPr sz="2300">
              <a:solidFill>
                <a:schemeClr val="dk1"/>
              </a:solidFill>
              <a:latin typeface="Calibri"/>
              <a:ea typeface="Calibri"/>
              <a:cs typeface="Calibri"/>
              <a:sym typeface="Calibri"/>
            </a:endParaRPr>
          </a:p>
          <a:p>
            <a:pPr indent="-374650" lvl="1" marL="914400" rtl="0" algn="l">
              <a:lnSpc>
                <a:spcPct val="115000"/>
              </a:lnSpc>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AI Transparency Analysis (explainability &amp; bias testing)</a:t>
            </a:r>
            <a:endParaRPr sz="2300">
              <a:solidFill>
                <a:schemeClr val="dk1"/>
              </a:solidFill>
              <a:latin typeface="Calibri"/>
              <a:ea typeface="Calibri"/>
              <a:cs typeface="Calibri"/>
              <a:sym typeface="Calibri"/>
            </a:endParaRPr>
          </a:p>
          <a:p>
            <a:pPr indent="-374650" lvl="1" marL="914400" rtl="0" algn="l">
              <a:lnSpc>
                <a:spcPct val="115000"/>
              </a:lnSpc>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Cybersecurity Maturity Assessment</a:t>
            </a:r>
            <a:endParaRPr sz="23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b="1" sz="1900">
              <a:solidFill>
                <a:schemeClr val="dk1"/>
              </a:solidFill>
              <a:latin typeface="Calibri"/>
              <a:ea typeface="Calibri"/>
              <a:cs typeface="Calibri"/>
              <a:sym typeface="Calibri"/>
            </a:endParaRPr>
          </a:p>
        </p:txBody>
      </p:sp>
      <p:sp>
        <p:nvSpPr>
          <p:cNvPr id="172" name="Google Shape;172;g2d8e13a7dad_0_230"/>
          <p:cNvSpPr txBox="1"/>
          <p:nvPr/>
        </p:nvSpPr>
        <p:spPr>
          <a:xfrm>
            <a:off x="9925650"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(NIST 2023)</a:t>
            </a:r>
            <a:endParaRPr sz="235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2d8e13a7dad_0_63"/>
          <p:cNvSpPr/>
          <p:nvPr/>
        </p:nvSpPr>
        <p:spPr>
          <a:xfrm flipH="1" rot="10800000">
            <a:off x="0" y="-2815"/>
            <a:ext cx="12192000" cy="2150915"/>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g2d8e13a7dad_0_63"/>
          <p:cNvSpPr txBox="1"/>
          <p:nvPr>
            <p:ph type="title"/>
          </p:nvPr>
        </p:nvSpPr>
        <p:spPr>
          <a:xfrm>
            <a:off x="415650" y="316767"/>
            <a:ext cx="11360700" cy="810300"/>
          </a:xfrm>
          <a:prstGeom prst="rect">
            <a:avLst/>
          </a:prstGeom>
        </p:spPr>
        <p:txBody>
          <a:bodyPr anchorCtr="0" anchor="t" bIns="121900" lIns="121900" spcFirstLastPara="1" rIns="121900" wrap="square" tIns="121900">
            <a:noAutofit/>
          </a:bodyPr>
          <a:lstStyle/>
          <a:p>
            <a:pPr indent="0" lvl="0" marL="0" rtl="0" algn="l">
              <a:lnSpc>
                <a:spcPct val="115000"/>
              </a:lnSpc>
              <a:spcBef>
                <a:spcPts val="0"/>
              </a:spcBef>
              <a:spcAft>
                <a:spcPts val="0"/>
              </a:spcAft>
              <a:buNone/>
            </a:pPr>
            <a:r>
              <a:rPr b="1" lang="en-US" sz="3900">
                <a:latin typeface="Calibri"/>
                <a:ea typeface="Calibri"/>
                <a:cs typeface="Calibri"/>
                <a:sym typeface="Calibri"/>
              </a:rPr>
              <a:t>Digital</a:t>
            </a:r>
            <a:r>
              <a:rPr b="1" lang="en-US" sz="3900">
                <a:latin typeface="Calibri"/>
                <a:ea typeface="Calibri"/>
                <a:cs typeface="Calibri"/>
                <a:sym typeface="Calibri"/>
              </a:rPr>
              <a:t> Trust Scorecard</a:t>
            </a:r>
            <a:endParaRPr b="1" sz="3900">
              <a:latin typeface="Calibri"/>
              <a:ea typeface="Calibri"/>
              <a:cs typeface="Calibri"/>
              <a:sym typeface="Calibri"/>
            </a:endParaRPr>
          </a:p>
        </p:txBody>
      </p:sp>
      <p:graphicFrame>
        <p:nvGraphicFramePr>
          <p:cNvPr id="180" name="Google Shape;180;g2d8e13a7dad_0_63"/>
          <p:cNvGraphicFramePr/>
          <p:nvPr/>
        </p:nvGraphicFramePr>
        <p:xfrm>
          <a:off x="952500" y="3086775"/>
          <a:ext cx="3000000" cy="3000000"/>
        </p:xfrm>
        <a:graphic>
          <a:graphicData uri="http://schemas.openxmlformats.org/drawingml/2006/table">
            <a:tbl>
              <a:tblPr>
                <a:noFill/>
                <a:tableStyleId>{BE0D0F28-333F-405D-B1C5-C04AB20D663B}</a:tableStyleId>
              </a:tblPr>
              <a:tblGrid>
                <a:gridCol w="3429000"/>
                <a:gridCol w="1361625"/>
                <a:gridCol w="5496375"/>
              </a:tblGrid>
              <a:tr h="422375">
                <a:tc>
                  <a:txBody>
                    <a:bodyPr/>
                    <a:lstStyle/>
                    <a:p>
                      <a:pPr indent="0" lvl="0" marL="0" rtl="0" algn="ctr">
                        <a:spcBef>
                          <a:spcPts val="0"/>
                        </a:spcBef>
                        <a:spcAft>
                          <a:spcPts val="0"/>
                        </a:spcAft>
                        <a:buNone/>
                      </a:pPr>
                      <a:r>
                        <a:rPr b="1" lang="en-US">
                          <a:solidFill>
                            <a:schemeClr val="lt1"/>
                          </a:solidFill>
                          <a:latin typeface="Calibri"/>
                          <a:ea typeface="Calibri"/>
                          <a:cs typeface="Calibri"/>
                          <a:sym typeface="Calibri"/>
                        </a:rPr>
                        <a:t>Category</a:t>
                      </a:r>
                      <a:endParaRPr b="1">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4472C4"/>
                    </a:solidFill>
                  </a:tcPr>
                </a:tc>
                <a:tc>
                  <a:txBody>
                    <a:bodyPr/>
                    <a:lstStyle/>
                    <a:p>
                      <a:pPr indent="0" lvl="0" marL="0" rtl="0" algn="ctr">
                        <a:spcBef>
                          <a:spcPts val="0"/>
                        </a:spcBef>
                        <a:spcAft>
                          <a:spcPts val="0"/>
                        </a:spcAft>
                        <a:buNone/>
                      </a:pPr>
                      <a:r>
                        <a:rPr b="1" lang="en-US">
                          <a:solidFill>
                            <a:schemeClr val="lt1"/>
                          </a:solidFill>
                          <a:latin typeface="Calibri"/>
                          <a:ea typeface="Calibri"/>
                          <a:cs typeface="Calibri"/>
                          <a:sym typeface="Calibri"/>
                        </a:rPr>
                        <a:t>Score</a:t>
                      </a:r>
                      <a:endParaRPr b="1">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4472C4"/>
                    </a:solidFill>
                  </a:tcPr>
                </a:tc>
                <a:tc>
                  <a:txBody>
                    <a:bodyPr/>
                    <a:lstStyle/>
                    <a:p>
                      <a:pPr indent="0" lvl="0" marL="0" rtl="0" algn="ctr">
                        <a:spcBef>
                          <a:spcPts val="0"/>
                        </a:spcBef>
                        <a:spcAft>
                          <a:spcPts val="0"/>
                        </a:spcAft>
                        <a:buNone/>
                      </a:pPr>
                      <a:r>
                        <a:rPr b="1" lang="en-US">
                          <a:solidFill>
                            <a:schemeClr val="lt1"/>
                          </a:solidFill>
                          <a:latin typeface="Calibri"/>
                          <a:ea typeface="Calibri"/>
                          <a:cs typeface="Calibri"/>
                          <a:sym typeface="Calibri"/>
                        </a:rPr>
                        <a:t>Notes</a:t>
                      </a:r>
                      <a:endParaRPr b="1">
                        <a:solidFill>
                          <a:schemeClr val="lt1"/>
                        </a:solidFill>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4472C4"/>
                    </a:solidFill>
                  </a:tcPr>
                </a:tc>
              </a:tr>
              <a:tr h="649800">
                <a:tc>
                  <a:txBody>
                    <a:bodyPr/>
                    <a:lstStyle/>
                    <a:p>
                      <a:pPr indent="0" lvl="0" marL="0" rtl="0" algn="l">
                        <a:spcBef>
                          <a:spcPts val="0"/>
                        </a:spcBef>
                        <a:spcAft>
                          <a:spcPts val="0"/>
                        </a:spcAft>
                        <a:buNone/>
                      </a:pPr>
                      <a:r>
                        <a:rPr lang="en-US">
                          <a:latin typeface="Calibri"/>
                          <a:ea typeface="Calibri"/>
                          <a:cs typeface="Calibri"/>
                          <a:sym typeface="Calibri"/>
                        </a:rPr>
                        <a:t>Data Privacy &amp; Security</a:t>
                      </a:r>
                      <a:endParaRPr>
                        <a:latin typeface="Calibri"/>
                        <a:ea typeface="Calibri"/>
                        <a:cs typeface="Calibri"/>
                        <a:sym typeface="Calibri"/>
                      </a:endParaRPr>
                    </a:p>
                  </a:txBody>
                  <a:tcPr marT="91425" marB="91425" marR="91425" marL="91425">
                    <a:lnT cap="flat" cmpd="sng" w="9525">
                      <a:solidFill>
                        <a:schemeClr val="lt1"/>
                      </a:solidFill>
                      <a:prstDash val="solid"/>
                      <a:round/>
                      <a:headEnd len="sm" w="sm" type="none"/>
                      <a:tailEnd len="sm" w="sm" type="none"/>
                    </a:lnT>
                  </a:tcPr>
                </a:tc>
                <a:tc>
                  <a:txBody>
                    <a:bodyPr/>
                    <a:lstStyle/>
                    <a:p>
                      <a:pPr indent="0" lvl="0" marL="0" rtl="0" algn="l">
                        <a:spcBef>
                          <a:spcPts val="0"/>
                        </a:spcBef>
                        <a:spcAft>
                          <a:spcPts val="0"/>
                        </a:spcAft>
                        <a:buNone/>
                      </a:pPr>
                      <a:r>
                        <a:rPr lang="en-US">
                          <a:latin typeface="Calibri"/>
                          <a:ea typeface="Calibri"/>
                          <a:cs typeface="Calibri"/>
                          <a:sym typeface="Calibri"/>
                        </a:rPr>
                        <a:t>8</a:t>
                      </a:r>
                      <a:endParaRPr>
                        <a:latin typeface="Calibri"/>
                        <a:ea typeface="Calibri"/>
                        <a:cs typeface="Calibri"/>
                        <a:sym typeface="Calibri"/>
                      </a:endParaRPr>
                    </a:p>
                  </a:txBody>
                  <a:tcPr marT="91425" marB="91425" marR="91425" marL="91425">
                    <a:lnT cap="flat" cmpd="sng" w="9525">
                      <a:solidFill>
                        <a:schemeClr val="lt1"/>
                      </a:solidFill>
                      <a:prstDash val="solid"/>
                      <a:round/>
                      <a:headEnd len="sm" w="sm" type="none"/>
                      <a:tailEnd len="sm" w="sm" type="none"/>
                    </a:lnT>
                  </a:tcPr>
                </a:tc>
                <a:tc>
                  <a:txBody>
                    <a:bodyPr/>
                    <a:lstStyle/>
                    <a:p>
                      <a:pPr indent="0" lvl="0" marL="0" rtl="0" algn="l">
                        <a:spcBef>
                          <a:spcPts val="0"/>
                        </a:spcBef>
                        <a:spcAft>
                          <a:spcPts val="0"/>
                        </a:spcAft>
                        <a:buNone/>
                      </a:pPr>
                      <a:r>
                        <a:rPr lang="en-US">
                          <a:latin typeface="Calibri"/>
                          <a:ea typeface="Calibri"/>
                          <a:cs typeface="Calibri"/>
                          <a:sym typeface="Calibri"/>
                        </a:rPr>
                        <a:t>Strong HIPAA compliance; addressing emerging AI risks</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txBody>
                  <a:tcPr marT="91425" marB="91425" marR="91425" marL="91425">
                    <a:lnT cap="flat" cmpd="sng" w="9525">
                      <a:solidFill>
                        <a:schemeClr val="lt1"/>
                      </a:solidFill>
                      <a:prstDash val="solid"/>
                      <a:round/>
                      <a:headEnd len="sm" w="sm" type="none"/>
                      <a:tailEnd len="sm" w="sm" type="none"/>
                    </a:lnT>
                  </a:tcPr>
                </a:tc>
              </a:tr>
              <a:tr h="422375">
                <a:tc>
                  <a:txBody>
                    <a:bodyPr/>
                    <a:lstStyle/>
                    <a:p>
                      <a:pPr indent="0" lvl="0" marL="0" rtl="0" algn="l">
                        <a:spcBef>
                          <a:spcPts val="0"/>
                        </a:spcBef>
                        <a:spcAft>
                          <a:spcPts val="0"/>
                        </a:spcAft>
                        <a:buNone/>
                      </a:pPr>
                      <a:r>
                        <a:rPr lang="en-US">
                          <a:latin typeface="Calibri"/>
                          <a:ea typeface="Calibri"/>
                          <a:cs typeface="Calibri"/>
                          <a:sym typeface="Calibri"/>
                        </a:rPr>
                        <a:t>AI Transparency</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6</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Clinicians are cautiously optimistic; patients need clarity</a:t>
                      </a:r>
                      <a:endParaRPr>
                        <a:latin typeface="Calibri"/>
                        <a:ea typeface="Calibri"/>
                        <a:cs typeface="Calibri"/>
                        <a:sym typeface="Calibri"/>
                      </a:endParaRPr>
                    </a:p>
                  </a:txBody>
                  <a:tcPr marT="91425" marB="91425" marR="91425" marL="91425"/>
                </a:tc>
              </a:tr>
              <a:tr h="422375">
                <a:tc>
                  <a:txBody>
                    <a:bodyPr/>
                    <a:lstStyle/>
                    <a:p>
                      <a:pPr indent="0" lvl="0" marL="0" rtl="0" algn="l">
                        <a:spcBef>
                          <a:spcPts val="0"/>
                        </a:spcBef>
                        <a:spcAft>
                          <a:spcPts val="0"/>
                        </a:spcAft>
                        <a:buNone/>
                      </a:pPr>
                      <a:r>
                        <a:rPr lang="en-US">
                          <a:latin typeface="Calibri"/>
                          <a:ea typeface="Calibri"/>
                          <a:cs typeface="Calibri"/>
                          <a:sym typeface="Calibri"/>
                        </a:rPr>
                        <a:t>Cybersecurity &amp; Zero Trust Readiness	</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5</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Current perimeter defenses need enhancement with Zero Trust</a:t>
                      </a:r>
                      <a:endParaRPr>
                        <a:latin typeface="Calibri"/>
                        <a:ea typeface="Calibri"/>
                        <a:cs typeface="Calibri"/>
                        <a:sym typeface="Calibri"/>
                      </a:endParaRPr>
                    </a:p>
                  </a:txBody>
                  <a:tcPr marT="91425" marB="91425" marR="91425" marL="91425"/>
                </a:tc>
              </a:tr>
              <a:tr h="422375">
                <a:tc>
                  <a:txBody>
                    <a:bodyPr/>
                    <a:lstStyle/>
                    <a:p>
                      <a:pPr indent="0" lvl="0" marL="0" rtl="0" algn="l">
                        <a:spcBef>
                          <a:spcPts val="0"/>
                        </a:spcBef>
                        <a:spcAft>
                          <a:spcPts val="0"/>
                        </a:spcAft>
                        <a:buNone/>
                      </a:pPr>
                      <a:r>
                        <a:rPr lang="en-US">
                          <a:latin typeface="Calibri"/>
                          <a:ea typeface="Calibri"/>
                          <a:cs typeface="Calibri"/>
                          <a:sym typeface="Calibri"/>
                        </a:rPr>
                        <a:t>Regulatory Compliance	</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9</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Excellent adherence; future regulations anticipated</a:t>
                      </a:r>
                      <a:endParaRPr>
                        <a:latin typeface="Calibri"/>
                        <a:ea typeface="Calibri"/>
                        <a:cs typeface="Calibri"/>
                        <a:sym typeface="Calibri"/>
                      </a:endParaRPr>
                    </a:p>
                  </a:txBody>
                  <a:tcPr marT="91425" marB="91425" marR="91425" marL="91425"/>
                </a:tc>
              </a:tr>
              <a:tr h="422375">
                <a:tc>
                  <a:txBody>
                    <a:bodyPr/>
                    <a:lstStyle/>
                    <a:p>
                      <a:pPr indent="0" lvl="0" marL="0" rtl="0" algn="l">
                        <a:spcBef>
                          <a:spcPts val="0"/>
                        </a:spcBef>
                        <a:spcAft>
                          <a:spcPts val="0"/>
                        </a:spcAft>
                        <a:buNone/>
                      </a:pPr>
                      <a:r>
                        <a:rPr lang="en-US">
                          <a:latin typeface="Calibri"/>
                          <a:ea typeface="Calibri"/>
                          <a:cs typeface="Calibri"/>
                          <a:sym typeface="Calibri"/>
                        </a:rPr>
                        <a:t>User Trust &amp; Adoption	</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7</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Mixed reactions; opportunities for targeted training</a:t>
                      </a:r>
                      <a:endParaRPr>
                        <a:latin typeface="Calibri"/>
                        <a:ea typeface="Calibri"/>
                        <a:cs typeface="Calibri"/>
                        <a:sym typeface="Calibri"/>
                      </a:endParaRPr>
                    </a:p>
                  </a:txBody>
                  <a:tcPr marT="91425" marB="91425" marR="91425" marL="91425"/>
                </a:tc>
              </a:tr>
            </a:tbl>
          </a:graphicData>
        </a:graphic>
      </p:graphicFrame>
      <p:sp>
        <p:nvSpPr>
          <p:cNvPr id="181" name="Google Shape;181;g2d8e13a7dad_0_63"/>
          <p:cNvSpPr txBox="1"/>
          <p:nvPr/>
        </p:nvSpPr>
        <p:spPr>
          <a:xfrm>
            <a:off x="977250" y="1977225"/>
            <a:ext cx="9170700" cy="87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2100">
                <a:solidFill>
                  <a:schemeClr val="dk1"/>
                </a:solidFill>
                <a:latin typeface="Calibri"/>
                <a:ea typeface="Calibri"/>
                <a:cs typeface="Calibri"/>
                <a:sym typeface="Calibri"/>
              </a:rPr>
              <a:t>Below</a:t>
            </a:r>
            <a:r>
              <a:rPr lang="en-US" sz="2100">
                <a:solidFill>
                  <a:schemeClr val="dk1"/>
                </a:solidFill>
                <a:latin typeface="Calibri"/>
                <a:ea typeface="Calibri"/>
                <a:cs typeface="Calibri"/>
                <a:sym typeface="Calibri"/>
              </a:rPr>
              <a:t> is a sample scorecard which will help us establish a baseline for digital trust and also help us identify </a:t>
            </a:r>
            <a:r>
              <a:rPr lang="en-US" sz="2100">
                <a:solidFill>
                  <a:schemeClr val="dk1"/>
                </a:solidFill>
                <a:latin typeface="Calibri"/>
                <a:ea typeface="Calibri"/>
                <a:cs typeface="Calibri"/>
                <a:sym typeface="Calibri"/>
              </a:rPr>
              <a:t>priority</a:t>
            </a:r>
            <a:r>
              <a:rPr lang="en-US" sz="2100">
                <a:solidFill>
                  <a:schemeClr val="dk1"/>
                </a:solidFill>
                <a:latin typeface="Calibri"/>
                <a:ea typeface="Calibri"/>
                <a:cs typeface="Calibri"/>
                <a:sym typeface="Calibri"/>
              </a:rPr>
              <a:t> areas for improvement</a:t>
            </a:r>
            <a:endParaRPr sz="2100">
              <a:solidFill>
                <a:schemeClr val="dk1"/>
              </a:solidFill>
              <a:latin typeface="Calibri"/>
              <a:ea typeface="Calibri"/>
              <a:cs typeface="Calibri"/>
              <a:sym typeface="Calibri"/>
            </a:endParaRPr>
          </a:p>
        </p:txBody>
      </p:sp>
      <p:sp>
        <p:nvSpPr>
          <p:cNvPr id="182" name="Google Shape;182;g2d8e13a7dad_0_63"/>
          <p:cNvSpPr txBox="1"/>
          <p:nvPr/>
        </p:nvSpPr>
        <p:spPr>
          <a:xfrm>
            <a:off x="9925650"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(NIST 2023)</a:t>
            </a:r>
            <a:endParaRPr sz="235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9" name="Google Shape;189;p3"/>
          <p:cNvSpPr/>
          <p:nvPr/>
        </p:nvSpPr>
        <p:spPr>
          <a:xfrm flipH="1" rot="10800000">
            <a:off x="0" y="70"/>
            <a:ext cx="12192000" cy="2069155"/>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3"/>
          <p:cNvSpPr txBox="1"/>
          <p:nvPr>
            <p:ph type="title"/>
          </p:nvPr>
        </p:nvSpPr>
        <p:spPr>
          <a:xfrm>
            <a:off x="838200" y="365125"/>
            <a:ext cx="10515600" cy="9302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sz="3900">
                <a:latin typeface="Calibri"/>
                <a:ea typeface="Calibri"/>
                <a:cs typeface="Calibri"/>
                <a:sym typeface="Calibri"/>
              </a:rPr>
              <a:t>Digital Trust Roadmap</a:t>
            </a:r>
            <a:endParaRPr b="1" sz="3900">
              <a:solidFill>
                <a:schemeClr val="dk1"/>
              </a:solidFill>
              <a:latin typeface="Calibri"/>
              <a:ea typeface="Calibri"/>
              <a:cs typeface="Calibri"/>
              <a:sym typeface="Calibri"/>
            </a:endParaRPr>
          </a:p>
        </p:txBody>
      </p:sp>
      <p:grpSp>
        <p:nvGrpSpPr>
          <p:cNvPr id="191" name="Google Shape;191;p3"/>
          <p:cNvGrpSpPr/>
          <p:nvPr/>
        </p:nvGrpSpPr>
        <p:grpSpPr>
          <a:xfrm>
            <a:off x="463576" y="2102110"/>
            <a:ext cx="11264859" cy="4959807"/>
            <a:chOff x="1371610" y="1207378"/>
            <a:chExt cx="9448800" cy="4653600"/>
          </a:xfrm>
        </p:grpSpPr>
        <p:sp>
          <p:nvSpPr>
            <p:cNvPr id="192" name="Google Shape;192;p3"/>
            <p:cNvSpPr/>
            <p:nvPr/>
          </p:nvSpPr>
          <p:spPr>
            <a:xfrm>
              <a:off x="1371610" y="1207378"/>
              <a:ext cx="9448800" cy="4653600"/>
            </a:xfrm>
            <a:custGeom>
              <a:rect b="b" l="l" r="r" t="t"/>
              <a:pathLst>
                <a:path extrusionOk="0" h="120000" w="120000">
                  <a:moveTo>
                    <a:pt x="0" y="120000"/>
                  </a:moveTo>
                  <a:quadBezTo>
                    <a:pt x="20000" y="40000"/>
                    <a:pt x="106791" y="15000"/>
                  </a:quadBezTo>
                  <a:lnTo>
                    <a:pt x="106047" y="0"/>
                  </a:lnTo>
                  <a:lnTo>
                    <a:pt x="120000" y="24000"/>
                  </a:lnTo>
                  <a:lnTo>
                    <a:pt x="109024" y="60000"/>
                  </a:lnTo>
                  <a:lnTo>
                    <a:pt x="108280" y="45000"/>
                  </a:lnTo>
                  <a:quadBezTo>
                    <a:pt x="30000" y="55000"/>
                    <a:pt x="0" y="120000"/>
                  </a:quadBezTo>
                  <a:close/>
                </a:path>
              </a:pathLst>
            </a:custGeom>
            <a:solidFill>
              <a:srgbClr val="CCD3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3" name="Google Shape;193;p3"/>
            <p:cNvSpPr/>
            <p:nvPr/>
          </p:nvSpPr>
          <p:spPr>
            <a:xfrm>
              <a:off x="3048991" y="3888430"/>
              <a:ext cx="461100" cy="570000"/>
            </a:xfrm>
            <a:prstGeom prst="ellipse">
              <a:avLst/>
            </a:prstGeom>
            <a:solidFill>
              <a:srgbClr val="4372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4" name="Google Shape;194;p3"/>
            <p:cNvSpPr/>
            <p:nvPr/>
          </p:nvSpPr>
          <p:spPr>
            <a:xfrm>
              <a:off x="5192243" y="2722780"/>
              <a:ext cx="769500" cy="872700"/>
            </a:xfrm>
            <a:prstGeom prst="ellipse">
              <a:avLst/>
            </a:prstGeom>
            <a:solidFill>
              <a:srgbClr val="4372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5" name="Google Shape;195;p3"/>
            <p:cNvSpPr/>
            <p:nvPr/>
          </p:nvSpPr>
          <p:spPr>
            <a:xfrm>
              <a:off x="7834870" y="2062337"/>
              <a:ext cx="827700" cy="1019400"/>
            </a:xfrm>
            <a:prstGeom prst="ellipse">
              <a:avLst/>
            </a:prstGeom>
            <a:solidFill>
              <a:srgbClr val="4372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96" name="Google Shape;196;p3"/>
            <p:cNvSpPr/>
            <p:nvPr/>
          </p:nvSpPr>
          <p:spPr>
            <a:xfrm>
              <a:off x="7361460" y="3233171"/>
              <a:ext cx="2328306" cy="1822909"/>
            </a:xfrm>
            <a:custGeom>
              <a:rect b="b" l="l" r="r" t="t"/>
              <a:pathLst>
                <a:path extrusionOk="0" h="353963" w="1377696">
                  <a:moveTo>
                    <a:pt x="0" y="0"/>
                  </a:moveTo>
                  <a:lnTo>
                    <a:pt x="1377696" y="0"/>
                  </a:lnTo>
                  <a:lnTo>
                    <a:pt x="1377696" y="353963"/>
                  </a:lnTo>
                  <a:lnTo>
                    <a:pt x="0" y="353963"/>
                  </a:lnTo>
                  <a:lnTo>
                    <a:pt x="0" y="0"/>
                  </a:lnTo>
                  <a:close/>
                </a:path>
              </a:pathLst>
            </a:cu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sz="1500">
                  <a:solidFill>
                    <a:schemeClr val="dk1"/>
                  </a:solidFill>
                  <a:latin typeface="Calibri"/>
                  <a:ea typeface="Calibri"/>
                  <a:cs typeface="Calibri"/>
                  <a:sym typeface="Calibri"/>
                </a:rPr>
                <a:t>Long-Term (3–5 Years):</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US" sz="1500">
                  <a:solidFill>
                    <a:schemeClr val="dk1"/>
                  </a:solidFill>
                  <a:latin typeface="Calibri"/>
                  <a:ea typeface="Calibri"/>
                  <a:cs typeface="Calibri"/>
                  <a:sym typeface="Calibri"/>
                </a:rPr>
                <a:t>-Achieve a 50% profit margin improvement via digital-empowered services</a:t>
              </a:r>
              <a:endParaRPr sz="15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-Build an AI-powered ecosystem around core operations</a:t>
              </a:r>
              <a:endParaRPr sz="15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t/>
              </a:r>
              <a:endParaRPr sz="1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sz="1500">
                <a:solidFill>
                  <a:schemeClr val="dk1"/>
                </a:solidFill>
                <a:latin typeface="Calibri"/>
                <a:ea typeface="Calibri"/>
                <a:cs typeface="Calibri"/>
                <a:sym typeface="Calibri"/>
              </a:endParaRPr>
            </a:p>
          </p:txBody>
        </p:sp>
      </p:grpSp>
      <p:sp>
        <p:nvSpPr>
          <p:cNvPr id="197" name="Google Shape;197;p3"/>
          <p:cNvSpPr/>
          <p:nvPr/>
        </p:nvSpPr>
        <p:spPr>
          <a:xfrm>
            <a:off x="607626" y="3523487"/>
            <a:ext cx="2438100" cy="1317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sz="1500">
                <a:solidFill>
                  <a:schemeClr val="dk1"/>
                </a:solidFill>
                <a:latin typeface="Calibri"/>
                <a:ea typeface="Calibri"/>
                <a:cs typeface="Calibri"/>
                <a:sym typeface="Calibri"/>
              </a:rPr>
              <a:t>Short-Term (0–6 Months):</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US" sz="1500">
                <a:solidFill>
                  <a:schemeClr val="dk1"/>
                </a:solidFill>
                <a:latin typeface="Calibri"/>
                <a:ea typeface="Calibri"/>
                <a:cs typeface="Calibri"/>
                <a:sym typeface="Calibri"/>
              </a:rPr>
              <a:t>-Identify and prioritize 3–5 high-impact digital initiatives</a:t>
            </a:r>
            <a:endParaRPr sz="15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US" sz="1500">
                <a:solidFill>
                  <a:schemeClr val="dk1"/>
                </a:solidFill>
                <a:latin typeface="Calibri"/>
                <a:ea typeface="Calibri"/>
                <a:cs typeface="Calibri"/>
                <a:sym typeface="Calibri"/>
              </a:rPr>
              <a:t>-Initiate pilot projects to test AI tools in key clinical areas</a:t>
            </a:r>
            <a:endParaRPr sz="1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sz="1500">
              <a:solidFill>
                <a:schemeClr val="dk1"/>
              </a:solidFill>
              <a:latin typeface="Calibri"/>
              <a:ea typeface="Calibri"/>
              <a:cs typeface="Calibri"/>
              <a:sym typeface="Calibri"/>
            </a:endParaRPr>
          </a:p>
        </p:txBody>
      </p:sp>
      <p:sp>
        <p:nvSpPr>
          <p:cNvPr id="198" name="Google Shape;198;p3"/>
          <p:cNvSpPr/>
          <p:nvPr/>
        </p:nvSpPr>
        <p:spPr>
          <a:xfrm>
            <a:off x="3875700" y="1921425"/>
            <a:ext cx="2906700" cy="1578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sz="1500">
                <a:solidFill>
                  <a:schemeClr val="dk1"/>
                </a:solidFill>
                <a:latin typeface="Calibri"/>
                <a:ea typeface="Calibri"/>
                <a:cs typeface="Calibri"/>
                <a:sym typeface="Calibri"/>
              </a:rPr>
              <a:t>Mid-Term (12–18 Months to 2 Years):</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US" sz="1500">
                <a:solidFill>
                  <a:schemeClr val="dk1"/>
                </a:solidFill>
                <a:latin typeface="Calibri"/>
                <a:ea typeface="Calibri"/>
                <a:cs typeface="Calibri"/>
                <a:sym typeface="Calibri"/>
              </a:rPr>
              <a:t>-Launch clinical trials for fully digital healthcare products</a:t>
            </a:r>
            <a:endParaRPr sz="15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US" sz="1500">
                <a:solidFill>
                  <a:schemeClr val="dk1"/>
                </a:solidFill>
                <a:latin typeface="Calibri"/>
                <a:ea typeface="Calibri"/>
                <a:cs typeface="Calibri"/>
                <a:sym typeface="Calibri"/>
              </a:rPr>
              <a:t>-Build an ecosystem around core business capabilities and onboard new digital residents</a:t>
            </a:r>
            <a:endParaRPr sz="1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sz="1500">
              <a:solidFill>
                <a:schemeClr val="dk1"/>
              </a:solidFill>
              <a:latin typeface="Calibri"/>
              <a:ea typeface="Calibri"/>
              <a:cs typeface="Calibri"/>
              <a:sym typeface="Calibri"/>
            </a:endParaRPr>
          </a:p>
        </p:txBody>
      </p:sp>
      <p:pic>
        <p:nvPicPr>
          <p:cNvPr descr="Connections with solid fill" id="199" name="Google Shape;199;p3"/>
          <p:cNvPicPr preferRelativeResize="0"/>
          <p:nvPr/>
        </p:nvPicPr>
        <p:blipFill rotWithShape="1">
          <a:blip r:embed="rId3">
            <a:alphaModFix/>
          </a:blip>
          <a:srcRect b="0" l="0" r="0" t="0"/>
          <a:stretch/>
        </p:blipFill>
        <p:spPr>
          <a:xfrm>
            <a:off x="5098815" y="3803877"/>
            <a:ext cx="756825" cy="756825"/>
          </a:xfrm>
          <a:prstGeom prst="rect">
            <a:avLst/>
          </a:prstGeom>
          <a:noFill/>
          <a:ln>
            <a:noFill/>
          </a:ln>
        </p:spPr>
      </p:pic>
      <p:pic>
        <p:nvPicPr>
          <p:cNvPr descr="Upward trend with solid fill" id="200" name="Google Shape;200;p3"/>
          <p:cNvPicPr preferRelativeResize="0"/>
          <p:nvPr/>
        </p:nvPicPr>
        <p:blipFill rotWithShape="1">
          <a:blip r:embed="rId4">
            <a:alphaModFix/>
          </a:blip>
          <a:srcRect b="0" l="0" r="0" t="0"/>
          <a:stretch/>
        </p:blipFill>
        <p:spPr>
          <a:xfrm>
            <a:off x="8300425" y="3135448"/>
            <a:ext cx="756825" cy="756825"/>
          </a:xfrm>
          <a:prstGeom prst="rect">
            <a:avLst/>
          </a:prstGeom>
          <a:noFill/>
          <a:ln>
            <a:noFill/>
          </a:ln>
        </p:spPr>
      </p:pic>
      <p:pic>
        <p:nvPicPr>
          <p:cNvPr descr="Clipboard Checked with solid fill" id="201" name="Google Shape;201;p3"/>
          <p:cNvPicPr preferRelativeResize="0"/>
          <p:nvPr/>
        </p:nvPicPr>
        <p:blipFill rotWithShape="1">
          <a:blip r:embed="rId5">
            <a:alphaModFix/>
          </a:blip>
          <a:srcRect b="0" l="0" r="0" t="0"/>
          <a:stretch/>
        </p:blipFill>
        <p:spPr>
          <a:xfrm>
            <a:off x="2581462" y="5057447"/>
            <a:ext cx="365760" cy="365760"/>
          </a:xfrm>
          <a:prstGeom prst="rect">
            <a:avLst/>
          </a:prstGeom>
          <a:noFill/>
          <a:ln>
            <a:noFill/>
          </a:ln>
        </p:spPr>
      </p:pic>
      <p:sp>
        <p:nvSpPr>
          <p:cNvPr id="202" name="Google Shape;202;p3"/>
          <p:cNvSpPr txBox="1"/>
          <p:nvPr/>
        </p:nvSpPr>
        <p:spPr>
          <a:xfrm>
            <a:off x="9925650"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(NIST 2023)</a:t>
            </a:r>
            <a:endParaRPr sz="235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2d8e13a7dad_0_93"/>
          <p:cNvSpPr txBox="1"/>
          <p:nvPr>
            <p:ph type="ctrTitle"/>
          </p:nvPr>
        </p:nvSpPr>
        <p:spPr>
          <a:xfrm>
            <a:off x="1524000" y="1921463"/>
            <a:ext cx="9144000" cy="2387700"/>
          </a:xfrm>
          <a:prstGeom prst="rect">
            <a:avLst/>
          </a:prstGeom>
          <a:noFill/>
          <a:ln>
            <a:noFill/>
          </a:ln>
        </p:spPr>
        <p:txBody>
          <a:bodyPr anchorCtr="0" anchor="b"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US" sz="3900">
                <a:latin typeface="Calibri"/>
                <a:ea typeface="Calibri"/>
                <a:cs typeface="Calibri"/>
                <a:sym typeface="Calibri"/>
              </a:rPr>
              <a:t>Section 3: Digital Trust Initiative &amp; Zero Trust Strategy</a:t>
            </a:r>
            <a:endParaRPr sz="39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
          <p:cNvSpPr/>
          <p:nvPr/>
        </p:nvSpPr>
        <p:spPr>
          <a:xfrm flipH="1" rot="10800000">
            <a:off x="0" y="1959"/>
            <a:ext cx="12192000" cy="2018841"/>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4"/>
          <p:cNvSpPr txBox="1"/>
          <p:nvPr>
            <p:ph type="title"/>
          </p:nvPr>
        </p:nvSpPr>
        <p:spPr>
          <a:xfrm>
            <a:off x="838200" y="365125"/>
            <a:ext cx="10515600" cy="9302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sz="3900">
                <a:latin typeface="Calibri"/>
                <a:ea typeface="Calibri"/>
                <a:cs typeface="Calibri"/>
                <a:sym typeface="Calibri"/>
              </a:rPr>
              <a:t>Digital Trust Initiatives</a:t>
            </a:r>
            <a:endParaRPr b="1" sz="3900">
              <a:solidFill>
                <a:schemeClr val="dk1"/>
              </a:solidFill>
              <a:latin typeface="Calibri"/>
              <a:ea typeface="Calibri"/>
              <a:cs typeface="Calibri"/>
              <a:sym typeface="Calibri"/>
            </a:endParaRPr>
          </a:p>
        </p:txBody>
      </p:sp>
      <p:sp>
        <p:nvSpPr>
          <p:cNvPr id="216" name="Google Shape;216;p4"/>
          <p:cNvSpPr txBox="1"/>
          <p:nvPr/>
        </p:nvSpPr>
        <p:spPr>
          <a:xfrm>
            <a:off x="838200" y="1712000"/>
            <a:ext cx="11037000" cy="211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2600">
                <a:solidFill>
                  <a:schemeClr val="dk1"/>
                </a:solidFill>
              </a:rPr>
              <a:t>Three Initiatives:</a:t>
            </a:r>
            <a:endParaRPr b="1" sz="2600">
              <a:solidFill>
                <a:schemeClr val="dk1"/>
              </a:solidFill>
            </a:endParaRPr>
          </a:p>
          <a:p>
            <a:pPr indent="-393700" lvl="0" marL="457200" rtl="0" algn="l">
              <a:lnSpc>
                <a:spcPct val="115000"/>
              </a:lnSpc>
              <a:spcBef>
                <a:spcPts val="1200"/>
              </a:spcBef>
              <a:spcAft>
                <a:spcPts val="0"/>
              </a:spcAft>
              <a:buClr>
                <a:schemeClr val="dk1"/>
              </a:buClr>
              <a:buSzPts val="2600"/>
              <a:buAutoNum type="arabicPeriod"/>
            </a:pPr>
            <a:r>
              <a:rPr lang="en-US" sz="2600">
                <a:solidFill>
                  <a:schemeClr val="dk1"/>
                </a:solidFill>
              </a:rPr>
              <a:t>Traditional </a:t>
            </a:r>
            <a:endParaRPr sz="2600">
              <a:solidFill>
                <a:schemeClr val="dk1"/>
              </a:solidFill>
            </a:endParaRPr>
          </a:p>
          <a:p>
            <a:pPr indent="-393700" lvl="0" marL="457200" rtl="0" algn="l">
              <a:lnSpc>
                <a:spcPct val="115000"/>
              </a:lnSpc>
              <a:spcBef>
                <a:spcPts val="0"/>
              </a:spcBef>
              <a:spcAft>
                <a:spcPts val="0"/>
              </a:spcAft>
              <a:buClr>
                <a:schemeClr val="dk1"/>
              </a:buClr>
              <a:buSzPts val="2600"/>
              <a:buAutoNum type="arabicPeriod"/>
            </a:pPr>
            <a:r>
              <a:rPr lang="en-US" sz="2600">
                <a:solidFill>
                  <a:schemeClr val="dk1"/>
                </a:solidFill>
              </a:rPr>
              <a:t>Non-Invasive Data Governance (NIDG)</a:t>
            </a:r>
            <a:endParaRPr sz="2600">
              <a:solidFill>
                <a:schemeClr val="dk1"/>
              </a:solidFill>
            </a:endParaRPr>
          </a:p>
          <a:p>
            <a:pPr indent="-393700" lvl="0" marL="457200" rtl="0" algn="l">
              <a:lnSpc>
                <a:spcPct val="115000"/>
              </a:lnSpc>
              <a:spcBef>
                <a:spcPts val="0"/>
              </a:spcBef>
              <a:spcAft>
                <a:spcPts val="0"/>
              </a:spcAft>
              <a:buClr>
                <a:schemeClr val="dk1"/>
              </a:buClr>
              <a:buSzPts val="2600"/>
              <a:buAutoNum type="arabicPeriod"/>
            </a:pPr>
            <a:r>
              <a:rPr lang="en-US" sz="2600">
                <a:solidFill>
                  <a:schemeClr val="dk1"/>
                </a:solidFill>
              </a:rPr>
              <a:t>Zero Trust</a:t>
            </a:r>
            <a:endParaRPr sz="2600">
              <a:solidFill>
                <a:schemeClr val="dk1"/>
              </a:solidFill>
            </a:endParaRPr>
          </a:p>
        </p:txBody>
      </p:sp>
      <p:sp>
        <p:nvSpPr>
          <p:cNvPr id="217" name="Google Shape;217;p4"/>
          <p:cNvSpPr txBox="1"/>
          <p:nvPr/>
        </p:nvSpPr>
        <p:spPr>
          <a:xfrm>
            <a:off x="9925650"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(Cylera 2023)</a:t>
            </a:r>
            <a:endParaRPr sz="235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2d8e13a7dad_2_0"/>
          <p:cNvSpPr/>
          <p:nvPr/>
        </p:nvSpPr>
        <p:spPr>
          <a:xfrm flipH="1" rot="10800000">
            <a:off x="0" y="96"/>
            <a:ext cx="12192000" cy="2371038"/>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g2d8e13a7dad_2_0"/>
          <p:cNvSpPr txBox="1"/>
          <p:nvPr>
            <p:ph type="title"/>
          </p:nvPr>
        </p:nvSpPr>
        <p:spPr>
          <a:xfrm>
            <a:off x="838200" y="365125"/>
            <a:ext cx="10515600" cy="930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sz="3900">
                <a:latin typeface="Calibri"/>
                <a:ea typeface="Calibri"/>
                <a:cs typeface="Calibri"/>
                <a:sym typeface="Calibri"/>
              </a:rPr>
              <a:t>Why Zero Trust?</a:t>
            </a:r>
            <a:endParaRPr b="1" sz="3900">
              <a:solidFill>
                <a:schemeClr val="dk1"/>
              </a:solidFill>
              <a:latin typeface="Calibri"/>
              <a:ea typeface="Calibri"/>
              <a:cs typeface="Calibri"/>
              <a:sym typeface="Calibri"/>
            </a:endParaRPr>
          </a:p>
        </p:txBody>
      </p:sp>
      <p:sp>
        <p:nvSpPr>
          <p:cNvPr id="225" name="Google Shape;225;g2d8e13a7dad_2_0"/>
          <p:cNvSpPr txBox="1"/>
          <p:nvPr/>
        </p:nvSpPr>
        <p:spPr>
          <a:xfrm>
            <a:off x="625700" y="2865300"/>
            <a:ext cx="5176500" cy="262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2200">
                <a:solidFill>
                  <a:schemeClr val="dk1"/>
                </a:solidFill>
                <a:latin typeface="Calibri"/>
                <a:ea typeface="Calibri"/>
                <a:cs typeface="Calibri"/>
                <a:sym typeface="Calibri"/>
              </a:rPr>
              <a:t>Traditional vs. Zero Trust Security:</a:t>
            </a:r>
            <a:endParaRPr b="1" sz="2200">
              <a:solidFill>
                <a:schemeClr val="dk1"/>
              </a:solidFill>
              <a:latin typeface="Calibri"/>
              <a:ea typeface="Calibri"/>
              <a:cs typeface="Calibri"/>
              <a:sym typeface="Calibri"/>
            </a:endParaRPr>
          </a:p>
          <a:p>
            <a:pPr indent="-368300" lvl="0" marL="457200" rtl="0" algn="l">
              <a:lnSpc>
                <a:spcPct val="115000"/>
              </a:lnSpc>
              <a:spcBef>
                <a:spcPts val="1200"/>
              </a:spcBef>
              <a:spcAft>
                <a:spcPts val="0"/>
              </a:spcAft>
              <a:buClr>
                <a:schemeClr val="dk1"/>
              </a:buClr>
              <a:buSzPts val="2200"/>
              <a:buChar char="●"/>
            </a:pPr>
            <a:r>
              <a:rPr b="1" lang="en-US" sz="2200">
                <a:solidFill>
                  <a:schemeClr val="dk1"/>
                </a:solidFill>
                <a:latin typeface="Calibri"/>
                <a:ea typeface="Calibri"/>
                <a:cs typeface="Calibri"/>
                <a:sym typeface="Calibri"/>
              </a:rPr>
              <a:t>Traditional:</a:t>
            </a:r>
            <a:r>
              <a:rPr lang="en-US" sz="2200">
                <a:solidFill>
                  <a:schemeClr val="dk1"/>
                </a:solidFill>
                <a:latin typeface="Calibri"/>
                <a:ea typeface="Calibri"/>
                <a:cs typeface="Calibri"/>
                <a:sym typeface="Calibri"/>
              </a:rPr>
              <a:t> Trust once inside the perimeter</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Char char="●"/>
            </a:pPr>
            <a:r>
              <a:rPr b="1" lang="en-US" sz="2200">
                <a:solidFill>
                  <a:schemeClr val="dk1"/>
                </a:solidFill>
                <a:latin typeface="Calibri"/>
                <a:ea typeface="Calibri"/>
                <a:cs typeface="Calibri"/>
                <a:sym typeface="Calibri"/>
              </a:rPr>
              <a:t>Zero Trust:</a:t>
            </a:r>
            <a:r>
              <a:rPr lang="en-US" sz="2200">
                <a:solidFill>
                  <a:schemeClr val="dk1"/>
                </a:solidFill>
                <a:latin typeface="Calibri"/>
                <a:ea typeface="Calibri"/>
                <a:cs typeface="Calibri"/>
                <a:sym typeface="Calibri"/>
              </a:rPr>
              <a:t> “Never trust, always verify” — continuous authentication and microsegmentation</a:t>
            </a:r>
            <a:endParaRPr b="1" sz="2200">
              <a:solidFill>
                <a:schemeClr val="dk1"/>
              </a:solidFill>
              <a:latin typeface="Calibri"/>
              <a:ea typeface="Calibri"/>
              <a:cs typeface="Calibri"/>
              <a:sym typeface="Calibri"/>
            </a:endParaRPr>
          </a:p>
        </p:txBody>
      </p:sp>
      <p:sp>
        <p:nvSpPr>
          <p:cNvPr id="226" name="Google Shape;226;g2d8e13a7dad_2_0"/>
          <p:cNvSpPr txBox="1"/>
          <p:nvPr/>
        </p:nvSpPr>
        <p:spPr>
          <a:xfrm>
            <a:off x="6090000" y="2865300"/>
            <a:ext cx="5624100" cy="301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2200">
                <a:solidFill>
                  <a:schemeClr val="dk1"/>
                </a:solidFill>
                <a:latin typeface="Calibri"/>
                <a:ea typeface="Calibri"/>
                <a:cs typeface="Calibri"/>
                <a:sym typeface="Calibri"/>
              </a:rPr>
              <a:t>Why Zero Trust for CHS?</a:t>
            </a:r>
            <a:endParaRPr b="1" sz="2200">
              <a:solidFill>
                <a:schemeClr val="dk1"/>
              </a:solidFill>
              <a:latin typeface="Calibri"/>
              <a:ea typeface="Calibri"/>
              <a:cs typeface="Calibri"/>
              <a:sym typeface="Calibri"/>
            </a:endParaRPr>
          </a:p>
          <a:p>
            <a:pPr indent="-368300" lvl="0" marL="457200" rtl="0" algn="l">
              <a:lnSpc>
                <a:spcPct val="115000"/>
              </a:lnSpc>
              <a:spcBef>
                <a:spcPts val="1200"/>
              </a:spcBef>
              <a:spcAft>
                <a:spcPts val="0"/>
              </a:spcAft>
              <a:buClr>
                <a:schemeClr val="dk1"/>
              </a:buClr>
              <a:buSzPts val="2200"/>
              <a:buFont typeface="Calibri"/>
              <a:buChar char="●"/>
            </a:pPr>
            <a:r>
              <a:rPr lang="en-US" sz="2200">
                <a:solidFill>
                  <a:schemeClr val="dk1"/>
                </a:solidFill>
                <a:latin typeface="Calibri"/>
                <a:ea typeface="Calibri"/>
                <a:cs typeface="Calibri"/>
                <a:sym typeface="Calibri"/>
              </a:rPr>
              <a:t>Protect patient data in an increasingly digital environment</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Font typeface="Calibri"/>
              <a:buChar char="●"/>
            </a:pPr>
            <a:r>
              <a:rPr lang="en-US" sz="2200">
                <a:solidFill>
                  <a:schemeClr val="dk1"/>
                </a:solidFill>
                <a:latin typeface="Calibri"/>
                <a:ea typeface="Calibri"/>
                <a:cs typeface="Calibri"/>
                <a:sym typeface="Calibri"/>
              </a:rPr>
              <a:t>Mitigate insider threats and prevent ransomware attacks</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chemeClr val="dk1"/>
              </a:buClr>
              <a:buSzPts val="2200"/>
              <a:buFont typeface="Calibri"/>
              <a:buChar char="●"/>
            </a:pPr>
            <a:r>
              <a:rPr lang="en-US" sz="2200">
                <a:solidFill>
                  <a:schemeClr val="dk1"/>
                </a:solidFill>
                <a:latin typeface="Calibri"/>
                <a:ea typeface="Calibri"/>
                <a:cs typeface="Calibri"/>
                <a:sym typeface="Calibri"/>
              </a:rPr>
              <a:t>Align with evolving regulatory cybersecurity requirements</a:t>
            </a:r>
            <a:endParaRPr sz="2200">
              <a:solidFill>
                <a:schemeClr val="dk1"/>
              </a:solidFill>
              <a:latin typeface="Calibri"/>
              <a:ea typeface="Calibri"/>
              <a:cs typeface="Calibri"/>
              <a:sym typeface="Calibri"/>
            </a:endParaRPr>
          </a:p>
        </p:txBody>
      </p:sp>
      <p:sp>
        <p:nvSpPr>
          <p:cNvPr id="227" name="Google Shape;227;g2d8e13a7dad_2_0"/>
          <p:cNvSpPr txBox="1"/>
          <p:nvPr/>
        </p:nvSpPr>
        <p:spPr>
          <a:xfrm>
            <a:off x="9925650"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(Cylera 2023)</a:t>
            </a:r>
            <a:endParaRPr sz="235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2d8e13a7dad_0_134"/>
          <p:cNvSpPr/>
          <p:nvPr/>
        </p:nvSpPr>
        <p:spPr>
          <a:xfrm flipH="1" rot="10800000">
            <a:off x="0" y="96"/>
            <a:ext cx="12192000" cy="2371038"/>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g2d8e13a7dad_0_134"/>
          <p:cNvSpPr txBox="1"/>
          <p:nvPr>
            <p:ph type="title"/>
          </p:nvPr>
        </p:nvSpPr>
        <p:spPr>
          <a:xfrm>
            <a:off x="838200" y="365125"/>
            <a:ext cx="10515600" cy="930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sz="3900">
                <a:latin typeface="Calibri"/>
                <a:ea typeface="Calibri"/>
                <a:cs typeface="Calibri"/>
                <a:sym typeface="Calibri"/>
              </a:rPr>
              <a:t>The Rationale for a Zero Trust Approach</a:t>
            </a:r>
            <a:endParaRPr b="1" sz="3900">
              <a:solidFill>
                <a:schemeClr val="dk1"/>
              </a:solidFill>
              <a:latin typeface="Calibri"/>
              <a:ea typeface="Calibri"/>
              <a:cs typeface="Calibri"/>
              <a:sym typeface="Calibri"/>
            </a:endParaRPr>
          </a:p>
        </p:txBody>
      </p:sp>
      <p:sp>
        <p:nvSpPr>
          <p:cNvPr id="235" name="Google Shape;235;g2d8e13a7dad_0_134"/>
          <p:cNvSpPr txBox="1"/>
          <p:nvPr/>
        </p:nvSpPr>
        <p:spPr>
          <a:xfrm>
            <a:off x="838200" y="4193900"/>
            <a:ext cx="2883300" cy="1847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US" sz="1800">
                <a:solidFill>
                  <a:schemeClr val="dk1"/>
                </a:solidFill>
                <a:latin typeface="Calibri"/>
                <a:ea typeface="Calibri"/>
                <a:cs typeface="Calibri"/>
                <a:sym typeface="Calibri"/>
              </a:rPr>
              <a:t>Identity &amp; Access Management (IAM):</a:t>
            </a:r>
            <a:endParaRPr b="1" sz="18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US" sz="1800">
                <a:solidFill>
                  <a:schemeClr val="dk1"/>
                </a:solidFill>
                <a:latin typeface="Calibri"/>
                <a:ea typeface="Calibri"/>
                <a:cs typeface="Calibri"/>
                <a:sym typeface="Calibri"/>
              </a:rPr>
              <a:t>-Multi-Factor Authentication (MFA)</a:t>
            </a:r>
            <a:endParaRPr sz="18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US" sz="1800">
                <a:solidFill>
                  <a:schemeClr val="dk1"/>
                </a:solidFill>
                <a:latin typeface="Calibri"/>
                <a:ea typeface="Calibri"/>
                <a:cs typeface="Calibri"/>
                <a:sym typeface="Calibri"/>
              </a:rPr>
              <a:t>-Role-Based Access Controls (RBAC)</a:t>
            </a:r>
            <a:endParaRPr sz="1800">
              <a:solidFill>
                <a:schemeClr val="dk1"/>
              </a:solidFill>
              <a:latin typeface="Calibri"/>
              <a:ea typeface="Calibri"/>
              <a:cs typeface="Calibri"/>
              <a:sym typeface="Calibri"/>
            </a:endParaRPr>
          </a:p>
        </p:txBody>
      </p:sp>
      <p:sp>
        <p:nvSpPr>
          <p:cNvPr id="236" name="Google Shape;236;g2d8e13a7dad_0_134"/>
          <p:cNvSpPr txBox="1"/>
          <p:nvPr/>
        </p:nvSpPr>
        <p:spPr>
          <a:xfrm>
            <a:off x="4384775" y="4047650"/>
            <a:ext cx="3117900" cy="1939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US" sz="1900">
                <a:solidFill>
                  <a:schemeClr val="dk1"/>
                </a:solidFill>
                <a:latin typeface="Calibri"/>
                <a:ea typeface="Calibri"/>
                <a:cs typeface="Calibri"/>
                <a:sym typeface="Calibri"/>
              </a:rPr>
              <a:t>Microsegmentation &amp; Network Security:</a:t>
            </a:r>
            <a:endParaRPr b="1" sz="19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US" sz="1900">
                <a:solidFill>
                  <a:schemeClr val="dk1"/>
                </a:solidFill>
                <a:latin typeface="Calibri"/>
                <a:ea typeface="Calibri"/>
                <a:cs typeface="Calibri"/>
                <a:sym typeface="Calibri"/>
              </a:rPr>
              <a:t>-Isolating sensitive data systems to limit lateral movement</a:t>
            </a:r>
            <a:endParaRPr sz="19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t/>
            </a:r>
            <a:endParaRPr b="1" sz="1900">
              <a:solidFill>
                <a:schemeClr val="dk1"/>
              </a:solidFill>
              <a:latin typeface="Calibri"/>
              <a:ea typeface="Calibri"/>
              <a:cs typeface="Calibri"/>
              <a:sym typeface="Calibri"/>
            </a:endParaRPr>
          </a:p>
        </p:txBody>
      </p:sp>
      <p:sp>
        <p:nvSpPr>
          <p:cNvPr id="237" name="Google Shape;237;g2d8e13a7dad_0_134"/>
          <p:cNvSpPr txBox="1"/>
          <p:nvPr/>
        </p:nvSpPr>
        <p:spPr>
          <a:xfrm>
            <a:off x="7964875" y="4193900"/>
            <a:ext cx="2957700" cy="1647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US" sz="1900">
                <a:solidFill>
                  <a:schemeClr val="dk1"/>
                </a:solidFill>
                <a:latin typeface="Calibri"/>
                <a:ea typeface="Calibri"/>
                <a:cs typeface="Calibri"/>
                <a:sym typeface="Calibri"/>
              </a:rPr>
              <a:t>AI-Driven Threat Detection:</a:t>
            </a:r>
            <a:endParaRPr b="1" sz="19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b="1" lang="en-US" sz="1900">
                <a:solidFill>
                  <a:schemeClr val="dk1"/>
                </a:solidFill>
                <a:latin typeface="Calibri"/>
                <a:ea typeface="Calibri"/>
                <a:cs typeface="Calibri"/>
                <a:sym typeface="Calibri"/>
              </a:rPr>
              <a:t>-Real-time anomaly detection</a:t>
            </a:r>
            <a:r>
              <a:rPr lang="en-US" sz="1900">
                <a:solidFill>
                  <a:schemeClr val="dk1"/>
                </a:solidFill>
                <a:latin typeface="Calibri"/>
                <a:ea typeface="Calibri"/>
                <a:cs typeface="Calibri"/>
                <a:sym typeface="Calibri"/>
              </a:rPr>
              <a:t> and </a:t>
            </a:r>
            <a:r>
              <a:rPr b="1" lang="en-US" sz="1900">
                <a:solidFill>
                  <a:schemeClr val="dk1"/>
                </a:solidFill>
                <a:latin typeface="Calibri"/>
                <a:ea typeface="Calibri"/>
                <a:cs typeface="Calibri"/>
                <a:sym typeface="Calibri"/>
              </a:rPr>
              <a:t>automated response</a:t>
            </a:r>
            <a:r>
              <a:rPr lang="en-US" sz="1900">
                <a:solidFill>
                  <a:schemeClr val="dk1"/>
                </a:solidFill>
                <a:latin typeface="Calibri"/>
                <a:ea typeface="Calibri"/>
                <a:cs typeface="Calibri"/>
                <a:sym typeface="Calibri"/>
              </a:rPr>
              <a:t> to cyber threat</a:t>
            </a:r>
            <a:endParaRPr sz="19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t/>
            </a:r>
            <a:endParaRPr b="1" sz="1900">
              <a:solidFill>
                <a:schemeClr val="dk1"/>
              </a:solidFill>
              <a:latin typeface="Calibri"/>
              <a:ea typeface="Calibri"/>
              <a:cs typeface="Calibri"/>
              <a:sym typeface="Calibri"/>
            </a:endParaRPr>
          </a:p>
        </p:txBody>
      </p:sp>
      <p:sp>
        <p:nvSpPr>
          <p:cNvPr id="238" name="Google Shape;238;g2d8e13a7dad_0_134"/>
          <p:cNvSpPr/>
          <p:nvPr/>
        </p:nvSpPr>
        <p:spPr>
          <a:xfrm>
            <a:off x="4719413" y="2308425"/>
            <a:ext cx="1883700" cy="1647000"/>
          </a:xfrm>
          <a:prstGeom prst="rect">
            <a:avLst/>
          </a:prstGeom>
          <a:blipFill rotWithShape="1">
            <a:blip r:embed="rId3">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2d8e13a7dad_0_134"/>
          <p:cNvSpPr/>
          <p:nvPr/>
        </p:nvSpPr>
        <p:spPr>
          <a:xfrm>
            <a:off x="8547002" y="2371126"/>
            <a:ext cx="1563600" cy="1521600"/>
          </a:xfrm>
          <a:prstGeom prst="rect">
            <a:avLst/>
          </a:prstGeom>
          <a:blipFill rotWithShape="1">
            <a:blip r:embed="rId4">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2d8e13a7dad_0_134"/>
          <p:cNvSpPr/>
          <p:nvPr/>
        </p:nvSpPr>
        <p:spPr>
          <a:xfrm>
            <a:off x="1211925" y="2422575"/>
            <a:ext cx="1645500" cy="1647000"/>
          </a:xfrm>
          <a:prstGeom prst="rect">
            <a:avLst/>
          </a:prstGeom>
          <a:blipFill rotWithShape="1">
            <a:blip r:embed="rId5">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2d8e13a7dad_0_134"/>
          <p:cNvSpPr txBox="1"/>
          <p:nvPr/>
        </p:nvSpPr>
        <p:spPr>
          <a:xfrm>
            <a:off x="9925650"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(HealthTech Magazine 2023)</a:t>
            </a:r>
            <a:endParaRPr sz="235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2d8e13a7dad_0_242"/>
          <p:cNvSpPr/>
          <p:nvPr/>
        </p:nvSpPr>
        <p:spPr>
          <a:xfrm flipH="1" rot="10800000">
            <a:off x="0" y="96"/>
            <a:ext cx="12192000" cy="2371038"/>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g2d8e13a7dad_0_242"/>
          <p:cNvSpPr txBox="1"/>
          <p:nvPr>
            <p:ph type="title"/>
          </p:nvPr>
        </p:nvSpPr>
        <p:spPr>
          <a:xfrm>
            <a:off x="838200" y="365125"/>
            <a:ext cx="10515600" cy="930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12820"/>
              <a:buFont typeface="Calibri"/>
              <a:buNone/>
            </a:pPr>
            <a:r>
              <a:rPr b="1" lang="en-US" sz="3900">
                <a:latin typeface="Calibri"/>
                <a:ea typeface="Calibri"/>
                <a:cs typeface="Calibri"/>
                <a:sym typeface="Calibri"/>
              </a:rPr>
              <a:t>Cost-Benefit Analysis of Zero Trust Implementation</a:t>
            </a:r>
            <a:endParaRPr b="1" sz="3900">
              <a:solidFill>
                <a:schemeClr val="dk1"/>
              </a:solidFill>
              <a:latin typeface="Calibri"/>
              <a:ea typeface="Calibri"/>
              <a:cs typeface="Calibri"/>
              <a:sym typeface="Calibri"/>
            </a:endParaRPr>
          </a:p>
        </p:txBody>
      </p:sp>
      <p:graphicFrame>
        <p:nvGraphicFramePr>
          <p:cNvPr id="249" name="Google Shape;249;g2d8e13a7dad_0_242"/>
          <p:cNvGraphicFramePr/>
          <p:nvPr/>
        </p:nvGraphicFramePr>
        <p:xfrm>
          <a:off x="952500" y="2371125"/>
          <a:ext cx="3000000" cy="3000000"/>
        </p:xfrm>
        <a:graphic>
          <a:graphicData uri="http://schemas.openxmlformats.org/drawingml/2006/table">
            <a:tbl>
              <a:tblPr>
                <a:noFill/>
                <a:tableStyleId>{BE0D0F28-333F-405D-B1C5-C04AB20D663B}</a:tableStyleId>
              </a:tblPr>
              <a:tblGrid>
                <a:gridCol w="3429000"/>
                <a:gridCol w="3429000"/>
                <a:gridCol w="3429000"/>
              </a:tblGrid>
              <a:tr h="381000">
                <a:tc>
                  <a:txBody>
                    <a:bodyPr/>
                    <a:lstStyle/>
                    <a:p>
                      <a:pPr indent="0" lvl="0" marL="0" rtl="0" algn="ctr">
                        <a:spcBef>
                          <a:spcPts val="0"/>
                        </a:spcBef>
                        <a:spcAft>
                          <a:spcPts val="0"/>
                        </a:spcAft>
                        <a:buNone/>
                      </a:pPr>
                      <a:r>
                        <a:rPr b="1" lang="en-US" sz="1600">
                          <a:solidFill>
                            <a:schemeClr val="lt1"/>
                          </a:solidFill>
                        </a:rPr>
                        <a:t>Metric</a:t>
                      </a:r>
                      <a:endParaRPr b="1" sz="1600">
                        <a:solidFill>
                          <a:schemeClr val="lt1"/>
                        </a:solidFill>
                      </a:endParaRPr>
                    </a:p>
                  </a:txBody>
                  <a:tcPr marT="91425" marB="91425" marR="91425" marL="91425">
                    <a:solidFill>
                      <a:srgbClr val="4472C4"/>
                    </a:solidFill>
                  </a:tcPr>
                </a:tc>
                <a:tc>
                  <a:txBody>
                    <a:bodyPr/>
                    <a:lstStyle/>
                    <a:p>
                      <a:pPr indent="0" lvl="0" marL="0" rtl="0" algn="ctr">
                        <a:spcBef>
                          <a:spcPts val="0"/>
                        </a:spcBef>
                        <a:spcAft>
                          <a:spcPts val="0"/>
                        </a:spcAft>
                        <a:buNone/>
                      </a:pPr>
                      <a:r>
                        <a:rPr b="1" lang="en-US" sz="1600">
                          <a:solidFill>
                            <a:schemeClr val="lt1"/>
                          </a:solidFill>
                        </a:rPr>
                        <a:t>Before Zero Trust</a:t>
                      </a:r>
                      <a:endParaRPr b="1" sz="1600">
                        <a:solidFill>
                          <a:schemeClr val="lt1"/>
                        </a:solidFill>
                      </a:endParaRPr>
                    </a:p>
                  </a:txBody>
                  <a:tcPr marT="91425" marB="91425" marR="91425" marL="91425">
                    <a:solidFill>
                      <a:srgbClr val="4472C4"/>
                    </a:solidFill>
                  </a:tcPr>
                </a:tc>
                <a:tc>
                  <a:txBody>
                    <a:bodyPr/>
                    <a:lstStyle/>
                    <a:p>
                      <a:pPr indent="0" lvl="0" marL="0" rtl="0" algn="ctr">
                        <a:spcBef>
                          <a:spcPts val="0"/>
                        </a:spcBef>
                        <a:spcAft>
                          <a:spcPts val="0"/>
                        </a:spcAft>
                        <a:buNone/>
                      </a:pPr>
                      <a:r>
                        <a:rPr b="1" lang="en-US" sz="1600">
                          <a:solidFill>
                            <a:schemeClr val="lt1"/>
                          </a:solidFill>
                        </a:rPr>
                        <a:t>After Zero Trust</a:t>
                      </a:r>
                      <a:endParaRPr b="1" sz="1600">
                        <a:solidFill>
                          <a:schemeClr val="lt1"/>
                        </a:solidFill>
                      </a:endParaRPr>
                    </a:p>
                  </a:txBody>
                  <a:tcPr marT="91425" marB="91425" marR="91425" marL="91425">
                    <a:solidFill>
                      <a:srgbClr val="4472C4"/>
                    </a:solidFill>
                  </a:tcPr>
                </a:tc>
              </a:tr>
              <a:tr h="381000">
                <a:tc>
                  <a:txBody>
                    <a:bodyPr/>
                    <a:lstStyle/>
                    <a:p>
                      <a:pPr indent="0" lvl="0" marL="0" rtl="0" algn="l">
                        <a:spcBef>
                          <a:spcPts val="0"/>
                        </a:spcBef>
                        <a:spcAft>
                          <a:spcPts val="0"/>
                        </a:spcAft>
                        <a:buNone/>
                      </a:pPr>
                      <a:r>
                        <a:rPr b="1" lang="en-US" sz="1600"/>
                        <a:t>Data Breaches</a:t>
                      </a:r>
                      <a:endParaRPr b="1" sz="1600"/>
                    </a:p>
                  </a:txBody>
                  <a:tcPr marT="91425" marB="91425" marR="91425" marL="91425"/>
                </a:tc>
                <a:tc>
                  <a:txBody>
                    <a:bodyPr/>
                    <a:lstStyle/>
                    <a:p>
                      <a:pPr indent="0" lvl="0" marL="0" rtl="0" algn="l">
                        <a:spcBef>
                          <a:spcPts val="0"/>
                        </a:spcBef>
                        <a:spcAft>
                          <a:spcPts val="0"/>
                        </a:spcAft>
                        <a:buNone/>
                      </a:pPr>
                      <a:r>
                        <a:rPr lang="en-US" sz="1900"/>
                        <a:t>High risk</a:t>
                      </a:r>
                      <a:endParaRPr sz="1900"/>
                    </a:p>
                  </a:txBody>
                  <a:tcPr marT="91425" marB="91425" marR="91425" marL="91425"/>
                </a:tc>
                <a:tc>
                  <a:txBody>
                    <a:bodyPr/>
                    <a:lstStyle/>
                    <a:p>
                      <a:pPr indent="0" lvl="0" marL="0" rtl="0" algn="l">
                        <a:spcBef>
                          <a:spcPts val="0"/>
                        </a:spcBef>
                        <a:spcAft>
                          <a:spcPts val="0"/>
                        </a:spcAft>
                        <a:buNone/>
                      </a:pPr>
                      <a:r>
                        <a:rPr lang="en-US" sz="1900"/>
                        <a:t>Significantly reduced</a:t>
                      </a:r>
                      <a:endParaRPr sz="1900"/>
                    </a:p>
                  </a:txBody>
                  <a:tcPr marT="91425" marB="91425" marR="91425" marL="91425"/>
                </a:tc>
              </a:tr>
              <a:tr h="381000">
                <a:tc>
                  <a:txBody>
                    <a:bodyPr/>
                    <a:lstStyle/>
                    <a:p>
                      <a:pPr indent="0" lvl="0" marL="0" rtl="0" algn="l">
                        <a:spcBef>
                          <a:spcPts val="0"/>
                        </a:spcBef>
                        <a:spcAft>
                          <a:spcPts val="0"/>
                        </a:spcAft>
                        <a:buNone/>
                      </a:pPr>
                      <a:r>
                        <a:rPr b="1" lang="en-US" sz="1600"/>
                        <a:t>AI Adoption</a:t>
                      </a:r>
                      <a:endParaRPr b="1" sz="1600"/>
                    </a:p>
                  </a:txBody>
                  <a:tcPr marT="91425" marB="91425" marR="91425" marL="91425"/>
                </a:tc>
                <a:tc>
                  <a:txBody>
                    <a:bodyPr/>
                    <a:lstStyle/>
                    <a:p>
                      <a:pPr indent="0" lvl="0" marL="0" rtl="0" algn="l">
                        <a:spcBef>
                          <a:spcPts val="0"/>
                        </a:spcBef>
                        <a:spcAft>
                          <a:spcPts val="0"/>
                        </a:spcAft>
                        <a:buNone/>
                      </a:pPr>
                      <a:r>
                        <a:rPr lang="en-US" sz="1900"/>
                        <a:t>Moderate</a:t>
                      </a:r>
                      <a:endParaRPr sz="1900"/>
                    </a:p>
                  </a:txBody>
                  <a:tcPr marT="91425" marB="91425" marR="91425" marL="91425"/>
                </a:tc>
                <a:tc>
                  <a:txBody>
                    <a:bodyPr/>
                    <a:lstStyle/>
                    <a:p>
                      <a:pPr indent="0" lvl="0" marL="0" rtl="0" algn="l">
                        <a:spcBef>
                          <a:spcPts val="0"/>
                        </a:spcBef>
                        <a:spcAft>
                          <a:spcPts val="0"/>
                        </a:spcAft>
                        <a:buNone/>
                      </a:pPr>
                      <a:r>
                        <a:rPr lang="en-US" sz="1900"/>
                        <a:t>Higher trust with transparency</a:t>
                      </a:r>
                      <a:endParaRPr sz="1900"/>
                    </a:p>
                  </a:txBody>
                  <a:tcPr marT="91425" marB="91425" marR="91425" marL="91425"/>
                </a:tc>
              </a:tr>
              <a:tr h="381000">
                <a:tc>
                  <a:txBody>
                    <a:bodyPr/>
                    <a:lstStyle/>
                    <a:p>
                      <a:pPr indent="0" lvl="0" marL="0" rtl="0" algn="l">
                        <a:spcBef>
                          <a:spcPts val="0"/>
                        </a:spcBef>
                        <a:spcAft>
                          <a:spcPts val="0"/>
                        </a:spcAft>
                        <a:buNone/>
                      </a:pPr>
                      <a:r>
                        <a:rPr b="1" lang="en-US" sz="1600"/>
                        <a:t>Regulatory Compliance</a:t>
                      </a:r>
                      <a:endParaRPr b="1" sz="1600"/>
                    </a:p>
                  </a:txBody>
                  <a:tcPr marT="91425" marB="91425" marR="91425" marL="91425"/>
                </a:tc>
                <a:tc>
                  <a:txBody>
                    <a:bodyPr/>
                    <a:lstStyle/>
                    <a:p>
                      <a:pPr indent="0" lvl="0" marL="0" rtl="0" algn="l">
                        <a:spcBef>
                          <a:spcPts val="0"/>
                        </a:spcBef>
                        <a:spcAft>
                          <a:spcPts val="0"/>
                        </a:spcAft>
                        <a:buNone/>
                      </a:pPr>
                      <a:r>
                        <a:rPr lang="en-US" sz="1900"/>
                        <a:t>Strong</a:t>
                      </a:r>
                      <a:endParaRPr sz="1900"/>
                    </a:p>
                  </a:txBody>
                  <a:tcPr marT="91425" marB="91425" marR="91425" marL="91425"/>
                </a:tc>
                <a:tc>
                  <a:txBody>
                    <a:bodyPr/>
                    <a:lstStyle/>
                    <a:p>
                      <a:pPr indent="0" lvl="0" marL="0" rtl="0" algn="l">
                        <a:spcBef>
                          <a:spcPts val="0"/>
                        </a:spcBef>
                        <a:spcAft>
                          <a:spcPts val="0"/>
                        </a:spcAft>
                        <a:buNone/>
                      </a:pPr>
                      <a:r>
                        <a:rPr lang="en-US" sz="1900"/>
                        <a:t>Fully aligned with evolving laws</a:t>
                      </a:r>
                      <a:endParaRPr sz="1900"/>
                    </a:p>
                  </a:txBody>
                  <a:tcPr marT="91425" marB="91425" marR="91425" marL="91425"/>
                </a:tc>
              </a:tr>
              <a:tr h="381000">
                <a:tc>
                  <a:txBody>
                    <a:bodyPr/>
                    <a:lstStyle/>
                    <a:p>
                      <a:pPr indent="0" lvl="0" marL="0" rtl="0" algn="l">
                        <a:spcBef>
                          <a:spcPts val="0"/>
                        </a:spcBef>
                        <a:spcAft>
                          <a:spcPts val="0"/>
                        </a:spcAft>
                        <a:buNone/>
                      </a:pPr>
                      <a:r>
                        <a:rPr b="1" lang="en-US" sz="1600"/>
                        <a:t>Security Incidents</a:t>
                      </a:r>
                      <a:endParaRPr b="1" sz="1600"/>
                    </a:p>
                  </a:txBody>
                  <a:tcPr marT="91425" marB="91425" marR="91425" marL="91425"/>
                </a:tc>
                <a:tc>
                  <a:txBody>
                    <a:bodyPr/>
                    <a:lstStyle/>
                    <a:p>
                      <a:pPr indent="0" lvl="0" marL="0" rtl="0" algn="l">
                        <a:spcBef>
                          <a:spcPts val="0"/>
                        </a:spcBef>
                        <a:spcAft>
                          <a:spcPts val="0"/>
                        </a:spcAft>
                        <a:buNone/>
                      </a:pPr>
                      <a:r>
                        <a:rPr lang="en-US" sz="1900"/>
                        <a:t>High</a:t>
                      </a:r>
                      <a:endParaRPr sz="1900"/>
                    </a:p>
                  </a:txBody>
                  <a:tcPr marT="91425" marB="91425" marR="91425" marL="91425"/>
                </a:tc>
                <a:tc>
                  <a:txBody>
                    <a:bodyPr/>
                    <a:lstStyle/>
                    <a:p>
                      <a:pPr indent="0" lvl="0" marL="0" rtl="0" algn="l">
                        <a:spcBef>
                          <a:spcPts val="0"/>
                        </a:spcBef>
                        <a:spcAft>
                          <a:spcPts val="0"/>
                        </a:spcAft>
                        <a:buNone/>
                      </a:pPr>
                      <a:r>
                        <a:rPr lang="en-US" sz="1900"/>
                        <a:t>Minimized</a:t>
                      </a:r>
                      <a:endParaRPr sz="1900"/>
                    </a:p>
                  </a:txBody>
                  <a:tcPr marT="91425" marB="91425" marR="91425" marL="91425"/>
                </a:tc>
              </a:tr>
              <a:tr h="381000">
                <a:tc>
                  <a:txBody>
                    <a:bodyPr/>
                    <a:lstStyle/>
                    <a:p>
                      <a:pPr indent="0" lvl="0" marL="0" rtl="0" algn="l">
                        <a:spcBef>
                          <a:spcPts val="0"/>
                        </a:spcBef>
                        <a:spcAft>
                          <a:spcPts val="0"/>
                        </a:spcAft>
                        <a:buNone/>
                      </a:pPr>
                      <a:r>
                        <a:rPr b="1" lang="en-US" sz="1600"/>
                        <a:t>ROI on Investment</a:t>
                      </a:r>
                      <a:endParaRPr b="1" sz="1600"/>
                    </a:p>
                  </a:txBody>
                  <a:tcPr marT="91425" marB="91425" marR="91425" marL="91425"/>
                </a:tc>
                <a:tc>
                  <a:txBody>
                    <a:bodyPr/>
                    <a:lstStyle/>
                    <a:p>
                      <a:pPr indent="0" lvl="0" marL="0" rtl="0" algn="l">
                        <a:spcBef>
                          <a:spcPts val="0"/>
                        </a:spcBef>
                        <a:spcAft>
                          <a:spcPts val="0"/>
                        </a:spcAft>
                        <a:buNone/>
                      </a:pPr>
                      <a:r>
                        <a:rPr lang="en-US" sz="1900"/>
                        <a:t>Uncertain</a:t>
                      </a:r>
                      <a:endParaRPr sz="1900"/>
                    </a:p>
                  </a:txBody>
                  <a:tcPr marT="91425" marB="91425" marR="91425" marL="91425"/>
                </a:tc>
                <a:tc>
                  <a:txBody>
                    <a:bodyPr/>
                    <a:lstStyle/>
                    <a:p>
                      <a:pPr indent="0" lvl="0" marL="0" rtl="0" algn="l">
                        <a:spcBef>
                          <a:spcPts val="0"/>
                        </a:spcBef>
                        <a:spcAft>
                          <a:spcPts val="0"/>
                        </a:spcAft>
                        <a:buNone/>
                      </a:pPr>
                      <a:r>
                        <a:rPr lang="en-US" sz="1900"/>
                        <a:t>Strong return due to reduced breach costs</a:t>
                      </a:r>
                      <a:endParaRPr sz="1900"/>
                    </a:p>
                  </a:txBody>
                  <a:tcPr marT="91425" marB="91425" marR="91425" marL="91425"/>
                </a:tc>
              </a:tr>
            </a:tbl>
          </a:graphicData>
        </a:graphic>
      </p:graphicFrame>
      <p:sp>
        <p:nvSpPr>
          <p:cNvPr id="250" name="Google Shape;250;g2d8e13a7dad_0_242"/>
          <p:cNvSpPr txBox="1"/>
          <p:nvPr/>
        </p:nvSpPr>
        <p:spPr>
          <a:xfrm>
            <a:off x="9925650"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(PMC 2024)</a:t>
            </a:r>
            <a:endParaRPr sz="235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2d8e13a7dad_0_258"/>
          <p:cNvSpPr/>
          <p:nvPr/>
        </p:nvSpPr>
        <p:spPr>
          <a:xfrm flipH="1" rot="10800000">
            <a:off x="0" y="-606"/>
            <a:ext cx="12192000" cy="2069155"/>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g2d8e13a7dad_0_258"/>
          <p:cNvSpPr txBox="1"/>
          <p:nvPr>
            <p:ph type="title"/>
          </p:nvPr>
        </p:nvSpPr>
        <p:spPr>
          <a:xfrm>
            <a:off x="838200" y="365125"/>
            <a:ext cx="10515600" cy="930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Potential Challenges</a:t>
            </a:r>
            <a:endParaRPr>
              <a:solidFill>
                <a:schemeClr val="dk1"/>
              </a:solidFill>
              <a:latin typeface="Calibri"/>
              <a:ea typeface="Calibri"/>
              <a:cs typeface="Calibri"/>
              <a:sym typeface="Calibri"/>
            </a:endParaRPr>
          </a:p>
        </p:txBody>
      </p:sp>
      <p:sp>
        <p:nvSpPr>
          <p:cNvPr id="258" name="Google Shape;258;g2d8e13a7dad_0_258"/>
          <p:cNvSpPr txBox="1"/>
          <p:nvPr/>
        </p:nvSpPr>
        <p:spPr>
          <a:xfrm>
            <a:off x="10267825"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(HHS 2024)</a:t>
            </a:r>
            <a:endParaRPr sz="2350">
              <a:solidFill>
                <a:schemeClr val="dk1"/>
              </a:solidFill>
            </a:endParaRPr>
          </a:p>
        </p:txBody>
      </p:sp>
      <p:graphicFrame>
        <p:nvGraphicFramePr>
          <p:cNvPr id="259" name="Google Shape;259;g2d8e13a7dad_0_258"/>
          <p:cNvGraphicFramePr/>
          <p:nvPr/>
        </p:nvGraphicFramePr>
        <p:xfrm>
          <a:off x="952500" y="2264650"/>
          <a:ext cx="3000000" cy="3000000"/>
        </p:xfrm>
        <a:graphic>
          <a:graphicData uri="http://schemas.openxmlformats.org/drawingml/2006/table">
            <a:tbl>
              <a:tblPr>
                <a:noFill/>
                <a:tableStyleId>{BE0D0F28-333F-405D-B1C5-C04AB20D663B}</a:tableStyleId>
              </a:tblPr>
              <a:tblGrid>
                <a:gridCol w="3429000"/>
                <a:gridCol w="3429000"/>
                <a:gridCol w="3429000"/>
              </a:tblGrid>
              <a:tr h="381000">
                <a:tc>
                  <a:txBody>
                    <a:bodyPr/>
                    <a:lstStyle/>
                    <a:p>
                      <a:pPr indent="0" lvl="0" marL="0" rtl="0" algn="ctr">
                        <a:spcBef>
                          <a:spcPts val="0"/>
                        </a:spcBef>
                        <a:spcAft>
                          <a:spcPts val="0"/>
                        </a:spcAft>
                        <a:buNone/>
                      </a:pPr>
                      <a:r>
                        <a:rPr b="1" lang="en-US" sz="1800">
                          <a:solidFill>
                            <a:schemeClr val="lt1"/>
                          </a:solidFill>
                        </a:rPr>
                        <a:t>Challenge</a:t>
                      </a:r>
                      <a:endParaRPr b="1" sz="1800">
                        <a:solidFill>
                          <a:schemeClr val="lt1"/>
                        </a:solidFill>
                      </a:endParaRPr>
                    </a:p>
                  </a:txBody>
                  <a:tcPr marT="91425" marB="91425" marR="91425" marL="91425">
                    <a:solidFill>
                      <a:srgbClr val="4372C3"/>
                    </a:solidFill>
                  </a:tcPr>
                </a:tc>
                <a:tc>
                  <a:txBody>
                    <a:bodyPr/>
                    <a:lstStyle/>
                    <a:p>
                      <a:pPr indent="0" lvl="0" marL="0" rtl="0" algn="ctr">
                        <a:spcBef>
                          <a:spcPts val="0"/>
                        </a:spcBef>
                        <a:spcAft>
                          <a:spcPts val="0"/>
                        </a:spcAft>
                        <a:buNone/>
                      </a:pPr>
                      <a:r>
                        <a:rPr b="1" lang="en-US" sz="1800">
                          <a:solidFill>
                            <a:schemeClr val="lt1"/>
                          </a:solidFill>
                        </a:rPr>
                        <a:t>Situation</a:t>
                      </a:r>
                      <a:endParaRPr sz="1800">
                        <a:solidFill>
                          <a:schemeClr val="lt1"/>
                        </a:solidFill>
                      </a:endParaRPr>
                    </a:p>
                  </a:txBody>
                  <a:tcPr marT="91425" marB="91425" marR="91425" marL="91425">
                    <a:solidFill>
                      <a:srgbClr val="4372C3"/>
                    </a:solidFill>
                  </a:tcPr>
                </a:tc>
                <a:tc>
                  <a:txBody>
                    <a:bodyPr/>
                    <a:lstStyle/>
                    <a:p>
                      <a:pPr indent="0" lvl="0" marL="0" rtl="0" algn="ctr">
                        <a:spcBef>
                          <a:spcPts val="0"/>
                        </a:spcBef>
                        <a:spcAft>
                          <a:spcPts val="0"/>
                        </a:spcAft>
                        <a:buNone/>
                      </a:pPr>
                      <a:r>
                        <a:rPr b="1" lang="en-US" sz="1800">
                          <a:solidFill>
                            <a:schemeClr val="lt1"/>
                          </a:solidFill>
                        </a:rPr>
                        <a:t>Solution</a:t>
                      </a:r>
                      <a:endParaRPr sz="1800">
                        <a:solidFill>
                          <a:schemeClr val="lt1"/>
                        </a:solidFill>
                      </a:endParaRPr>
                    </a:p>
                  </a:txBody>
                  <a:tcPr marT="91425" marB="91425" marR="91425" marL="91425">
                    <a:solidFill>
                      <a:srgbClr val="4372C3"/>
                    </a:solidFill>
                  </a:tcPr>
                </a:tc>
              </a:tr>
              <a:tr h="381000">
                <a:tc>
                  <a:txBody>
                    <a:bodyPr/>
                    <a:lstStyle/>
                    <a:p>
                      <a:pPr indent="0" lvl="0" marL="0" rtl="0" algn="l">
                        <a:spcBef>
                          <a:spcPts val="0"/>
                        </a:spcBef>
                        <a:spcAft>
                          <a:spcPts val="0"/>
                        </a:spcAft>
                        <a:buNone/>
                      </a:pPr>
                      <a:r>
                        <a:rPr lang="en-US" sz="1600">
                          <a:solidFill>
                            <a:schemeClr val="dk1"/>
                          </a:solidFill>
                        </a:rPr>
                        <a:t>Resistance to change</a:t>
                      </a:r>
                      <a:endParaRPr sz="1600">
                        <a:solidFill>
                          <a:schemeClr val="dk1"/>
                        </a:solidFill>
                      </a:endParaRPr>
                    </a:p>
                  </a:txBody>
                  <a:tcPr marT="91425" marB="91425" marR="91425" marL="91425"/>
                </a:tc>
                <a:tc>
                  <a:txBody>
                    <a:bodyPr/>
                    <a:lstStyle/>
                    <a:p>
                      <a:pPr indent="0" lvl="0" marL="0" rtl="0" algn="l">
                        <a:spcBef>
                          <a:spcPts val="0"/>
                        </a:spcBef>
                        <a:spcAft>
                          <a:spcPts val="0"/>
                        </a:spcAft>
                        <a:buNone/>
                      </a:pPr>
                      <a:r>
                        <a:rPr lang="en-US" sz="1600">
                          <a:solidFill>
                            <a:schemeClr val="dk1"/>
                          </a:solidFill>
                        </a:rPr>
                        <a:t>Employees and clinicians hesitant to adopt stricter protocols</a:t>
                      </a:r>
                      <a:endParaRPr sz="1600">
                        <a:solidFill>
                          <a:schemeClr val="dk1"/>
                        </a:solidFill>
                      </a:endParaRPr>
                    </a:p>
                  </a:txBody>
                  <a:tcPr marT="91425" marB="91425" marR="91425" marL="91425"/>
                </a:tc>
                <a:tc>
                  <a:txBody>
                    <a:bodyPr/>
                    <a:lstStyle/>
                    <a:p>
                      <a:pPr indent="0" lvl="0" marL="0" rtl="0" algn="l">
                        <a:spcBef>
                          <a:spcPts val="0"/>
                        </a:spcBef>
                        <a:spcAft>
                          <a:spcPts val="0"/>
                        </a:spcAft>
                        <a:buNone/>
                      </a:pPr>
                      <a:r>
                        <a:rPr lang="en-US" sz="1600">
                          <a:solidFill>
                            <a:schemeClr val="dk1"/>
                          </a:solidFill>
                        </a:rPr>
                        <a:t>Training programs, executive support, clear communication</a:t>
                      </a:r>
                      <a:endParaRPr sz="1600">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en-US" sz="1600">
                          <a:solidFill>
                            <a:schemeClr val="dk1"/>
                          </a:solidFill>
                        </a:rPr>
                        <a:t>Increased Authentication Friction</a:t>
                      </a:r>
                      <a:endParaRPr sz="1600">
                        <a:solidFill>
                          <a:schemeClr val="dk1"/>
                        </a:solidFill>
                      </a:endParaRPr>
                    </a:p>
                  </a:txBody>
                  <a:tcPr marT="91425" marB="91425" marR="91425" marL="91425"/>
                </a:tc>
                <a:tc>
                  <a:txBody>
                    <a:bodyPr/>
                    <a:lstStyle/>
                    <a:p>
                      <a:pPr indent="0" lvl="0" marL="0" rtl="0" algn="l">
                        <a:spcBef>
                          <a:spcPts val="0"/>
                        </a:spcBef>
                        <a:spcAft>
                          <a:spcPts val="0"/>
                        </a:spcAft>
                        <a:buNone/>
                      </a:pPr>
                      <a:r>
                        <a:rPr lang="en-US" sz="1600">
                          <a:solidFill>
                            <a:schemeClr val="dk1"/>
                          </a:solidFill>
                        </a:rPr>
                        <a:t>Multi factor authentication may slow workflows</a:t>
                      </a:r>
                      <a:endParaRPr sz="1600">
                        <a:solidFill>
                          <a:schemeClr val="dk1"/>
                        </a:solidFill>
                      </a:endParaRPr>
                    </a:p>
                  </a:txBody>
                  <a:tcPr marT="91425" marB="91425" marR="91425" marL="91425"/>
                </a:tc>
                <a:tc>
                  <a:txBody>
                    <a:bodyPr/>
                    <a:lstStyle/>
                    <a:p>
                      <a:pPr indent="0" lvl="0" marL="0" rtl="0" algn="l">
                        <a:spcBef>
                          <a:spcPts val="0"/>
                        </a:spcBef>
                        <a:spcAft>
                          <a:spcPts val="0"/>
                        </a:spcAft>
                        <a:buNone/>
                      </a:pPr>
                      <a:r>
                        <a:rPr lang="en-US" sz="1600">
                          <a:solidFill>
                            <a:schemeClr val="dk1"/>
                          </a:solidFill>
                        </a:rPr>
                        <a:t>Adaptive authentication</a:t>
                      </a:r>
                      <a:endParaRPr sz="1600">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en-US" sz="1600">
                          <a:solidFill>
                            <a:schemeClr val="dk1"/>
                          </a:solidFill>
                        </a:rPr>
                        <a:t>Complexity in Implementation</a:t>
                      </a:r>
                      <a:endParaRPr sz="1600">
                        <a:solidFill>
                          <a:schemeClr val="dk1"/>
                        </a:solidFill>
                      </a:endParaRPr>
                    </a:p>
                  </a:txBody>
                  <a:tcPr marT="91425" marB="91425" marR="91425" marL="91425"/>
                </a:tc>
                <a:tc>
                  <a:txBody>
                    <a:bodyPr/>
                    <a:lstStyle/>
                    <a:p>
                      <a:pPr indent="0" lvl="0" marL="0" rtl="0" algn="l">
                        <a:spcBef>
                          <a:spcPts val="0"/>
                        </a:spcBef>
                        <a:spcAft>
                          <a:spcPts val="0"/>
                        </a:spcAft>
                        <a:buNone/>
                      </a:pPr>
                      <a:r>
                        <a:rPr lang="en-US" sz="1600">
                          <a:solidFill>
                            <a:schemeClr val="dk1"/>
                          </a:solidFill>
                        </a:rPr>
                        <a:t>Integration across legacy systems can be resource-intensive</a:t>
                      </a:r>
                      <a:endParaRPr sz="1600">
                        <a:solidFill>
                          <a:schemeClr val="dk1"/>
                        </a:solidFill>
                      </a:endParaRPr>
                    </a:p>
                  </a:txBody>
                  <a:tcPr marT="91425" marB="91425" marR="91425" marL="91425"/>
                </a:tc>
                <a:tc>
                  <a:txBody>
                    <a:bodyPr/>
                    <a:lstStyle/>
                    <a:p>
                      <a:pPr indent="0" lvl="0" marL="0" rtl="0" algn="l">
                        <a:spcBef>
                          <a:spcPts val="0"/>
                        </a:spcBef>
                        <a:spcAft>
                          <a:spcPts val="0"/>
                        </a:spcAft>
                        <a:buNone/>
                      </a:pPr>
                      <a:r>
                        <a:rPr lang="en-US" sz="1600">
                          <a:solidFill>
                            <a:schemeClr val="dk1"/>
                          </a:solidFill>
                        </a:rPr>
                        <a:t>Phased approach</a:t>
                      </a:r>
                      <a:endParaRPr sz="1600">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en-US" sz="1600">
                          <a:solidFill>
                            <a:schemeClr val="dk1"/>
                          </a:solidFill>
                        </a:rPr>
                        <a:t>Cost Concerns</a:t>
                      </a:r>
                      <a:endParaRPr sz="1600">
                        <a:solidFill>
                          <a:schemeClr val="dk1"/>
                        </a:solidFill>
                      </a:endParaRPr>
                    </a:p>
                  </a:txBody>
                  <a:tcPr marT="91425" marB="91425" marR="91425" marL="91425"/>
                </a:tc>
                <a:tc>
                  <a:txBody>
                    <a:bodyPr/>
                    <a:lstStyle/>
                    <a:p>
                      <a:pPr indent="0" lvl="0" marL="0" rtl="0" algn="l">
                        <a:spcBef>
                          <a:spcPts val="0"/>
                        </a:spcBef>
                        <a:spcAft>
                          <a:spcPts val="0"/>
                        </a:spcAft>
                        <a:buNone/>
                      </a:pPr>
                      <a:r>
                        <a:rPr lang="en-US" sz="1600">
                          <a:solidFill>
                            <a:schemeClr val="dk1"/>
                          </a:solidFill>
                        </a:rPr>
                        <a:t>Budget constraints may limit investment in security upgrades</a:t>
                      </a:r>
                      <a:endParaRPr sz="1600">
                        <a:solidFill>
                          <a:schemeClr val="dk1"/>
                        </a:solidFill>
                      </a:endParaRPr>
                    </a:p>
                  </a:txBody>
                  <a:tcPr marT="91425" marB="91425" marR="91425" marL="91425"/>
                </a:tc>
                <a:tc>
                  <a:txBody>
                    <a:bodyPr/>
                    <a:lstStyle/>
                    <a:p>
                      <a:pPr indent="0" lvl="0" marL="0" rtl="0" algn="l">
                        <a:spcBef>
                          <a:spcPts val="0"/>
                        </a:spcBef>
                        <a:spcAft>
                          <a:spcPts val="0"/>
                        </a:spcAft>
                        <a:buNone/>
                      </a:pPr>
                      <a:r>
                        <a:rPr lang="en-US" sz="1600">
                          <a:solidFill>
                            <a:schemeClr val="dk1"/>
                          </a:solidFill>
                        </a:rPr>
                        <a:t>Demonstrate improved ROI</a:t>
                      </a:r>
                      <a:endParaRPr sz="1600">
                        <a:solidFill>
                          <a:schemeClr val="dk1"/>
                        </a:solidFill>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2d8e13a7dad_0_149"/>
          <p:cNvSpPr/>
          <p:nvPr/>
        </p:nvSpPr>
        <p:spPr>
          <a:xfrm flipH="1" rot="10800000">
            <a:off x="0" y="-606"/>
            <a:ext cx="12192000" cy="2069155"/>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g2d8e13a7dad_0_149"/>
          <p:cNvSpPr txBox="1"/>
          <p:nvPr>
            <p:ph type="title"/>
          </p:nvPr>
        </p:nvSpPr>
        <p:spPr>
          <a:xfrm>
            <a:off x="838200" y="365125"/>
            <a:ext cx="10515600" cy="930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sz="3900">
                <a:latin typeface="Calibri"/>
                <a:ea typeface="Calibri"/>
                <a:cs typeface="Calibri"/>
                <a:sym typeface="Calibri"/>
              </a:rPr>
              <a:t>Our Recommendation: Zero Trust Model</a:t>
            </a:r>
            <a:endParaRPr b="1" sz="3900">
              <a:solidFill>
                <a:schemeClr val="dk1"/>
              </a:solidFill>
              <a:latin typeface="Calibri"/>
              <a:ea typeface="Calibri"/>
              <a:cs typeface="Calibri"/>
              <a:sym typeface="Calibri"/>
            </a:endParaRPr>
          </a:p>
        </p:txBody>
      </p:sp>
      <p:sp>
        <p:nvSpPr>
          <p:cNvPr id="267" name="Google Shape;267;g2d8e13a7dad_0_149"/>
          <p:cNvSpPr txBox="1"/>
          <p:nvPr/>
        </p:nvSpPr>
        <p:spPr>
          <a:xfrm>
            <a:off x="898250" y="1781550"/>
            <a:ext cx="8811300" cy="41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solidFill>
                  <a:schemeClr val="dk1"/>
                </a:solidFill>
                <a:latin typeface="Calibri"/>
                <a:ea typeface="Calibri"/>
                <a:cs typeface="Calibri"/>
                <a:sym typeface="Calibri"/>
              </a:rPr>
              <a:t>Five Key Steps To Get Started:</a:t>
            </a:r>
            <a:endParaRPr b="1" sz="1900">
              <a:solidFill>
                <a:schemeClr val="dk1"/>
              </a:solidFill>
              <a:latin typeface="Calibri"/>
              <a:ea typeface="Calibri"/>
              <a:cs typeface="Calibri"/>
              <a:sym typeface="Calibri"/>
            </a:endParaRPr>
          </a:p>
          <a:p>
            <a:pPr indent="0" lvl="0" marL="0" rtl="0" algn="l">
              <a:spcBef>
                <a:spcPts val="0"/>
              </a:spcBef>
              <a:spcAft>
                <a:spcPts val="0"/>
              </a:spcAft>
              <a:buNone/>
            </a:pPr>
            <a:r>
              <a:t/>
            </a:r>
            <a:endParaRPr sz="1900">
              <a:solidFill>
                <a:schemeClr val="dk1"/>
              </a:solidFill>
              <a:latin typeface="Calibri"/>
              <a:ea typeface="Calibri"/>
              <a:cs typeface="Calibri"/>
              <a:sym typeface="Calibri"/>
            </a:endParaRPr>
          </a:p>
          <a:p>
            <a:pPr indent="-349250" lvl="0" marL="457200" rtl="0" algn="l">
              <a:spcBef>
                <a:spcPts val="0"/>
              </a:spcBef>
              <a:spcAft>
                <a:spcPts val="0"/>
              </a:spcAft>
              <a:buClr>
                <a:schemeClr val="dk1"/>
              </a:buClr>
              <a:buSzPts val="1900"/>
              <a:buFont typeface="Calibri"/>
              <a:buAutoNum type="arabicParenR"/>
            </a:pPr>
            <a:r>
              <a:rPr lang="en-US" sz="1900">
                <a:solidFill>
                  <a:schemeClr val="dk1"/>
                </a:solidFill>
                <a:latin typeface="Calibri"/>
                <a:ea typeface="Calibri"/>
                <a:cs typeface="Calibri"/>
                <a:sym typeface="Calibri"/>
              </a:rPr>
              <a:t>Use Multi-Factor Authentication (MFA)</a:t>
            </a:r>
            <a:endParaRPr sz="19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900">
              <a:solidFill>
                <a:schemeClr val="dk1"/>
              </a:solidFill>
              <a:latin typeface="Calibri"/>
              <a:ea typeface="Calibri"/>
              <a:cs typeface="Calibri"/>
              <a:sym typeface="Calibri"/>
            </a:endParaRPr>
          </a:p>
          <a:p>
            <a:pPr indent="-349250" lvl="0" marL="457200" rtl="0" algn="l">
              <a:spcBef>
                <a:spcPts val="0"/>
              </a:spcBef>
              <a:spcAft>
                <a:spcPts val="0"/>
              </a:spcAft>
              <a:buClr>
                <a:schemeClr val="dk1"/>
              </a:buClr>
              <a:buSzPts val="1900"/>
              <a:buFont typeface="Calibri"/>
              <a:buAutoNum type="arabicParenR"/>
            </a:pPr>
            <a:r>
              <a:rPr lang="en-US" sz="1900">
                <a:solidFill>
                  <a:schemeClr val="dk1"/>
                </a:solidFill>
                <a:latin typeface="Calibri"/>
                <a:ea typeface="Calibri"/>
                <a:cs typeface="Calibri"/>
                <a:sym typeface="Calibri"/>
              </a:rPr>
              <a:t>Limit Access (RBAC)</a:t>
            </a:r>
            <a:endParaRPr sz="19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900">
              <a:solidFill>
                <a:schemeClr val="dk1"/>
              </a:solidFill>
              <a:latin typeface="Calibri"/>
              <a:ea typeface="Calibri"/>
              <a:cs typeface="Calibri"/>
              <a:sym typeface="Calibri"/>
            </a:endParaRPr>
          </a:p>
          <a:p>
            <a:pPr indent="-349250" lvl="0" marL="457200" rtl="0" algn="l">
              <a:spcBef>
                <a:spcPts val="0"/>
              </a:spcBef>
              <a:spcAft>
                <a:spcPts val="0"/>
              </a:spcAft>
              <a:buClr>
                <a:schemeClr val="dk1"/>
              </a:buClr>
              <a:buSzPts val="1900"/>
              <a:buFont typeface="Calibri"/>
              <a:buAutoNum type="arabicParenR"/>
            </a:pPr>
            <a:r>
              <a:rPr lang="en-US" sz="1900">
                <a:solidFill>
                  <a:schemeClr val="dk1"/>
                </a:solidFill>
                <a:latin typeface="Calibri"/>
                <a:ea typeface="Calibri"/>
                <a:cs typeface="Calibri"/>
                <a:sym typeface="Calibri"/>
              </a:rPr>
              <a:t>Segment the Network</a:t>
            </a:r>
            <a:endParaRPr sz="19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900">
              <a:solidFill>
                <a:schemeClr val="dk1"/>
              </a:solidFill>
              <a:latin typeface="Calibri"/>
              <a:ea typeface="Calibri"/>
              <a:cs typeface="Calibri"/>
              <a:sym typeface="Calibri"/>
            </a:endParaRPr>
          </a:p>
          <a:p>
            <a:pPr indent="-349250" lvl="0" marL="457200" rtl="0" algn="l">
              <a:spcBef>
                <a:spcPts val="0"/>
              </a:spcBef>
              <a:spcAft>
                <a:spcPts val="0"/>
              </a:spcAft>
              <a:buClr>
                <a:schemeClr val="dk1"/>
              </a:buClr>
              <a:buSzPts val="1900"/>
              <a:buFont typeface="Calibri"/>
              <a:buAutoNum type="arabicParenR"/>
            </a:pPr>
            <a:r>
              <a:rPr lang="en-US" sz="1900">
                <a:solidFill>
                  <a:schemeClr val="dk1"/>
                </a:solidFill>
                <a:latin typeface="Calibri"/>
                <a:ea typeface="Calibri"/>
                <a:cs typeface="Calibri"/>
                <a:sym typeface="Calibri"/>
              </a:rPr>
              <a:t>Apply Least Privilege</a:t>
            </a:r>
            <a:endParaRPr sz="1900">
              <a:solidFill>
                <a:schemeClr val="dk1"/>
              </a:solidFill>
              <a:latin typeface="Calibri"/>
              <a:ea typeface="Calibri"/>
              <a:cs typeface="Calibri"/>
              <a:sym typeface="Calibri"/>
            </a:endParaRPr>
          </a:p>
          <a:p>
            <a:pPr indent="0" lvl="0" marL="457200" rtl="0" algn="l">
              <a:spcBef>
                <a:spcPts val="0"/>
              </a:spcBef>
              <a:spcAft>
                <a:spcPts val="0"/>
              </a:spcAft>
              <a:buNone/>
            </a:pPr>
            <a:r>
              <a:t/>
            </a:r>
            <a:endParaRPr sz="1900">
              <a:solidFill>
                <a:schemeClr val="dk1"/>
              </a:solidFill>
              <a:latin typeface="Calibri"/>
              <a:ea typeface="Calibri"/>
              <a:cs typeface="Calibri"/>
              <a:sym typeface="Calibri"/>
            </a:endParaRPr>
          </a:p>
          <a:p>
            <a:pPr indent="-349250" lvl="0" marL="457200" rtl="0" algn="l">
              <a:spcBef>
                <a:spcPts val="0"/>
              </a:spcBef>
              <a:spcAft>
                <a:spcPts val="0"/>
              </a:spcAft>
              <a:buClr>
                <a:schemeClr val="dk1"/>
              </a:buClr>
              <a:buSzPts val="1900"/>
              <a:buFont typeface="Calibri"/>
              <a:buAutoNum type="arabicParenR"/>
            </a:pPr>
            <a:r>
              <a:rPr lang="en-US" sz="1900">
                <a:solidFill>
                  <a:schemeClr val="dk1"/>
                </a:solidFill>
                <a:latin typeface="Calibri"/>
                <a:ea typeface="Calibri"/>
                <a:cs typeface="Calibri"/>
                <a:sym typeface="Calibri"/>
              </a:rPr>
              <a:t>Monitor Continuously</a:t>
            </a:r>
            <a:endParaRPr sz="1900">
              <a:solidFill>
                <a:schemeClr val="dk1"/>
              </a:solidFill>
              <a:latin typeface="Calibri"/>
              <a:ea typeface="Calibri"/>
              <a:cs typeface="Calibri"/>
              <a:sym typeface="Calibri"/>
            </a:endParaRPr>
          </a:p>
          <a:p>
            <a:pPr indent="0" lvl="0" marL="0" rtl="0" algn="l">
              <a:spcBef>
                <a:spcPts val="0"/>
              </a:spcBef>
              <a:spcAft>
                <a:spcPts val="0"/>
              </a:spcAft>
              <a:buNone/>
            </a:pPr>
            <a:r>
              <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US" sz="1900">
                <a:solidFill>
                  <a:schemeClr val="dk1"/>
                </a:solidFill>
                <a:latin typeface="Calibri"/>
                <a:ea typeface="Calibri"/>
                <a:cs typeface="Calibri"/>
                <a:sym typeface="Calibri"/>
              </a:rPr>
              <a:t>Additional Measures: Regular audits, employee training, and advanced security tools</a:t>
            </a:r>
            <a:endParaRPr sz="1900">
              <a:solidFill>
                <a:schemeClr val="dk1"/>
              </a:solidFill>
              <a:latin typeface="Calibri"/>
              <a:ea typeface="Calibri"/>
              <a:cs typeface="Calibri"/>
              <a:sym typeface="Calibri"/>
            </a:endParaRPr>
          </a:p>
        </p:txBody>
      </p:sp>
      <p:sp>
        <p:nvSpPr>
          <p:cNvPr id="268" name="Google Shape;268;g2d8e13a7dad_0_149"/>
          <p:cNvSpPr txBox="1"/>
          <p:nvPr/>
        </p:nvSpPr>
        <p:spPr>
          <a:xfrm>
            <a:off x="10267825"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(NIST 2020)</a:t>
            </a:r>
            <a:endParaRPr sz="235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2d8e13a7dad_0_163"/>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5" name="Google Shape;275;g2d8e13a7dad_0_163"/>
          <p:cNvSpPr/>
          <p:nvPr/>
        </p:nvSpPr>
        <p:spPr>
          <a:xfrm flipH="1" rot="10800000">
            <a:off x="0" y="96"/>
            <a:ext cx="12192000" cy="2371038"/>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g2d8e13a7dad_0_163"/>
          <p:cNvSpPr txBox="1"/>
          <p:nvPr>
            <p:ph type="title"/>
          </p:nvPr>
        </p:nvSpPr>
        <p:spPr>
          <a:xfrm>
            <a:off x="838200" y="365125"/>
            <a:ext cx="10515600" cy="930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sz="3900">
                <a:latin typeface="Calibri"/>
                <a:ea typeface="Calibri"/>
                <a:cs typeface="Calibri"/>
                <a:sym typeface="Calibri"/>
              </a:rPr>
              <a:t>Implementing Zero Trust at CHS Clinic</a:t>
            </a:r>
            <a:endParaRPr b="1" sz="3900">
              <a:solidFill>
                <a:schemeClr val="dk1"/>
              </a:solidFill>
              <a:latin typeface="Calibri"/>
              <a:ea typeface="Calibri"/>
              <a:cs typeface="Calibri"/>
              <a:sym typeface="Calibri"/>
            </a:endParaRPr>
          </a:p>
        </p:txBody>
      </p:sp>
      <p:grpSp>
        <p:nvGrpSpPr>
          <p:cNvPr id="277" name="Google Shape;277;g2d8e13a7dad_0_163"/>
          <p:cNvGrpSpPr/>
          <p:nvPr/>
        </p:nvGrpSpPr>
        <p:grpSpPr>
          <a:xfrm>
            <a:off x="262818" y="2085716"/>
            <a:ext cx="11466119" cy="4588158"/>
            <a:chOff x="1371604" y="1555751"/>
            <a:chExt cx="9448800" cy="4305300"/>
          </a:xfrm>
        </p:grpSpPr>
        <p:sp>
          <p:nvSpPr>
            <p:cNvPr id="278" name="Google Shape;278;g2d8e13a7dad_0_163"/>
            <p:cNvSpPr/>
            <p:nvPr/>
          </p:nvSpPr>
          <p:spPr>
            <a:xfrm>
              <a:off x="1371604" y="1555751"/>
              <a:ext cx="9448800" cy="4305300"/>
            </a:xfrm>
            <a:custGeom>
              <a:rect b="b" l="l" r="r" t="t"/>
              <a:pathLst>
                <a:path extrusionOk="0" h="120000" w="120000">
                  <a:moveTo>
                    <a:pt x="0" y="120000"/>
                  </a:moveTo>
                  <a:quadBezTo>
                    <a:pt x="20000" y="40000"/>
                    <a:pt x="107996" y="15000"/>
                  </a:quadBezTo>
                  <a:lnTo>
                    <a:pt x="107319" y="0"/>
                  </a:lnTo>
                  <a:lnTo>
                    <a:pt x="120000" y="24000"/>
                  </a:lnTo>
                  <a:lnTo>
                    <a:pt x="110024" y="60000"/>
                  </a:lnTo>
                  <a:lnTo>
                    <a:pt x="109348" y="45000"/>
                  </a:lnTo>
                  <a:quadBezTo>
                    <a:pt x="30000" y="55000"/>
                    <a:pt x="0" y="120000"/>
                  </a:quadBezTo>
                  <a:close/>
                </a:path>
              </a:pathLst>
            </a:custGeom>
            <a:solidFill>
              <a:srgbClr val="CCD3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9" name="Google Shape;279;g2d8e13a7dad_0_163"/>
            <p:cNvSpPr/>
            <p:nvPr/>
          </p:nvSpPr>
          <p:spPr>
            <a:xfrm>
              <a:off x="3164836" y="4018505"/>
              <a:ext cx="383400" cy="457200"/>
            </a:xfrm>
            <a:prstGeom prst="ellipse">
              <a:avLst/>
            </a:prstGeom>
            <a:solidFill>
              <a:srgbClr val="4372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0" name="Google Shape;280;g2d8e13a7dad_0_163"/>
            <p:cNvSpPr/>
            <p:nvPr/>
          </p:nvSpPr>
          <p:spPr>
            <a:xfrm>
              <a:off x="5444357" y="3038812"/>
              <a:ext cx="537000" cy="640200"/>
            </a:xfrm>
            <a:prstGeom prst="ellipse">
              <a:avLst/>
            </a:prstGeom>
            <a:solidFill>
              <a:srgbClr val="4372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1" name="Google Shape;281;g2d8e13a7dad_0_163"/>
            <p:cNvSpPr/>
            <p:nvPr/>
          </p:nvSpPr>
          <p:spPr>
            <a:xfrm>
              <a:off x="8087292" y="2476031"/>
              <a:ext cx="613500" cy="731400"/>
            </a:xfrm>
            <a:prstGeom prst="ellipse">
              <a:avLst/>
            </a:prstGeom>
            <a:solidFill>
              <a:srgbClr val="4372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2" name="Google Shape;282;g2d8e13a7dad_0_163"/>
            <p:cNvSpPr/>
            <p:nvPr/>
          </p:nvSpPr>
          <p:spPr>
            <a:xfrm>
              <a:off x="7650679" y="3486321"/>
              <a:ext cx="2193981" cy="1376916"/>
            </a:xfrm>
            <a:custGeom>
              <a:rect b="b" l="l" r="r" t="t"/>
              <a:pathLst>
                <a:path extrusionOk="0" h="353963" w="1377696">
                  <a:moveTo>
                    <a:pt x="0" y="0"/>
                  </a:moveTo>
                  <a:lnTo>
                    <a:pt x="1377696" y="0"/>
                  </a:lnTo>
                  <a:lnTo>
                    <a:pt x="1377696" y="353963"/>
                  </a:lnTo>
                  <a:lnTo>
                    <a:pt x="0" y="353963"/>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rPr>
                <a:t>Phase 3 (12–18 Months):</a:t>
              </a:r>
              <a:endParaRPr b="1" sz="1600">
                <a:solidFill>
                  <a:schemeClr val="dk1"/>
                </a:solidFill>
              </a:endParaRPr>
            </a:p>
            <a:p>
              <a:pPr indent="0" lvl="0" marL="0" rtl="0" algn="l">
                <a:spcBef>
                  <a:spcPts val="0"/>
                </a:spcBef>
                <a:spcAft>
                  <a:spcPts val="0"/>
                </a:spcAft>
                <a:buNone/>
              </a:pPr>
              <a:r>
                <a:rPr lang="en-US" sz="1600">
                  <a:solidFill>
                    <a:schemeClr val="dk1"/>
                  </a:solidFill>
                </a:rPr>
                <a:t>Full Zero Trust deployment across clinic operations</a:t>
              </a:r>
              <a:endParaRPr sz="1600">
                <a:solidFill>
                  <a:schemeClr val="dk1"/>
                </a:solidFill>
              </a:endParaRPr>
            </a:p>
            <a:p>
              <a:pPr indent="0" lvl="0" marL="0" marR="0" rtl="0" algn="l">
                <a:spcBef>
                  <a:spcPts val="0"/>
                </a:spcBef>
                <a:spcAft>
                  <a:spcPts val="0"/>
                </a:spcAft>
                <a:buNone/>
              </a:pPr>
              <a:r>
                <a:t/>
              </a:r>
              <a:endParaRPr sz="1600">
                <a:solidFill>
                  <a:schemeClr val="dk1"/>
                </a:solidFill>
              </a:endParaRPr>
            </a:p>
          </p:txBody>
        </p:sp>
      </p:grpSp>
      <p:sp>
        <p:nvSpPr>
          <p:cNvPr id="283" name="Google Shape;283;g2d8e13a7dad_0_163"/>
          <p:cNvSpPr/>
          <p:nvPr/>
        </p:nvSpPr>
        <p:spPr>
          <a:xfrm>
            <a:off x="834876" y="3499675"/>
            <a:ext cx="2344500" cy="1217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600">
                <a:solidFill>
                  <a:schemeClr val="dk1"/>
                </a:solidFill>
                <a:latin typeface="Calibri"/>
                <a:ea typeface="Calibri"/>
                <a:cs typeface="Calibri"/>
                <a:sym typeface="Calibri"/>
              </a:rPr>
              <a:t>Phase 1 (3–6 Months):</a:t>
            </a:r>
            <a:endParaRPr b="1" sz="1600">
              <a:solidFill>
                <a:schemeClr val="dk1"/>
              </a:solidFill>
              <a:latin typeface="Calibri"/>
              <a:ea typeface="Calibri"/>
              <a:cs typeface="Calibri"/>
              <a:sym typeface="Calibri"/>
            </a:endParaRPr>
          </a:p>
          <a:p>
            <a:pPr indent="0" lvl="0" marL="0" rtl="0" algn="l">
              <a:spcBef>
                <a:spcPts val="0"/>
              </a:spcBef>
              <a:spcAft>
                <a:spcPts val="0"/>
              </a:spcAft>
              <a:buNone/>
            </a:pPr>
            <a:r>
              <a:rPr lang="en-US" sz="1600">
                <a:solidFill>
                  <a:schemeClr val="dk1"/>
                </a:solidFill>
                <a:latin typeface="Calibri"/>
                <a:ea typeface="Calibri"/>
                <a:cs typeface="Calibri"/>
                <a:sym typeface="Calibri"/>
              </a:rPr>
              <a:t>Define policies, conduct security risk assessments</a:t>
            </a:r>
            <a:endParaRPr sz="16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b="1" sz="1600">
              <a:solidFill>
                <a:schemeClr val="dk1"/>
              </a:solidFill>
              <a:latin typeface="Calibri"/>
              <a:ea typeface="Calibri"/>
              <a:cs typeface="Calibri"/>
              <a:sym typeface="Calibri"/>
            </a:endParaRPr>
          </a:p>
        </p:txBody>
      </p:sp>
      <p:sp>
        <p:nvSpPr>
          <p:cNvPr id="284" name="Google Shape;284;g2d8e13a7dad_0_163"/>
          <p:cNvSpPr/>
          <p:nvPr/>
        </p:nvSpPr>
        <p:spPr>
          <a:xfrm>
            <a:off x="4335525" y="2207625"/>
            <a:ext cx="2627400" cy="1406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Phase 2 (6–12 Months):</a:t>
            </a:r>
            <a:endParaRPr b="1" sz="1600">
              <a:solidFill>
                <a:schemeClr val="dk1"/>
              </a:solidFill>
            </a:endParaRPr>
          </a:p>
          <a:p>
            <a:pPr indent="0" lvl="0" marL="0" rtl="0" algn="l">
              <a:spcBef>
                <a:spcPts val="0"/>
              </a:spcBef>
              <a:spcAft>
                <a:spcPts val="0"/>
              </a:spcAft>
              <a:buNone/>
            </a:pPr>
            <a:r>
              <a:rPr lang="en-US" sz="1600">
                <a:solidFill>
                  <a:schemeClr val="dk1"/>
                </a:solidFill>
              </a:rPr>
              <a:t>Implement IAM, MFA, and AI-based threat monitoring</a:t>
            </a:r>
            <a:endParaRPr sz="1600">
              <a:solidFill>
                <a:schemeClr val="dk1"/>
              </a:solidFill>
            </a:endParaRPr>
          </a:p>
          <a:p>
            <a:pPr indent="0" lvl="0" marL="0" rtl="0" algn="l">
              <a:lnSpc>
                <a:spcPct val="115000"/>
              </a:lnSpc>
              <a:spcBef>
                <a:spcPts val="1200"/>
              </a:spcBef>
              <a:spcAft>
                <a:spcPts val="0"/>
              </a:spcAft>
              <a:buNone/>
            </a:pPr>
            <a:r>
              <a:t/>
            </a:r>
            <a:endParaRPr sz="1600">
              <a:solidFill>
                <a:schemeClr val="dk1"/>
              </a:solidFill>
            </a:endParaRPr>
          </a:p>
          <a:p>
            <a:pPr indent="0" lvl="0" marL="0" marR="0" rtl="0" algn="l">
              <a:spcBef>
                <a:spcPts val="1200"/>
              </a:spcBef>
              <a:spcAft>
                <a:spcPts val="0"/>
              </a:spcAft>
              <a:buNone/>
            </a:pPr>
            <a:r>
              <a:t/>
            </a:r>
            <a:endParaRPr b="1" sz="1600">
              <a:solidFill>
                <a:schemeClr val="dk1"/>
              </a:solidFill>
            </a:endParaRPr>
          </a:p>
        </p:txBody>
      </p:sp>
      <p:pic>
        <p:nvPicPr>
          <p:cNvPr descr="Connections with solid fill" id="285" name="Google Shape;285;g2d8e13a7dad_0_163"/>
          <p:cNvPicPr preferRelativeResize="0"/>
          <p:nvPr/>
        </p:nvPicPr>
        <p:blipFill rotWithShape="1">
          <a:blip r:embed="rId3">
            <a:alphaModFix/>
          </a:blip>
          <a:srcRect b="0" l="0" r="0" t="0"/>
          <a:stretch/>
        </p:blipFill>
        <p:spPr>
          <a:xfrm>
            <a:off x="5288279" y="3749304"/>
            <a:ext cx="548640" cy="548640"/>
          </a:xfrm>
          <a:prstGeom prst="rect">
            <a:avLst/>
          </a:prstGeom>
          <a:noFill/>
          <a:ln>
            <a:noFill/>
          </a:ln>
        </p:spPr>
      </p:pic>
      <p:pic>
        <p:nvPicPr>
          <p:cNvPr descr="Upward trend with solid fill" id="286" name="Google Shape;286;g2d8e13a7dad_0_163"/>
          <p:cNvPicPr preferRelativeResize="0"/>
          <p:nvPr/>
        </p:nvPicPr>
        <p:blipFill rotWithShape="1">
          <a:blip r:embed="rId4">
            <a:alphaModFix/>
          </a:blip>
          <a:srcRect b="0" l="0" r="0" t="0"/>
          <a:stretch/>
        </p:blipFill>
        <p:spPr>
          <a:xfrm>
            <a:off x="8466420" y="3108964"/>
            <a:ext cx="640080" cy="640080"/>
          </a:xfrm>
          <a:prstGeom prst="rect">
            <a:avLst/>
          </a:prstGeom>
          <a:noFill/>
          <a:ln>
            <a:noFill/>
          </a:ln>
        </p:spPr>
      </p:pic>
      <p:pic>
        <p:nvPicPr>
          <p:cNvPr descr="Clipboard Checked with solid fill" id="287" name="Google Shape;287;g2d8e13a7dad_0_163"/>
          <p:cNvPicPr preferRelativeResize="0"/>
          <p:nvPr/>
        </p:nvPicPr>
        <p:blipFill rotWithShape="1">
          <a:blip r:embed="rId5">
            <a:alphaModFix/>
          </a:blip>
          <a:srcRect b="0" l="0" r="0" t="0"/>
          <a:stretch/>
        </p:blipFill>
        <p:spPr>
          <a:xfrm>
            <a:off x="2415000" y="4717076"/>
            <a:ext cx="475350" cy="475325"/>
          </a:xfrm>
          <a:prstGeom prst="rect">
            <a:avLst/>
          </a:prstGeom>
          <a:noFill/>
          <a:ln>
            <a:noFill/>
          </a:ln>
        </p:spPr>
      </p:pic>
      <p:sp>
        <p:nvSpPr>
          <p:cNvPr id="288" name="Google Shape;288;g2d8e13a7dad_0_163"/>
          <p:cNvSpPr txBox="1"/>
          <p:nvPr/>
        </p:nvSpPr>
        <p:spPr>
          <a:xfrm>
            <a:off x="10267825"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(NIST 2020)</a:t>
            </a:r>
            <a:endParaRPr sz="235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2d8e13a7dad_0_209"/>
          <p:cNvSpPr/>
          <p:nvPr/>
        </p:nvSpPr>
        <p:spPr>
          <a:xfrm flipH="1" rot="10800000">
            <a:off x="0" y="96"/>
            <a:ext cx="12192000" cy="2371038"/>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g2d8e13a7dad_0_209"/>
          <p:cNvSpPr txBox="1"/>
          <p:nvPr>
            <p:ph type="title"/>
          </p:nvPr>
        </p:nvSpPr>
        <p:spPr>
          <a:xfrm>
            <a:off x="838200" y="365125"/>
            <a:ext cx="10515600" cy="930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sz="3900">
                <a:latin typeface="Calibri"/>
                <a:ea typeface="Calibri"/>
                <a:cs typeface="Calibri"/>
                <a:sym typeface="Calibri"/>
              </a:rPr>
              <a:t>Next Steps &amp; Recommendations</a:t>
            </a:r>
            <a:endParaRPr b="1" sz="3900">
              <a:solidFill>
                <a:schemeClr val="dk1"/>
              </a:solidFill>
              <a:latin typeface="Calibri"/>
              <a:ea typeface="Calibri"/>
              <a:cs typeface="Calibri"/>
              <a:sym typeface="Calibri"/>
            </a:endParaRPr>
          </a:p>
        </p:txBody>
      </p:sp>
      <p:sp>
        <p:nvSpPr>
          <p:cNvPr id="296" name="Google Shape;296;g2d8e13a7dad_0_209"/>
          <p:cNvSpPr txBox="1"/>
          <p:nvPr/>
        </p:nvSpPr>
        <p:spPr>
          <a:xfrm>
            <a:off x="898250" y="2061125"/>
            <a:ext cx="9969600" cy="41775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1200"/>
              </a:spcBef>
              <a:spcAft>
                <a:spcPts val="0"/>
              </a:spcAft>
              <a:buClr>
                <a:schemeClr val="dk1"/>
              </a:buClr>
              <a:buSzPts val="1900"/>
              <a:buAutoNum type="arabicParenR"/>
            </a:pPr>
            <a:r>
              <a:rPr b="1" lang="en-US" sz="1900">
                <a:solidFill>
                  <a:schemeClr val="dk1"/>
                </a:solidFill>
                <a:latin typeface="Calibri"/>
                <a:ea typeface="Calibri"/>
                <a:cs typeface="Calibri"/>
                <a:sym typeface="Calibri"/>
              </a:rPr>
              <a:t>Implement Zero Trust Model </a:t>
            </a:r>
            <a:r>
              <a:rPr lang="en-US" sz="1900">
                <a:solidFill>
                  <a:schemeClr val="dk1"/>
                </a:solidFill>
                <a:latin typeface="Calibri"/>
                <a:ea typeface="Calibri"/>
                <a:cs typeface="Calibri"/>
                <a:sym typeface="Calibri"/>
              </a:rPr>
              <a:t>and start with 5 steps to get started</a:t>
            </a:r>
            <a:endParaRPr sz="19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t/>
            </a:r>
            <a:endParaRPr sz="1900">
              <a:solidFill>
                <a:schemeClr val="dk1"/>
              </a:solidFill>
              <a:latin typeface="Calibri"/>
              <a:ea typeface="Calibri"/>
              <a:cs typeface="Calibri"/>
              <a:sym typeface="Calibri"/>
            </a:endParaRPr>
          </a:p>
          <a:p>
            <a:pPr indent="-349250" lvl="0" marL="457200" rtl="0" algn="l">
              <a:lnSpc>
                <a:spcPct val="115000"/>
              </a:lnSpc>
              <a:spcBef>
                <a:spcPts val="1200"/>
              </a:spcBef>
              <a:spcAft>
                <a:spcPts val="0"/>
              </a:spcAft>
              <a:buClr>
                <a:schemeClr val="dk1"/>
              </a:buClr>
              <a:buSzPts val="1900"/>
              <a:buAutoNum type="arabicParenR"/>
            </a:pPr>
            <a:r>
              <a:rPr b="1" lang="en-US" sz="1900">
                <a:solidFill>
                  <a:schemeClr val="dk1"/>
                </a:solidFill>
                <a:latin typeface="Calibri"/>
                <a:ea typeface="Calibri"/>
                <a:cs typeface="Calibri"/>
                <a:sym typeface="Calibri"/>
              </a:rPr>
              <a:t>Launch AI education program</a:t>
            </a:r>
            <a:r>
              <a:rPr lang="en-US" sz="1900">
                <a:solidFill>
                  <a:schemeClr val="dk1"/>
                </a:solidFill>
                <a:latin typeface="Calibri"/>
                <a:ea typeface="Calibri"/>
                <a:cs typeface="Calibri"/>
                <a:sym typeface="Calibri"/>
              </a:rPr>
              <a:t> for patients &amp; clinician</a:t>
            </a:r>
            <a:endParaRPr sz="1900">
              <a:solidFill>
                <a:schemeClr val="dk1"/>
              </a:solidFill>
              <a:latin typeface="Calibri"/>
              <a:ea typeface="Calibri"/>
              <a:cs typeface="Calibri"/>
              <a:sym typeface="Calibri"/>
            </a:endParaRPr>
          </a:p>
          <a:p>
            <a:pPr indent="0" lvl="0" marL="457200" rtl="0" algn="l">
              <a:lnSpc>
                <a:spcPct val="115000"/>
              </a:lnSpc>
              <a:spcBef>
                <a:spcPts val="1200"/>
              </a:spcBef>
              <a:spcAft>
                <a:spcPts val="0"/>
              </a:spcAft>
              <a:buNone/>
            </a:pPr>
            <a:r>
              <a:t/>
            </a:r>
            <a:endParaRPr sz="1900">
              <a:solidFill>
                <a:schemeClr val="dk1"/>
              </a:solidFill>
              <a:latin typeface="Calibri"/>
              <a:ea typeface="Calibri"/>
              <a:cs typeface="Calibri"/>
              <a:sym typeface="Calibri"/>
            </a:endParaRPr>
          </a:p>
          <a:p>
            <a:pPr indent="-349250" lvl="0" marL="457200" rtl="0" algn="l">
              <a:lnSpc>
                <a:spcPct val="115000"/>
              </a:lnSpc>
              <a:spcBef>
                <a:spcPts val="1200"/>
              </a:spcBef>
              <a:spcAft>
                <a:spcPts val="0"/>
              </a:spcAft>
              <a:buClr>
                <a:schemeClr val="dk1"/>
              </a:buClr>
              <a:buSzPts val="1900"/>
              <a:buAutoNum type="arabicParenR"/>
            </a:pPr>
            <a:r>
              <a:rPr b="1" lang="en-US" sz="1900">
                <a:solidFill>
                  <a:schemeClr val="dk1"/>
                </a:solidFill>
                <a:latin typeface="Calibri"/>
                <a:ea typeface="Calibri"/>
                <a:cs typeface="Calibri"/>
                <a:sym typeface="Calibri"/>
              </a:rPr>
              <a:t>Invest in real-time monitoring</a:t>
            </a:r>
            <a:r>
              <a:rPr lang="en-US" sz="1900">
                <a:solidFill>
                  <a:schemeClr val="dk1"/>
                </a:solidFill>
                <a:latin typeface="Calibri"/>
                <a:ea typeface="Calibri"/>
                <a:cs typeface="Calibri"/>
                <a:sym typeface="Calibri"/>
              </a:rPr>
              <a:t> for fraud &amp; cybersecurity threats</a:t>
            </a:r>
            <a:endParaRPr sz="19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900">
              <a:solidFill>
                <a:schemeClr val="dk1"/>
              </a:solidFill>
              <a:latin typeface="Calibri"/>
              <a:ea typeface="Calibri"/>
              <a:cs typeface="Calibri"/>
              <a:sym typeface="Calibri"/>
            </a:endParaRPr>
          </a:p>
          <a:p>
            <a:pPr indent="-349250" lvl="0" marL="457200" rtl="0" algn="l">
              <a:lnSpc>
                <a:spcPct val="115000"/>
              </a:lnSpc>
              <a:spcBef>
                <a:spcPts val="1200"/>
              </a:spcBef>
              <a:spcAft>
                <a:spcPts val="0"/>
              </a:spcAft>
              <a:buClr>
                <a:schemeClr val="dk1"/>
              </a:buClr>
              <a:buSzPts val="1900"/>
              <a:buAutoNum type="arabicParenR"/>
            </a:pPr>
            <a:r>
              <a:rPr b="1" lang="en-US" sz="1900">
                <a:solidFill>
                  <a:schemeClr val="dk1"/>
                </a:solidFill>
                <a:latin typeface="Calibri"/>
                <a:ea typeface="Calibri"/>
                <a:cs typeface="Calibri"/>
                <a:sym typeface="Calibri"/>
              </a:rPr>
              <a:t>Measure digital trust KPIs quarterly</a:t>
            </a:r>
            <a:r>
              <a:rPr lang="en-US" sz="1900">
                <a:solidFill>
                  <a:schemeClr val="dk1"/>
                </a:solidFill>
                <a:latin typeface="Calibri"/>
                <a:ea typeface="Calibri"/>
                <a:cs typeface="Calibri"/>
                <a:sym typeface="Calibri"/>
              </a:rPr>
              <a:t> to track progress</a:t>
            </a:r>
            <a:endParaRPr sz="19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900">
              <a:solidFill>
                <a:schemeClr val="dk1"/>
              </a:solidFill>
              <a:latin typeface="Calibri"/>
              <a:ea typeface="Calibri"/>
              <a:cs typeface="Calibri"/>
              <a:sym typeface="Calibri"/>
            </a:endParaRPr>
          </a:p>
          <a:p>
            <a:pPr indent="-349250" lvl="0" marL="457200" rtl="0" algn="l">
              <a:lnSpc>
                <a:spcPct val="115000"/>
              </a:lnSpc>
              <a:spcBef>
                <a:spcPts val="1200"/>
              </a:spcBef>
              <a:spcAft>
                <a:spcPts val="0"/>
              </a:spcAft>
              <a:buClr>
                <a:schemeClr val="dk1"/>
              </a:buClr>
              <a:buSzPts val="1900"/>
              <a:buAutoNum type="arabicParenR"/>
            </a:pPr>
            <a:r>
              <a:rPr b="1" lang="en-US" sz="1900">
                <a:solidFill>
                  <a:schemeClr val="dk1"/>
                </a:solidFill>
                <a:latin typeface="Calibri"/>
                <a:ea typeface="Calibri"/>
                <a:cs typeface="Calibri"/>
                <a:sym typeface="Calibri"/>
              </a:rPr>
              <a:t>Hire Chief Security Officer (CSO)</a:t>
            </a:r>
            <a:r>
              <a:rPr lang="en-US" sz="1900">
                <a:solidFill>
                  <a:schemeClr val="dk1"/>
                </a:solidFill>
                <a:latin typeface="Calibri"/>
                <a:ea typeface="Calibri"/>
                <a:cs typeface="Calibri"/>
                <a:sym typeface="Calibri"/>
              </a:rPr>
              <a:t> to help organization get objective view of public trust</a:t>
            </a:r>
            <a:endParaRPr sz="19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1900">
              <a:solidFill>
                <a:schemeClr val="dk1"/>
              </a:solidFill>
              <a:latin typeface="Calibri"/>
              <a:ea typeface="Calibri"/>
              <a:cs typeface="Calibri"/>
              <a:sym typeface="Calibri"/>
            </a:endParaRPr>
          </a:p>
        </p:txBody>
      </p:sp>
      <p:sp>
        <p:nvSpPr>
          <p:cNvPr id="297" name="Google Shape;297;g2d8e13a7dad_0_209"/>
          <p:cNvSpPr txBox="1"/>
          <p:nvPr/>
        </p:nvSpPr>
        <p:spPr>
          <a:xfrm>
            <a:off x="10267825" y="6373125"/>
            <a:ext cx="219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i="1" lang="en-US" sz="1100"/>
              <a:t>(HHS 2024)</a:t>
            </a:r>
            <a:endParaRPr sz="235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2d8e13a7dad_0_184"/>
          <p:cNvSpPr txBox="1"/>
          <p:nvPr>
            <p:ph type="ctrTitle"/>
          </p:nvPr>
        </p:nvSpPr>
        <p:spPr>
          <a:xfrm>
            <a:off x="1524000" y="1921463"/>
            <a:ext cx="9144000" cy="2387700"/>
          </a:xfrm>
          <a:prstGeom prst="rect">
            <a:avLst/>
          </a:prstGeom>
          <a:noFill/>
          <a:ln>
            <a:noFill/>
          </a:ln>
        </p:spPr>
        <p:txBody>
          <a:bodyPr anchorCtr="0" anchor="b"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lang="en-US" sz="3900">
                <a:latin typeface="Arial"/>
                <a:ea typeface="Arial"/>
                <a:cs typeface="Arial"/>
                <a:sym typeface="Arial"/>
              </a:rPr>
              <a:t>Thank you!</a:t>
            </a:r>
            <a:endParaRPr sz="4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2d8ec65fa7c_0_0"/>
          <p:cNvSpPr/>
          <p:nvPr/>
        </p:nvSpPr>
        <p:spPr>
          <a:xfrm flipH="1" rot="10800000">
            <a:off x="0" y="96"/>
            <a:ext cx="12192000" cy="2371038"/>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g2d8ec65fa7c_0_0"/>
          <p:cNvSpPr txBox="1"/>
          <p:nvPr>
            <p:ph type="title"/>
          </p:nvPr>
        </p:nvSpPr>
        <p:spPr>
          <a:xfrm>
            <a:off x="838200" y="365125"/>
            <a:ext cx="10515600" cy="930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References</a:t>
            </a:r>
            <a:endParaRPr>
              <a:solidFill>
                <a:schemeClr val="dk1"/>
              </a:solidFill>
              <a:latin typeface="Calibri"/>
              <a:ea typeface="Calibri"/>
              <a:cs typeface="Calibri"/>
              <a:sym typeface="Calibri"/>
            </a:endParaRPr>
          </a:p>
        </p:txBody>
      </p:sp>
      <p:sp>
        <p:nvSpPr>
          <p:cNvPr id="311" name="Google Shape;311;g2d8ec65fa7c_0_0"/>
          <p:cNvSpPr txBox="1"/>
          <p:nvPr/>
        </p:nvSpPr>
        <p:spPr>
          <a:xfrm>
            <a:off x="898250" y="2038875"/>
            <a:ext cx="8811300" cy="41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Cylera. 2023. "Implementing Zero Trust in Healthcare." Cylera Cybersecurity Insights. Accessed February 9, 2025. </a:t>
            </a:r>
            <a:r>
              <a:rPr lang="en-US" sz="1700" u="sng">
                <a:solidFill>
                  <a:schemeClr val="hlink"/>
                </a:solidFill>
                <a:hlinkClick r:id="rId3"/>
              </a:rPr>
              <a:t>https://cylera.com/implementing-zero-trust-in-healthcare</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n-US" sz="1700">
                <a:solidFill>
                  <a:schemeClr val="dk1"/>
                </a:solidFill>
              </a:rPr>
              <a:t>HealthTech Magazine. 2023. "Zero Trust Enables Healthcare Organizations to Enforce Least Privilege." HealthTech Magazine. Accessed February 9, 2025. </a:t>
            </a:r>
            <a:r>
              <a:rPr lang="en-US" sz="1700" u="sng">
                <a:solidFill>
                  <a:schemeClr val="hlink"/>
                </a:solidFill>
                <a:hlinkClick r:id="rId4"/>
              </a:rPr>
              <a:t>https://healthtechmagazine.net/article/2023/02/zero-trust-in-healthcare-perfcon</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n-US" sz="1700">
                <a:solidFill>
                  <a:schemeClr val="dk1"/>
                </a:solidFill>
              </a:rPr>
              <a:t>National Institute of Standards and Technology (NIST). 2023. AI Risk Management Framework (RMF). Gaithersburg, MD: NIST. </a:t>
            </a:r>
            <a:r>
              <a:rPr lang="en-US" sz="1700" u="sng">
                <a:solidFill>
                  <a:schemeClr val="hlink"/>
                </a:solidFill>
                <a:hlinkClick r:id="rId5"/>
              </a:rPr>
              <a:t>https://doi.org/10.6028/NIST.AI.100-1</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n-US" sz="1700">
                <a:solidFill>
                  <a:schemeClr val="dk1"/>
                </a:solidFill>
              </a:rPr>
              <a:t>National Institute of Standards and Technology (NIST). 2020. Zero Trust Architecture (SP 800-207). Gaithersburg, MD: NIST. </a:t>
            </a:r>
            <a:r>
              <a:rPr lang="en-US" sz="1700" u="sng">
                <a:solidFill>
                  <a:schemeClr val="hlink"/>
                </a:solidFill>
                <a:hlinkClick r:id="rId6"/>
              </a:rPr>
              <a:t>https://doi.org/10.6028/NIST.SP.800-207</a:t>
            </a:r>
            <a:r>
              <a:rPr lang="en-US" sz="1700">
                <a:solidFill>
                  <a:schemeClr val="dk1"/>
                </a:solidFill>
              </a:rPr>
              <a:t>.</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n-US" sz="1700">
                <a:solidFill>
                  <a:schemeClr val="dk1"/>
                </a:solidFill>
              </a:rPr>
              <a:t>PMC. 2024. "Implementing Zero Trust Can Significantly Reduce the Risk of Data Breaches." National Library of Medicine. Accessed February 9, 2025. </a:t>
            </a:r>
            <a:r>
              <a:rPr lang="en-US" sz="1700" u="sng">
                <a:solidFill>
                  <a:schemeClr val="hlink"/>
                </a:solidFill>
                <a:hlinkClick r:id="rId7"/>
              </a:rPr>
              <a:t>https://pmc.ncbi.nlm.nih.gov/articles/PMC10359660/</a:t>
            </a:r>
            <a:r>
              <a:rPr lang="en-US" sz="1700">
                <a:solidFill>
                  <a:schemeClr val="dk1"/>
                </a:solidFill>
              </a:rPr>
              <a:t>.</a:t>
            </a:r>
            <a:endParaRPr sz="1700">
              <a:solidFill>
                <a:schemeClr val="dk1"/>
              </a:solidFill>
            </a:endParaRPr>
          </a:p>
          <a:p>
            <a:pPr indent="0" lvl="0" marL="0" rtl="0" algn="l">
              <a:spcBef>
                <a:spcPts val="0"/>
              </a:spcBef>
              <a:spcAft>
                <a:spcPts val="0"/>
              </a:spcAft>
              <a:buNone/>
            </a:pPr>
            <a:r>
              <a:t/>
            </a:r>
            <a:endParaRPr sz="17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2d8e13a7dad_0_189"/>
          <p:cNvSpPr/>
          <p:nvPr/>
        </p:nvSpPr>
        <p:spPr>
          <a:xfrm flipH="1" rot="10800000">
            <a:off x="0" y="96"/>
            <a:ext cx="12192000" cy="2371038"/>
          </a:xfrm>
          <a:custGeom>
            <a:rect b="b" l="l" r="r" t="t"/>
            <a:pathLst>
              <a:path extrusionOk="0" h="2515690" w="1219200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lt2">
              <a:alpha val="498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g2d8e13a7dad_0_189"/>
          <p:cNvSpPr txBox="1"/>
          <p:nvPr>
            <p:ph type="title"/>
          </p:nvPr>
        </p:nvSpPr>
        <p:spPr>
          <a:xfrm>
            <a:off x="838200" y="365125"/>
            <a:ext cx="10515600" cy="930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References</a:t>
            </a:r>
            <a:endParaRPr>
              <a:solidFill>
                <a:schemeClr val="dk1"/>
              </a:solidFill>
              <a:latin typeface="Calibri"/>
              <a:ea typeface="Calibri"/>
              <a:cs typeface="Calibri"/>
              <a:sym typeface="Calibri"/>
            </a:endParaRPr>
          </a:p>
        </p:txBody>
      </p:sp>
      <p:sp>
        <p:nvSpPr>
          <p:cNvPr id="319" name="Google Shape;319;g2d8e13a7dad_0_189"/>
          <p:cNvSpPr txBox="1"/>
          <p:nvPr/>
        </p:nvSpPr>
        <p:spPr>
          <a:xfrm>
            <a:off x="898250" y="2038875"/>
            <a:ext cx="8811300" cy="41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Reuters. 2024. "Biden Administration Proposes New Cybersecurity Rules to Limit Impact on Healthcare." Reuters, December 27, 2024. Accessed February 9, 2025. </a:t>
            </a:r>
            <a:r>
              <a:rPr lang="en-US" sz="1700" u="sng">
                <a:solidFill>
                  <a:schemeClr val="hlink"/>
                </a:solidFill>
                <a:hlinkClick r:id="rId3"/>
              </a:rPr>
              <a:t>https://www.reuters.com/technology/cybersecurity/biden-administration-proposes-new-cybersecurity-rules-limit-impact-healthcare-2024-12-27</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n-US" sz="1700">
                <a:solidFill>
                  <a:schemeClr val="dk1"/>
                </a:solidFill>
              </a:rPr>
              <a:t>U.S. Department of Health and Human Services (HHS). 2024. HIPAA and Cybersecurity in Healthcare: A Guide for Compliance. Accessed February 9, 2025. </a:t>
            </a:r>
            <a:r>
              <a:rPr lang="en-US" sz="1700" u="sng">
                <a:solidFill>
                  <a:schemeClr val="hlink"/>
                </a:solidFill>
                <a:hlinkClick r:id="rId4"/>
              </a:rPr>
              <a:t>https://www.hhs.gov/sites/default/files/zero-trust.pdf</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n-US" sz="1700">
                <a:solidFill>
                  <a:schemeClr val="dk1"/>
                </a:solidFill>
              </a:rPr>
              <a:t>U.S. Department of Health and Human Services (HHS). 2024. "Resistance to Change in Healthcare Security Measures." HHS.gov. Accessed February 9, 2025. </a:t>
            </a:r>
            <a:r>
              <a:rPr lang="en-US" sz="1700" u="sng">
                <a:solidFill>
                  <a:schemeClr val="hlink"/>
                </a:solidFill>
                <a:hlinkClick r:id="rId5"/>
              </a:rPr>
              <a:t>https://www.hhs.gov/sites/default/files/zero-trust.pdf</a:t>
            </a:r>
            <a:endParaRPr sz="1700">
              <a:solidFill>
                <a:schemeClr val="dk1"/>
              </a:solidFill>
            </a:endParaRPr>
          </a:p>
          <a:p>
            <a:pPr indent="0" lvl="0" marL="0" rtl="0" algn="l">
              <a:spcBef>
                <a:spcPts val="0"/>
              </a:spcBef>
              <a:spcAft>
                <a:spcPts val="0"/>
              </a:spcAft>
              <a:buNone/>
            </a:pPr>
            <a:r>
              <a:t/>
            </a:r>
            <a:endParaRPr sz="17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2023-07-14T17:51:54Z</dcterms:created>
  <dc:creator>Victor Shlepov</dc:creator>
</cp:coreProperties>
</file>