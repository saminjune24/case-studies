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Wo0jjNI4S+4Ddyuz9ZOUgJ0k4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11111"/>
                </a:solidFill>
                <a:latin typeface="Calibri"/>
              </a:rPr>
              <a:t>Revenue vs. Cash Burn, 2013–2015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A6FA5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29.3</c:v>
                </c:pt>
                <c:pt idx="1">
                  <c:v>31.3</c:v>
                </c:pt>
                <c:pt idx="2">
                  <c:v>37.9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1-A94F-828C-47B3A34604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 Burn ($M)</c:v>
                </c:pt>
              </c:strCache>
            </c:strRef>
          </c:tx>
          <c:spPr>
            <a:solidFill>
              <a:srgbClr val="8EADD4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1.5</c:v>
                </c:pt>
                <c:pt idx="2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81-A94F-828C-47B3A34604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chemeClr val="bg1">
                  <a:lumMod val="85000"/>
                </a:schemeClr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1111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11111"/>
                </a:solidFill>
                <a:latin typeface="Calibri"/>
              </a:rPr>
              <a:t>2016 Quarterly Performance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A6FA5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9.6999999999999993</c:v>
                </c:pt>
                <c:pt idx="1">
                  <c:v>10.1</c:v>
                </c:pt>
                <c:pt idx="2">
                  <c:v>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B4-6F4D-A58B-9C8F9B46ED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Op. Loss ($M)</c:v>
                </c:pt>
              </c:strCache>
            </c:strRef>
          </c:tx>
          <c:spPr>
            <a:solidFill>
              <a:srgbClr val="8EADD4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-2.8</c:v>
                </c:pt>
                <c:pt idx="1">
                  <c:v>-3.4</c:v>
                </c:pt>
                <c:pt idx="2">
                  <c:v>-2.5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B4-6F4D-A58B-9C8F9B46ED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Cash Burn ($M)</c:v>
                </c:pt>
              </c:strCache>
            </c:strRef>
          </c:tx>
          <c:spPr>
            <a:solidFill>
              <a:srgbClr val="B8CCE4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2.4</c:v>
                </c:pt>
                <c:pt idx="1">
                  <c:v>2.6</c:v>
                </c:pt>
                <c:pt idx="2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B4-6F4D-A58B-9C8F9B46ED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1111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94360" y="2516886"/>
            <a:ext cx="457200" cy="5486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48640" y="1972235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Audrey Bennett </a:t>
            </a:r>
            <a:r>
              <a:rPr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Samin Bahizad </a:t>
            </a:r>
            <a:r>
              <a:rPr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Ahdithan Uthayakumar</a:t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548640" y="737795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MOZ: Managing Growth Analysis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3566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Current situation  ·  Root causes  ·  AFM Chapter 4 framework  ·  Recommendation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Based on HBS Case 9-820-002  |  Analysis for Financial Management, Chapter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arts at $16 / month" id="17" name="Google Shape;17;p1"/>
          <p:cNvPicPr preferRelativeResize="0"/>
          <p:nvPr/>
        </p:nvPicPr>
        <p:blipFill rotWithShape="1">
          <a:blip r:embed="rId3">
            <a:alphaModFix/>
          </a:blip>
          <a:srcRect b="36889" l="18823" r="19096" t="20422"/>
          <a:stretch/>
        </p:blipFill>
        <p:spPr>
          <a:xfrm>
            <a:off x="6391836" y="254148"/>
            <a:ext cx="2472466" cy="904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01  /  CURRENT SITUATION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48640" y="5486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How Moz Got Here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2514600"/>
            <a:ext cx="8046720" cy="27432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188720" y="2414016"/>
            <a:ext cx="201168" cy="201168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50876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2000–06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81051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Consulting;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$100K debt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880360" y="2414016"/>
            <a:ext cx="201168" cy="201168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240280" y="150876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2007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40280" y="181051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First product;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$1.1M Series 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0" y="2414016"/>
            <a:ext cx="201168" cy="201168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931920" y="150876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931920" y="181051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3rd profitable year;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$11.4M revenue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63640" y="2414016"/>
            <a:ext cx="201168" cy="201168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623560" y="150876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2012–15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623560" y="181051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$18M Series B;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4 products in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4 years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955280" y="2414016"/>
            <a:ext cx="201168" cy="201168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315200" y="150876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2016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315200" y="181051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$10M Series C;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all products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miss targets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2816352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29077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causal chain: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318211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$18M Series B in 2012 created pressure to grow. Fishkin, feeling obligated to justify investor expectations, bet on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'inbound marketer'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becoming a standard role , a premise that did not occur. He launched 4 new products in 4 years, but each one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subtracted from Pro's growth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rather than adding new revenue. By mid-2016,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every product missed projections simultaneously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, leaving Moz with ~12 months of cash and no clear path forward.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4041648"/>
            <a:ext cx="8046720" cy="80467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77240" y="41330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August 2016 snapshot: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77240" y="438912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$40M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projected revenue  ·  </a:t>
            </a: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210 employees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$29.1M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total VC raised  · 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~12 months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of cash remaining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01  /  CURRENT SITUATION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5486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Numbers: Burning Cash Faster Than Revenue Grows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" name="Google Shape;60;p3"/>
          <p:cNvGraphicFramePr/>
          <p:nvPr/>
        </p:nvGraphicFramePr>
        <p:xfrm>
          <a:off x="457200" y="1508760"/>
          <a:ext cx="4206240" cy="2853644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61" name="Google Shape;61;p3"/>
          <p:cNvGraphicFramePr/>
          <p:nvPr/>
        </p:nvGraphicFramePr>
        <p:xfrm>
          <a:off x="4846320" y="1508760"/>
          <a:ext cx="3931920" cy="287193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62" name="Google Shape;62;p3"/>
          <p:cNvSpPr/>
          <p:nvPr/>
        </p:nvSpPr>
        <p:spPr>
          <a:xfrm>
            <a:off x="457200" y="4754880"/>
            <a:ext cx="832104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647278" y="4462630"/>
            <a:ext cx="617668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Key Insight: Total Q1–Q3 2016:  </a:t>
            </a:r>
            <a:r>
              <a:rPr b="1" lang="en-US" sz="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revenue $29.7M</a:t>
            </a:r>
            <a:r>
              <a:rPr lang="en-US" sz="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lang="en-US" sz="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operating loss −$8.7M</a:t>
            </a:r>
            <a:r>
              <a:rPr lang="en-US" sz="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lang="en-US" sz="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cash burn −$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02920" y="4823011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Source: Moz Case Study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02  /  ROOT CAUSE DIAGNOSIS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8640" y="5486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What Went Wrong, And Could It Have Been Avoided?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1572768"/>
            <a:ext cx="274320" cy="244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96112" y="1591056"/>
            <a:ext cx="3383280" cy="228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Flawed market assumption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96112" y="1901952"/>
            <a:ext cx="3383280" cy="815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Management bet on an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'inbound marketer'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role that never materialized. Channel specialists stayed specialized and preferred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best-of-breed tools</a:t>
            </a: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Moz’s all-in-one suite found no buyers.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0" y="1572768"/>
            <a:ext cx="274320" cy="244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919472" y="1591056"/>
            <a:ext cx="3840480" cy="228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Actual growth exceeded sustainable growth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19472" y="1901952"/>
            <a:ext cx="3840480" cy="815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Headcount grew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68%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(125 to 210) while revenue grew only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21%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($31.3M to ~$38M). New products were funded by burning cash, not organic profits,  a textbook case of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growth outpacing financial resources.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2697031"/>
            <a:ext cx="8046720" cy="45719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2806760"/>
            <a:ext cx="274320" cy="244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96112" y="2825048"/>
            <a:ext cx="3383280" cy="228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Bad growth, not good growth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96112" y="3145088"/>
            <a:ext cx="3383280" cy="89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Each new product missed projections and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subtracted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from Pro’s growth. Per AFM Ch. 4, investments earning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returns below cost of capital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are bad growth, they destroy value even as revenue rises.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0" y="2806760"/>
            <a:ext cx="274320" cy="244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19472" y="2825048"/>
            <a:ext cx="3840480" cy="228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Operational overextension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919472" y="3145088"/>
            <a:ext cx="3840480" cy="89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Running 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8 products left every team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understaffed.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Also, the Local’s cash flow was misunderstood: costs were paid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immediately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at signup while revenue arrived monthly, a structural drain that caught management by surprise.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4462272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76072" y="401917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Could this have been avoided? </a:t>
            </a:r>
            <a:r>
              <a:rPr b="1" lang="en-US" sz="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Yes.</a:t>
            </a:r>
            <a:r>
              <a:rPr lang="en-US" sz="9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Pro forma forecasting (AFM Ch. 3–4) would have revealed actual growth far exceeding the sustainable growth rate, a signal to </a:t>
            </a:r>
            <a:r>
              <a:rPr b="1" lang="en-US" sz="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prune, not expand.</a:t>
            </a:r>
            <a:r>
              <a:rPr lang="en-US" sz="9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The cross-sell thesis could have been tested cheaply before committing to four full product launches.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03  /  MANAGING GROWTH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5486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Applying the Sustainable Growth Framework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4690872"/>
            <a:ext cx="832104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501750" y="2180050"/>
            <a:ext cx="2665500" cy="1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g* ≤ 0%</a:t>
            </a:r>
            <a:r>
              <a:rPr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because Moz had negative EBITDA every year.</a:t>
            </a:r>
            <a:endParaRPr sz="1100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Any positive revenue growth required burning external cash. g* = P × R × A × T̂; negative P means </a:t>
            </a:r>
            <a:r>
              <a:rPr b="1" lang="en-US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zero capacity for self-funded growth.</a:t>
            </a:r>
            <a:endParaRPr sz="1100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775" y="1508750"/>
            <a:ext cx="4153375" cy="29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04  /  RECOMMENDATION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48640" y="5486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Refocus on SEO Core:  Shut Down and Divest New Products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15361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Option A  ✗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8640" y="1828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Double down on new products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48640" y="221284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77240" y="221284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 product-market fit after years of effort, the ‘inbound marketer’ thesis proved false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268833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77240" y="2688336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Selling or milking Pro removes the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only profitable revenue engine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" y="316382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77240" y="3163824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AFM: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bad growth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wastes resources even when it appears as revenue on paper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363931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77240" y="3639312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Cross-sell disproven: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&lt;5%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of Pro subscribers used Followerwonk monthly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48640" y="41148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77240" y="41148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12-month runway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cannot support further experimentation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480560" y="1508760"/>
            <a:ext cx="18288" cy="3566160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663440" y="153619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Option B  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66344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Shut down Content, sell Followerwonk, retain Pro + Local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663440" y="221284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892040" y="221284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 is the proven core, </a:t>
            </a: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23,132 paying subscribers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with strong SEO brand equity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663440" y="268833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892040" y="268833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Local has a differentiated </a:t>
            </a: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recurring revenue model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worth preserving and fixing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663440" y="316382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892040" y="316382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AFM Ch. 4: </a:t>
            </a: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prune marginal activities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when actual growth exceeds sustainable growth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663440" y="363931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892040" y="363931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Pruning </a:t>
            </a: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8 → 2 products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restores team depth, engineering quality, and marketing focus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663440" y="41148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92040" y="411480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Sale of Followerwonk and wind-down of Content </a:t>
            </a: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extend the cash runway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681728" y="445312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910328" y="445312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Competitors at </a:t>
            </a: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$40–$80M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revenue show SEO-focused tools can scale without diversification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04  /  RECOMMENDATION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8640" y="5486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Next Steps — Path to Sustainable Growth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8640" y="15087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Immediate  (0–30 days)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1828800"/>
            <a:ext cx="260604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8640" y="19385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04672" y="19385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Wind down Moz Content;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initiate sale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process for Followerwonk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48640" y="2688336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04672" y="2688336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Targeted layoffs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; communicate transparently per TAGFEE values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48640" y="3438144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04672" y="3438144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Freeze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all new hiring across every division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48640" y="4187952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04672" y="418795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Stabilize cash runway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— preserve remaining 12 months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383280" y="15087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Near-term  (30–90 days)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383280" y="1828800"/>
            <a:ext cx="260604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383280" y="19385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639312" y="19385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Redirect engineering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talent into Moz Pro improvements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383280" y="2688336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639312" y="2688336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Fix Local’s cash flow model: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align cost timing with revenue receipts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383280" y="3438144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639312" y="3438144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Reduce cost of revenue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— target gross margin improvement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383280" y="4187952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639312" y="418795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Renegotiate VC covenants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to reflect focused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217920" y="15087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Medium-term  (90–365 days)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217920" y="1828800"/>
            <a:ext cx="260604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217920" y="1938528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473952" y="19385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Drive Pro growth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toward 25,000+ paying subscribers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217920" y="2688336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473952" y="2688336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Improve P and A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(the levers of g*) to raise sustainable growth rate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217920" y="3438144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73952" y="3438144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Reach operating profitability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before any new product investment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217920" y="4187952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473952" y="418795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Reassess capital needs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once core business is stabilized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48640" y="46634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8640" y="473659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AFM Ch. 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48640" y="5486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Road to Sustainable Growth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48640" y="1554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How they got here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926080" y="155448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Moz pursued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4 products in 4 years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on the false premise that ‘inbound marketer’ would become a standard role. VC-backed growth pressure compounded the mistake.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Every product missed projections simultaneously.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48640" y="2377440"/>
            <a:ext cx="8046720" cy="18288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48640" y="2450592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Our Current Situation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926080" y="2450592"/>
            <a:ext cx="5669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sustainable growth rate (g* = P × R × A × T̂) is a </a:t>
            </a: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ceiling.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When actual growth exceeds it, companies can literally </a:t>
            </a:r>
            <a:r>
              <a:rPr b="1" lang="en-US" sz="9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grow broke.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Moz’s $12M cash burn in 2013 on $29.3M revenue is the model in action.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48640" y="3273552"/>
            <a:ext cx="8046720" cy="18288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48640" y="334670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Our recommendation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926080" y="3346704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Shut down Content, sell Followerwonk, </a:t>
            </a: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refocus on Moz Pro and Local.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AFM prescribes </a:t>
            </a:r>
            <a:r>
              <a:rPr b="1" lang="en-US" sz="95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pruning marginal activities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when actual growth exceeds sustainable growth — the financially sound choice most consistent with Moz’s competitive strength.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48640" y="4169664"/>
            <a:ext cx="8046720" cy="18288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8640" y="424281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path forward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926080" y="4242816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Improve </a:t>
            </a: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profit margin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asset efficiency</a:t>
            </a:r>
            <a:r>
              <a:rPr lang="en-US" sz="9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— the operational levers of g* — to raise sustainable growth from within. Profitability must precede any future expansion. Moz’s brand in SEO remains a </a:t>
            </a:r>
            <a:r>
              <a:rPr b="1" lang="en-US" sz="95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durable asset.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48640" y="54864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48640" y="1417320"/>
            <a:ext cx="8046720" cy="18288"/>
          </a:xfrm>
          <a:prstGeom prst="rect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157276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Eisenmann, Thomas. “Rand Fishkin at Moz (A).” Case 9-820-002. Harvard Business School, 2019. Revised March 21, 2023.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48640" y="1876553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Higgins, Robert C., Jennifer L. Koski, and Todd Mitton. Analysis for Financial Management. 13th ed. New York: McGraw-Hill, 2022.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48640" y="222395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Higgins, Robert C. “Sustainable Growth under Inflation.” Financial Management 10, no. 3 (Autumn 1981): 36–40.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2026-05-02T19:53:52Z</dcterms:created>
  <dc:creator>PptxGenJS</dc:creator>
</cp:coreProperties>
</file>