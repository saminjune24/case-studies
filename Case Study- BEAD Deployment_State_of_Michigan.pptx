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lsb" ContentType="application/vnd.ms-excel.sheet.binary.macroEnabled.12"/>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1.xml" ContentType="application/vnd.openxmlformats-officedocument.presentationml.notesSlide+xml"/>
  <Override PartName="/ppt/tags/tag4.xml" ContentType="application/vnd.openxmlformats-officedocument.presentationml.tags+xml"/>
  <Override PartName="/ppt/notesSlides/notesSlide2.xml" ContentType="application/vnd.openxmlformats-officedocument.presentationml.notesSl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notesSlides/notesSlide3.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tags/tag26.xml" ContentType="application/vnd.openxmlformats-officedocument.presentationml.tags+xml"/>
  <Override PartName="/ppt/notesSlides/notesSlide4.xml" ContentType="application/vnd.openxmlformats-officedocument.presentationml.notesSlide+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5.xml" ContentType="application/vnd.openxmlformats-officedocument.presentationml.notesSlide+xml"/>
  <Override PartName="/ppt/charts/chart3.xml" ContentType="application/vnd.openxmlformats-officedocument.drawingml.chart+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notesSlides/notesSlide6.xml" ContentType="application/vnd.openxmlformats-officedocument.presentationml.notesSlide+xml"/>
  <Override PartName="/ppt/charts/chart4.xml" ContentType="application/vnd.openxmlformats-officedocument.drawingml.chart+xml"/>
  <Override PartName="/ppt/charts/style1.xml" ContentType="application/vnd.ms-office.chartstyle+xml"/>
  <Override PartName="/ppt/charts/colors1.xml" ContentType="application/vnd.ms-office.chartcolorstyle+xml"/>
  <Override PartName="/ppt/charts/chart5.xml" ContentType="application/vnd.openxmlformats-officedocument.drawingml.chart+xml"/>
  <Override PartName="/ppt/charts/style2.xml" ContentType="application/vnd.ms-office.chartstyle+xml"/>
  <Override PartName="/ppt/charts/colors2.xml" ContentType="application/vnd.ms-office.chartcolorstyle+xml"/>
  <Override PartName="/ppt/charts/chart6.xml" ContentType="application/vnd.openxmlformats-officedocument.drawingml.chart+xml"/>
  <Override PartName="/ppt/drawings/drawing1.xml" ContentType="application/vnd.openxmlformats-officedocument.drawingml.chartshapes+xml"/>
  <Override PartName="/ppt/tags/tag51.xml" ContentType="application/vnd.openxmlformats-officedocument.presentationml.tags+xml"/>
  <Override PartName="/ppt/notesSlides/notesSlide7.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notesSlides/notesSlide8.xml" ContentType="application/vnd.openxmlformats-officedocument.presentationml.notesSlide+xml"/>
  <Override PartName="/ppt/charts/chart7.xml" ContentType="application/vnd.openxmlformats-officedocument.drawingml.chart+xml"/>
  <Override PartName="/ppt/charts/style3.xml" ContentType="application/vnd.ms-office.chartstyle+xml"/>
  <Override PartName="/ppt/charts/colors3.xml" ContentType="application/vnd.ms-office.chartcolorstyle+xml"/>
  <Override PartName="/ppt/tags/tag61.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147483332" r:id="rId2"/>
    <p:sldId id="2147474795" r:id="rId3"/>
    <p:sldId id="2147474784" r:id="rId4"/>
    <p:sldId id="2147474785" r:id="rId5"/>
    <p:sldId id="2147474792" r:id="rId6"/>
    <p:sldId id="2147483331" r:id="rId7"/>
    <p:sldId id="2147474794" r:id="rId8"/>
    <p:sldId id="2147474789" r:id="rId9"/>
    <p:sldId id="2147474787" r:id="rId10"/>
    <p:sldId id="214748333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29E17B60-E910-9C44-8C5C-D6451B8B0884}">
          <p14:sldIdLst>
            <p14:sldId id="2147483332"/>
            <p14:sldId id="2147474795"/>
            <p14:sldId id="2147474784"/>
            <p14:sldId id="2147474785"/>
            <p14:sldId id="2147474792"/>
            <p14:sldId id="2147483331"/>
            <p14:sldId id="2147474794"/>
            <p14:sldId id="2147474789"/>
          </p14:sldIdLst>
        </p14:section>
        <p14:section name="Appendix" id="{515D8A68-FCC1-7441-94BD-A63B052AF496}">
          <p14:sldIdLst>
            <p14:sldId id="2147474787"/>
            <p14:sldId id="2147483330"/>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3A547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534"/>
    <p:restoredTop sz="94645"/>
  </p:normalViewPr>
  <p:slideViewPr>
    <p:cSldViewPr snapToGrid="0">
      <p:cViewPr varScale="1">
        <p:scale>
          <a:sx n="95" d="100"/>
          <a:sy n="95" d="100"/>
        </p:scale>
        <p:origin x="200" y="6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Binary_Worksheet.xlsb"/></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Binary_Worksheet1.xlsb"/></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Binary_Worksheet2.xlsb"/></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2.xml"/><Relationship Id="rId1" Type="http://schemas.microsoft.com/office/2011/relationships/chartStyle" Target="style2.xml"/></Relationships>
</file>

<file path=ppt/charts/_rels/chart6.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Binary_Worksheet4.xlsb"/></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Binary_Worksheet5.xlsb"/><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1.5448603683897801E-2"/>
          <c:y val="7.5630252100840331E-2"/>
          <c:w val="0.96910279263220445"/>
          <c:h val="0.84873949579831931"/>
        </c:manualLayout>
      </c:layout>
      <c:barChart>
        <c:barDir val="bar"/>
        <c:grouping val="clustered"/>
        <c:varyColors val="0"/>
        <c:ser>
          <c:idx val="0"/>
          <c:order val="0"/>
          <c:spPr>
            <a:solidFill>
              <a:srgbClr val="7768B2"/>
            </a:solidFill>
            <a:ln>
              <a:noFill/>
            </a:ln>
          </c:spPr>
          <c:invertIfNegative val="0"/>
          <c:dLbls>
            <c:dLbl>
              <c:idx val="0"/>
              <c:layout>
                <c:manualLayout>
                  <c:x val="4.1889483065953657E-2"/>
                  <c:y val="0"/>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741F-47CD-9153-1C2188C5D9B9}"/>
                </c:ext>
              </c:extLst>
            </c:dLbl>
            <c:dLbl>
              <c:idx val="1"/>
              <c:layout>
                <c:manualLayout>
                  <c:x val="0.13458110516934046"/>
                  <c:y val="0"/>
                </c:manualLayout>
              </c:layout>
              <c:numFmt formatCode="#,##0;&quot;-&quot;#,##0" sourceLinked="0"/>
              <c:spPr>
                <a:noFill/>
                <a:ln>
                  <a:noFill/>
                </a:ln>
              </c:spPr>
              <c:txPr>
                <a:bodyPr wrap="none"/>
                <a:lstStyle/>
                <a:p>
                  <a:pPr>
                    <a:defRPr sz="800" kern="1200">
                      <a:solidFill>
                        <a:schemeClr val="tx1"/>
                      </a:solidFill>
                      <a:latin typeface="+mn-lt"/>
                      <a:ea typeface="+mn-ea"/>
                      <a:cs typeface="+mn-cs"/>
                    </a:defRPr>
                  </a:pPr>
                  <a:endParaRPr lang="en-US"/>
                </a:p>
              </c:txPr>
              <c:dLblPos val="ct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741F-47CD-9153-1C2188C5D9B9}"/>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val>
            <c:numRef>
              <c:f>Sheet1!$A$1:$B$1</c:f>
              <c:numCache>
                <c:formatCode>General</c:formatCode>
                <c:ptCount val="2"/>
                <c:pt idx="0">
                  <c:v>6</c:v>
                </c:pt>
                <c:pt idx="1">
                  <c:v>24</c:v>
                </c:pt>
              </c:numCache>
            </c:numRef>
          </c:val>
          <c:extLst>
            <c:ext xmlns:c16="http://schemas.microsoft.com/office/drawing/2014/chart" uri="{C3380CC4-5D6E-409C-BE32-E72D297353CC}">
              <c16:uniqueId val="{00000002-741F-47CD-9153-1C2188C5D9B9}"/>
            </c:ext>
          </c:extLst>
        </c:ser>
        <c:ser>
          <c:idx val="1"/>
          <c:order val="1"/>
          <c:spPr>
            <a:solidFill>
              <a:srgbClr val="D1CDE5"/>
            </a:solidFill>
            <a:ln>
              <a:noFill/>
            </a:ln>
          </c:spPr>
          <c:invertIfNegative val="0"/>
          <c:val>
            <c:numRef>
              <c:f>Sheet1!$A$2:$B$2</c:f>
              <c:numCache>
                <c:formatCode>General</c:formatCode>
                <c:ptCount val="2"/>
                <c:pt idx="0">
                  <c:v>15</c:v>
                </c:pt>
                <c:pt idx="1">
                  <c:v>100</c:v>
                </c:pt>
              </c:numCache>
            </c:numRef>
          </c:val>
          <c:extLst>
            <c:ext xmlns:c16="http://schemas.microsoft.com/office/drawing/2014/chart" uri="{C3380CC4-5D6E-409C-BE32-E72D297353CC}">
              <c16:uniqueId val="{00000003-741F-47CD-9153-1C2188C5D9B9}"/>
            </c:ext>
          </c:extLst>
        </c:ser>
        <c:dLbls>
          <c:showLegendKey val="0"/>
          <c:showVal val="0"/>
          <c:showCatName val="0"/>
          <c:showSerName val="0"/>
          <c:showPercent val="0"/>
          <c:showBubbleSize val="0"/>
        </c:dLbls>
        <c:gapWidth val="80"/>
        <c:axId val="1673535456"/>
        <c:axId val="1"/>
      </c:barChart>
      <c:catAx>
        <c:axId val="1673535456"/>
        <c:scaling>
          <c:orientation val="maxMin"/>
        </c:scaling>
        <c:delete val="0"/>
        <c:axPos val="l"/>
        <c:majorGridlines>
          <c:spPr>
            <a:ln>
              <a:noFill/>
            </a:ln>
          </c:spPr>
        </c:majorGridlines>
        <c:majorTickMark val="none"/>
        <c:minorTickMark val="none"/>
        <c:tickLblPos val="none"/>
        <c:spPr>
          <a:ln w="9525" cmpd="sng" algn="ctr">
            <a:solidFill>
              <a:schemeClr val="tx1"/>
            </a:solidFill>
            <a:prstDash val="solid"/>
          </a:ln>
        </c:spPr>
        <c:crossAx val="1"/>
        <c:crosses val="min"/>
        <c:auto val="0"/>
        <c:lblAlgn val="ctr"/>
        <c:lblOffset val="100"/>
        <c:noMultiLvlLbl val="0"/>
      </c:catAx>
      <c:valAx>
        <c:axId val="1"/>
        <c:scaling>
          <c:orientation val="minMax"/>
          <c:max val="100"/>
          <c:min val="0"/>
        </c:scaling>
        <c:delete val="1"/>
        <c:axPos val="t"/>
        <c:numFmt formatCode="General" sourceLinked="1"/>
        <c:majorTickMark val="out"/>
        <c:minorTickMark val="none"/>
        <c:tickLblPos val="nextTo"/>
        <c:crossAx val="1673535456"/>
        <c:crosses val="min"/>
        <c:crossBetween val="between"/>
      </c:valAx>
    </c:plotArea>
    <c:plotVisOnly val="0"/>
    <c:dispBlanksAs val="gap"/>
    <c:showDLblsOverMax val="1"/>
  </c:chart>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3.8632986627043092E-2"/>
          <c:y val="0.10812539987204095"/>
          <c:w val="0.91010401188707279"/>
          <c:h val="0.7837492002559181"/>
        </c:manualLayout>
      </c:layout>
      <c:doughnutChart>
        <c:varyColors val="0"/>
        <c:ser>
          <c:idx val="0"/>
          <c:order val="0"/>
          <c:dPt>
            <c:idx val="0"/>
            <c:bubble3D val="0"/>
            <c:spPr>
              <a:solidFill>
                <a:srgbClr val="DFE5EF"/>
              </a:solidFill>
              <a:ln w="9525" cmpd="sng" algn="ctr">
                <a:solidFill>
                  <a:schemeClr val="tx1"/>
                </a:solidFill>
                <a:prstDash val="solid"/>
              </a:ln>
            </c:spPr>
            <c:extLst>
              <c:ext xmlns:c16="http://schemas.microsoft.com/office/drawing/2014/chart" uri="{C3380CC4-5D6E-409C-BE32-E72D297353CC}">
                <c16:uniqueId val="{00000000-BDE8-414B-A8D7-AFFBEF0E8088}"/>
              </c:ext>
            </c:extLst>
          </c:dPt>
          <c:dPt>
            <c:idx val="1"/>
            <c:bubble3D val="0"/>
            <c:spPr>
              <a:solidFill>
                <a:srgbClr val="C3CFE1"/>
              </a:solidFill>
              <a:ln w="9525" cmpd="sng" algn="ctr">
                <a:solidFill>
                  <a:schemeClr val="tx1"/>
                </a:solidFill>
                <a:prstDash val="solid"/>
              </a:ln>
            </c:spPr>
            <c:extLst>
              <c:ext xmlns:c16="http://schemas.microsoft.com/office/drawing/2014/chart" uri="{C3380CC4-5D6E-409C-BE32-E72D297353CC}">
                <c16:uniqueId val="{00000001-BDE8-414B-A8D7-AFFBEF0E8088}"/>
              </c:ext>
            </c:extLst>
          </c:dPt>
          <c:dPt>
            <c:idx val="2"/>
            <c:bubble3D val="0"/>
            <c:spPr>
              <a:solidFill>
                <a:srgbClr val="9DB1CF"/>
              </a:solidFill>
              <a:ln w="9525" cmpd="sng" algn="ctr">
                <a:solidFill>
                  <a:schemeClr val="tx1"/>
                </a:solidFill>
                <a:prstDash val="solid"/>
              </a:ln>
            </c:spPr>
            <c:extLst>
              <c:ext xmlns:c16="http://schemas.microsoft.com/office/drawing/2014/chart" uri="{C3380CC4-5D6E-409C-BE32-E72D297353CC}">
                <c16:uniqueId val="{00000002-BDE8-414B-A8D7-AFFBEF0E8088}"/>
              </c:ext>
            </c:extLst>
          </c:dPt>
          <c:dPt>
            <c:idx val="3"/>
            <c:bubble3D val="0"/>
            <c:spPr>
              <a:solidFill>
                <a:srgbClr val="6F8DB9"/>
              </a:solidFill>
              <a:ln w="9525" cmpd="sng" algn="ctr">
                <a:solidFill>
                  <a:schemeClr val="tx1"/>
                </a:solidFill>
                <a:prstDash val="solid"/>
              </a:ln>
            </c:spPr>
            <c:extLst>
              <c:ext xmlns:c16="http://schemas.microsoft.com/office/drawing/2014/chart" uri="{C3380CC4-5D6E-409C-BE32-E72D297353CC}">
                <c16:uniqueId val="{00000003-BDE8-414B-A8D7-AFFBEF0E8088}"/>
              </c:ext>
            </c:extLst>
          </c:dPt>
          <c:dLbls>
            <c:dLbl>
              <c:idx val="0"/>
              <c:layout>
                <c:manualLayout>
                  <c:x val="5.7206537890044575E-2"/>
                  <c:y val="0"/>
                </c:manualLayout>
              </c:layout>
              <c:numFmt formatCode="#,##0&quot;%&quot;;&quot;-&quot;#,##0&quot;%&quot;" sourceLinked="0"/>
              <c:spPr>
                <a:noFill/>
                <a:ln>
                  <a:noFill/>
                </a:ln>
              </c:spPr>
              <c:txPr>
                <a:bodyPr wrap="none"/>
                <a:lstStyle/>
                <a:p>
                  <a:pPr>
                    <a:defRPr sz="800" kern="120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BDE8-414B-A8D7-AFFBEF0E8088}"/>
                </c:ext>
              </c:extLst>
            </c:dLbl>
            <c:dLbl>
              <c:idx val="1"/>
              <c:layout>
                <c:manualLayout>
                  <c:x val="-3.6404160475482915E-2"/>
                  <c:y val="3.1349968010236727E-2"/>
                </c:manualLayout>
              </c:layout>
              <c:numFmt formatCode="#,##0&quot;%&quot;;&quot;-&quot;#,##0&quot;%&quot;" sourceLinked="0"/>
              <c:spPr>
                <a:noFill/>
                <a:ln>
                  <a:noFill/>
                </a:ln>
              </c:spPr>
              <c:txPr>
                <a:bodyPr wrap="none"/>
                <a:lstStyle/>
                <a:p>
                  <a:pPr>
                    <a:defRPr sz="800" kern="120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BDE8-414B-A8D7-AFFBEF0E8088}"/>
                </c:ext>
              </c:extLst>
            </c:dLbl>
            <c:dLbl>
              <c:idx val="2"/>
              <c:layout>
                <c:manualLayout>
                  <c:x val="-4.1604754829123326E-2"/>
                  <c:y val="-2.5591810620601407E-2"/>
                </c:manualLayout>
              </c:layout>
              <c:numFmt formatCode="#,##0&quot;%&quot;;&quot;-&quot;#,##0&quot;%&quot;" sourceLinked="0"/>
              <c:spPr>
                <a:noFill/>
                <a:ln>
                  <a:noFill/>
                </a:ln>
              </c:spPr>
              <c:txPr>
                <a:bodyPr wrap="none"/>
                <a:lstStyle/>
                <a:p>
                  <a:pPr>
                    <a:defRPr sz="800" kern="120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BDE8-414B-A8D7-AFFBEF0E8088}"/>
                </c:ext>
              </c:extLst>
            </c:dLbl>
            <c:dLbl>
              <c:idx val="3"/>
              <c:layout>
                <c:manualLayout>
                  <c:x val="-1.1144130757800892E-2"/>
                  <c:y val="-6.1420345489443376E-2"/>
                </c:manualLayout>
              </c:layout>
              <c:numFmt formatCode="#,##0&quot;%&quot;;&quot;-&quot;#,##0&quot;%&quot;" sourceLinked="0"/>
              <c:spPr>
                <a:noFill/>
                <a:ln>
                  <a:noFill/>
                </a:ln>
              </c:spPr>
              <c:txPr>
                <a:bodyPr wrap="none"/>
                <a:lstStyle/>
                <a:p>
                  <a:pPr>
                    <a:defRPr sz="8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BDE8-414B-A8D7-AFFBEF0E808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Sheet1!$A$1:$A$4</c:f>
              <c:numCache>
                <c:formatCode>General</c:formatCode>
                <c:ptCount val="4"/>
                <c:pt idx="0">
                  <c:v>50</c:v>
                </c:pt>
                <c:pt idx="1">
                  <c:v>25</c:v>
                </c:pt>
                <c:pt idx="2">
                  <c:v>20</c:v>
                </c:pt>
                <c:pt idx="3">
                  <c:v>5</c:v>
                </c:pt>
              </c:numCache>
            </c:numRef>
          </c:val>
          <c:extLst>
            <c:ext xmlns:c16="http://schemas.microsoft.com/office/drawing/2014/chart" uri="{C3380CC4-5D6E-409C-BE32-E72D297353CC}">
              <c16:uniqueId val="{00000004-BDE8-414B-A8D7-AFFBEF0E8088}"/>
            </c:ext>
          </c:extLst>
        </c:ser>
        <c:dLbls>
          <c:showLegendKey val="0"/>
          <c:showVal val="0"/>
          <c:showCatName val="0"/>
          <c:showSerName val="0"/>
          <c:showPercent val="0"/>
          <c:showBubbleSize val="0"/>
          <c:showLeaderLines val="1"/>
        </c:dLbls>
        <c:firstSliceAng val="0"/>
        <c:holeSize val="50"/>
      </c:doughnutChart>
    </c:plotArea>
    <c:plotVisOnly val="0"/>
    <c:dispBlanksAs val="gap"/>
    <c:showDLblsOverMax val="1"/>
  </c:chart>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4019769357495888E-2"/>
          <c:y val="0.12602535421327368"/>
          <c:w val="0.82619439868204281"/>
          <c:h val="0.74794929157345269"/>
        </c:manualLayout>
      </c:layout>
      <c:doughnutChart>
        <c:varyColors val="0"/>
        <c:ser>
          <c:idx val="0"/>
          <c:order val="0"/>
          <c:dPt>
            <c:idx val="0"/>
            <c:bubble3D val="0"/>
            <c:spPr>
              <a:solidFill>
                <a:srgbClr val="DFE5EF"/>
              </a:solidFill>
              <a:ln w="9525" cmpd="sng" algn="ctr">
                <a:solidFill>
                  <a:schemeClr val="tx1"/>
                </a:solidFill>
                <a:prstDash val="solid"/>
              </a:ln>
            </c:spPr>
            <c:extLst>
              <c:ext xmlns:c16="http://schemas.microsoft.com/office/drawing/2014/chart" uri="{C3380CC4-5D6E-409C-BE32-E72D297353CC}">
                <c16:uniqueId val="{00000000-0944-4FB4-8964-417BA9B18968}"/>
              </c:ext>
            </c:extLst>
          </c:dPt>
          <c:dPt>
            <c:idx val="1"/>
            <c:bubble3D val="0"/>
            <c:spPr>
              <a:solidFill>
                <a:srgbClr val="C3CFE1"/>
              </a:solidFill>
              <a:ln w="9525" cmpd="sng" algn="ctr">
                <a:solidFill>
                  <a:schemeClr val="tx1"/>
                </a:solidFill>
                <a:prstDash val="solid"/>
              </a:ln>
            </c:spPr>
            <c:extLst>
              <c:ext xmlns:c16="http://schemas.microsoft.com/office/drawing/2014/chart" uri="{C3380CC4-5D6E-409C-BE32-E72D297353CC}">
                <c16:uniqueId val="{00000001-0944-4FB4-8964-417BA9B18968}"/>
              </c:ext>
            </c:extLst>
          </c:dPt>
          <c:dPt>
            <c:idx val="2"/>
            <c:bubble3D val="0"/>
            <c:spPr>
              <a:solidFill>
                <a:srgbClr val="9DB1CF"/>
              </a:solidFill>
              <a:ln w="9525" cmpd="sng" algn="ctr">
                <a:solidFill>
                  <a:schemeClr val="tx1"/>
                </a:solidFill>
                <a:prstDash val="solid"/>
              </a:ln>
            </c:spPr>
            <c:extLst>
              <c:ext xmlns:c16="http://schemas.microsoft.com/office/drawing/2014/chart" uri="{C3380CC4-5D6E-409C-BE32-E72D297353CC}">
                <c16:uniqueId val="{00000002-0944-4FB4-8964-417BA9B18968}"/>
              </c:ext>
            </c:extLst>
          </c:dPt>
          <c:dPt>
            <c:idx val="3"/>
            <c:bubble3D val="0"/>
            <c:spPr>
              <a:solidFill>
                <a:srgbClr val="6F8DB9"/>
              </a:solidFill>
              <a:ln w="9525" cmpd="sng" algn="ctr">
                <a:solidFill>
                  <a:schemeClr val="tx1"/>
                </a:solidFill>
                <a:prstDash val="solid"/>
              </a:ln>
            </c:spPr>
            <c:extLst>
              <c:ext xmlns:c16="http://schemas.microsoft.com/office/drawing/2014/chart" uri="{C3380CC4-5D6E-409C-BE32-E72D297353CC}">
                <c16:uniqueId val="{00000003-0944-4FB4-8964-417BA9B18968}"/>
              </c:ext>
            </c:extLst>
          </c:dPt>
          <c:dLbls>
            <c:dLbl>
              <c:idx val="0"/>
              <c:layout>
                <c:manualLayout>
                  <c:x val="3.6243822075782535E-2"/>
                  <c:y val="5.219985085756898E-3"/>
                </c:manualLayout>
              </c:layout>
              <c:numFmt formatCode="#,##0&quot;%&quot;;&quot;-&quot;#,##0&quot;%&quot;" sourceLinked="0"/>
              <c:spPr>
                <a:noFill/>
                <a:ln>
                  <a:noFill/>
                </a:ln>
              </c:spPr>
              <c:txPr>
                <a:bodyPr wrap="none"/>
                <a:lstStyle/>
                <a:p>
                  <a:pPr>
                    <a:defRPr sz="800" kern="120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0-0944-4FB4-8964-417BA9B18968}"/>
                </c:ext>
              </c:extLst>
            </c:dLbl>
            <c:dLbl>
              <c:idx val="1"/>
              <c:layout>
                <c:manualLayout>
                  <c:x val="-2.9654036243822075E-2"/>
                  <c:y val="1.3422818791946308E-2"/>
                </c:manualLayout>
              </c:layout>
              <c:numFmt formatCode="#,##0&quot;%&quot;;&quot;-&quot;#,##0&quot;%&quot;" sourceLinked="0"/>
              <c:spPr>
                <a:noFill/>
                <a:ln>
                  <a:noFill/>
                </a:ln>
              </c:spPr>
              <c:txPr>
                <a:bodyPr wrap="none"/>
                <a:lstStyle/>
                <a:p>
                  <a:pPr>
                    <a:defRPr sz="800" kern="120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1-0944-4FB4-8964-417BA9B18968}"/>
                </c:ext>
              </c:extLst>
            </c:dLbl>
            <c:dLbl>
              <c:idx val="2"/>
              <c:layout>
                <c:manualLayout>
                  <c:x val="-2.4711696869851731E-2"/>
                  <c:y val="-2.2371364653243849E-2"/>
                </c:manualLayout>
              </c:layout>
              <c:numFmt formatCode="#,##0&quot;%&quot;;&quot;-&quot;#,##0&quot;%&quot;" sourceLinked="0"/>
              <c:spPr>
                <a:noFill/>
                <a:ln>
                  <a:noFill/>
                </a:ln>
              </c:spPr>
              <c:txPr>
                <a:bodyPr wrap="none"/>
                <a:lstStyle/>
                <a:p>
                  <a:pPr>
                    <a:defRPr sz="800" kern="1200">
                      <a:solidFill>
                        <a:schemeClr val="tx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2-0944-4FB4-8964-417BA9B18968}"/>
                </c:ext>
              </c:extLst>
            </c:dLbl>
            <c:dLbl>
              <c:idx val="3"/>
              <c:layout>
                <c:manualLayout>
                  <c:x val="-9.0609555189456337E-3"/>
                  <c:y val="-5.070842654735272E-2"/>
                </c:manualLayout>
              </c:layout>
              <c:numFmt formatCode="#,##0&quot;%&quot;;&quot;-&quot;#,##0&quot;%&quot;" sourceLinked="0"/>
              <c:spPr>
                <a:noFill/>
                <a:ln>
                  <a:noFill/>
                </a:ln>
              </c:spPr>
              <c:txPr>
                <a:bodyPr wrap="none"/>
                <a:lstStyle/>
                <a:p>
                  <a:pPr>
                    <a:defRPr sz="800" kern="1200">
                      <a:solidFill>
                        <a:schemeClr val="bg1"/>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15:spPr xmlns:c15="http://schemas.microsoft.com/office/drawing/2012/chart">
                    <a:prstGeom prst="rect">
                      <a:avLst/>
                    </a:prstGeom>
                  </c15:spPr>
                </c:ext>
                <c:ext xmlns:c16="http://schemas.microsoft.com/office/drawing/2014/chart" uri="{C3380CC4-5D6E-409C-BE32-E72D297353CC}">
                  <c16:uniqueId val="{00000003-0944-4FB4-8964-417BA9B18968}"/>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extLst>
          </c:dLbls>
          <c:val>
            <c:numRef>
              <c:f>Sheet1!$A$1:$A$4</c:f>
              <c:numCache>
                <c:formatCode>General</c:formatCode>
                <c:ptCount val="4"/>
                <c:pt idx="0">
                  <c:v>55.000000000000007</c:v>
                </c:pt>
                <c:pt idx="1">
                  <c:v>25</c:v>
                </c:pt>
                <c:pt idx="2">
                  <c:v>15</c:v>
                </c:pt>
                <c:pt idx="3">
                  <c:v>5</c:v>
                </c:pt>
              </c:numCache>
            </c:numRef>
          </c:val>
          <c:extLst>
            <c:ext xmlns:c16="http://schemas.microsoft.com/office/drawing/2014/chart" uri="{C3380CC4-5D6E-409C-BE32-E72D297353CC}">
              <c16:uniqueId val="{00000004-0944-4FB4-8964-417BA9B18968}"/>
            </c:ext>
          </c:extLst>
        </c:ser>
        <c:dLbls>
          <c:showLegendKey val="0"/>
          <c:showVal val="0"/>
          <c:showCatName val="0"/>
          <c:showSerName val="0"/>
          <c:showPercent val="0"/>
          <c:showBubbleSize val="0"/>
          <c:showLeaderLines val="1"/>
        </c:dLbls>
        <c:firstSliceAng val="0"/>
        <c:holeSize val="50"/>
      </c:doughnutChart>
    </c:plotArea>
    <c:plotVisOnly val="0"/>
    <c:dispBlanksAs val="gap"/>
    <c:showDLblsOverMax val="1"/>
  </c:chart>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barChart>
        <c:barDir val="col"/>
        <c:grouping val="clustered"/>
        <c:varyColors val="0"/>
        <c:ser>
          <c:idx val="0"/>
          <c:order val="0"/>
          <c:spPr>
            <a:solidFill>
              <a:schemeClr val="bg1">
                <a:lumMod val="75000"/>
              </a:schemeClr>
            </a:solidFill>
            <a:ln>
              <a:solidFill>
                <a:schemeClr val="tx1"/>
              </a:solidFill>
            </a:ln>
            <a:effectLst/>
          </c:spPr>
          <c:invertIfNegative val="0"/>
          <c:dLbls>
            <c:dLbl>
              <c:idx val="0"/>
              <c:layout>
                <c:manualLayout>
                  <c:x val="-5.6936995851669114E-3"/>
                  <c:y val="-3.2257286673269162E-17"/>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FD5F-400A-976B-4FA039CC4F34}"/>
                </c:ext>
              </c:extLst>
            </c:dLbl>
            <c:dLbl>
              <c:idx val="2"/>
              <c:layout>
                <c:manualLayout>
                  <c:x val="0"/>
                  <c:y val="1.4076069518049789E-2"/>
                </c:manualLayout>
              </c:layout>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805B-45FB-9CAF-5D88F52A6EDE}"/>
                </c:ext>
              </c:extLst>
            </c:dLbl>
            <c:spPr>
              <a:noFill/>
              <a:ln>
                <a:noFill/>
              </a:ln>
              <a:effectLst/>
            </c:spPr>
            <c:txPr>
              <a:bodyPr rot="0" spcFirstLastPara="1" vertOverflow="ellipsis" vert="horz" wrap="square" lIns="38100" tIns="19050" rIns="38100" bIns="19050" anchor="ctr" anchorCtr="1">
                <a:spAutoFit/>
              </a:bodyPr>
              <a:lstStyle/>
              <a:p>
                <a:pPr>
                  <a:defRPr sz="600" b="0" i="0" u="none" strike="noStrike" baseline="0">
                    <a:solidFill>
                      <a:schemeClr val="tx1"/>
                    </a:solidFill>
                    <a:latin typeface="+mn-lt"/>
                    <a:ea typeface="+mn-ea"/>
                    <a:cs typeface="+mn-cs"/>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Sheet1!$A$1:$A$10</c:f>
              <c:strCache>
                <c:ptCount val="10"/>
                <c:pt idx="0">
                  <c:v>Laborers and material movers</c:v>
                </c:pt>
                <c:pt idx="1">
                  <c:v>Trucking crew</c:v>
                </c:pt>
                <c:pt idx="2">
                  <c:v>Structural engineers</c:v>
                </c:pt>
                <c:pt idx="3">
                  <c:v>Trenchers</c:v>
                </c:pt>
                <c:pt idx="4">
                  <c:v>Software engineers</c:v>
                </c:pt>
                <c:pt idx="5">
                  <c:v>Master and stage electricians</c:v>
                </c:pt>
                <c:pt idx="6">
                  <c:v>Equipment operators</c:v>
                </c:pt>
                <c:pt idx="7">
                  <c:v>Inspectors</c:v>
                </c:pt>
                <c:pt idx="8">
                  <c:v>Fiber and wireless technicians</c:v>
                </c:pt>
                <c:pt idx="9">
                  <c:v>Network architects and coordinators</c:v>
                </c:pt>
              </c:strCache>
            </c:strRef>
          </c:cat>
          <c:val>
            <c:numRef>
              <c:f>Sheet1!$B$1:$B$10</c:f>
              <c:numCache>
                <c:formatCode>General</c:formatCode>
                <c:ptCount val="10"/>
                <c:pt idx="0">
                  <c:v>13230</c:v>
                </c:pt>
                <c:pt idx="1">
                  <c:v>7470</c:v>
                </c:pt>
                <c:pt idx="2">
                  <c:v>4370</c:v>
                </c:pt>
                <c:pt idx="3">
                  <c:v>3420</c:v>
                </c:pt>
                <c:pt idx="4">
                  <c:v>3360</c:v>
                </c:pt>
                <c:pt idx="5">
                  <c:v>2910</c:v>
                </c:pt>
                <c:pt idx="6">
                  <c:v>2260</c:v>
                </c:pt>
                <c:pt idx="7">
                  <c:v>1080</c:v>
                </c:pt>
                <c:pt idx="8">
                  <c:v>1020</c:v>
                </c:pt>
                <c:pt idx="9">
                  <c:v>570</c:v>
                </c:pt>
              </c:numCache>
            </c:numRef>
          </c:val>
          <c:extLst>
            <c:ext xmlns:c16="http://schemas.microsoft.com/office/drawing/2014/chart" uri="{C3380CC4-5D6E-409C-BE32-E72D297353CC}">
              <c16:uniqueId val="{0000000E-FD5F-400A-976B-4FA039CC4F34}"/>
            </c:ext>
          </c:extLst>
        </c:ser>
        <c:dLbls>
          <c:showLegendKey val="0"/>
          <c:showVal val="1"/>
          <c:showCatName val="0"/>
          <c:showSerName val="0"/>
          <c:showPercent val="0"/>
          <c:showBubbleSize val="0"/>
        </c:dLbls>
        <c:gapWidth val="6"/>
        <c:axId val="54948672"/>
        <c:axId val="54947232"/>
      </c:barChart>
      <c:catAx>
        <c:axId val="54948672"/>
        <c:scaling>
          <c:orientation val="minMax"/>
        </c:scaling>
        <c:delete val="1"/>
        <c:axPos val="b"/>
        <c:numFmt formatCode="General" sourceLinked="1"/>
        <c:majorTickMark val="none"/>
        <c:minorTickMark val="none"/>
        <c:tickLblPos val="nextTo"/>
        <c:crossAx val="54947232"/>
        <c:crosses val="autoZero"/>
        <c:auto val="0"/>
        <c:lblAlgn val="ctr"/>
        <c:lblOffset val="100"/>
        <c:noMultiLvlLbl val="0"/>
      </c:catAx>
      <c:valAx>
        <c:axId val="54947232"/>
        <c:scaling>
          <c:orientation val="minMax"/>
        </c:scaling>
        <c:delete val="1"/>
        <c:axPos val="l"/>
        <c:numFmt formatCode="General" sourceLinked="1"/>
        <c:majorTickMark val="out"/>
        <c:minorTickMark val="none"/>
        <c:tickLblPos val="nextTo"/>
        <c:crossAx val="54948672"/>
        <c:crossesAt val="40"/>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8.1543580163824271E-3"/>
          <c:y val="6.4782644792355897E-3"/>
          <c:w val="0.86252837388263426"/>
          <c:h val="0.94900410835180371"/>
        </c:manualLayout>
      </c:layout>
      <c:barChart>
        <c:barDir val="col"/>
        <c:grouping val="clustered"/>
        <c:varyColors val="0"/>
        <c:ser>
          <c:idx val="0"/>
          <c:order val="0"/>
          <c:spPr>
            <a:solidFill>
              <a:srgbClr val="6F8DB9"/>
            </a:solidFill>
            <a:ln>
              <a:solidFill>
                <a:schemeClr val="tx1"/>
              </a:solidFill>
            </a:ln>
            <a:effectLst/>
          </c:spPr>
          <c:invertIfNegative val="0"/>
          <c:dPt>
            <c:idx val="0"/>
            <c:invertIfNegative val="0"/>
            <c:bubble3D val="0"/>
            <c:spPr>
              <a:solidFill>
                <a:srgbClr val="6F8DB9"/>
              </a:solidFill>
              <a:ln>
                <a:solidFill>
                  <a:schemeClr val="tx1"/>
                </a:solidFill>
              </a:ln>
              <a:effectLst/>
            </c:spPr>
            <c:extLst>
              <c:ext xmlns:c16="http://schemas.microsoft.com/office/drawing/2014/chart" uri="{C3380CC4-5D6E-409C-BE32-E72D297353CC}">
                <c16:uniqueId val="{00000001-748D-413B-875F-513F6534FFE5}"/>
              </c:ext>
            </c:extLst>
          </c:dPt>
          <c:dPt>
            <c:idx val="3"/>
            <c:invertIfNegative val="0"/>
            <c:bubble3D val="0"/>
            <c:spPr>
              <a:solidFill>
                <a:srgbClr val="6F8DB9"/>
              </a:solidFill>
              <a:ln>
                <a:solidFill>
                  <a:schemeClr val="tx1"/>
                </a:solidFill>
              </a:ln>
              <a:effectLst/>
            </c:spPr>
            <c:extLst>
              <c:ext xmlns:c16="http://schemas.microsoft.com/office/drawing/2014/chart" uri="{C3380CC4-5D6E-409C-BE32-E72D297353CC}">
                <c16:uniqueId val="{00000007-748D-413B-875F-513F6534FFE5}"/>
              </c:ext>
            </c:extLst>
          </c:dPt>
          <c:dPt>
            <c:idx val="5"/>
            <c:invertIfNegative val="0"/>
            <c:bubble3D val="0"/>
            <c:spPr>
              <a:solidFill>
                <a:srgbClr val="6F8DB9"/>
              </a:solidFill>
              <a:ln>
                <a:solidFill>
                  <a:schemeClr val="tx1"/>
                </a:solidFill>
              </a:ln>
              <a:effectLst/>
            </c:spPr>
            <c:extLst>
              <c:ext xmlns:c16="http://schemas.microsoft.com/office/drawing/2014/chart" uri="{C3380CC4-5D6E-409C-BE32-E72D297353CC}">
                <c16:uniqueId val="{0000000E-748D-413B-875F-513F6534FFE5}"/>
              </c:ext>
            </c:extLst>
          </c:dPt>
          <c:dPt>
            <c:idx val="6"/>
            <c:invertIfNegative val="0"/>
            <c:bubble3D val="0"/>
            <c:spPr>
              <a:solidFill>
                <a:srgbClr val="6F8DB9"/>
              </a:solidFill>
              <a:ln>
                <a:solidFill>
                  <a:schemeClr val="tx1"/>
                </a:solidFill>
              </a:ln>
              <a:effectLst/>
            </c:spPr>
            <c:extLst>
              <c:ext xmlns:c16="http://schemas.microsoft.com/office/drawing/2014/chart" uri="{C3380CC4-5D6E-409C-BE32-E72D297353CC}">
                <c16:uniqueId val="{0000000F-748D-413B-875F-513F6534FFE5}"/>
              </c:ext>
            </c:extLst>
          </c:dPt>
          <c:dPt>
            <c:idx val="7"/>
            <c:invertIfNegative val="0"/>
            <c:bubble3D val="0"/>
            <c:spPr>
              <a:solidFill>
                <a:srgbClr val="6F8DB9"/>
              </a:solidFill>
              <a:ln>
                <a:solidFill>
                  <a:schemeClr val="tx1"/>
                </a:solidFill>
              </a:ln>
              <a:effectLst/>
            </c:spPr>
            <c:extLst>
              <c:ext xmlns:c16="http://schemas.microsoft.com/office/drawing/2014/chart" uri="{C3380CC4-5D6E-409C-BE32-E72D297353CC}">
                <c16:uniqueId val="{0000000B-748D-413B-875F-513F6534FFE5}"/>
              </c:ext>
            </c:extLst>
          </c:dPt>
          <c:dPt>
            <c:idx val="8"/>
            <c:invertIfNegative val="0"/>
            <c:bubble3D val="0"/>
            <c:spPr>
              <a:solidFill>
                <a:srgbClr val="6F8DB9"/>
              </a:solidFill>
              <a:ln>
                <a:solidFill>
                  <a:schemeClr val="tx1"/>
                </a:solidFill>
              </a:ln>
              <a:effectLst/>
            </c:spPr>
            <c:extLst>
              <c:ext xmlns:c16="http://schemas.microsoft.com/office/drawing/2014/chart" uri="{C3380CC4-5D6E-409C-BE32-E72D297353CC}">
                <c16:uniqueId val="{0000000B-C6E0-4236-8F61-29563A3E2FD6}"/>
              </c:ext>
            </c:extLst>
          </c:dPt>
          <c:dPt>
            <c:idx val="9"/>
            <c:invertIfNegative val="0"/>
            <c:bubble3D val="0"/>
            <c:spPr>
              <a:solidFill>
                <a:srgbClr val="6F8DB9"/>
              </a:solidFill>
              <a:ln>
                <a:solidFill>
                  <a:schemeClr val="tx1"/>
                </a:solidFill>
              </a:ln>
              <a:effectLst/>
            </c:spPr>
            <c:extLst>
              <c:ext xmlns:c16="http://schemas.microsoft.com/office/drawing/2014/chart" uri="{C3380CC4-5D6E-409C-BE32-E72D297353CC}">
                <c16:uniqueId val="{0000000D-C6E0-4236-8F61-29563A3E2FD6}"/>
              </c:ext>
            </c:extLst>
          </c:dPt>
          <c:cat>
            <c:strRef>
              <c:f>Sheet1!$A$2:$A$11</c:f>
              <c:strCache>
                <c:ptCount val="10"/>
                <c:pt idx="0">
                  <c:v>Laborers and material movers</c:v>
                </c:pt>
                <c:pt idx="1">
                  <c:v>Trucking crew</c:v>
                </c:pt>
                <c:pt idx="2">
                  <c:v>Structural engineers</c:v>
                </c:pt>
                <c:pt idx="3">
                  <c:v>Software engineers</c:v>
                </c:pt>
                <c:pt idx="4">
                  <c:v>Trenchers</c:v>
                </c:pt>
                <c:pt idx="5">
                  <c:v>Master and stage electricians</c:v>
                </c:pt>
                <c:pt idx="6">
                  <c:v>Equipment operators</c:v>
                </c:pt>
                <c:pt idx="7">
                  <c:v>Inspectors</c:v>
                </c:pt>
                <c:pt idx="8">
                  <c:v>Network architects and coordinators</c:v>
                </c:pt>
                <c:pt idx="9">
                  <c:v>Fiber and wireless technicians</c:v>
                </c:pt>
              </c:strCache>
            </c:strRef>
          </c:cat>
          <c:val>
            <c:numRef>
              <c:f>Sheet1!$B$2:$B$11</c:f>
              <c:numCache>
                <c:formatCode>General</c:formatCode>
                <c:ptCount val="10"/>
                <c:pt idx="0">
                  <c:v>114640</c:v>
                </c:pt>
                <c:pt idx="1">
                  <c:v>70050</c:v>
                </c:pt>
                <c:pt idx="2">
                  <c:v>62250</c:v>
                </c:pt>
                <c:pt idx="3">
                  <c:v>42680</c:v>
                </c:pt>
                <c:pt idx="4">
                  <c:v>39040</c:v>
                </c:pt>
                <c:pt idx="5">
                  <c:v>31730</c:v>
                </c:pt>
                <c:pt idx="6">
                  <c:v>28030</c:v>
                </c:pt>
                <c:pt idx="7">
                  <c:v>12210</c:v>
                </c:pt>
                <c:pt idx="8">
                  <c:v>10050</c:v>
                </c:pt>
                <c:pt idx="9">
                  <c:v>9410</c:v>
                </c:pt>
              </c:numCache>
            </c:numRef>
          </c:val>
          <c:extLst>
            <c:ext xmlns:c16="http://schemas.microsoft.com/office/drawing/2014/chart" uri="{C3380CC4-5D6E-409C-BE32-E72D297353CC}">
              <c16:uniqueId val="{00000011-748D-413B-875F-513F6534FFE5}"/>
            </c:ext>
          </c:extLst>
        </c:ser>
        <c:ser>
          <c:idx val="1"/>
          <c:order val="1"/>
          <c:spPr>
            <a:solidFill>
              <a:srgbClr val="DFE5EF"/>
            </a:solidFill>
            <a:ln>
              <a:solidFill>
                <a:schemeClr val="tx1"/>
              </a:solidFill>
            </a:ln>
            <a:effectLst/>
          </c:spPr>
          <c:invertIfNegative val="0"/>
          <c:cat>
            <c:strRef>
              <c:f>Sheet1!$A$2:$A$11</c:f>
              <c:strCache>
                <c:ptCount val="10"/>
                <c:pt idx="0">
                  <c:v>Laborers and material movers</c:v>
                </c:pt>
                <c:pt idx="1">
                  <c:v>Trucking crew</c:v>
                </c:pt>
                <c:pt idx="2">
                  <c:v>Structural engineers</c:v>
                </c:pt>
                <c:pt idx="3">
                  <c:v>Software engineers</c:v>
                </c:pt>
                <c:pt idx="4">
                  <c:v>Trenchers</c:v>
                </c:pt>
                <c:pt idx="5">
                  <c:v>Master and stage electricians</c:v>
                </c:pt>
                <c:pt idx="6">
                  <c:v>Equipment operators</c:v>
                </c:pt>
                <c:pt idx="7">
                  <c:v>Inspectors</c:v>
                </c:pt>
                <c:pt idx="8">
                  <c:v>Network architects and coordinators</c:v>
                </c:pt>
                <c:pt idx="9">
                  <c:v>Fiber and wireless technicians</c:v>
                </c:pt>
              </c:strCache>
            </c:strRef>
          </c:cat>
          <c:val>
            <c:numRef>
              <c:f>Sheet1!$C$2:$C$11</c:f>
              <c:numCache>
                <c:formatCode>General</c:formatCode>
                <c:ptCount val="10"/>
                <c:pt idx="0">
                  <c:v>112600</c:v>
                </c:pt>
                <c:pt idx="1">
                  <c:v>72800</c:v>
                </c:pt>
                <c:pt idx="2">
                  <c:v>63620</c:v>
                </c:pt>
                <c:pt idx="3">
                  <c:v>51380</c:v>
                </c:pt>
                <c:pt idx="4">
                  <c:v>39750</c:v>
                </c:pt>
                <c:pt idx="5">
                  <c:v>33120</c:v>
                </c:pt>
                <c:pt idx="6">
                  <c:v>28000</c:v>
                </c:pt>
                <c:pt idx="7">
                  <c:v>12280</c:v>
                </c:pt>
                <c:pt idx="8">
                  <c:v>10040</c:v>
                </c:pt>
                <c:pt idx="9">
                  <c:v>10110</c:v>
                </c:pt>
              </c:numCache>
            </c:numRef>
          </c:val>
          <c:extLst>
            <c:ext xmlns:c16="http://schemas.microsoft.com/office/drawing/2014/chart" uri="{C3380CC4-5D6E-409C-BE32-E72D297353CC}">
              <c16:uniqueId val="{00000014-559C-4656-8A87-6DCEDC43710E}"/>
            </c:ext>
          </c:extLst>
        </c:ser>
        <c:dLbls>
          <c:showLegendKey val="0"/>
          <c:showVal val="0"/>
          <c:showCatName val="0"/>
          <c:showSerName val="0"/>
          <c:showPercent val="0"/>
          <c:showBubbleSize val="0"/>
        </c:dLbls>
        <c:gapWidth val="50"/>
        <c:axId val="54948672"/>
        <c:axId val="54947232"/>
      </c:barChart>
      <c:catAx>
        <c:axId val="54948672"/>
        <c:scaling>
          <c:orientation val="minMax"/>
        </c:scaling>
        <c:delete val="1"/>
        <c:axPos val="b"/>
        <c:numFmt formatCode="General" sourceLinked="1"/>
        <c:majorTickMark val="out"/>
        <c:minorTickMark val="none"/>
        <c:tickLblPos val="nextTo"/>
        <c:crossAx val="54947232"/>
        <c:crosses val="autoZero"/>
        <c:auto val="0"/>
        <c:lblAlgn val="ctr"/>
        <c:lblOffset val="100"/>
        <c:noMultiLvlLbl val="0"/>
      </c:catAx>
      <c:valAx>
        <c:axId val="54947232"/>
        <c:scaling>
          <c:orientation val="minMax"/>
        </c:scaling>
        <c:delete val="1"/>
        <c:axPos val="l"/>
        <c:numFmt formatCode="General" sourceLinked="1"/>
        <c:majorTickMark val="out"/>
        <c:minorTickMark val="none"/>
        <c:tickLblPos val="nextTo"/>
        <c:crossAx val="54948672"/>
        <c:crossesAt val="40"/>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0"/>
    <c:plotArea>
      <c:layout>
        <c:manualLayout>
          <c:layoutTarget val="inner"/>
          <c:xMode val="edge"/>
          <c:yMode val="edge"/>
          <c:x val="0.31383376072159708"/>
          <c:y val="0.15615421404183702"/>
          <c:w val="0.39798328661141186"/>
          <c:h val="0.8117766956556437"/>
        </c:manualLayout>
      </c:layout>
      <c:doughnutChart>
        <c:varyColors val="0"/>
        <c:ser>
          <c:idx val="0"/>
          <c:order val="0"/>
          <c:spPr>
            <a:ln>
              <a:solidFill>
                <a:srgbClr val="00338D"/>
              </a:solidFill>
            </a:ln>
          </c:spPr>
          <c:dPt>
            <c:idx val="0"/>
            <c:bubble3D val="0"/>
            <c:spPr>
              <a:solidFill>
                <a:srgbClr val="DFE5EF"/>
              </a:solidFill>
              <a:ln w="12700">
                <a:solidFill>
                  <a:srgbClr val="00338D"/>
                </a:solidFill>
              </a:ln>
            </c:spPr>
            <c:extLst>
              <c:ext xmlns:c16="http://schemas.microsoft.com/office/drawing/2014/chart" uri="{C3380CC4-5D6E-409C-BE32-E72D297353CC}">
                <c16:uniqueId val="{00000001-665A-4493-BFA7-5CB71D7380E5}"/>
              </c:ext>
            </c:extLst>
          </c:dPt>
          <c:dPt>
            <c:idx val="1"/>
            <c:bubble3D val="0"/>
            <c:spPr>
              <a:solidFill>
                <a:srgbClr val="B8C8DA"/>
              </a:solidFill>
              <a:ln>
                <a:solidFill>
                  <a:srgbClr val="00338D"/>
                </a:solidFill>
              </a:ln>
            </c:spPr>
            <c:extLst>
              <c:ext xmlns:c16="http://schemas.microsoft.com/office/drawing/2014/chart" uri="{C3380CC4-5D6E-409C-BE32-E72D297353CC}">
                <c16:uniqueId val="{00000003-665A-4493-BFA7-5CB71D7380E5}"/>
              </c:ext>
            </c:extLst>
          </c:dPt>
          <c:dPt>
            <c:idx val="2"/>
            <c:bubble3D val="0"/>
            <c:spPr>
              <a:solidFill>
                <a:srgbClr val="97ADCD"/>
              </a:solidFill>
              <a:ln>
                <a:solidFill>
                  <a:srgbClr val="00338D"/>
                </a:solidFill>
              </a:ln>
            </c:spPr>
            <c:extLst>
              <c:ext xmlns:c16="http://schemas.microsoft.com/office/drawing/2014/chart" uri="{C3380CC4-5D6E-409C-BE32-E72D297353CC}">
                <c16:uniqueId val="{00000005-665A-4493-BFA7-5CB71D7380E5}"/>
              </c:ext>
            </c:extLst>
          </c:dPt>
          <c:dPt>
            <c:idx val="3"/>
            <c:bubble3D val="0"/>
            <c:spPr>
              <a:solidFill>
                <a:srgbClr val="5379A3"/>
              </a:solidFill>
              <a:ln>
                <a:solidFill>
                  <a:srgbClr val="00338D"/>
                </a:solidFill>
              </a:ln>
            </c:spPr>
            <c:extLst>
              <c:ext xmlns:c16="http://schemas.microsoft.com/office/drawing/2014/chart" uri="{C3380CC4-5D6E-409C-BE32-E72D297353CC}">
                <c16:uniqueId val="{00000007-665A-4493-BFA7-5CB71D7380E5}"/>
              </c:ext>
            </c:extLst>
          </c:dPt>
          <c:dLbls>
            <c:dLbl>
              <c:idx val="0"/>
              <c:tx>
                <c:rich>
                  <a:bodyPr/>
                  <a:lstStyle/>
                  <a:p>
                    <a:fld id="{A3B392B1-963B-471C-A369-D2A4D6A5B51D}" type="VALUE">
                      <a:rPr lang="en-US">
                        <a:solidFill>
                          <a:srgbClr val="456487"/>
                        </a:solidFill>
                      </a:rPr>
                      <a:pPr/>
                      <a:t>[VALUE]</a:t>
                    </a:fld>
                    <a:endParaRPr lang="en-US"/>
                  </a:p>
                </c:rich>
              </c:tx>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1-665A-4493-BFA7-5CB71D7380E5}"/>
                </c:ext>
              </c:extLst>
            </c:dLbl>
            <c:dLbl>
              <c:idx val="1"/>
              <c:spPr>
                <a:noFill/>
                <a:ln>
                  <a:noFill/>
                </a:ln>
                <a:effectLst/>
              </c:spPr>
              <c:txPr>
                <a:bodyPr wrap="square" lIns="38100" tIns="19050" rIns="38100" bIns="19050" anchor="ctr">
                  <a:spAutoFit/>
                </a:bodyPr>
                <a:lstStyle/>
                <a:p>
                  <a:pPr>
                    <a:defRPr>
                      <a:solidFill>
                        <a:srgbClr val="456487"/>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3-665A-4493-BFA7-5CB71D7380E5}"/>
                </c:ext>
              </c:extLst>
            </c:dLbl>
            <c:dLbl>
              <c:idx val="2"/>
              <c:spPr>
                <a:noFill/>
                <a:ln>
                  <a:noFill/>
                </a:ln>
                <a:effectLst/>
              </c:spPr>
              <c:txPr>
                <a:bodyPr wrap="square" lIns="38100" tIns="19050" rIns="38100" bIns="19050" anchor="ctr">
                  <a:spAutoFit/>
                </a:bodyPr>
                <a:lstStyle/>
                <a:p>
                  <a:pPr>
                    <a:defRPr>
                      <a:solidFill>
                        <a:srgbClr val="456487"/>
                      </a:solidFill>
                    </a:defRPr>
                  </a:pPr>
                  <a:endParaRPr lang="en-US"/>
                </a:p>
              </c:txPr>
              <c:showLegendKey val="0"/>
              <c:showVal val="1"/>
              <c:showCatName val="0"/>
              <c:showSerName val="0"/>
              <c:showPercent val="0"/>
              <c:showBubbleSize val="0"/>
              <c:extLst>
                <c:ext xmlns:c16="http://schemas.microsoft.com/office/drawing/2014/chart" uri="{C3380CC4-5D6E-409C-BE32-E72D297353CC}">
                  <c16:uniqueId val="{00000005-665A-4493-BFA7-5CB71D7380E5}"/>
                </c:ext>
              </c:extLst>
            </c:dLbl>
            <c:dLbl>
              <c:idx val="3"/>
              <c:layout>
                <c:manualLayout>
                  <c:x val="-8.2790855508359684E-2"/>
                  <c:y val="-0.19968898121582399"/>
                </c:manualLayout>
              </c:layout>
              <c:spPr>
                <a:noFill/>
                <a:ln>
                  <a:noFill/>
                </a:ln>
                <a:effectLst/>
              </c:spPr>
              <c:txPr>
                <a:bodyPr wrap="square" lIns="38100" tIns="19050" rIns="38100" bIns="19050" anchor="ctr">
                  <a:noAutofit/>
                </a:bodyPr>
                <a:lstStyle/>
                <a:p>
                  <a:pPr>
                    <a:defRPr>
                      <a:solidFill>
                        <a:srgbClr val="456487"/>
                      </a:solidFill>
                    </a:defRPr>
                  </a:pPr>
                  <a:endParaRPr lang="en-US"/>
                </a:p>
              </c:txPr>
              <c:showLegendKey val="0"/>
              <c:showVal val="1"/>
              <c:showCatName val="0"/>
              <c:showSerName val="0"/>
              <c:showPercent val="0"/>
              <c:showBubbleSize val="0"/>
              <c:extLst>
                <c:ext xmlns:c15="http://schemas.microsoft.com/office/drawing/2012/chart" uri="{CE6537A1-D6FC-4f65-9D91-7224C49458BB}">
                  <c15:layout>
                    <c:manualLayout>
                      <c:w val="9.5851364403726824E-2"/>
                      <c:h val="0.10960266320273625"/>
                    </c:manualLayout>
                  </c15:layout>
                </c:ext>
                <c:ext xmlns:c16="http://schemas.microsoft.com/office/drawing/2014/chart" uri="{C3380CC4-5D6E-409C-BE32-E72D297353CC}">
                  <c16:uniqueId val="{00000007-665A-4493-BFA7-5CB71D7380E5}"/>
                </c:ext>
              </c:extLst>
            </c:dLbl>
            <c:spPr>
              <a:noFill/>
              <a:ln>
                <a:noFill/>
              </a:ln>
              <a:effectLst/>
            </c:spPr>
            <c:txPr>
              <a:bodyPr wrap="square" lIns="38100" tIns="19050" rIns="38100" bIns="19050" anchor="ctr">
                <a:spAutoFit/>
              </a:bodyPr>
              <a:lstStyle/>
              <a:p>
                <a:pPr>
                  <a:defRPr>
                    <a:solidFill>
                      <a:schemeClr val="bg1"/>
                    </a:solidFil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extLst>
          </c:dLbls>
          <c:cat>
            <c:strRef>
              <c:f>Sheet1!$A$2:$A$5</c:f>
              <c:strCache>
                <c:ptCount val="4"/>
                <c:pt idx="0">
                  <c:v>Detroit Metro</c:v>
                </c:pt>
                <c:pt idx="1">
                  <c:v>Michigan Non-Metro</c:v>
                </c:pt>
                <c:pt idx="2">
                  <c:v>Grand Rapids Metro</c:v>
                </c:pt>
                <c:pt idx="3">
                  <c:v>Toledo Metro</c:v>
                </c:pt>
              </c:strCache>
            </c:strRef>
          </c:cat>
          <c:val>
            <c:numRef>
              <c:f>Sheet1!$B$2:$B$5</c:f>
              <c:numCache>
                <c:formatCode>0%</c:formatCode>
                <c:ptCount val="4"/>
                <c:pt idx="0">
                  <c:v>0.56884571957963004</c:v>
                </c:pt>
                <c:pt idx="1">
                  <c:v>0.28689094120031267</c:v>
                </c:pt>
                <c:pt idx="2">
                  <c:v>0.12941721432500505</c:v>
                </c:pt>
                <c:pt idx="3">
                  <c:v>1.4649257404244231E-2</c:v>
                </c:pt>
              </c:numCache>
            </c:numRef>
          </c:val>
          <c:extLst>
            <c:ext xmlns:c16="http://schemas.microsoft.com/office/drawing/2014/chart" uri="{C3380CC4-5D6E-409C-BE32-E72D297353CC}">
              <c16:uniqueId val="{00000008-665A-4493-BFA7-5CB71D7380E5}"/>
            </c:ext>
          </c:extLst>
        </c:ser>
        <c:dLbls>
          <c:showLegendKey val="0"/>
          <c:showVal val="0"/>
          <c:showCatName val="0"/>
          <c:showSerName val="0"/>
          <c:showPercent val="0"/>
          <c:showBubbleSize val="0"/>
          <c:showLeaderLines val="0"/>
        </c:dLbls>
        <c:firstSliceAng val="0"/>
        <c:holeSize val="50"/>
      </c:doughnutChart>
      <c:spPr>
        <a:ln>
          <a:solidFill>
            <a:schemeClr val="bg1"/>
          </a:solidFill>
        </a:ln>
      </c:spPr>
    </c:plotArea>
    <c:plotVisOnly val="0"/>
    <c:dispBlanksAs val="gap"/>
    <c:showDLblsOverMax val="1"/>
  </c:chart>
  <c:externalData r:id="rId1">
    <c:autoUpdate val="0"/>
  </c:externalData>
  <c:userShapes r:id="rId2"/>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3"/>
    </mc:Choice>
    <mc:Fallback>
      <c:style val="3"/>
    </mc:Fallback>
  </mc:AlternateContent>
  <c:chart>
    <c:autoTitleDeleted val="0"/>
    <c:plotArea>
      <c:layout>
        <c:manualLayout>
          <c:layoutTarget val="inner"/>
          <c:xMode val="edge"/>
          <c:yMode val="edge"/>
          <c:x val="3.0810646041966299E-2"/>
          <c:y val="1.6097298991357357E-2"/>
          <c:w val="0.96910279263220445"/>
          <c:h val="0.90401990498856888"/>
        </c:manualLayout>
      </c:layout>
      <c:barChart>
        <c:barDir val="bar"/>
        <c:grouping val="clustered"/>
        <c:varyColors val="0"/>
        <c:ser>
          <c:idx val="0"/>
          <c:order val="0"/>
          <c:tx>
            <c:strRef>
              <c:f>Sheet1!$A$2</c:f>
              <c:strCache>
                <c:ptCount val="1"/>
                <c:pt idx="0">
                  <c:v>2022</c:v>
                </c:pt>
              </c:strCache>
            </c:strRef>
          </c:tx>
          <c:spPr>
            <a:solidFill>
              <a:srgbClr val="304462"/>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12700" cap="flat" cmpd="sng" algn="ctr">
                      <a:solidFill>
                        <a:schemeClr val="tx1"/>
                      </a:solidFill>
                      <a:prstDash val="solid"/>
                      <a:round/>
                    </a:ln>
                    <a:effectLst/>
                  </c:spPr>
                </c15:leaderLines>
              </c:ext>
            </c:extLst>
          </c:dLbls>
          <c:val>
            <c:numRef>
              <c:f>Sheet1!$B$2:$E$2</c:f>
              <c:numCache>
                <c:formatCode>General</c:formatCode>
                <c:ptCount val="4"/>
                <c:pt idx="0">
                  <c:v>60</c:v>
                </c:pt>
                <c:pt idx="1">
                  <c:v>35</c:v>
                </c:pt>
                <c:pt idx="2">
                  <c:v>26</c:v>
                </c:pt>
                <c:pt idx="3">
                  <c:v>26</c:v>
                </c:pt>
              </c:numCache>
            </c:numRef>
          </c:val>
          <c:extLst>
            <c:ext xmlns:c16="http://schemas.microsoft.com/office/drawing/2014/chart" uri="{C3380CC4-5D6E-409C-BE32-E72D297353CC}">
              <c16:uniqueId val="{00000002-66BC-4735-8AD7-178C3F35660D}"/>
            </c:ext>
          </c:extLst>
        </c:ser>
        <c:ser>
          <c:idx val="1"/>
          <c:order val="1"/>
          <c:tx>
            <c:strRef>
              <c:f>Sheet1!$A$3</c:f>
              <c:strCache>
                <c:ptCount val="1"/>
                <c:pt idx="0">
                  <c:v>2023</c:v>
                </c:pt>
              </c:strCache>
            </c:strRef>
          </c:tx>
          <c:spPr>
            <a:solidFill>
              <a:srgbClr val="3B547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12700" cap="flat" cmpd="sng" algn="ctr">
                      <a:solidFill>
                        <a:schemeClr val="tx1"/>
                      </a:solidFill>
                      <a:prstDash val="solid"/>
                      <a:round/>
                    </a:ln>
                    <a:effectLst/>
                  </c:spPr>
                </c15:leaderLines>
              </c:ext>
            </c:extLst>
          </c:dLbls>
          <c:val>
            <c:numRef>
              <c:f>Sheet1!$B$3:$E$3</c:f>
              <c:numCache>
                <c:formatCode>General</c:formatCode>
                <c:ptCount val="4"/>
                <c:pt idx="0">
                  <c:v>10</c:v>
                </c:pt>
                <c:pt idx="1">
                  <c:v>14</c:v>
                </c:pt>
                <c:pt idx="2">
                  <c:v>16</c:v>
                </c:pt>
                <c:pt idx="3">
                  <c:v>14</c:v>
                </c:pt>
              </c:numCache>
            </c:numRef>
          </c:val>
          <c:extLst>
            <c:ext xmlns:c16="http://schemas.microsoft.com/office/drawing/2014/chart" uri="{C3380CC4-5D6E-409C-BE32-E72D297353CC}">
              <c16:uniqueId val="{00000003-66BC-4735-8AD7-178C3F35660D}"/>
            </c:ext>
          </c:extLst>
        </c:ser>
        <c:ser>
          <c:idx val="2"/>
          <c:order val="2"/>
          <c:tx>
            <c:strRef>
              <c:f>Sheet1!$A$4</c:f>
              <c:strCache>
                <c:ptCount val="1"/>
                <c:pt idx="0">
                  <c:v>2024</c:v>
                </c:pt>
              </c:strCache>
            </c:strRef>
          </c:tx>
          <c:spPr>
            <a:solidFill>
              <a:srgbClr val="6F8DB9"/>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12700" cap="flat" cmpd="sng" algn="ctr">
                      <a:solidFill>
                        <a:schemeClr val="tx1"/>
                      </a:solidFill>
                      <a:prstDash val="solid"/>
                      <a:round/>
                    </a:ln>
                    <a:effectLst/>
                  </c:spPr>
                </c15:leaderLines>
              </c:ext>
            </c:extLst>
          </c:dLbls>
          <c:val>
            <c:numRef>
              <c:f>Sheet1!$B$4:$E$4</c:f>
              <c:numCache>
                <c:formatCode>General</c:formatCode>
                <c:ptCount val="4"/>
                <c:pt idx="0">
                  <c:v>20</c:v>
                </c:pt>
                <c:pt idx="1">
                  <c:v>20</c:v>
                </c:pt>
                <c:pt idx="2">
                  <c:v>20</c:v>
                </c:pt>
                <c:pt idx="3">
                  <c:v>10</c:v>
                </c:pt>
              </c:numCache>
            </c:numRef>
          </c:val>
          <c:extLst>
            <c:ext xmlns:c16="http://schemas.microsoft.com/office/drawing/2014/chart" uri="{C3380CC4-5D6E-409C-BE32-E72D297353CC}">
              <c16:uniqueId val="{00000004-66BC-4735-8AD7-178C3F35660D}"/>
            </c:ext>
          </c:extLst>
        </c:ser>
        <c:ser>
          <c:idx val="3"/>
          <c:order val="3"/>
          <c:tx>
            <c:strRef>
              <c:f>Sheet1!$A$5</c:f>
              <c:strCache>
                <c:ptCount val="1"/>
                <c:pt idx="0">
                  <c:v>2025</c:v>
                </c:pt>
              </c:strCache>
            </c:strRef>
          </c:tx>
          <c:spPr>
            <a:solidFill>
              <a:srgbClr val="95ABCB"/>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mn-lt"/>
                    <a:ea typeface="+mn-ea"/>
                    <a:cs typeface="+mn-cs"/>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12700" cap="flat" cmpd="sng" algn="ctr">
                      <a:solidFill>
                        <a:schemeClr val="tx1"/>
                      </a:solidFill>
                      <a:prstDash val="solid"/>
                      <a:round/>
                    </a:ln>
                    <a:effectLst/>
                  </c:spPr>
                </c15:leaderLines>
              </c:ext>
            </c:extLst>
          </c:dLbls>
          <c:val>
            <c:numRef>
              <c:f>Sheet1!$B$5:$E$5</c:f>
              <c:numCache>
                <c:formatCode>General</c:formatCode>
                <c:ptCount val="4"/>
                <c:pt idx="0">
                  <c:v>52</c:v>
                </c:pt>
                <c:pt idx="1">
                  <c:v>30</c:v>
                </c:pt>
                <c:pt idx="2">
                  <c:v>30</c:v>
                </c:pt>
                <c:pt idx="3">
                  <c:v>12</c:v>
                </c:pt>
              </c:numCache>
            </c:numRef>
          </c:val>
          <c:extLst>
            <c:ext xmlns:c16="http://schemas.microsoft.com/office/drawing/2014/chart" uri="{C3380CC4-5D6E-409C-BE32-E72D297353CC}">
              <c16:uniqueId val="{00000005-66BC-4735-8AD7-178C3F35660D}"/>
            </c:ext>
          </c:extLst>
        </c:ser>
        <c:dLbls>
          <c:dLblPos val="outEnd"/>
          <c:showLegendKey val="0"/>
          <c:showVal val="1"/>
          <c:showCatName val="0"/>
          <c:showSerName val="0"/>
          <c:showPercent val="0"/>
          <c:showBubbleSize val="0"/>
        </c:dLbls>
        <c:gapWidth val="80"/>
        <c:axId val="1438918512"/>
        <c:axId val="1"/>
      </c:barChart>
      <c:catAx>
        <c:axId val="1438918512"/>
        <c:scaling>
          <c:orientation val="maxMin"/>
        </c:scaling>
        <c:delete val="0"/>
        <c:axPos val="l"/>
        <c:majorTickMark val="none"/>
        <c:minorTickMark val="none"/>
        <c:tickLblPos val="none"/>
        <c:spPr>
          <a:noFill/>
          <a:ln w="9525" cap="flat" cmpd="sng" algn="ctr">
            <a:solidFill>
              <a:schemeClr val="tx1"/>
            </a:solidFill>
            <a:prstDash val="solid"/>
            <a:round/>
          </a:ln>
          <a:effectLst/>
        </c:spPr>
        <c:txPr>
          <a:bodyPr rot="-6000000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crossAx val="1"/>
        <c:crosses val="min"/>
        <c:auto val="0"/>
        <c:lblAlgn val="ctr"/>
        <c:lblOffset val="100"/>
        <c:noMultiLvlLbl val="0"/>
      </c:catAx>
      <c:valAx>
        <c:axId val="1"/>
        <c:scaling>
          <c:orientation val="minMax"/>
          <c:max val="100"/>
          <c:min val="0"/>
        </c:scaling>
        <c:delete val="1"/>
        <c:axPos val="t"/>
        <c:numFmt formatCode="General" sourceLinked="1"/>
        <c:majorTickMark val="out"/>
        <c:minorTickMark val="none"/>
        <c:tickLblPos val="nextTo"/>
        <c:crossAx val="1438918512"/>
        <c:crosses val="min"/>
        <c:crossBetween val="between"/>
      </c:valAx>
      <c:spPr>
        <a:noFill/>
        <a:ln>
          <a:noFill/>
        </a:ln>
        <a:effectLst/>
      </c:spPr>
    </c:plotArea>
    <c:legend>
      <c:legendPos val="r"/>
      <c:layout>
        <c:manualLayout>
          <c:xMode val="edge"/>
          <c:yMode val="edge"/>
          <c:x val="0.39755690521435744"/>
          <c:y val="0.87869626852186777"/>
          <c:w val="0.53075339104798014"/>
          <c:h val="7.7617669393970648E-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solidFill>
              <a:latin typeface="+mn-lt"/>
              <a:ea typeface="+mn-ea"/>
              <a:cs typeface="+mn-cs"/>
            </a:defRPr>
          </a:pPr>
          <a:endParaRPr lang="en-US"/>
        </a:p>
      </c:txPr>
    </c:legend>
    <c:plotVisOnly val="0"/>
    <c:dispBlanksAs val="gap"/>
    <c:showDLblsOverMax val="1"/>
  </c:chart>
  <c:spPr>
    <a:noFill/>
    <a:ln w="12700" cap="flat" cmpd="sng" algn="ctr">
      <a:noFill/>
      <a:prstDash val="solid"/>
      <a:miter lim="800000"/>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withinLinear" id="14">
  <a:schemeClr val="accent1"/>
</cs:colorStyle>
</file>

<file path=ppt/charts/style1.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2.xml><?xml version="1.0" encoding="utf-8"?>
<cs:chartStyle xmlns:cs="http://schemas.microsoft.com/office/drawing/2012/chartStyle" xmlns:a="http://schemas.openxmlformats.org/drawingml/2006/main" id="419">
  <cs:axisTitle>
    <cs:lnRef idx="0"/>
    <cs:fillRef idx="0"/>
    <cs:effectRef idx="0"/>
    <cs:fontRef idx="minor">
      <a:schemeClr val="tx1">
        <a:lumMod val="65000"/>
        <a:lumOff val="35000"/>
      </a:schemeClr>
    </cs:fontRef>
    <cs:defRPr sz="1197"/>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cs:chartArea>
  <cs:dataLabel>
    <cs:lnRef idx="0"/>
    <cs:fillRef idx="0"/>
    <cs:effectRef idx="0"/>
    <cs:fontRef idx="minor">
      <a:schemeClr val="tx1">
        <a:lumMod val="65000"/>
        <a:lumOff val="35000"/>
      </a:schemeClr>
    </cs:fontRef>
    <cs:defRPr sz="1197"/>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862"/>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1197"/>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cs:valueAxis>
  <cs:wall>
    <cs:lnRef idx="0"/>
    <cs:fillRef idx="0"/>
    <cs:effectRef idx="0"/>
    <cs:fontRef idx="minor">
      <a:schemeClr val="tx1"/>
    </cs:fontRef>
  </cs:wall>
</cs:chartStyle>
</file>

<file path=ppt/charts/style3.xml><?xml version="1.0" encoding="utf-8"?>
<cs:chartStyle xmlns:cs="http://schemas.microsoft.com/office/drawing/2012/chartStyle" xmlns:a="http://schemas.openxmlformats.org/drawingml/2006/main" id="102">
  <cs:axisTitle>
    <cs:lnRef idx="0"/>
    <cs:fillRef idx="0"/>
    <cs:effectRef idx="0"/>
    <cs:fontRef idx="minor">
      <a:schemeClr val="tx1"/>
    </cs:fontRef>
    <cs:defRPr sz="1000" b="1" kern="1200"/>
  </cs:axisTitle>
  <cs:categoryAxis>
    <cs:lnRef idx="1">
      <a:schemeClr val="tx1">
        <a:tint val="75000"/>
      </a:schemeClr>
    </cs:lnRef>
    <cs:fillRef idx="0"/>
    <cs:effectRef idx="0"/>
    <cs:fontRef idx="minor">
      <a:schemeClr val="tx1"/>
    </cs:fontRef>
    <cs:spPr>
      <a:ln>
        <a:round/>
      </a:ln>
    </cs:spPr>
    <cs:defRPr sz="1000" kern="1200"/>
  </cs:categoryAxis>
  <cs:chartArea mods="allowNoFillOverride allowNoLineOverride">
    <cs:lnRef idx="1">
      <a:schemeClr val="tx1">
        <a:tint val="75000"/>
      </a:schemeClr>
    </cs:lnRef>
    <cs:fillRef idx="1">
      <a:schemeClr val="bg1"/>
    </cs:fillRef>
    <cs:effectRef idx="0"/>
    <cs:fontRef idx="minor">
      <a:schemeClr val="tx1"/>
    </cs:fontRef>
    <cs:spPr>
      <a:ln>
        <a:round/>
      </a:ln>
    </cs:spPr>
    <cs:defRPr sz="1000" kern="1200"/>
  </cs:chartArea>
  <cs:dataLabel>
    <cs:lnRef idx="0"/>
    <cs:fillRef idx="0"/>
    <cs:effectRef idx="0"/>
    <cs:fontRef idx="minor">
      <a:schemeClr val="tx1"/>
    </cs:fontRef>
    <cs:defRPr sz="1000" kern="1200"/>
  </cs:dataLabel>
  <cs:dataLabelCallout>
    <cs:lnRef idx="0"/>
    <cs:fillRef idx="0"/>
    <cs:effectRef idx="0"/>
    <cs:fontRef idx="minor">
      <a:schemeClr val="dk1"/>
    </cs:fontRef>
    <cs:spPr>
      <a:solidFill>
        <a:schemeClr val="lt1"/>
      </a:solidFill>
      <a:ln>
        <a:solidFill>
          <a:schemeClr val="dk1">
            <a:lumMod val="65000"/>
            <a:lumOff val="35000"/>
          </a:schemeClr>
        </a:solidFill>
      </a:ln>
    </cs:spPr>
    <cs:defRPr sz="1000" kern="1200"/>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1">
      <cs:styleClr val="auto"/>
    </cs:lnRef>
    <cs:lineWidthScale>3</cs:lineWidthScale>
    <cs:fillRef idx="0"/>
    <cs:effectRef idx="0"/>
    <cs:fontRef idx="minor">
      <a:schemeClr val="tx1"/>
    </cs:fontRef>
    <cs:spPr>
      <a:ln cap="rnd">
        <a:round/>
      </a:ln>
    </cs:spPr>
  </cs:dataPointLine>
  <cs:dataPointMarker>
    <cs:lnRef idx="1">
      <cs:styleClr val="auto"/>
    </cs:lnRef>
    <cs:fillRef idx="1">
      <cs:styleClr val="auto"/>
    </cs:fillRef>
    <cs:effectRef idx="0"/>
    <cs:fontRef idx="minor">
      <a:schemeClr val="tx1"/>
    </cs:fontRef>
    <cs:spPr>
      <a:ln>
        <a:round/>
      </a:ln>
    </cs:spPr>
  </cs:dataPointMarker>
  <cs:dataPointMarkerLayout/>
  <cs:dataPointWireframe>
    <cs:lnRef idx="1">
      <cs:styleClr val="auto"/>
    </cs:lnRef>
    <cs:fillRef idx="0"/>
    <cs:effectRef idx="0"/>
    <cs:fontRef idx="minor">
      <a:schemeClr val="tx1"/>
    </cs:fontRef>
    <cs:spPr>
      <a:ln>
        <a:round/>
      </a:ln>
    </cs:spPr>
  </cs:dataPointWireframe>
  <cs:dataTable>
    <cs:lnRef idx="1">
      <a:schemeClr val="tx1">
        <a:tint val="75000"/>
      </a:schemeClr>
    </cs:lnRef>
    <cs:fillRef idx="0"/>
    <cs:effectRef idx="0"/>
    <cs:fontRef idx="minor">
      <a:schemeClr val="tx1"/>
    </cs:fontRef>
    <cs:spPr>
      <a:ln>
        <a:round/>
      </a:ln>
    </cs:spPr>
    <cs:defRPr sz="1000" kern="1200"/>
  </cs:dataTable>
  <cs:downBar>
    <cs:lnRef idx="1">
      <a:schemeClr val="tx1"/>
    </cs:lnRef>
    <cs:fillRef idx="1">
      <a:schemeClr val="dk1">
        <a:tint val="95000"/>
      </a:schemeClr>
    </cs:fillRef>
    <cs:effectRef idx="0"/>
    <cs:fontRef idx="minor">
      <a:schemeClr val="tx1"/>
    </cs:fontRef>
    <cs:spPr>
      <a:ln>
        <a:round/>
      </a:ln>
    </cs:spPr>
  </cs:downBar>
  <cs:dropLine>
    <cs:lnRef idx="1">
      <a:schemeClr val="tx1"/>
    </cs:lnRef>
    <cs:fillRef idx="0"/>
    <cs:effectRef idx="0"/>
    <cs:fontRef idx="minor">
      <a:schemeClr val="tx1"/>
    </cs:fontRef>
    <cs:spPr>
      <a:ln>
        <a:round/>
      </a:ln>
    </cs:spPr>
  </cs:dropLine>
  <cs:errorBar>
    <cs:lnRef idx="1">
      <a:schemeClr val="tx1"/>
    </cs:lnRef>
    <cs:fillRef idx="1">
      <a:schemeClr val="tx1"/>
    </cs:fillRef>
    <cs:effectRef idx="0"/>
    <cs:fontRef idx="minor">
      <a:schemeClr val="tx1"/>
    </cs:fontRef>
    <cs:spPr>
      <a:ln>
        <a:round/>
      </a:ln>
    </cs:spPr>
  </cs:errorBar>
  <cs:floor>
    <cs:lnRef idx="1">
      <a:schemeClr val="tx1">
        <a:tint val="75000"/>
      </a:schemeClr>
    </cs:lnRef>
    <cs:fillRef idx="0"/>
    <cs:effectRef idx="0"/>
    <cs:fontRef idx="minor">
      <a:schemeClr val="tx1"/>
    </cs:fontRef>
    <cs:spPr>
      <a:ln>
        <a:round/>
      </a:ln>
    </cs:spPr>
  </cs:floor>
  <cs:gridlineMajor>
    <cs:lnRef idx="1">
      <a:schemeClr val="tx1">
        <a:tint val="75000"/>
      </a:schemeClr>
    </cs:lnRef>
    <cs:fillRef idx="0"/>
    <cs:effectRef idx="0"/>
    <cs:fontRef idx="minor">
      <a:schemeClr val="tx1"/>
    </cs:fontRef>
    <cs:spPr>
      <a:ln>
        <a:round/>
      </a:ln>
    </cs:spPr>
  </cs:gridlineMajor>
  <cs:gridlineMinor>
    <cs:lnRef idx="1">
      <a:schemeClr val="tx1">
        <a:tint val="50000"/>
      </a:schemeClr>
    </cs:lnRef>
    <cs:fillRef idx="0"/>
    <cs:effectRef idx="0"/>
    <cs:fontRef idx="minor">
      <a:schemeClr val="tx1"/>
    </cs:fontRef>
    <cs:spPr>
      <a:ln>
        <a:round/>
      </a:ln>
    </cs:spPr>
  </cs:gridlineMinor>
  <cs:hiLoLine>
    <cs:lnRef idx="1">
      <a:schemeClr val="tx1"/>
    </cs:lnRef>
    <cs:fillRef idx="0"/>
    <cs:effectRef idx="0"/>
    <cs:fontRef idx="minor">
      <a:schemeClr val="tx1"/>
    </cs:fontRef>
    <cs:spPr>
      <a:ln>
        <a:round/>
      </a:ln>
    </cs:spPr>
  </cs:hiLoLine>
  <cs:leaderLine>
    <cs:lnRef idx="1">
      <a:schemeClr val="tx1"/>
    </cs:lnRef>
    <cs:fillRef idx="0"/>
    <cs:effectRef idx="0"/>
    <cs:fontRef idx="minor">
      <a:schemeClr val="tx1"/>
    </cs:fontRef>
    <cs:spPr>
      <a:ln>
        <a:round/>
      </a:ln>
    </cs:spPr>
  </cs:leaderLine>
  <cs:legend>
    <cs:lnRef idx="0"/>
    <cs:fillRef idx="0"/>
    <cs:effectRef idx="0"/>
    <cs:fontRef idx="minor">
      <a:schemeClr val="tx1"/>
    </cs:fontRef>
    <cs:defRPr sz="1000" kern="1200"/>
  </cs:legend>
  <cs:plotArea mods="allowNoFillOverride allowNoLineOverride">
    <cs:lnRef idx="0"/>
    <cs:fillRef idx="1">
      <a:schemeClr val="bg1"/>
    </cs:fillRef>
    <cs:effectRef idx="0"/>
    <cs:fontRef idx="minor">
      <a:schemeClr val="tx1"/>
    </cs:fontRef>
  </cs:plotArea>
  <cs:plotArea3D>
    <cs:lnRef idx="0"/>
    <cs:fillRef idx="0"/>
    <cs:effectRef idx="0"/>
    <cs:fontRef idx="minor">
      <a:schemeClr val="tx1"/>
    </cs:fontRef>
  </cs:plotArea3D>
  <cs:seriesAxis>
    <cs:lnRef idx="1">
      <a:schemeClr val="tx1">
        <a:tint val="75000"/>
      </a:schemeClr>
    </cs:lnRef>
    <cs:fillRef idx="0"/>
    <cs:effectRef idx="0"/>
    <cs:fontRef idx="minor">
      <a:schemeClr val="tx1"/>
    </cs:fontRef>
    <cs:spPr>
      <a:ln>
        <a:round/>
      </a:ln>
    </cs:spPr>
    <cs:defRPr sz="1000" kern="1200"/>
  </cs:seriesAxis>
  <cs:seriesLine>
    <cs:lnRef idx="1">
      <a:schemeClr val="tx1"/>
    </cs:lnRef>
    <cs:fillRef idx="0"/>
    <cs:effectRef idx="0"/>
    <cs:fontRef idx="minor">
      <a:schemeClr val="tx1"/>
    </cs:fontRef>
    <cs:spPr>
      <a:ln>
        <a:round/>
      </a:ln>
    </cs:spPr>
  </cs:seriesLine>
  <cs:title>
    <cs:lnRef idx="0"/>
    <cs:fillRef idx="0"/>
    <cs:effectRef idx="0"/>
    <cs:fontRef idx="minor">
      <a:schemeClr val="tx1"/>
    </cs:fontRef>
    <cs:defRPr sz="1800" b="1" kern="1200"/>
  </cs:title>
  <cs:trendline>
    <cs:lnRef idx="1">
      <a:schemeClr val="tx1"/>
    </cs:lnRef>
    <cs:fillRef idx="0"/>
    <cs:effectRef idx="0"/>
    <cs:fontRef idx="minor">
      <a:schemeClr val="tx1"/>
    </cs:fontRef>
    <cs:spPr>
      <a:ln cap="rnd">
        <a:round/>
      </a:ln>
    </cs:spPr>
  </cs:trendline>
  <cs:trendlineLabel>
    <cs:lnRef idx="0"/>
    <cs:fillRef idx="0"/>
    <cs:effectRef idx="0"/>
    <cs:fontRef idx="minor">
      <a:schemeClr val="tx1"/>
    </cs:fontRef>
    <cs:defRPr sz="1000" kern="1200"/>
  </cs:trendlineLabel>
  <cs:upBar>
    <cs:lnRef idx="1">
      <a:schemeClr val="tx1"/>
    </cs:lnRef>
    <cs:fillRef idx="1">
      <a:schemeClr val="dk1">
        <a:tint val="5000"/>
      </a:schemeClr>
    </cs:fillRef>
    <cs:effectRef idx="0"/>
    <cs:fontRef idx="minor">
      <a:schemeClr val="tx1"/>
    </cs:fontRef>
    <cs:spPr>
      <a:ln>
        <a:round/>
      </a:ln>
    </cs:spPr>
  </cs:upBar>
  <cs:valueAxis>
    <cs:lnRef idx="1">
      <a:schemeClr val="tx1">
        <a:tint val="75000"/>
      </a:schemeClr>
    </cs:lnRef>
    <cs:fillRef idx="0"/>
    <cs:effectRef idx="0"/>
    <cs:fontRef idx="minor">
      <a:schemeClr val="tx1"/>
    </cs:fontRef>
    <cs:spPr>
      <a:ln>
        <a:round/>
      </a:ln>
    </cs:spPr>
    <cs:defRPr sz="1000" kern="1200"/>
  </cs:valueAxis>
  <cs:wall>
    <cs:lnRef idx="0"/>
    <cs:fillRef idx="0"/>
    <cs:effectRef idx="0"/>
    <cs:fontRef idx="minor">
      <a:schemeClr val="tx1"/>
    </cs:fontRef>
  </cs:wall>
</cs:chartStyle>
</file>

<file path=ppt/drawings/drawing1.xml><?xml version="1.0" encoding="utf-8"?>
<c:userShapes xmlns:c="http://schemas.openxmlformats.org/drawingml/2006/chart">
  <cdr:relSizeAnchor xmlns:cdr="http://schemas.openxmlformats.org/drawingml/2006/chartDrawing">
    <cdr:from>
      <cdr:x>0.446</cdr:x>
      <cdr:y>0.07153</cdr:y>
    </cdr:from>
    <cdr:to>
      <cdr:x>0.5</cdr:x>
      <cdr:y>0.15122</cdr:y>
    </cdr:to>
    <cdr:cxnSp macro="">
      <cdr:nvCxnSpPr>
        <cdr:cNvPr id="8" name="Straight Connector 7">
          <a:extLst xmlns:a="http://schemas.openxmlformats.org/drawingml/2006/main">
            <a:ext uri="{FF2B5EF4-FFF2-40B4-BE49-F238E27FC236}">
              <a16:creationId xmlns:a16="http://schemas.microsoft.com/office/drawing/2014/main" id="{58849BBD-24D5-EBCB-3BA6-E989E8475582}"/>
            </a:ext>
          </a:extLst>
        </cdr:cNvPr>
        <cdr:cNvCxnSpPr/>
      </cdr:nvCxnSpPr>
      <cdr:spPr>
        <a:xfrm xmlns:a="http://schemas.openxmlformats.org/drawingml/2006/main">
          <a:off x="1647247" y="129070"/>
          <a:ext cx="199434" cy="143798"/>
        </a:xfrm>
        <a:prstGeom xmlns:a="http://schemas.openxmlformats.org/drawingml/2006/main" prst="line">
          <a:avLst/>
        </a:prstGeom>
        <a:ln xmlns:a="http://schemas.openxmlformats.org/drawingml/2006/main" w="12700">
          <a:solidFill>
            <a:srgbClr val="5379A3"/>
          </a:solidFill>
        </a:ln>
      </cdr:spPr>
      <cdr:style>
        <a:lnRef xmlns:a="http://schemas.openxmlformats.org/drawingml/2006/main" idx="1">
          <a:schemeClr val="accent1"/>
        </a:lnRef>
        <a:fillRef xmlns:a="http://schemas.openxmlformats.org/drawingml/2006/main" idx="0">
          <a:schemeClr val="accent1"/>
        </a:fillRef>
        <a:effectRef xmlns:a="http://schemas.openxmlformats.org/drawingml/2006/main" idx="0">
          <a:schemeClr val="accent1"/>
        </a:effectRef>
        <a:fontRef xmlns:a="http://schemas.openxmlformats.org/drawingml/2006/main" idx="minor">
          <a:schemeClr val="tx1"/>
        </a:fontRef>
      </cdr:style>
    </cdr:cxnSp>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D5BC84-AFD8-0B41-8CE6-16E906EABD4F}" type="datetimeFigureOut">
              <a:rPr lang="en-US" smtClean="0"/>
              <a:t>5/11/26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8F386B-1B79-4042-A6D8-D368F3635071}" type="slidenum">
              <a:rPr lang="en-US" smtClean="0"/>
              <a:t>‹#›</a:t>
            </a:fld>
            <a:endParaRPr lang="en-US"/>
          </a:p>
        </p:txBody>
      </p:sp>
    </p:spTree>
    <p:extLst>
      <p:ext uri="{BB962C8B-B14F-4D97-AF65-F5344CB8AC3E}">
        <p14:creationId xmlns:p14="http://schemas.microsoft.com/office/powerpoint/2010/main" val="26722981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E82342-800E-30D6-87FB-96CD4158D6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69BEBB-9267-3C71-2AD6-30EE463D46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C083A9-41E3-85CC-FA1A-F1C6832AA59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2656BC-0E63-1EC9-B17B-1837B73B237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1985563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D5B364-7738-2ED2-41A8-1DAF09E7C0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DC2C96-3C3F-AD06-261F-3EA6BE0097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6C7506-E303-6FB8-E458-51BBFA459566}"/>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E984730-62D7-EDCF-97BA-FDCA2BD040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6151169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1E685-4D31-EB36-EFFD-FCB0D172BA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D16E49-53F8-356A-3068-C6C997E129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1F786E-7786-BD7E-73D3-45E158A6BFD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9C192BA-4291-1E67-69F5-884D4258AAC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97459458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9D58B-677B-F28F-30C9-515B1691D0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BAB4D-03B8-7BC6-79C5-8B2A1F8998EA}"/>
              </a:ext>
            </a:extLst>
          </p:cNvPr>
          <p:cNvSpPr>
            <a:spLocks noGrp="1" noRot="1" noChangeAspect="1"/>
          </p:cNvSpPr>
          <p:nvPr>
            <p:ph type="sldImg"/>
          </p:nvPr>
        </p:nvSpPr>
        <p:spPr/>
        <p:txBody>
          <a:bodyPr/>
          <a:lstStyle/>
          <a:p>
            <a:endParaRPr lang="en-US"/>
          </a:p>
        </p:txBody>
      </p:sp>
      <p:sp>
        <p:nvSpPr>
          <p:cNvPr id="3" name="Notes Placeholder 2">
            <a:extLst>
              <a:ext uri="{FF2B5EF4-FFF2-40B4-BE49-F238E27FC236}">
                <a16:creationId xmlns:a16="http://schemas.microsoft.com/office/drawing/2014/main" id="{17BDF6EC-9E44-641A-5015-83AA29A1E5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7B4260-D4DD-668B-AB90-A8ACE727B0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2860119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0CD5F9-C84B-B043-63C4-02A0DECE0A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BA5975-F407-C32B-DC18-1E9CA62303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E901661-0FD1-2189-F3B2-A557533520A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D06154F-B8D5-DA83-69F9-7591F957CF8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33796628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4797E5-B34F-567A-5CF8-B00C343C94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CDC46C-D6B4-1CB8-25B0-890BFD09E2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6B66235-9774-4FE4-9AE5-7B744BFD4A6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3E01875-E82F-DC6D-ADE9-76433394DC0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416378843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962ED-C1D8-568D-5A95-283D48ABF2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E2EADD-5316-1448-D79D-D2E9C61DF79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E3E807-1D26-76F9-6B0B-93EA5BA67A8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C7555872-E82A-1CB6-836D-7AB40FEDD72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9B5D948F-A673-4DC7-A0E9-FA274EAF3634}" type="slidenum">
              <a:rPr kumimoji="0" lang="en-GB" sz="1200" b="0" i="0" u="none" strike="noStrike" kern="1200" cap="none" spc="0" normalizeH="0" baseline="0" noProof="0" smtClean="0">
                <a:ln>
                  <a:noFill/>
                </a:ln>
                <a:solidFill>
                  <a:prstClr val="black"/>
                </a:solidFill>
                <a:effectLst/>
                <a:uLnTx/>
                <a:uFillTx/>
                <a:latin typeface="Arial" panose="020B0604020202020204" pitchFamily="34" charset="0"/>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solidFill>
              <a:effectLst/>
              <a:uLnTx/>
              <a:uFillTx/>
              <a:latin typeface="Arial" panose="020B0604020202020204" pitchFamily="34" charset="0"/>
              <a:ea typeface="+mn-ea"/>
              <a:cs typeface="+mn-cs"/>
            </a:endParaRPr>
          </a:p>
        </p:txBody>
      </p:sp>
    </p:spTree>
    <p:extLst>
      <p:ext uri="{BB962C8B-B14F-4D97-AF65-F5344CB8AC3E}">
        <p14:creationId xmlns:p14="http://schemas.microsoft.com/office/powerpoint/2010/main" val="23180836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68F85A2-71E9-4686-B633-31C9649AC73A}"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368844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5DE353-8DF7-066F-6FCA-AFECE1090F2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79F8759-F5A3-4A52-6B13-697BC61293F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C8414B8-97D9-B897-CD21-BD488F7ED340}"/>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5" name="Footer Placeholder 4">
            <a:extLst>
              <a:ext uri="{FF2B5EF4-FFF2-40B4-BE49-F238E27FC236}">
                <a16:creationId xmlns:a16="http://schemas.microsoft.com/office/drawing/2014/main" id="{E30C879C-B160-2A05-9F51-907697D601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78F34C-3941-2608-8FD2-ECC62A54DF5C}"/>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15240498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9984D-B682-7BA5-DA57-D17FB07FC41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E1F5AB-F102-BE02-828A-969C6316608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B7BEB17-0FCD-A5EE-CAFE-4574778982E0}"/>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5" name="Footer Placeholder 4">
            <a:extLst>
              <a:ext uri="{FF2B5EF4-FFF2-40B4-BE49-F238E27FC236}">
                <a16:creationId xmlns:a16="http://schemas.microsoft.com/office/drawing/2014/main" id="{931A2A78-EB53-32C4-77D7-20B43D226C4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859394-E36C-26F7-736F-48DC86B87EBE}"/>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2692119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2EE81-21EC-534B-D181-5196056F270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D3AEAE3-57CE-58AB-8E2B-7561CF7A1DD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F2E3D7A-AD99-1B3B-9BFF-DDA28D9F3C96}"/>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5" name="Footer Placeholder 4">
            <a:extLst>
              <a:ext uri="{FF2B5EF4-FFF2-40B4-BE49-F238E27FC236}">
                <a16:creationId xmlns:a16="http://schemas.microsoft.com/office/drawing/2014/main" id="{18B48483-50B5-D74F-B3F9-65B2F425AE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C70704-C1D0-7A93-D8DE-7DF3496D015F}"/>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666887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40D2FD-AA19-1AF9-2CC5-B7EE8FC768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F3ECCCC-D8A9-4141-6B0C-74F3B953072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2325D9-4BEF-80B6-25D3-9A01F4169D4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CC577E-13BC-1124-39EF-C31F139A9837}"/>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6" name="Footer Placeholder 5">
            <a:extLst>
              <a:ext uri="{FF2B5EF4-FFF2-40B4-BE49-F238E27FC236}">
                <a16:creationId xmlns:a16="http://schemas.microsoft.com/office/drawing/2014/main" id="{8321F316-9D84-D8A4-F528-4FCD51A553B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83D026E-0329-292B-E961-FCB3EADF1210}"/>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29907544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15980-E901-0E24-57E0-7B141A32A3A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32FE2ED-4B7B-1442-3791-19CF6734C54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C7BE5F-9FE8-D977-4E2F-DAC563BFCE8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2D418DB-D36D-5E38-A4A0-15DC08A5966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A75CC70-8A55-4DFB-0CC1-B40734C39A9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7046B1E-47A3-5FEE-3A05-47C484BA4956}"/>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8" name="Footer Placeholder 7">
            <a:extLst>
              <a:ext uri="{FF2B5EF4-FFF2-40B4-BE49-F238E27FC236}">
                <a16:creationId xmlns:a16="http://schemas.microsoft.com/office/drawing/2014/main" id="{358066B3-D37F-37FC-C61E-9EC2439441B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D7E081-96D5-CCB9-2863-ED227FAFA141}"/>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16316370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CABC3-2371-A539-52A1-640D32483EF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C7BB50A-BBBD-15A9-1081-DEFEAD0920BD}"/>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4" name="Footer Placeholder 3">
            <a:extLst>
              <a:ext uri="{FF2B5EF4-FFF2-40B4-BE49-F238E27FC236}">
                <a16:creationId xmlns:a16="http://schemas.microsoft.com/office/drawing/2014/main" id="{309853CA-9C35-E1BD-D57C-FC0FE5EFAF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6B2A08E-603D-61B8-5849-A2D30D5B24DD}"/>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3813938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B68B423-DDAB-3468-C1DE-9B9AA466BC07}"/>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3" name="Footer Placeholder 2">
            <a:extLst>
              <a:ext uri="{FF2B5EF4-FFF2-40B4-BE49-F238E27FC236}">
                <a16:creationId xmlns:a16="http://schemas.microsoft.com/office/drawing/2014/main" id="{863C1660-E8A8-459F-9A3F-4DF3D5F3276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73D3839-2F15-E702-7043-AB434A44933C}"/>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586327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BA94CA-C12C-13F5-F219-D42FC841F48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2A9314D-7414-EA33-FE48-5901DF26B3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B080F06-D50B-756E-5A87-1F26F6A0CA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15523C-B843-C727-B568-332A8AD68C76}"/>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6" name="Footer Placeholder 5">
            <a:extLst>
              <a:ext uri="{FF2B5EF4-FFF2-40B4-BE49-F238E27FC236}">
                <a16:creationId xmlns:a16="http://schemas.microsoft.com/office/drawing/2014/main" id="{724EEB46-2C46-1A7D-E0B5-659F3BB007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53DCB0D-1C78-4108-D00C-6EE958F0C950}"/>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24911708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31384-0E31-DC4F-65E6-551A0A5AB91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08635DD-9F2D-FC09-B29E-F1C73D01EED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5132621-D68F-DABF-28C5-3CD965AA56D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02E7783-67FB-ECED-E719-469B84EEB092}"/>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6" name="Footer Placeholder 5">
            <a:extLst>
              <a:ext uri="{FF2B5EF4-FFF2-40B4-BE49-F238E27FC236}">
                <a16:creationId xmlns:a16="http://schemas.microsoft.com/office/drawing/2014/main" id="{95D23817-D375-9581-DBF7-F90F373698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3078AE5-2883-3168-1655-585333CCB324}"/>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196821251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6FBC0-A0DB-6310-E91E-AA99ED0B50F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1853779-907B-BE6B-440B-1C7815FC1A1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A04A4AF-0E59-EF4D-197F-2E13014EE410}"/>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5" name="Footer Placeholder 4">
            <a:extLst>
              <a:ext uri="{FF2B5EF4-FFF2-40B4-BE49-F238E27FC236}">
                <a16:creationId xmlns:a16="http://schemas.microsoft.com/office/drawing/2014/main" id="{8B75211B-2014-BD6C-F6CD-13A6D787E03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4E0CEBE-D76A-2ACC-B14C-75F233FBC17D}"/>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38981670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B29BEA-875E-3066-DF27-CBD609F4B95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6060B67-B26C-C236-CCF1-C94BD8491E2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36DF4C2-4313-79F9-0502-0F6AD9F9E2F8}"/>
              </a:ext>
            </a:extLst>
          </p:cNvPr>
          <p:cNvSpPr>
            <a:spLocks noGrp="1"/>
          </p:cNvSpPr>
          <p:nvPr>
            <p:ph type="dt" sz="half" idx="10"/>
          </p:nvPr>
        </p:nvSpPr>
        <p:spPr/>
        <p:txBody>
          <a:bodyPr/>
          <a:lstStyle/>
          <a:p>
            <a:fld id="{45285254-3C44-044A-8DA9-BBB58CD5DA66}" type="datetimeFigureOut">
              <a:rPr lang="en-US" smtClean="0"/>
              <a:t>5/11/26</a:t>
            </a:fld>
            <a:endParaRPr lang="en-US"/>
          </a:p>
        </p:txBody>
      </p:sp>
      <p:sp>
        <p:nvSpPr>
          <p:cNvPr id="5" name="Footer Placeholder 4">
            <a:extLst>
              <a:ext uri="{FF2B5EF4-FFF2-40B4-BE49-F238E27FC236}">
                <a16:creationId xmlns:a16="http://schemas.microsoft.com/office/drawing/2014/main" id="{A6D4AFF7-D554-B1D9-A8C6-290BB5C4CF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DCC1ED-5CB1-2A72-C411-54CD575A45EC}"/>
              </a:ext>
            </a:extLst>
          </p:cNvPr>
          <p:cNvSpPr>
            <a:spLocks noGrp="1"/>
          </p:cNvSpPr>
          <p:nvPr>
            <p:ph type="sldNum" sz="quarter" idx="12"/>
          </p:nvPr>
        </p:nvSpPr>
        <p:spPr/>
        <p:txBody>
          <a:bodyPr/>
          <a:lstStyle/>
          <a:p>
            <a:fld id="{AB145E65-A73B-A847-BD23-F352E161253B}" type="slidenum">
              <a:rPr lang="en-US" smtClean="0"/>
              <a:t>‹#›</a:t>
            </a:fld>
            <a:endParaRPr lang="en-US"/>
          </a:p>
        </p:txBody>
      </p:sp>
    </p:spTree>
    <p:extLst>
      <p:ext uri="{BB962C8B-B14F-4D97-AF65-F5344CB8AC3E}">
        <p14:creationId xmlns:p14="http://schemas.microsoft.com/office/powerpoint/2010/main" val="47314582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6" name="Textplatzhalter 14">
            <a:extLst>
              <a:ext uri="{FF2B5EF4-FFF2-40B4-BE49-F238E27FC236}">
                <a16:creationId xmlns:a16="http://schemas.microsoft.com/office/drawing/2014/main" id="{E49CAB7B-269E-DDEC-EB57-F6E418E91079}"/>
              </a:ext>
            </a:extLst>
          </p:cNvPr>
          <p:cNvSpPr>
            <a:spLocks noGrp="1"/>
          </p:cNvSpPr>
          <p:nvPr>
            <p:ph type="body" sz="quarter" idx="20" hasCustomPrompt="1"/>
          </p:nvPr>
        </p:nvSpPr>
        <p:spPr>
          <a:xfrm>
            <a:off x="502857" y="162444"/>
            <a:ext cx="11192256" cy="121990"/>
          </a:xfrm>
          <a:prstGeom prst="rect">
            <a:avLst/>
          </a:prstGeom>
        </p:spPr>
        <p:txBody>
          <a:bodyPr vert="horz" lIns="0" tIns="0" rIns="0" bIns="7200" anchor="b" anchorCtr="0"/>
          <a:lstStyle>
            <a:lvl1pPr>
              <a:lnSpc>
                <a:spcPts val="769"/>
              </a:lnSpc>
              <a:tabLst>
                <a:tab pos="105209" algn="l"/>
              </a:tabLst>
              <a:defRPr sz="700" b="0" i="0" cap="all" spc="47" baseline="0">
                <a:solidFill>
                  <a:srgbClr val="00338D"/>
                </a:solidFill>
                <a:latin typeface="+mn-lt"/>
              </a:defRPr>
            </a:lvl1pPr>
            <a:lvl2pPr>
              <a:defRPr sz="414">
                <a:solidFill>
                  <a:srgbClr val="FF00FF"/>
                </a:solidFill>
              </a:defRPr>
            </a:lvl2pPr>
            <a:lvl3pPr>
              <a:defRPr sz="414">
                <a:solidFill>
                  <a:srgbClr val="FF00FF"/>
                </a:solidFill>
              </a:defRPr>
            </a:lvl3pPr>
            <a:lvl4pPr>
              <a:defRPr sz="414">
                <a:solidFill>
                  <a:srgbClr val="FF00FF"/>
                </a:solidFill>
              </a:defRPr>
            </a:lvl4pPr>
            <a:lvl5pPr>
              <a:defRPr sz="414">
                <a:solidFill>
                  <a:srgbClr val="FF00FF"/>
                </a:solidFill>
              </a:defRPr>
            </a:lvl5pPr>
          </a:lstStyle>
          <a:p>
            <a:pPr lvl="0"/>
            <a:r>
              <a:rPr lang="en-GB" noProof="0"/>
              <a:t>Enter section title here</a:t>
            </a:r>
          </a:p>
        </p:txBody>
      </p:sp>
      <p:sp>
        <p:nvSpPr>
          <p:cNvPr id="8" name="Title 1">
            <a:extLst>
              <a:ext uri="{FF2B5EF4-FFF2-40B4-BE49-F238E27FC236}">
                <a16:creationId xmlns:a16="http://schemas.microsoft.com/office/drawing/2014/main" id="{AD8BF8FD-AC77-8FC7-AEA8-7A794286600F}"/>
              </a:ext>
            </a:extLst>
          </p:cNvPr>
          <p:cNvSpPr>
            <a:spLocks noGrp="1"/>
          </p:cNvSpPr>
          <p:nvPr>
            <p:ph type="title"/>
          </p:nvPr>
        </p:nvSpPr>
        <p:spPr>
          <a:xfrm>
            <a:off x="501520" y="441590"/>
            <a:ext cx="11192256" cy="701410"/>
          </a:xfrm>
          <a:prstGeom prst="rect">
            <a:avLst/>
          </a:prstGeom>
        </p:spPr>
        <p:txBody>
          <a:bodyPr/>
          <a:lstStyle/>
          <a:p>
            <a:r>
              <a:rPr lang="en-US"/>
              <a:t>Click to edit Master title style</a:t>
            </a:r>
            <a:endParaRPr lang="en-GB"/>
          </a:p>
        </p:txBody>
      </p:sp>
      <p:sp>
        <p:nvSpPr>
          <p:cNvPr id="4" name="Rectangle 3">
            <a:extLst>
              <a:ext uri="{FF2B5EF4-FFF2-40B4-BE49-F238E27FC236}">
                <a16:creationId xmlns:a16="http://schemas.microsoft.com/office/drawing/2014/main" id="{6E7B0691-240E-3285-4C04-F12E41E17811}"/>
              </a:ext>
            </a:extLst>
          </p:cNvPr>
          <p:cNvSpPr/>
          <p:nvPr userDrawn="1"/>
        </p:nvSpPr>
        <p:spPr>
          <a:xfrm>
            <a:off x="495300" y="349296"/>
            <a:ext cx="11192256" cy="27432"/>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100">
              <a:solidFill>
                <a:schemeClr val="tx1"/>
              </a:solidFill>
            </a:endParaRPr>
          </a:p>
        </p:txBody>
      </p:sp>
      <p:sp>
        <p:nvSpPr>
          <p:cNvPr id="2" name="TextBox 1">
            <a:extLst>
              <a:ext uri="{FF2B5EF4-FFF2-40B4-BE49-F238E27FC236}">
                <a16:creationId xmlns:a16="http://schemas.microsoft.com/office/drawing/2014/main" id="{F7A1665A-B2E3-5889-C7F7-8326637FB52B}"/>
              </a:ext>
            </a:extLst>
          </p:cNvPr>
          <p:cNvSpPr txBox="1"/>
          <p:nvPr userDrawn="1"/>
        </p:nvSpPr>
        <p:spPr>
          <a:xfrm>
            <a:off x="-391180" y="-178302"/>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Left border</a:t>
            </a:r>
          </a:p>
        </p:txBody>
      </p:sp>
      <p:sp>
        <p:nvSpPr>
          <p:cNvPr id="3" name="TextBox 2">
            <a:extLst>
              <a:ext uri="{FF2B5EF4-FFF2-40B4-BE49-F238E27FC236}">
                <a16:creationId xmlns:a16="http://schemas.microsoft.com/office/drawing/2014/main" id="{ED37E57E-F200-4258-16CB-0CD6451353FA}"/>
              </a:ext>
            </a:extLst>
          </p:cNvPr>
          <p:cNvSpPr txBox="1"/>
          <p:nvPr userDrawn="1"/>
        </p:nvSpPr>
        <p:spPr>
          <a:xfrm>
            <a:off x="-945974" y="319926"/>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Top Title height</a:t>
            </a:r>
          </a:p>
        </p:txBody>
      </p:sp>
      <p:sp>
        <p:nvSpPr>
          <p:cNvPr id="5" name="TextBox 4">
            <a:extLst>
              <a:ext uri="{FF2B5EF4-FFF2-40B4-BE49-F238E27FC236}">
                <a16:creationId xmlns:a16="http://schemas.microsoft.com/office/drawing/2014/main" id="{3CE1B2AC-1529-E437-9BC1-024CD20B7C31}"/>
              </a:ext>
            </a:extLst>
          </p:cNvPr>
          <p:cNvSpPr txBox="1"/>
          <p:nvPr userDrawn="1"/>
        </p:nvSpPr>
        <p:spPr>
          <a:xfrm>
            <a:off x="-935341" y="1031167"/>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Shoulder height A</a:t>
            </a:r>
          </a:p>
        </p:txBody>
      </p:sp>
      <p:sp>
        <p:nvSpPr>
          <p:cNvPr id="7" name="TextBox 6">
            <a:extLst>
              <a:ext uri="{FF2B5EF4-FFF2-40B4-BE49-F238E27FC236}">
                <a16:creationId xmlns:a16="http://schemas.microsoft.com/office/drawing/2014/main" id="{02E29A83-9F50-DABC-7F13-8849B16DFBAD}"/>
              </a:ext>
            </a:extLst>
          </p:cNvPr>
          <p:cNvSpPr txBox="1"/>
          <p:nvPr userDrawn="1"/>
        </p:nvSpPr>
        <p:spPr>
          <a:xfrm>
            <a:off x="-935341" y="1299568"/>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Shoulder mid</a:t>
            </a:r>
          </a:p>
        </p:txBody>
      </p:sp>
      <p:sp>
        <p:nvSpPr>
          <p:cNvPr id="9" name="TextBox 8">
            <a:extLst>
              <a:ext uri="{FF2B5EF4-FFF2-40B4-BE49-F238E27FC236}">
                <a16:creationId xmlns:a16="http://schemas.microsoft.com/office/drawing/2014/main" id="{8780A179-349C-1C54-3DB7-72789FB233CC}"/>
              </a:ext>
            </a:extLst>
          </p:cNvPr>
          <p:cNvSpPr txBox="1"/>
          <p:nvPr userDrawn="1"/>
        </p:nvSpPr>
        <p:spPr>
          <a:xfrm>
            <a:off x="-935341" y="1561421"/>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Shoulder height B</a:t>
            </a:r>
          </a:p>
        </p:txBody>
      </p:sp>
      <p:sp>
        <p:nvSpPr>
          <p:cNvPr id="10" name="TextBox 9">
            <a:extLst>
              <a:ext uri="{FF2B5EF4-FFF2-40B4-BE49-F238E27FC236}">
                <a16:creationId xmlns:a16="http://schemas.microsoft.com/office/drawing/2014/main" id="{C671C85F-1EB1-F320-C652-4E76A326A860}"/>
              </a:ext>
            </a:extLst>
          </p:cNvPr>
          <p:cNvSpPr txBox="1"/>
          <p:nvPr userDrawn="1"/>
        </p:nvSpPr>
        <p:spPr>
          <a:xfrm>
            <a:off x="-935341" y="4523917"/>
            <a:ext cx="886480" cy="364519"/>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Be sure to keep your content within the borders</a:t>
            </a:r>
          </a:p>
        </p:txBody>
      </p:sp>
      <p:sp>
        <p:nvSpPr>
          <p:cNvPr id="11" name="TextBox 10">
            <a:extLst>
              <a:ext uri="{FF2B5EF4-FFF2-40B4-BE49-F238E27FC236}">
                <a16:creationId xmlns:a16="http://schemas.microsoft.com/office/drawing/2014/main" id="{135BA61A-D63B-AB63-8192-18F3169B2150}"/>
              </a:ext>
            </a:extLst>
          </p:cNvPr>
          <p:cNvSpPr txBox="1"/>
          <p:nvPr userDrawn="1"/>
        </p:nvSpPr>
        <p:spPr>
          <a:xfrm>
            <a:off x="-935341" y="6121366"/>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Base A</a:t>
            </a:r>
          </a:p>
        </p:txBody>
      </p:sp>
      <p:sp>
        <p:nvSpPr>
          <p:cNvPr id="12" name="TextBox 11">
            <a:extLst>
              <a:ext uri="{FF2B5EF4-FFF2-40B4-BE49-F238E27FC236}">
                <a16:creationId xmlns:a16="http://schemas.microsoft.com/office/drawing/2014/main" id="{DF40E9BB-8356-4B03-3536-FADF7820C503}"/>
              </a:ext>
            </a:extLst>
          </p:cNvPr>
          <p:cNvSpPr txBox="1"/>
          <p:nvPr userDrawn="1"/>
        </p:nvSpPr>
        <p:spPr>
          <a:xfrm>
            <a:off x="-935341" y="6451622"/>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Page</a:t>
            </a:r>
          </a:p>
        </p:txBody>
      </p:sp>
      <p:sp>
        <p:nvSpPr>
          <p:cNvPr id="13" name="TextBox 12">
            <a:extLst>
              <a:ext uri="{FF2B5EF4-FFF2-40B4-BE49-F238E27FC236}">
                <a16:creationId xmlns:a16="http://schemas.microsoft.com/office/drawing/2014/main" id="{25DD732F-8097-AF38-556E-1C3FF502AD99}"/>
              </a:ext>
            </a:extLst>
          </p:cNvPr>
          <p:cNvSpPr txBox="1"/>
          <p:nvPr userDrawn="1"/>
        </p:nvSpPr>
        <p:spPr>
          <a:xfrm>
            <a:off x="-935341" y="5683056"/>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Base B</a:t>
            </a:r>
          </a:p>
        </p:txBody>
      </p:sp>
      <p:sp>
        <p:nvSpPr>
          <p:cNvPr id="14" name="TextBox 13">
            <a:extLst>
              <a:ext uri="{FF2B5EF4-FFF2-40B4-BE49-F238E27FC236}">
                <a16:creationId xmlns:a16="http://schemas.microsoft.com/office/drawing/2014/main" id="{3521A5FB-7CF2-36EA-6575-DF1443A8D899}"/>
              </a:ext>
            </a:extLst>
          </p:cNvPr>
          <p:cNvSpPr txBox="1"/>
          <p:nvPr userDrawn="1"/>
        </p:nvSpPr>
        <p:spPr>
          <a:xfrm>
            <a:off x="-935341" y="3401080"/>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Fold</a:t>
            </a:r>
          </a:p>
        </p:txBody>
      </p:sp>
      <p:sp>
        <p:nvSpPr>
          <p:cNvPr id="15" name="TextBox 14">
            <a:extLst>
              <a:ext uri="{FF2B5EF4-FFF2-40B4-BE49-F238E27FC236}">
                <a16:creationId xmlns:a16="http://schemas.microsoft.com/office/drawing/2014/main" id="{7A038E80-79BA-DDEC-A8CD-8F102D52CA0E}"/>
              </a:ext>
            </a:extLst>
          </p:cNvPr>
          <p:cNvSpPr txBox="1"/>
          <p:nvPr userDrawn="1"/>
        </p:nvSpPr>
        <p:spPr>
          <a:xfrm>
            <a:off x="-391180" y="6878015"/>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Left border</a:t>
            </a:r>
          </a:p>
        </p:txBody>
      </p:sp>
      <p:sp>
        <p:nvSpPr>
          <p:cNvPr id="16" name="TextBox 15">
            <a:extLst>
              <a:ext uri="{FF2B5EF4-FFF2-40B4-BE49-F238E27FC236}">
                <a16:creationId xmlns:a16="http://schemas.microsoft.com/office/drawing/2014/main" id="{D4D408C9-3465-2B8D-6105-B05115D40574}"/>
              </a:ext>
            </a:extLst>
          </p:cNvPr>
          <p:cNvSpPr txBox="1"/>
          <p:nvPr userDrawn="1"/>
        </p:nvSpPr>
        <p:spPr>
          <a:xfrm>
            <a:off x="12226902" y="319926"/>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Top Title height</a:t>
            </a:r>
          </a:p>
        </p:txBody>
      </p:sp>
      <p:sp>
        <p:nvSpPr>
          <p:cNvPr id="17" name="TextBox 16">
            <a:extLst>
              <a:ext uri="{FF2B5EF4-FFF2-40B4-BE49-F238E27FC236}">
                <a16:creationId xmlns:a16="http://schemas.microsoft.com/office/drawing/2014/main" id="{5119BCF9-052D-5498-C198-0AB88802BC48}"/>
              </a:ext>
            </a:extLst>
          </p:cNvPr>
          <p:cNvSpPr txBox="1"/>
          <p:nvPr userDrawn="1"/>
        </p:nvSpPr>
        <p:spPr>
          <a:xfrm>
            <a:off x="12226902" y="1031167"/>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Shoulder height A</a:t>
            </a:r>
          </a:p>
        </p:txBody>
      </p:sp>
      <p:sp>
        <p:nvSpPr>
          <p:cNvPr id="18" name="TextBox 17">
            <a:extLst>
              <a:ext uri="{FF2B5EF4-FFF2-40B4-BE49-F238E27FC236}">
                <a16:creationId xmlns:a16="http://schemas.microsoft.com/office/drawing/2014/main" id="{F47354DA-BAD9-75CF-8EBA-D4DBB1C70D2D}"/>
              </a:ext>
            </a:extLst>
          </p:cNvPr>
          <p:cNvSpPr txBox="1"/>
          <p:nvPr userDrawn="1"/>
        </p:nvSpPr>
        <p:spPr>
          <a:xfrm>
            <a:off x="12226902" y="1299568"/>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Shoulder mid</a:t>
            </a:r>
          </a:p>
        </p:txBody>
      </p:sp>
      <p:sp>
        <p:nvSpPr>
          <p:cNvPr id="19" name="TextBox 18">
            <a:extLst>
              <a:ext uri="{FF2B5EF4-FFF2-40B4-BE49-F238E27FC236}">
                <a16:creationId xmlns:a16="http://schemas.microsoft.com/office/drawing/2014/main" id="{14B60A8A-2C19-B5D4-64AF-34C124136D78}"/>
              </a:ext>
            </a:extLst>
          </p:cNvPr>
          <p:cNvSpPr txBox="1"/>
          <p:nvPr userDrawn="1"/>
        </p:nvSpPr>
        <p:spPr>
          <a:xfrm>
            <a:off x="12226902" y="1561421"/>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Shoulder height B</a:t>
            </a:r>
          </a:p>
        </p:txBody>
      </p:sp>
      <p:sp>
        <p:nvSpPr>
          <p:cNvPr id="20" name="TextBox 19">
            <a:extLst>
              <a:ext uri="{FF2B5EF4-FFF2-40B4-BE49-F238E27FC236}">
                <a16:creationId xmlns:a16="http://schemas.microsoft.com/office/drawing/2014/main" id="{BEFD7DF6-138E-CF47-64FE-D6CAACC14197}"/>
              </a:ext>
            </a:extLst>
          </p:cNvPr>
          <p:cNvSpPr txBox="1"/>
          <p:nvPr userDrawn="1"/>
        </p:nvSpPr>
        <p:spPr>
          <a:xfrm>
            <a:off x="12226902" y="4523917"/>
            <a:ext cx="886480" cy="364519"/>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Be sure to keep your content within the borders</a:t>
            </a:r>
          </a:p>
        </p:txBody>
      </p:sp>
      <p:sp>
        <p:nvSpPr>
          <p:cNvPr id="21" name="TextBox 20">
            <a:extLst>
              <a:ext uri="{FF2B5EF4-FFF2-40B4-BE49-F238E27FC236}">
                <a16:creationId xmlns:a16="http://schemas.microsoft.com/office/drawing/2014/main" id="{9F8AA2DF-2115-B4C4-D675-6DCA40618A97}"/>
              </a:ext>
            </a:extLst>
          </p:cNvPr>
          <p:cNvSpPr txBox="1"/>
          <p:nvPr userDrawn="1"/>
        </p:nvSpPr>
        <p:spPr>
          <a:xfrm>
            <a:off x="12226902" y="6163755"/>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Base A</a:t>
            </a:r>
          </a:p>
        </p:txBody>
      </p:sp>
      <p:sp>
        <p:nvSpPr>
          <p:cNvPr id="22" name="TextBox 21">
            <a:extLst>
              <a:ext uri="{FF2B5EF4-FFF2-40B4-BE49-F238E27FC236}">
                <a16:creationId xmlns:a16="http://schemas.microsoft.com/office/drawing/2014/main" id="{DA2F3B66-4615-92A5-602B-215BBAD43737}"/>
              </a:ext>
            </a:extLst>
          </p:cNvPr>
          <p:cNvSpPr txBox="1"/>
          <p:nvPr userDrawn="1"/>
        </p:nvSpPr>
        <p:spPr>
          <a:xfrm>
            <a:off x="12226902" y="6451622"/>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Page</a:t>
            </a:r>
          </a:p>
        </p:txBody>
      </p:sp>
      <p:sp>
        <p:nvSpPr>
          <p:cNvPr id="23" name="TextBox 22">
            <a:extLst>
              <a:ext uri="{FF2B5EF4-FFF2-40B4-BE49-F238E27FC236}">
                <a16:creationId xmlns:a16="http://schemas.microsoft.com/office/drawing/2014/main" id="{C7305664-B9A4-D7FA-B05D-48C3847107E3}"/>
              </a:ext>
            </a:extLst>
          </p:cNvPr>
          <p:cNvSpPr txBox="1"/>
          <p:nvPr userDrawn="1"/>
        </p:nvSpPr>
        <p:spPr>
          <a:xfrm>
            <a:off x="12226902" y="5700483"/>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Base B</a:t>
            </a:r>
          </a:p>
        </p:txBody>
      </p:sp>
      <p:sp>
        <p:nvSpPr>
          <p:cNvPr id="24" name="TextBox 23">
            <a:extLst>
              <a:ext uri="{FF2B5EF4-FFF2-40B4-BE49-F238E27FC236}">
                <a16:creationId xmlns:a16="http://schemas.microsoft.com/office/drawing/2014/main" id="{851065E0-3D55-F954-8434-FC9280C08BA2}"/>
              </a:ext>
            </a:extLst>
          </p:cNvPr>
          <p:cNvSpPr txBox="1"/>
          <p:nvPr userDrawn="1"/>
        </p:nvSpPr>
        <p:spPr>
          <a:xfrm>
            <a:off x="12226902" y="3401080"/>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Fold</a:t>
            </a:r>
          </a:p>
        </p:txBody>
      </p:sp>
      <p:sp>
        <p:nvSpPr>
          <p:cNvPr id="25" name="TextBox 24">
            <a:extLst>
              <a:ext uri="{FF2B5EF4-FFF2-40B4-BE49-F238E27FC236}">
                <a16:creationId xmlns:a16="http://schemas.microsoft.com/office/drawing/2014/main" id="{4A4C1F34-E8C2-FAED-ADC7-D21B0F07D1C9}"/>
              </a:ext>
            </a:extLst>
          </p:cNvPr>
          <p:cNvSpPr txBox="1"/>
          <p:nvPr userDrawn="1"/>
        </p:nvSpPr>
        <p:spPr>
          <a:xfrm>
            <a:off x="11727757" y="-178302"/>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Right border</a:t>
            </a:r>
          </a:p>
        </p:txBody>
      </p:sp>
      <p:sp>
        <p:nvSpPr>
          <p:cNvPr id="26" name="TextBox 25">
            <a:extLst>
              <a:ext uri="{FF2B5EF4-FFF2-40B4-BE49-F238E27FC236}">
                <a16:creationId xmlns:a16="http://schemas.microsoft.com/office/drawing/2014/main" id="{E039DE64-99AA-1421-A610-847D001DBE4E}"/>
              </a:ext>
            </a:extLst>
          </p:cNvPr>
          <p:cNvSpPr txBox="1"/>
          <p:nvPr userDrawn="1"/>
        </p:nvSpPr>
        <p:spPr>
          <a:xfrm>
            <a:off x="11727757" y="6878015"/>
            <a:ext cx="886480" cy="166554"/>
          </a:xfrm>
          <a:prstGeom prst="rect">
            <a:avLst/>
          </a:prstGeom>
        </p:spPr>
        <p:txBody>
          <a:bodyPr vert="horz" wrap="square" lIns="0" tIns="0" rIns="0" bIns="0" rtlCol="0" anchor="ctr" anchorCtr="0">
            <a:noAutofit/>
          </a:bodyPr>
          <a:lstStyle/>
          <a:p>
            <a:pPr algn="l">
              <a:spcAft>
                <a:spcPts val="601"/>
              </a:spcAft>
            </a:pPr>
            <a:r>
              <a:rPr lang="en-US" sz="700" b="0">
                <a:solidFill>
                  <a:schemeClr val="tx2"/>
                </a:solidFill>
              </a:rPr>
              <a:t>Right border</a:t>
            </a:r>
          </a:p>
        </p:txBody>
      </p:sp>
      <p:sp>
        <p:nvSpPr>
          <p:cNvPr id="27" name="TextBox 26">
            <a:extLst>
              <a:ext uri="{FF2B5EF4-FFF2-40B4-BE49-F238E27FC236}">
                <a16:creationId xmlns:a16="http://schemas.microsoft.com/office/drawing/2014/main" id="{2B30989C-3EBA-D884-2F70-F832111AFE84}"/>
              </a:ext>
            </a:extLst>
          </p:cNvPr>
          <p:cNvSpPr txBox="1"/>
          <p:nvPr userDrawn="1"/>
        </p:nvSpPr>
        <p:spPr>
          <a:xfrm>
            <a:off x="-935341" y="138008"/>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Super Title height</a:t>
            </a:r>
          </a:p>
        </p:txBody>
      </p:sp>
      <p:sp>
        <p:nvSpPr>
          <p:cNvPr id="28" name="TextBox 27">
            <a:extLst>
              <a:ext uri="{FF2B5EF4-FFF2-40B4-BE49-F238E27FC236}">
                <a16:creationId xmlns:a16="http://schemas.microsoft.com/office/drawing/2014/main" id="{CDD51FE2-55CA-CD82-CB19-56BF364E205A}"/>
              </a:ext>
            </a:extLst>
          </p:cNvPr>
          <p:cNvSpPr txBox="1"/>
          <p:nvPr userDrawn="1"/>
        </p:nvSpPr>
        <p:spPr>
          <a:xfrm>
            <a:off x="12028185" y="122036"/>
            <a:ext cx="886480" cy="166554"/>
          </a:xfrm>
          <a:prstGeom prst="rect">
            <a:avLst/>
          </a:prstGeom>
        </p:spPr>
        <p:txBody>
          <a:bodyPr vert="horz" wrap="square" lIns="0" tIns="0" rIns="0" bIns="0" rtlCol="0" anchor="ctr" anchorCtr="0">
            <a:noAutofit/>
          </a:bodyPr>
          <a:lstStyle/>
          <a:p>
            <a:pPr algn="r">
              <a:spcAft>
                <a:spcPts val="601"/>
              </a:spcAft>
            </a:pPr>
            <a:r>
              <a:rPr lang="en-US" sz="700" b="0">
                <a:solidFill>
                  <a:schemeClr val="tx2"/>
                </a:solidFill>
              </a:rPr>
              <a:t>Super Title height</a:t>
            </a:r>
          </a:p>
        </p:txBody>
      </p:sp>
    </p:spTree>
    <p:extLst>
      <p:ext uri="{BB962C8B-B14F-4D97-AF65-F5344CB8AC3E}">
        <p14:creationId xmlns:p14="http://schemas.microsoft.com/office/powerpoint/2010/main" val="32971203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One Column Text">
    <p:spTree>
      <p:nvGrpSpPr>
        <p:cNvPr id="1" name=""/>
        <p:cNvGrpSpPr/>
        <p:nvPr/>
      </p:nvGrpSpPr>
      <p:grpSpPr>
        <a:xfrm>
          <a:off x="0" y="0"/>
          <a:ext cx="0" cy="0"/>
          <a:chOff x="0" y="0"/>
          <a:chExt cx="0" cy="0"/>
        </a:xfrm>
      </p:grpSpPr>
      <p:sp>
        <p:nvSpPr>
          <p:cNvPr id="9" name="Text Placeholder 8"/>
          <p:cNvSpPr>
            <a:spLocks noGrp="1"/>
          </p:cNvSpPr>
          <p:nvPr>
            <p:ph type="body" sz="quarter" idx="10"/>
          </p:nvPr>
        </p:nvSpPr>
        <p:spPr>
          <a:xfrm>
            <a:off x="501927" y="1683026"/>
            <a:ext cx="11194773" cy="4193899"/>
          </a:xfrm>
          <a:prstGeom prst="rect">
            <a:avLst/>
          </a:prstGeom>
        </p:spPr>
        <p:txBody>
          <a:bodyPr/>
          <a:lstStyle>
            <a:lvl1pPr marL="0" indent="0">
              <a:buFont typeface="Arial" panose="020B0604020202020204" pitchFamily="34" charset="0"/>
              <a:buNone/>
              <a:defRPr sz="1200">
                <a:solidFill>
                  <a:srgbClr val="00338D"/>
                </a:solidFill>
              </a:defRPr>
            </a:lvl1pPr>
            <a:lvl2pPr marL="0" indent="0">
              <a:buFont typeface="Arial" panose="020B0604020202020204" pitchFamily="34" charset="0"/>
              <a:buNone/>
              <a:defRPr sz="1200">
                <a:solidFill>
                  <a:schemeClr val="tx1"/>
                </a:solidFill>
              </a:defRPr>
            </a:lvl2pPr>
            <a:lvl3pPr marL="180975" indent="-180975">
              <a:buFont typeface="Arial" panose="020B0604020202020204" pitchFamily="34" charset="0"/>
              <a:buChar char="•"/>
              <a:defRPr sz="1200">
                <a:solidFill>
                  <a:schemeClr val="tx1"/>
                </a:solidFill>
              </a:defRPr>
            </a:lvl3pPr>
            <a:lvl4pPr marL="361950" indent="-180975">
              <a:buFont typeface="Arial" panose="020B0604020202020204" pitchFamily="34" charset="0"/>
              <a:buChar char="•"/>
              <a:defRPr sz="1200">
                <a:solidFill>
                  <a:schemeClr val="tx1"/>
                </a:solidFill>
              </a:defRPr>
            </a:lvl4pPr>
            <a:lvl5pPr marL="542925" indent="-180975">
              <a:buFont typeface="Arial" panose="020B0604020202020204" pitchFamily="34" charset="0"/>
              <a:buChar char="•"/>
              <a:defRPr sz="12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Textplatzhalter 14">
            <a:extLst>
              <a:ext uri="{FF2B5EF4-FFF2-40B4-BE49-F238E27FC236}">
                <a16:creationId xmlns:a16="http://schemas.microsoft.com/office/drawing/2014/main" id="{E49CAB7B-269E-DDEC-EB57-F6E418E91079}"/>
              </a:ext>
            </a:extLst>
          </p:cNvPr>
          <p:cNvSpPr>
            <a:spLocks noGrp="1"/>
          </p:cNvSpPr>
          <p:nvPr>
            <p:ph type="body" sz="quarter" idx="20" hasCustomPrompt="1"/>
          </p:nvPr>
        </p:nvSpPr>
        <p:spPr>
          <a:xfrm>
            <a:off x="502857" y="162444"/>
            <a:ext cx="11192256" cy="121990"/>
          </a:xfrm>
          <a:prstGeom prst="rect">
            <a:avLst/>
          </a:prstGeom>
        </p:spPr>
        <p:txBody>
          <a:bodyPr vert="horz" lIns="0" tIns="0" rIns="0" bIns="7200" anchor="b" anchorCtr="0"/>
          <a:lstStyle>
            <a:lvl1pPr>
              <a:lnSpc>
                <a:spcPts val="769"/>
              </a:lnSpc>
              <a:tabLst>
                <a:tab pos="105209" algn="l"/>
              </a:tabLst>
              <a:defRPr sz="700" b="0" i="0" cap="all" spc="47" baseline="0">
                <a:solidFill>
                  <a:srgbClr val="00338D"/>
                </a:solidFill>
                <a:latin typeface="+mn-lt"/>
              </a:defRPr>
            </a:lvl1pPr>
            <a:lvl2pPr>
              <a:defRPr sz="414">
                <a:solidFill>
                  <a:srgbClr val="FF00FF"/>
                </a:solidFill>
              </a:defRPr>
            </a:lvl2pPr>
            <a:lvl3pPr>
              <a:defRPr sz="414">
                <a:solidFill>
                  <a:srgbClr val="FF00FF"/>
                </a:solidFill>
              </a:defRPr>
            </a:lvl3pPr>
            <a:lvl4pPr>
              <a:defRPr sz="414">
                <a:solidFill>
                  <a:srgbClr val="FF00FF"/>
                </a:solidFill>
              </a:defRPr>
            </a:lvl4pPr>
            <a:lvl5pPr>
              <a:defRPr sz="414">
                <a:solidFill>
                  <a:srgbClr val="FF00FF"/>
                </a:solidFill>
              </a:defRPr>
            </a:lvl5pPr>
          </a:lstStyle>
          <a:p>
            <a:pPr lvl="0"/>
            <a:r>
              <a:rPr lang="en-GB" noProof="0"/>
              <a:t>Enter section title here</a:t>
            </a:r>
          </a:p>
        </p:txBody>
      </p:sp>
      <p:sp>
        <p:nvSpPr>
          <p:cNvPr id="10" name="Rectangle 9">
            <a:extLst>
              <a:ext uri="{FF2B5EF4-FFF2-40B4-BE49-F238E27FC236}">
                <a16:creationId xmlns:a16="http://schemas.microsoft.com/office/drawing/2014/main" id="{20E14FCA-560F-863D-890C-753D6CB33AA7}"/>
              </a:ext>
            </a:extLst>
          </p:cNvPr>
          <p:cNvSpPr/>
          <p:nvPr userDrawn="1"/>
        </p:nvSpPr>
        <p:spPr>
          <a:xfrm>
            <a:off x="495300" y="349296"/>
            <a:ext cx="11192256" cy="27432"/>
          </a:xfrm>
          <a:prstGeom prst="rect">
            <a:avLst/>
          </a:prstGeom>
          <a:solidFill>
            <a:srgbClr val="1E49E2"/>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100">
              <a:solidFill>
                <a:schemeClr val="tx1"/>
              </a:solidFill>
            </a:endParaRPr>
          </a:p>
        </p:txBody>
      </p:sp>
    </p:spTree>
    <p:extLst>
      <p:ext uri="{BB962C8B-B14F-4D97-AF65-F5344CB8AC3E}">
        <p14:creationId xmlns:p14="http://schemas.microsoft.com/office/powerpoint/2010/main" val="6144911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8C8BDC2-BEB4-783D-6CFE-3A5B3DC5514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9D3926D7-1520-0E8D-B9BA-C5E7AB2E2E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1C58107-8443-1A84-DDB6-337ED35112B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45285254-3C44-044A-8DA9-BBB58CD5DA66}" type="datetimeFigureOut">
              <a:rPr lang="en-US" smtClean="0"/>
              <a:t>5/11/26</a:t>
            </a:fld>
            <a:endParaRPr lang="en-US"/>
          </a:p>
        </p:txBody>
      </p:sp>
      <p:sp>
        <p:nvSpPr>
          <p:cNvPr id="5" name="Footer Placeholder 4">
            <a:extLst>
              <a:ext uri="{FF2B5EF4-FFF2-40B4-BE49-F238E27FC236}">
                <a16:creationId xmlns:a16="http://schemas.microsoft.com/office/drawing/2014/main" id="{9F584CA9-739E-0DD9-983D-22C0316609D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8A1545AA-E05C-C0CB-3ED3-5DB0D8CD5B6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145E65-A73B-A847-BD23-F352E161253B}" type="slidenum">
              <a:rPr lang="en-US" smtClean="0"/>
              <a:t>‹#›</a:t>
            </a:fld>
            <a:endParaRPr lang="en-US"/>
          </a:p>
        </p:txBody>
      </p:sp>
    </p:spTree>
    <p:extLst>
      <p:ext uri="{BB962C8B-B14F-4D97-AF65-F5344CB8AC3E}">
        <p14:creationId xmlns:p14="http://schemas.microsoft.com/office/powerpoint/2010/main" val="401873701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3"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2.svg"/><Relationship Id="rId3" Type="http://schemas.openxmlformats.org/officeDocument/2006/relationships/tags" Target="../tags/tag3.xml"/><Relationship Id="rId7" Type="http://schemas.openxmlformats.org/officeDocument/2006/relationships/image" Target="../media/image1.emf"/><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oleObject" Target="../embeddings/oleObject1.bin"/><Relationship Id="rId5" Type="http://schemas.openxmlformats.org/officeDocument/2006/relationships/notesSlide" Target="../notesSlides/notesSlide1.xml"/><Relationship Id="rId10" Type="http://schemas.openxmlformats.org/officeDocument/2006/relationships/image" Target="../media/image4.svg"/><Relationship Id="rId4" Type="http://schemas.openxmlformats.org/officeDocument/2006/relationships/slideLayout" Target="../slideLayouts/slideLayout12.xml"/><Relationship Id="rId9" Type="http://schemas.openxmlformats.org/officeDocument/2006/relationships/image" Target="../media/image3.svg"/></Relationships>
</file>

<file path=ppt/slides/_rels/slide3.xml.rels><?xml version="1.0" encoding="UTF-8" standalone="yes"?>
<Relationships xmlns="http://schemas.openxmlformats.org/package/2006/relationships"><Relationship Id="rId8" Type="http://schemas.openxmlformats.org/officeDocument/2006/relationships/image" Target="../media/image7.svg"/><Relationship Id="rId3" Type="http://schemas.openxmlformats.org/officeDocument/2006/relationships/notesSlide" Target="../notesSlides/notesSlide2.xml"/><Relationship Id="rId7" Type="http://schemas.openxmlformats.org/officeDocument/2006/relationships/image" Target="../media/image6.svg"/><Relationship Id="rId2" Type="http://schemas.openxmlformats.org/officeDocument/2006/relationships/slideLayout" Target="../slideLayouts/slideLayout12.xml"/><Relationship Id="rId1" Type="http://schemas.openxmlformats.org/officeDocument/2006/relationships/tags" Target="../tags/tag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bin"/><Relationship Id="rId9" Type="http://schemas.openxmlformats.org/officeDocument/2006/relationships/image" Target="../media/image8.svg"/></Relationships>
</file>

<file path=ppt/slides/_rels/slide4.xml.rels><?xml version="1.0" encoding="UTF-8" standalone="yes"?>
<Relationships xmlns="http://schemas.openxmlformats.org/package/2006/relationships"><Relationship Id="rId8" Type="http://schemas.openxmlformats.org/officeDocument/2006/relationships/tags" Target="../tags/tag12.xml"/><Relationship Id="rId13" Type="http://schemas.openxmlformats.org/officeDocument/2006/relationships/tags" Target="../tags/tag17.xml"/><Relationship Id="rId18" Type="http://schemas.openxmlformats.org/officeDocument/2006/relationships/tags" Target="../tags/tag22.xml"/><Relationship Id="rId26" Type="http://schemas.openxmlformats.org/officeDocument/2006/relationships/chart" Target="../charts/chart1.xml"/><Relationship Id="rId3" Type="http://schemas.openxmlformats.org/officeDocument/2006/relationships/tags" Target="../tags/tag7.xml"/><Relationship Id="rId21" Type="http://schemas.openxmlformats.org/officeDocument/2006/relationships/tags" Target="../tags/tag25.xml"/><Relationship Id="rId7" Type="http://schemas.openxmlformats.org/officeDocument/2006/relationships/tags" Target="../tags/tag11.xml"/><Relationship Id="rId12" Type="http://schemas.openxmlformats.org/officeDocument/2006/relationships/tags" Target="../tags/tag16.xml"/><Relationship Id="rId17" Type="http://schemas.openxmlformats.org/officeDocument/2006/relationships/tags" Target="../tags/tag21.xml"/><Relationship Id="rId25" Type="http://schemas.openxmlformats.org/officeDocument/2006/relationships/image" Target="../media/image1.emf"/><Relationship Id="rId2" Type="http://schemas.openxmlformats.org/officeDocument/2006/relationships/tags" Target="../tags/tag6.xml"/><Relationship Id="rId16" Type="http://schemas.openxmlformats.org/officeDocument/2006/relationships/tags" Target="../tags/tag20.xml"/><Relationship Id="rId20" Type="http://schemas.openxmlformats.org/officeDocument/2006/relationships/tags" Target="../tags/tag24.xml"/><Relationship Id="rId1" Type="http://schemas.openxmlformats.org/officeDocument/2006/relationships/tags" Target="../tags/tag5.xml"/><Relationship Id="rId6" Type="http://schemas.openxmlformats.org/officeDocument/2006/relationships/tags" Target="../tags/tag10.xml"/><Relationship Id="rId11" Type="http://schemas.openxmlformats.org/officeDocument/2006/relationships/tags" Target="../tags/tag15.xml"/><Relationship Id="rId24" Type="http://schemas.openxmlformats.org/officeDocument/2006/relationships/oleObject" Target="../embeddings/oleObject3.bin"/><Relationship Id="rId5" Type="http://schemas.openxmlformats.org/officeDocument/2006/relationships/tags" Target="../tags/tag9.xml"/><Relationship Id="rId15" Type="http://schemas.openxmlformats.org/officeDocument/2006/relationships/tags" Target="../tags/tag19.xml"/><Relationship Id="rId23" Type="http://schemas.openxmlformats.org/officeDocument/2006/relationships/notesSlide" Target="../notesSlides/notesSlide3.xml"/><Relationship Id="rId10" Type="http://schemas.openxmlformats.org/officeDocument/2006/relationships/tags" Target="../tags/tag14.xml"/><Relationship Id="rId19" Type="http://schemas.openxmlformats.org/officeDocument/2006/relationships/tags" Target="../tags/tag23.xml"/><Relationship Id="rId4" Type="http://schemas.openxmlformats.org/officeDocument/2006/relationships/tags" Target="../tags/tag8.xml"/><Relationship Id="rId9" Type="http://schemas.openxmlformats.org/officeDocument/2006/relationships/tags" Target="../tags/tag13.xml"/><Relationship Id="rId14" Type="http://schemas.openxmlformats.org/officeDocument/2006/relationships/tags" Target="../tags/tag18.xml"/><Relationship Id="rId22" Type="http://schemas.openxmlformats.org/officeDocument/2006/relationships/slideLayout" Target="../slideLayouts/slideLayout12.xml"/><Relationship Id="rId27"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2.xml"/><Relationship Id="rId1" Type="http://schemas.openxmlformats.org/officeDocument/2006/relationships/tags" Target="../tags/tag26.xml"/><Relationship Id="rId5" Type="http://schemas.openxmlformats.org/officeDocument/2006/relationships/image" Target="../media/image1.emf"/><Relationship Id="rId4" Type="http://schemas.openxmlformats.org/officeDocument/2006/relationships/oleObject" Target="../embeddings/oleObject4.bin"/></Relationships>
</file>

<file path=ppt/slides/_rels/slide6.xml.rels><?xml version="1.0" encoding="UTF-8" standalone="yes"?>
<Relationships xmlns="http://schemas.openxmlformats.org/package/2006/relationships"><Relationship Id="rId8" Type="http://schemas.openxmlformats.org/officeDocument/2006/relationships/tags" Target="../tags/tag34.xml"/><Relationship Id="rId13" Type="http://schemas.openxmlformats.org/officeDocument/2006/relationships/slideLayout" Target="../slideLayouts/slideLayout12.xml"/><Relationship Id="rId18" Type="http://schemas.openxmlformats.org/officeDocument/2006/relationships/image" Target="../media/image9.svg"/><Relationship Id="rId3" Type="http://schemas.openxmlformats.org/officeDocument/2006/relationships/tags" Target="../tags/tag29.xml"/><Relationship Id="rId21" Type="http://schemas.openxmlformats.org/officeDocument/2006/relationships/image" Target="../media/image12.svg"/><Relationship Id="rId7" Type="http://schemas.openxmlformats.org/officeDocument/2006/relationships/tags" Target="../tags/tag33.xml"/><Relationship Id="rId12" Type="http://schemas.openxmlformats.org/officeDocument/2006/relationships/tags" Target="../tags/tag38.xml"/><Relationship Id="rId17" Type="http://schemas.openxmlformats.org/officeDocument/2006/relationships/chart" Target="../charts/chart3.xml"/><Relationship Id="rId2" Type="http://schemas.openxmlformats.org/officeDocument/2006/relationships/tags" Target="../tags/tag28.xml"/><Relationship Id="rId16" Type="http://schemas.openxmlformats.org/officeDocument/2006/relationships/image" Target="../media/image1.emf"/><Relationship Id="rId20" Type="http://schemas.openxmlformats.org/officeDocument/2006/relationships/image" Target="../media/image11.svg"/><Relationship Id="rId1" Type="http://schemas.openxmlformats.org/officeDocument/2006/relationships/tags" Target="../tags/tag27.xml"/><Relationship Id="rId6" Type="http://schemas.openxmlformats.org/officeDocument/2006/relationships/tags" Target="../tags/tag32.xml"/><Relationship Id="rId11" Type="http://schemas.openxmlformats.org/officeDocument/2006/relationships/tags" Target="../tags/tag37.xml"/><Relationship Id="rId5" Type="http://schemas.openxmlformats.org/officeDocument/2006/relationships/tags" Target="../tags/tag31.xml"/><Relationship Id="rId15" Type="http://schemas.openxmlformats.org/officeDocument/2006/relationships/oleObject" Target="../embeddings/oleObject5.bin"/><Relationship Id="rId10" Type="http://schemas.openxmlformats.org/officeDocument/2006/relationships/tags" Target="../tags/tag36.xml"/><Relationship Id="rId19" Type="http://schemas.openxmlformats.org/officeDocument/2006/relationships/image" Target="../media/image10.svg"/><Relationship Id="rId4" Type="http://schemas.openxmlformats.org/officeDocument/2006/relationships/tags" Target="../tags/tag30.xml"/><Relationship Id="rId9" Type="http://schemas.openxmlformats.org/officeDocument/2006/relationships/tags" Target="../tags/tag35.xml"/><Relationship Id="rId14"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8" Type="http://schemas.openxmlformats.org/officeDocument/2006/relationships/tags" Target="../tags/tag46.xml"/><Relationship Id="rId13" Type="http://schemas.openxmlformats.org/officeDocument/2006/relationships/slideLayout" Target="../slideLayouts/slideLayout12.xml"/><Relationship Id="rId18" Type="http://schemas.openxmlformats.org/officeDocument/2006/relationships/chart" Target="../charts/chart5.xml"/><Relationship Id="rId3" Type="http://schemas.openxmlformats.org/officeDocument/2006/relationships/tags" Target="../tags/tag41.xml"/><Relationship Id="rId7" Type="http://schemas.openxmlformats.org/officeDocument/2006/relationships/tags" Target="../tags/tag45.xml"/><Relationship Id="rId12" Type="http://schemas.openxmlformats.org/officeDocument/2006/relationships/tags" Target="../tags/tag50.xml"/><Relationship Id="rId17" Type="http://schemas.openxmlformats.org/officeDocument/2006/relationships/chart" Target="../charts/chart4.xml"/><Relationship Id="rId2" Type="http://schemas.openxmlformats.org/officeDocument/2006/relationships/tags" Target="../tags/tag40.xml"/><Relationship Id="rId16" Type="http://schemas.openxmlformats.org/officeDocument/2006/relationships/image" Target="../media/image1.emf"/><Relationship Id="rId1" Type="http://schemas.openxmlformats.org/officeDocument/2006/relationships/tags" Target="../tags/tag39.xml"/><Relationship Id="rId6" Type="http://schemas.openxmlformats.org/officeDocument/2006/relationships/tags" Target="../tags/tag44.xml"/><Relationship Id="rId11" Type="http://schemas.openxmlformats.org/officeDocument/2006/relationships/tags" Target="../tags/tag49.xml"/><Relationship Id="rId5" Type="http://schemas.openxmlformats.org/officeDocument/2006/relationships/tags" Target="../tags/tag43.xml"/><Relationship Id="rId15" Type="http://schemas.openxmlformats.org/officeDocument/2006/relationships/oleObject" Target="../embeddings/oleObject6.bin"/><Relationship Id="rId10" Type="http://schemas.openxmlformats.org/officeDocument/2006/relationships/tags" Target="../tags/tag48.xml"/><Relationship Id="rId19" Type="http://schemas.openxmlformats.org/officeDocument/2006/relationships/chart" Target="../charts/chart6.xml"/><Relationship Id="rId4" Type="http://schemas.openxmlformats.org/officeDocument/2006/relationships/tags" Target="../tags/tag42.xml"/><Relationship Id="rId9" Type="http://schemas.openxmlformats.org/officeDocument/2006/relationships/tags" Target="../tags/tag47.xml"/><Relationship Id="rId14"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12.xml"/><Relationship Id="rId1" Type="http://schemas.openxmlformats.org/officeDocument/2006/relationships/tags" Target="../tags/tag51.xml"/><Relationship Id="rId5" Type="http://schemas.openxmlformats.org/officeDocument/2006/relationships/image" Target="../media/image1.emf"/><Relationship Id="rId4" Type="http://schemas.openxmlformats.org/officeDocument/2006/relationships/oleObject" Target="../embeddings/oleObject7.bin"/></Relationships>
</file>

<file path=ppt/slides/_rels/slide9.xml.rels><?xml version="1.0" encoding="UTF-8" standalone="yes"?>
<Relationships xmlns="http://schemas.openxmlformats.org/package/2006/relationships"><Relationship Id="rId8" Type="http://schemas.openxmlformats.org/officeDocument/2006/relationships/tags" Target="../tags/tag59.xml"/><Relationship Id="rId13" Type="http://schemas.openxmlformats.org/officeDocument/2006/relationships/image" Target="../media/image13.emf"/><Relationship Id="rId3" Type="http://schemas.openxmlformats.org/officeDocument/2006/relationships/tags" Target="../tags/tag54.xml"/><Relationship Id="rId7" Type="http://schemas.openxmlformats.org/officeDocument/2006/relationships/tags" Target="../tags/tag58.xml"/><Relationship Id="rId12" Type="http://schemas.openxmlformats.org/officeDocument/2006/relationships/oleObject" Target="../embeddings/oleObject8.bin"/><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tags" Target="../tags/tag57.xml"/><Relationship Id="rId11" Type="http://schemas.openxmlformats.org/officeDocument/2006/relationships/notesSlide" Target="../notesSlides/notesSlide8.xml"/><Relationship Id="rId5" Type="http://schemas.openxmlformats.org/officeDocument/2006/relationships/tags" Target="../tags/tag56.xml"/><Relationship Id="rId10" Type="http://schemas.openxmlformats.org/officeDocument/2006/relationships/slideLayout" Target="../slideLayouts/slideLayout12.xml"/><Relationship Id="rId4" Type="http://schemas.openxmlformats.org/officeDocument/2006/relationships/tags" Target="../tags/tag55.xml"/><Relationship Id="rId9" Type="http://schemas.openxmlformats.org/officeDocument/2006/relationships/tags" Target="../tags/tag60.xml"/><Relationship Id="rId14" Type="http://schemas.openxmlformats.org/officeDocument/2006/relationships/chart" Target="../charts/chart7.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3.xml"/><Relationship Id="rId1" Type="http://schemas.openxmlformats.org/officeDocument/2006/relationships/tags" Target="../tags/tag61.xml"/><Relationship Id="rId4" Type="http://schemas.openxmlformats.org/officeDocument/2006/relationships/image" Target="../media/image14.e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3A5479"/>
        </a:solid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009485E4-7873-E3D1-AF32-BFCEFBC77146}"/>
              </a:ext>
            </a:extLst>
          </p:cNvPr>
          <p:cNvSpPr txBox="1">
            <a:spLocks/>
          </p:cNvSpPr>
          <p:nvPr/>
        </p:nvSpPr>
        <p:spPr>
          <a:xfrm>
            <a:off x="1524000" y="1122363"/>
            <a:ext cx="9144000" cy="3063240"/>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sz="6600" i="1" dirty="0">
                <a:solidFill>
                  <a:schemeClr val="bg1"/>
                </a:solidFill>
                <a:latin typeface="Calibri" panose="020F0502020204030204" pitchFamily="34" charset="0"/>
                <a:cs typeface="Calibri" panose="020F0502020204030204" pitchFamily="34" charset="0"/>
              </a:rPr>
              <a:t>BEAD Deployment: State of Michigan </a:t>
            </a:r>
          </a:p>
        </p:txBody>
      </p:sp>
      <p:sp>
        <p:nvSpPr>
          <p:cNvPr id="5" name="TextBox 4">
            <a:extLst>
              <a:ext uri="{FF2B5EF4-FFF2-40B4-BE49-F238E27FC236}">
                <a16:creationId xmlns:a16="http://schemas.microsoft.com/office/drawing/2014/main" id="{6A3365B8-D517-B9DB-ED96-0750E81C9C58}"/>
              </a:ext>
            </a:extLst>
          </p:cNvPr>
          <p:cNvSpPr txBox="1"/>
          <p:nvPr/>
        </p:nvSpPr>
        <p:spPr>
          <a:xfrm>
            <a:off x="3799602" y="3851846"/>
            <a:ext cx="4214846" cy="1536192"/>
          </a:xfrm>
          <a:prstGeom prst="rect">
            <a:avLst/>
          </a:prstGeom>
        </p:spPr>
        <p:txBody>
          <a:bodyPr>
            <a:normAutofit/>
          </a:bodyPr>
          <a:lstStyle/>
          <a:p>
            <a:pPr>
              <a:spcAft>
                <a:spcPts val="600"/>
              </a:spcAft>
            </a:pPr>
            <a:r>
              <a:rPr lang="en-US" dirty="0">
                <a:solidFill>
                  <a:schemeClr val="bg1"/>
                </a:solidFill>
                <a:latin typeface="Calibri" panose="020F0502020204030204" pitchFamily="34" charset="0"/>
                <a:ea typeface="+mj-ea"/>
                <a:cs typeface="Calibri" panose="020F0502020204030204" pitchFamily="34" charset="0"/>
              </a:rPr>
              <a:t>Assessment of Supply Chain and Workforce</a:t>
            </a:r>
            <a:endParaRPr lang="de-DE"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08419632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A7DC33-3A42-B882-0D99-74D660B12D9B}"/>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7851D9A0-03EB-343E-3B8F-5EBE3EACF22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416" imgH="416" progId="TCLayout.ActiveDocument.1">
                  <p:embed/>
                </p:oleObj>
              </mc:Choice>
              <mc:Fallback>
                <p:oleObj name="think-cell Slide" r:id="rId6" imgW="416" imgH="416" progId="TCLayout.ActiveDocument.1">
                  <p:embed/>
                  <p:pic>
                    <p:nvPicPr>
                      <p:cNvPr id="4" name="Object 3" hidden="1">
                        <a:extLst>
                          <a:ext uri="{FF2B5EF4-FFF2-40B4-BE49-F238E27FC236}">
                            <a16:creationId xmlns:a16="http://schemas.microsoft.com/office/drawing/2014/main" id="{7851D9A0-03EB-343E-3B8F-5EBE3EACF222}"/>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17" name="Title 16">
            <a:extLst>
              <a:ext uri="{FF2B5EF4-FFF2-40B4-BE49-F238E27FC236}">
                <a16:creationId xmlns:a16="http://schemas.microsoft.com/office/drawing/2014/main" id="{F650EB02-EC14-5EE1-E13E-C251141E59A9}"/>
              </a:ext>
            </a:extLst>
          </p:cNvPr>
          <p:cNvSpPr>
            <a:spLocks noGrp="1"/>
          </p:cNvSpPr>
          <p:nvPr>
            <p:ph type="title"/>
          </p:nvPr>
        </p:nvSpPr>
        <p:spPr>
          <a:xfrm>
            <a:off x="498224" y="472167"/>
            <a:ext cx="11580769" cy="701410"/>
          </a:xfrm>
        </p:spPr>
        <p:txBody>
          <a:bodyPr vert="horz">
            <a:noAutofit/>
          </a:bodyPr>
          <a:lstStyle/>
          <a:p>
            <a:r>
              <a:rPr lang="en-US" sz="2800" dirty="0">
                <a:solidFill>
                  <a:srgbClr val="00338D"/>
                </a:solidFill>
                <a:latin typeface="Calibri" panose="020F0502020204030204" pitchFamily="34" charset="0"/>
                <a:cs typeface="Calibri" panose="020F0502020204030204" pitchFamily="34" charset="0"/>
              </a:rPr>
              <a:t>Understanding Core Challenges to Effectively Administer Michigan’s BEAD Deployment</a:t>
            </a:r>
            <a:endParaRPr lang="en-US" sz="2800" dirty="0">
              <a:solidFill>
                <a:schemeClr val="tx1"/>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A53BCDC2-D5F8-64CC-3663-5DDE8CEA2C16}"/>
              </a:ext>
            </a:extLst>
          </p:cNvPr>
          <p:cNvSpPr txBox="1">
            <a:spLocks/>
          </p:cNvSpPr>
          <p:nvPr/>
        </p:nvSpPr>
        <p:spPr>
          <a:xfrm>
            <a:off x="401161" y="-101601"/>
            <a:ext cx="11658600" cy="5334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0" i="0" u="none" strike="noStrike" kern="1200" cap="none" spc="0" normalizeH="0" baseline="0" noProof="0">
              <a:ln>
                <a:noFill/>
              </a:ln>
              <a:solidFill>
                <a:srgbClr val="00338D"/>
              </a:solidFill>
              <a:effectLst/>
              <a:uLnTx/>
              <a:uFillTx/>
              <a:latin typeface="KPMG Bold" panose="020B0803030202040204" pitchFamily="34" charset="0"/>
              <a:ea typeface="+mj-ea"/>
              <a:cs typeface="Arial" panose="020B0604020202020204" pitchFamily="34" charset="0"/>
            </a:endParaRPr>
          </a:p>
        </p:txBody>
      </p:sp>
      <p:sp>
        <p:nvSpPr>
          <p:cNvPr id="16" name="Text Placeholder 15">
            <a:extLst>
              <a:ext uri="{FF2B5EF4-FFF2-40B4-BE49-F238E27FC236}">
                <a16:creationId xmlns:a16="http://schemas.microsoft.com/office/drawing/2014/main" id="{ED3B2922-E239-6067-AD49-E86CD41F3606}"/>
              </a:ext>
            </a:extLst>
          </p:cNvPr>
          <p:cNvSpPr>
            <a:spLocks noGrp="1"/>
          </p:cNvSpPr>
          <p:nvPr>
            <p:ph type="body" sz="quarter" idx="20"/>
          </p:nvPr>
        </p:nvSpPr>
        <p:spPr/>
        <p:txBody>
          <a:bodyPr/>
          <a:lstStyle/>
          <a:p>
            <a:r>
              <a:rPr lang="en-US"/>
              <a:t>State of Michigan: Bead Deployment</a:t>
            </a:r>
          </a:p>
        </p:txBody>
      </p:sp>
      <p:grpSp>
        <p:nvGrpSpPr>
          <p:cNvPr id="2" name="Subtitle [Placeholder]">
            <a:extLst>
              <a:ext uri="{FF2B5EF4-FFF2-40B4-BE49-F238E27FC236}">
                <a16:creationId xmlns:a16="http://schemas.microsoft.com/office/drawing/2014/main" id="{F6656120-F694-9832-0545-FEF27B064F05}"/>
              </a:ext>
            </a:extLst>
          </p:cNvPr>
          <p:cNvGrpSpPr>
            <a:grpSpLocks/>
          </p:cNvGrpSpPr>
          <p:nvPr/>
        </p:nvGrpSpPr>
        <p:grpSpPr bwMode="auto">
          <a:xfrm>
            <a:off x="486252" y="-4704976"/>
            <a:ext cx="3559125" cy="231"/>
            <a:chOff x="902" y="1518"/>
            <a:chExt cx="4812" cy="231"/>
          </a:xfrm>
        </p:grpSpPr>
        <p:sp>
          <p:nvSpPr>
            <p:cNvPr id="3" name="Line 56">
              <a:extLst>
                <a:ext uri="{FF2B5EF4-FFF2-40B4-BE49-F238E27FC236}">
                  <a16:creationId xmlns:a16="http://schemas.microsoft.com/office/drawing/2014/main" id="{08D3E073-2DFC-1835-7E45-6D8B364B4125}"/>
                </a:ext>
              </a:extLst>
            </p:cNvPr>
            <p:cNvSpPr>
              <a:spLocks noChangeShapeType="1"/>
            </p:cNvSpPr>
            <p:nvPr>
              <p:custDataLst>
                <p:tags r:id="rId2"/>
              </p:custDataLst>
            </p:nvPr>
          </p:nvSpPr>
          <p:spPr bwMode="gray">
            <a:xfrm>
              <a:off x="902" y="1749"/>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6" name="Text Box 57">
              <a:extLst>
                <a:ext uri="{FF2B5EF4-FFF2-40B4-BE49-F238E27FC236}">
                  <a16:creationId xmlns:a16="http://schemas.microsoft.com/office/drawing/2014/main" id="{6CE12042-67E6-59E2-C6E2-74D02134AB9F}"/>
                </a:ext>
              </a:extLst>
            </p:cNvPr>
            <p:cNvSpPr txBox="1">
              <a:spLocks noChangeArrowheads="1"/>
            </p:cNvSpPr>
            <p:nvPr>
              <p:custDataLst>
                <p:tags r:id="rId3"/>
              </p:custDataLst>
            </p:nvPr>
          </p:nvSpPr>
          <p:spPr bwMode="gray">
            <a:xfrm>
              <a:off x="902" y="1518"/>
              <a:ext cx="4810" cy="1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338D"/>
                  </a:solidFill>
                  <a:effectLst/>
                  <a:uLnTx/>
                  <a:uFillTx/>
                  <a:latin typeface="Arial" panose="020B0604020202020204" pitchFamily="34" charset="0"/>
                  <a:ea typeface="+mn-ea"/>
                  <a:cs typeface="+mn-cs"/>
                </a:rPr>
                <a:t>Michigan Subgrantees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Success relies on a divers ecosystem of providers, from regional players and rural specialists to trusted electrical cooperatives and telcos</a:t>
              </a:r>
              <a:endParaRPr kumimoji="0" lang="en-CA" altLang="en-US" sz="10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
        <p:nvSpPr>
          <p:cNvPr id="14" name="Rectangle 13">
            <a:extLst>
              <a:ext uri="{FF2B5EF4-FFF2-40B4-BE49-F238E27FC236}">
                <a16:creationId xmlns:a16="http://schemas.microsoft.com/office/drawing/2014/main" id="{D56FF57F-67FD-82FC-0F7D-6C4E8D873FDA}"/>
              </a:ext>
            </a:extLst>
          </p:cNvPr>
          <p:cNvSpPr/>
          <p:nvPr/>
        </p:nvSpPr>
        <p:spPr>
          <a:xfrm>
            <a:off x="5077064" y="2026613"/>
            <a:ext cx="2813763" cy="697071"/>
          </a:xfrm>
          <a:prstGeom prst="rect">
            <a:avLst/>
          </a:prstGeom>
          <a:solidFill>
            <a:schemeClr val="bg1"/>
          </a:solid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Core Challenge: </a:t>
            </a:r>
            <a:r>
              <a:rPr kumimoji="0" lang="en-US" sz="1000" b="0" i="0" u="none" strike="noStrike" kern="1200" cap="none" spc="0" normalizeH="0" baseline="0" noProof="0">
                <a:ln>
                  <a:noFill/>
                </a:ln>
                <a:solidFill>
                  <a:srgbClr val="000000"/>
                </a:solidFill>
                <a:effectLst/>
                <a:uLnTx/>
                <a:uFillTx/>
                <a:latin typeface="Arial"/>
                <a:ea typeface="+mn-ea"/>
                <a:cs typeface="+mn-cs"/>
              </a:rPr>
              <a:t>Federal "Build America, Buy America" (BABA) rules create a national choke point for fiber optic materials, with over 90% of supply controlled by just three companies</a:t>
            </a:r>
          </a:p>
        </p:txBody>
      </p:sp>
      <p:pic>
        <p:nvPicPr>
          <p:cNvPr id="25" name="Graphic 24" descr="Link with solid fill">
            <a:extLst>
              <a:ext uri="{FF2B5EF4-FFF2-40B4-BE49-F238E27FC236}">
                <a16:creationId xmlns:a16="http://schemas.microsoft.com/office/drawing/2014/main" id="{458FE14B-F7C5-FC7C-9555-2B03D793F1FD}"/>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274911" y="1446103"/>
            <a:ext cx="457200" cy="457200"/>
          </a:xfrm>
          <a:prstGeom prst="rect">
            <a:avLst/>
          </a:prstGeom>
        </p:spPr>
      </p:pic>
      <p:grpSp>
        <p:nvGrpSpPr>
          <p:cNvPr id="35" name="Group 34">
            <a:extLst>
              <a:ext uri="{FF2B5EF4-FFF2-40B4-BE49-F238E27FC236}">
                <a16:creationId xmlns:a16="http://schemas.microsoft.com/office/drawing/2014/main" id="{CDF8C1D2-9B0F-1EFE-6C4A-4E40AE4B7E6A}"/>
              </a:ext>
            </a:extLst>
          </p:cNvPr>
          <p:cNvGrpSpPr/>
          <p:nvPr/>
        </p:nvGrpSpPr>
        <p:grpSpPr>
          <a:xfrm>
            <a:off x="5043471" y="1508793"/>
            <a:ext cx="5661119" cy="407300"/>
            <a:chOff x="6167973" y="1536801"/>
            <a:chExt cx="5661119" cy="407300"/>
          </a:xfrm>
        </p:grpSpPr>
        <p:cxnSp>
          <p:nvCxnSpPr>
            <p:cNvPr id="27" name="Straight Connector 26">
              <a:extLst>
                <a:ext uri="{FF2B5EF4-FFF2-40B4-BE49-F238E27FC236}">
                  <a16:creationId xmlns:a16="http://schemas.microsoft.com/office/drawing/2014/main" id="{3E2D6848-F0E9-2F16-332A-F48605BC0423}"/>
                </a:ext>
              </a:extLst>
            </p:cNvPr>
            <p:cNvCxnSpPr>
              <a:cxnSpLocks/>
            </p:cNvCxnSpPr>
            <p:nvPr/>
          </p:nvCxnSpPr>
          <p:spPr>
            <a:xfrm>
              <a:off x="6167973" y="1536801"/>
              <a:ext cx="460040" cy="406695"/>
            </a:xfrm>
            <a:prstGeom prst="line">
              <a:avLst/>
            </a:prstGeom>
            <a:ln w="12700">
              <a:solidFill>
                <a:srgbClr val="304462"/>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E74FD23-E314-7074-ED30-8F4466B010C2}"/>
                </a:ext>
              </a:extLst>
            </p:cNvPr>
            <p:cNvCxnSpPr>
              <a:cxnSpLocks/>
            </p:cNvCxnSpPr>
            <p:nvPr/>
          </p:nvCxnSpPr>
          <p:spPr>
            <a:xfrm flipV="1">
              <a:off x="6620393" y="1942562"/>
              <a:ext cx="5208699" cy="1539"/>
            </a:xfrm>
            <a:prstGeom prst="line">
              <a:avLst/>
            </a:prstGeom>
            <a:ln w="12700">
              <a:solidFill>
                <a:srgbClr val="304462"/>
              </a:solidFill>
            </a:ln>
          </p:spPr>
          <p:style>
            <a:lnRef idx="1">
              <a:schemeClr val="accent1"/>
            </a:lnRef>
            <a:fillRef idx="0">
              <a:schemeClr val="accent1"/>
            </a:fillRef>
            <a:effectRef idx="0">
              <a:schemeClr val="accent1"/>
            </a:effectRef>
            <a:fontRef idx="minor">
              <a:schemeClr val="tx1"/>
            </a:fontRef>
          </p:style>
        </p:cxnSp>
      </p:grpSp>
      <p:sp>
        <p:nvSpPr>
          <p:cNvPr id="34" name="TextBox 33">
            <a:extLst>
              <a:ext uri="{FF2B5EF4-FFF2-40B4-BE49-F238E27FC236}">
                <a16:creationId xmlns:a16="http://schemas.microsoft.com/office/drawing/2014/main" id="{6F83EB9D-4B5D-C621-428E-49FE87192867}"/>
              </a:ext>
            </a:extLst>
          </p:cNvPr>
          <p:cNvSpPr txBox="1"/>
          <p:nvPr/>
        </p:nvSpPr>
        <p:spPr>
          <a:xfrm>
            <a:off x="6257217" y="1611868"/>
            <a:ext cx="3300811" cy="218711"/>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0338D"/>
                </a:solidFill>
                <a:effectLst/>
                <a:uLnTx/>
                <a:uFillTx/>
                <a:latin typeface="Arial"/>
                <a:ea typeface="+mn-ea"/>
                <a:cs typeface="+mn-cs"/>
              </a:rPr>
              <a:t>A Constrained &amp; Concentrated Supply Chain</a:t>
            </a:r>
          </a:p>
        </p:txBody>
      </p:sp>
      <p:sp>
        <p:nvSpPr>
          <p:cNvPr id="37" name="Rectangle 36">
            <a:extLst>
              <a:ext uri="{FF2B5EF4-FFF2-40B4-BE49-F238E27FC236}">
                <a16:creationId xmlns:a16="http://schemas.microsoft.com/office/drawing/2014/main" id="{B556644F-F704-16DC-218E-450DD0F29B94}"/>
              </a:ext>
            </a:extLst>
          </p:cNvPr>
          <p:cNvSpPr/>
          <p:nvPr/>
        </p:nvSpPr>
        <p:spPr>
          <a:xfrm>
            <a:off x="5043471" y="1481703"/>
            <a:ext cx="5703217" cy="1420266"/>
          </a:xfrm>
          <a:prstGeom prst="rect">
            <a:avLst/>
          </a:prstGeom>
          <a:noFill/>
          <a:ln>
            <a:solidFill>
              <a:srgbClr val="30446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45" name="Freeform 5">
            <a:extLst>
              <a:ext uri="{FF2B5EF4-FFF2-40B4-BE49-F238E27FC236}">
                <a16:creationId xmlns:a16="http://schemas.microsoft.com/office/drawing/2014/main" id="{92D99F80-B511-4787-DC65-F9E51B2AFA0A}"/>
              </a:ext>
            </a:extLst>
          </p:cNvPr>
          <p:cNvSpPr>
            <a:spLocks/>
          </p:cNvSpPr>
          <p:nvPr/>
        </p:nvSpPr>
        <p:spPr bwMode="auto">
          <a:xfrm>
            <a:off x="1103749" y="1515561"/>
            <a:ext cx="2230437" cy="4379912"/>
          </a:xfrm>
          <a:custGeom>
            <a:avLst/>
            <a:gdLst>
              <a:gd name="T0" fmla="*/ 0 w 1594"/>
              <a:gd name="T1" fmla="*/ 3017 h 3017"/>
              <a:gd name="T2" fmla="*/ 1594 w 1594"/>
              <a:gd name="T3" fmla="*/ 1509 h 3017"/>
              <a:gd name="T4" fmla="*/ 0 w 1594"/>
              <a:gd name="T5" fmla="*/ 0 h 3017"/>
            </a:gdLst>
            <a:ahLst/>
            <a:cxnLst>
              <a:cxn ang="0">
                <a:pos x="T0" y="T1"/>
              </a:cxn>
              <a:cxn ang="0">
                <a:pos x="T2" y="T3"/>
              </a:cxn>
              <a:cxn ang="0">
                <a:pos x="T4" y="T5"/>
              </a:cxn>
            </a:cxnLst>
            <a:rect l="0" t="0" r="r" b="b"/>
            <a:pathLst>
              <a:path w="1594" h="3017">
                <a:moveTo>
                  <a:pt x="0" y="3017"/>
                </a:moveTo>
                <a:cubicBezTo>
                  <a:pt x="880" y="3017"/>
                  <a:pt x="1594" y="2342"/>
                  <a:pt x="1594" y="1509"/>
                </a:cubicBezTo>
                <a:cubicBezTo>
                  <a:pt x="1594" y="676"/>
                  <a:pt x="880" y="0"/>
                  <a:pt x="0" y="0"/>
                </a:cubicBezTo>
              </a:path>
            </a:pathLst>
          </a:custGeom>
          <a:noFill/>
          <a:ln w="57150" cap="flat">
            <a:solidFill>
              <a:schemeClr val="tx1">
                <a:lumMod val="95000"/>
                <a:lumOff val="5000"/>
              </a:schemeClr>
            </a:solidFill>
            <a:prstDash val="solid"/>
            <a:miter lim="800000"/>
            <a:headEnd/>
            <a:tailEnd/>
          </a:ln>
          <a:effectLst>
            <a:outerShdw blurRad="50800" dist="38100" dir="8100000" algn="tr"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121920" tIns="60960" rIns="121920" bIns="60960"/>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Arial"/>
              <a:ea typeface="+mn-ea"/>
              <a:cs typeface="+mn-cs"/>
            </a:endParaRPr>
          </a:p>
        </p:txBody>
      </p:sp>
      <p:sp>
        <p:nvSpPr>
          <p:cNvPr id="51" name="Oval 50">
            <a:extLst>
              <a:ext uri="{FF2B5EF4-FFF2-40B4-BE49-F238E27FC236}">
                <a16:creationId xmlns:a16="http://schemas.microsoft.com/office/drawing/2014/main" id="{B5DDCC84-D4BE-A7E2-4D81-051FE9B745CF}"/>
              </a:ext>
            </a:extLst>
          </p:cNvPr>
          <p:cNvSpPr/>
          <p:nvPr/>
        </p:nvSpPr>
        <p:spPr>
          <a:xfrm>
            <a:off x="2246749" y="1725111"/>
            <a:ext cx="463550" cy="466725"/>
          </a:xfrm>
          <a:prstGeom prst="ellipse">
            <a:avLst/>
          </a:prstGeom>
          <a:solidFill>
            <a:schemeClr val="bg1"/>
          </a:solidFill>
          <a:ln w="76200">
            <a:solidFill>
              <a:srgbClr val="00338D"/>
            </a:solidFill>
          </a:ln>
          <a:effectLst>
            <a:reflection blurRad="6350" stA="52000" endA="300" endPos="35000" dir="5400000" sy="-100000" algn="bl" rotWithShape="0"/>
          </a:effectLst>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733" b="0" i="0" u="none" strike="noStrike" kern="1200" cap="none" spc="0" normalizeH="0" baseline="0" noProof="0">
              <a:ln>
                <a:noFill/>
              </a:ln>
              <a:solidFill>
                <a:srgbClr val="304462"/>
              </a:solidFill>
              <a:effectLst/>
              <a:uLnTx/>
              <a:uFillTx/>
              <a:latin typeface="Arial"/>
              <a:ea typeface="+mn-ea"/>
              <a:cs typeface="+mn-cs"/>
            </a:endParaRPr>
          </a:p>
        </p:txBody>
      </p:sp>
      <p:sp>
        <p:nvSpPr>
          <p:cNvPr id="53" name="Oval 52">
            <a:extLst>
              <a:ext uri="{FF2B5EF4-FFF2-40B4-BE49-F238E27FC236}">
                <a16:creationId xmlns:a16="http://schemas.microsoft.com/office/drawing/2014/main" id="{21CA080C-D284-924D-4D3C-15CD56600A70}"/>
              </a:ext>
            </a:extLst>
          </p:cNvPr>
          <p:cNvSpPr/>
          <p:nvPr/>
        </p:nvSpPr>
        <p:spPr>
          <a:xfrm>
            <a:off x="3088047" y="3191186"/>
            <a:ext cx="463550" cy="466725"/>
          </a:xfrm>
          <a:prstGeom prst="ellipse">
            <a:avLst/>
          </a:prstGeom>
          <a:solidFill>
            <a:schemeClr val="bg1"/>
          </a:solidFill>
          <a:ln w="76200">
            <a:solidFill>
              <a:srgbClr val="002060"/>
            </a:solidFill>
          </a:ln>
          <a:effectLst>
            <a:reflection blurRad="6350" stA="52000" endA="300" endPos="35000" dir="5400000" sy="-100000" algn="bl" rotWithShape="0"/>
          </a:effectLst>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733" b="0" i="0" u="none" strike="noStrike" kern="1200" cap="none" spc="0" normalizeH="0" baseline="0" noProof="0">
              <a:ln>
                <a:noFill/>
              </a:ln>
              <a:solidFill>
                <a:prstClr val="white"/>
              </a:solidFill>
              <a:effectLst/>
              <a:uLnTx/>
              <a:uFillTx/>
              <a:latin typeface="Arial"/>
              <a:ea typeface="+mn-ea"/>
              <a:cs typeface="+mn-cs"/>
            </a:endParaRPr>
          </a:p>
        </p:txBody>
      </p:sp>
      <p:sp>
        <p:nvSpPr>
          <p:cNvPr id="54" name="Oval 53">
            <a:extLst>
              <a:ext uri="{FF2B5EF4-FFF2-40B4-BE49-F238E27FC236}">
                <a16:creationId xmlns:a16="http://schemas.microsoft.com/office/drawing/2014/main" id="{5472EFE1-7C06-60D6-DE4A-CD4C2657893A}"/>
              </a:ext>
            </a:extLst>
          </p:cNvPr>
          <p:cNvSpPr/>
          <p:nvPr/>
        </p:nvSpPr>
        <p:spPr>
          <a:xfrm>
            <a:off x="2464673" y="4954050"/>
            <a:ext cx="463550" cy="466725"/>
          </a:xfrm>
          <a:prstGeom prst="ellipse">
            <a:avLst/>
          </a:prstGeom>
          <a:solidFill>
            <a:schemeClr val="bg1"/>
          </a:solidFill>
          <a:ln w="76200">
            <a:solidFill>
              <a:srgbClr val="00B8F5"/>
            </a:solidFill>
          </a:ln>
          <a:effectLst>
            <a:reflection blurRad="6350" stA="52000" endA="300" endPos="35000" dir="5400000" sy="-100000" algn="bl" rotWithShape="0"/>
          </a:effectLst>
        </p:spPr>
        <p:style>
          <a:lnRef idx="2">
            <a:schemeClr val="accent5">
              <a:shade val="50000"/>
            </a:schemeClr>
          </a:lnRef>
          <a:fillRef idx="1">
            <a:schemeClr val="accent5"/>
          </a:fillRef>
          <a:effectRef idx="0">
            <a:schemeClr val="accent5"/>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1733" b="0" i="0" u="none" strike="noStrike" kern="1200" cap="none" spc="0" normalizeH="0" baseline="0" noProof="0">
              <a:ln>
                <a:noFill/>
              </a:ln>
              <a:solidFill>
                <a:prstClr val="white"/>
              </a:solidFill>
              <a:effectLst/>
              <a:uLnTx/>
              <a:uFillTx/>
              <a:latin typeface="Arial"/>
              <a:ea typeface="+mn-ea"/>
              <a:cs typeface="+mn-cs"/>
            </a:endParaRPr>
          </a:p>
        </p:txBody>
      </p:sp>
      <p:sp>
        <p:nvSpPr>
          <p:cNvPr id="56" name="Rectangle 55">
            <a:extLst>
              <a:ext uri="{FF2B5EF4-FFF2-40B4-BE49-F238E27FC236}">
                <a16:creationId xmlns:a16="http://schemas.microsoft.com/office/drawing/2014/main" id="{E0E5FA63-65CE-F9FC-F879-629B5E3181C9}"/>
              </a:ext>
            </a:extLst>
          </p:cNvPr>
          <p:cNvSpPr/>
          <p:nvPr/>
        </p:nvSpPr>
        <p:spPr>
          <a:xfrm>
            <a:off x="7890827" y="2041280"/>
            <a:ext cx="2813763" cy="697071"/>
          </a:xfrm>
          <a:prstGeom prst="rect">
            <a:avLst/>
          </a:prstGeom>
          <a:solidFill>
            <a:schemeClr val="bg1"/>
          </a:solid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The Michigan Impact: </a:t>
            </a:r>
            <a:r>
              <a:rPr kumimoji="0" lang="en-US" sz="1000" b="0" i="0" u="none" strike="noStrike" kern="1200" cap="none" spc="0" normalizeH="0" baseline="0" noProof="0">
                <a:ln>
                  <a:noFill/>
                </a:ln>
                <a:solidFill>
                  <a:srgbClr val="000000"/>
                </a:solidFill>
                <a:effectLst/>
                <a:uLnTx/>
                <a:uFillTx/>
                <a:latin typeface="Arial"/>
                <a:ea typeface="+mn-ea"/>
                <a:cs typeface="+mn-cs"/>
              </a:rPr>
              <a:t>This dynamic creates an "Allocation Risk" that penalizes small Michigan ISPs with punishingly long lead times (6+ months) and a cash-flow crisis from being forced to stockpile materials</a:t>
            </a:r>
          </a:p>
        </p:txBody>
      </p:sp>
      <p:sp>
        <p:nvSpPr>
          <p:cNvPr id="59" name="Rectangle 58">
            <a:extLst>
              <a:ext uri="{FF2B5EF4-FFF2-40B4-BE49-F238E27FC236}">
                <a16:creationId xmlns:a16="http://schemas.microsoft.com/office/drawing/2014/main" id="{BA9A7601-0A65-A0BD-BBF9-9B292DC7F1DF}"/>
              </a:ext>
            </a:extLst>
          </p:cNvPr>
          <p:cNvSpPr/>
          <p:nvPr/>
        </p:nvSpPr>
        <p:spPr>
          <a:xfrm>
            <a:off x="6025489" y="3598074"/>
            <a:ext cx="2813763" cy="697071"/>
          </a:xfrm>
          <a:prstGeom prst="rect">
            <a:avLst/>
          </a:prstGeom>
          <a:solidFill>
            <a:schemeClr val="bg1"/>
          </a:solid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Core Challenge: </a:t>
            </a:r>
            <a:r>
              <a:rPr kumimoji="0" lang="en-US" sz="1000" b="0" i="0" u="none" strike="noStrike" kern="1200" cap="none" spc="0" normalizeH="0" baseline="0" noProof="0">
                <a:ln>
                  <a:noFill/>
                </a:ln>
                <a:solidFill>
                  <a:srgbClr val="000000"/>
                </a:solidFill>
                <a:effectLst/>
                <a:uLnTx/>
                <a:uFillTx/>
                <a:latin typeface="Arial"/>
                <a:ea typeface="+mn-ea"/>
                <a:cs typeface="+mn-cs"/>
              </a:rPr>
              <a:t>While the BEAD program requires a large, diverse workforce, there is a severe shortage of the most essential hands-on role: the </a:t>
            </a:r>
            <a:r>
              <a:rPr kumimoji="0" lang="en-US" sz="1000" b="1" i="0" u="none" strike="noStrike" kern="1200" cap="none" spc="0" normalizeH="0" baseline="0" noProof="0">
                <a:ln>
                  <a:noFill/>
                </a:ln>
                <a:solidFill>
                  <a:srgbClr val="000000"/>
                </a:solidFill>
                <a:effectLst/>
                <a:uLnTx/>
                <a:uFillTx/>
                <a:latin typeface="Arial"/>
                <a:ea typeface="+mn-ea"/>
                <a:cs typeface="+mn-cs"/>
              </a:rPr>
              <a:t>Telecommunications Line Installer</a:t>
            </a:r>
            <a:r>
              <a:rPr kumimoji="0" lang="en-US" sz="1000" b="0" i="0" u="none" strike="noStrike" kern="1200" cap="none" spc="0" normalizeH="0" baseline="0" noProof="0">
                <a:ln>
                  <a:noFill/>
                </a:ln>
                <a:solidFill>
                  <a:srgbClr val="000000"/>
                </a:solidFill>
                <a:effectLst/>
                <a:uLnTx/>
                <a:uFillTx/>
                <a:latin typeface="Arial"/>
                <a:ea typeface="+mn-ea"/>
                <a:cs typeface="+mn-cs"/>
              </a:rPr>
              <a:t>.</a:t>
            </a:r>
          </a:p>
        </p:txBody>
      </p:sp>
      <p:grpSp>
        <p:nvGrpSpPr>
          <p:cNvPr id="61" name="Group 60">
            <a:extLst>
              <a:ext uri="{FF2B5EF4-FFF2-40B4-BE49-F238E27FC236}">
                <a16:creationId xmlns:a16="http://schemas.microsoft.com/office/drawing/2014/main" id="{C5B1A074-8D93-0801-5B28-3973F8FE5047}"/>
              </a:ext>
            </a:extLst>
          </p:cNvPr>
          <p:cNvGrpSpPr/>
          <p:nvPr/>
        </p:nvGrpSpPr>
        <p:grpSpPr>
          <a:xfrm>
            <a:off x="5991896" y="3080254"/>
            <a:ext cx="5661119" cy="407300"/>
            <a:chOff x="6167973" y="1536801"/>
            <a:chExt cx="5661119" cy="407300"/>
          </a:xfrm>
        </p:grpSpPr>
        <p:cxnSp>
          <p:nvCxnSpPr>
            <p:cNvPr id="62" name="Straight Connector 61">
              <a:extLst>
                <a:ext uri="{FF2B5EF4-FFF2-40B4-BE49-F238E27FC236}">
                  <a16:creationId xmlns:a16="http://schemas.microsoft.com/office/drawing/2014/main" id="{B24264AE-574C-3C86-5911-3820D2C00606}"/>
                </a:ext>
              </a:extLst>
            </p:cNvPr>
            <p:cNvCxnSpPr>
              <a:cxnSpLocks/>
            </p:cNvCxnSpPr>
            <p:nvPr/>
          </p:nvCxnSpPr>
          <p:spPr>
            <a:xfrm>
              <a:off x="6167973" y="1536801"/>
              <a:ext cx="460040" cy="406695"/>
            </a:xfrm>
            <a:prstGeom prst="line">
              <a:avLst/>
            </a:prstGeom>
            <a:ln w="12700">
              <a:solidFill>
                <a:srgbClr val="304462"/>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B5B38E1F-E40C-2142-F2C0-87EAD84E33BE}"/>
                </a:ext>
              </a:extLst>
            </p:cNvPr>
            <p:cNvCxnSpPr>
              <a:cxnSpLocks/>
            </p:cNvCxnSpPr>
            <p:nvPr/>
          </p:nvCxnSpPr>
          <p:spPr>
            <a:xfrm flipV="1">
              <a:off x="6620393" y="1942562"/>
              <a:ext cx="5208699" cy="1539"/>
            </a:xfrm>
            <a:prstGeom prst="line">
              <a:avLst/>
            </a:prstGeom>
            <a:ln w="12700">
              <a:solidFill>
                <a:srgbClr val="304462"/>
              </a:solidFill>
            </a:ln>
          </p:spPr>
          <p:style>
            <a:lnRef idx="1">
              <a:schemeClr val="accent1"/>
            </a:lnRef>
            <a:fillRef idx="0">
              <a:schemeClr val="accent1"/>
            </a:fillRef>
            <a:effectRef idx="0">
              <a:schemeClr val="accent1"/>
            </a:effectRef>
            <a:fontRef idx="minor">
              <a:schemeClr val="tx1"/>
            </a:fontRef>
          </p:style>
        </p:cxnSp>
      </p:grpSp>
      <p:sp>
        <p:nvSpPr>
          <p:cNvPr id="64" name="TextBox 63">
            <a:extLst>
              <a:ext uri="{FF2B5EF4-FFF2-40B4-BE49-F238E27FC236}">
                <a16:creationId xmlns:a16="http://schemas.microsoft.com/office/drawing/2014/main" id="{B11A2ED5-18B5-C375-9743-6AB9DA51801F}"/>
              </a:ext>
            </a:extLst>
          </p:cNvPr>
          <p:cNvSpPr txBox="1"/>
          <p:nvPr/>
        </p:nvSpPr>
        <p:spPr>
          <a:xfrm>
            <a:off x="7786884" y="3175835"/>
            <a:ext cx="2104736" cy="359646"/>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0338D"/>
                </a:solidFill>
                <a:effectLst/>
                <a:uLnTx/>
                <a:uFillTx/>
                <a:latin typeface="Arial"/>
                <a:ea typeface="+mn-ea"/>
                <a:cs typeface="+mn-cs"/>
              </a:rPr>
              <a:t>Availability of Skilled Labor</a:t>
            </a:r>
          </a:p>
        </p:txBody>
      </p:sp>
      <p:sp>
        <p:nvSpPr>
          <p:cNvPr id="65" name="Rectangle 64">
            <a:extLst>
              <a:ext uri="{FF2B5EF4-FFF2-40B4-BE49-F238E27FC236}">
                <a16:creationId xmlns:a16="http://schemas.microsoft.com/office/drawing/2014/main" id="{8F82B23A-3242-E6F0-7B79-CE189B254732}"/>
              </a:ext>
            </a:extLst>
          </p:cNvPr>
          <p:cNvSpPr/>
          <p:nvPr/>
        </p:nvSpPr>
        <p:spPr>
          <a:xfrm>
            <a:off x="5991896" y="3053164"/>
            <a:ext cx="5703217" cy="1420266"/>
          </a:xfrm>
          <a:prstGeom prst="rect">
            <a:avLst/>
          </a:prstGeom>
          <a:noFill/>
          <a:ln>
            <a:solidFill>
              <a:srgbClr val="30446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67" name="Rectangle 66">
            <a:extLst>
              <a:ext uri="{FF2B5EF4-FFF2-40B4-BE49-F238E27FC236}">
                <a16:creationId xmlns:a16="http://schemas.microsoft.com/office/drawing/2014/main" id="{7DAD64D2-3D86-75BB-6DCB-7C144B4111C2}"/>
              </a:ext>
            </a:extLst>
          </p:cNvPr>
          <p:cNvSpPr/>
          <p:nvPr/>
        </p:nvSpPr>
        <p:spPr>
          <a:xfrm>
            <a:off x="8839252" y="3612741"/>
            <a:ext cx="2813763" cy="697071"/>
          </a:xfrm>
          <a:prstGeom prst="rect">
            <a:avLst/>
          </a:prstGeom>
          <a:solidFill>
            <a:schemeClr val="bg1"/>
          </a:solid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The Michigan Impact: </a:t>
            </a:r>
            <a:r>
              <a:rPr kumimoji="0" lang="en-US" sz="1000" b="0" i="0" u="none" strike="noStrike" kern="1200" cap="none" spc="0" normalizeH="0" baseline="0" noProof="0">
                <a:ln>
                  <a:noFill/>
                </a:ln>
                <a:solidFill>
                  <a:srgbClr val="000000"/>
                </a:solidFill>
                <a:effectLst/>
                <a:uLnTx/>
                <a:uFillTx/>
                <a:latin typeface="Arial"/>
                <a:ea typeface="+mn-ea"/>
                <a:cs typeface="+mn-cs"/>
              </a:rPr>
              <a:t>Michigan's entire statewide pool consists of only </a:t>
            </a:r>
            <a:r>
              <a:rPr kumimoji="0" lang="en-US" sz="1000" b="1" i="0" u="none" strike="noStrike" kern="1200" cap="none" spc="0" normalizeH="0" baseline="0" noProof="0">
                <a:ln>
                  <a:noFill/>
                </a:ln>
                <a:solidFill>
                  <a:srgbClr val="000000"/>
                </a:solidFill>
                <a:effectLst/>
                <a:uLnTx/>
                <a:uFillTx/>
                <a:latin typeface="Arial"/>
                <a:ea typeface="+mn-ea"/>
                <a:cs typeface="+mn-cs"/>
              </a:rPr>
              <a:t>~2,050 </a:t>
            </a:r>
            <a:r>
              <a:rPr kumimoji="0" lang="en-US" sz="1000" b="0" i="0" u="none" strike="noStrike" kern="1200" cap="none" spc="0" normalizeH="0" baseline="0" noProof="0">
                <a:ln>
                  <a:noFill/>
                </a:ln>
                <a:solidFill>
                  <a:srgbClr val="000000"/>
                </a:solidFill>
                <a:effectLst/>
                <a:uLnTx/>
                <a:uFillTx/>
                <a:latin typeface="Arial"/>
                <a:ea typeface="+mn-ea"/>
                <a:cs typeface="+mn-cs"/>
              </a:rPr>
              <a:t>of these critical workers, who are in a fierce "war for talent" with the high-paying energy sector, creating a severe human capital bottleneck</a:t>
            </a:r>
          </a:p>
        </p:txBody>
      </p:sp>
      <p:sp>
        <p:nvSpPr>
          <p:cNvPr id="71" name="Rectangle 70">
            <a:extLst>
              <a:ext uri="{FF2B5EF4-FFF2-40B4-BE49-F238E27FC236}">
                <a16:creationId xmlns:a16="http://schemas.microsoft.com/office/drawing/2014/main" id="{BF507900-C859-C9C6-EACA-6C966B86EB74}"/>
              </a:ext>
            </a:extLst>
          </p:cNvPr>
          <p:cNvSpPr/>
          <p:nvPr/>
        </p:nvSpPr>
        <p:spPr>
          <a:xfrm>
            <a:off x="5093860" y="5198594"/>
            <a:ext cx="2813763" cy="697071"/>
          </a:xfrm>
          <a:prstGeom prst="rect">
            <a:avLst/>
          </a:prstGeom>
          <a:solidFill>
            <a:schemeClr val="bg1"/>
          </a:solid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Core Challenge: </a:t>
            </a:r>
            <a:r>
              <a:rPr kumimoji="0" lang="en-US" sz="1000" b="0" i="0" u="none" strike="noStrike" kern="1200" cap="none" spc="0" normalizeH="0" baseline="0" noProof="0">
                <a:ln>
                  <a:noFill/>
                </a:ln>
                <a:solidFill>
                  <a:srgbClr val="000000"/>
                </a:solidFill>
                <a:effectLst/>
                <a:uLnTx/>
                <a:uFillTx/>
                <a:latin typeface="Arial"/>
                <a:ea typeface="+mn-ea"/>
                <a:cs typeface="+mn-cs"/>
              </a:rPr>
              <a:t>The MPSC-governed "make-ready" process for gaining access to utility poles creates a critical operational risk for project timelines</a:t>
            </a:r>
          </a:p>
        </p:txBody>
      </p:sp>
      <p:grpSp>
        <p:nvGrpSpPr>
          <p:cNvPr id="73" name="Group 72">
            <a:extLst>
              <a:ext uri="{FF2B5EF4-FFF2-40B4-BE49-F238E27FC236}">
                <a16:creationId xmlns:a16="http://schemas.microsoft.com/office/drawing/2014/main" id="{2624DECE-F9A3-FB9F-13AC-187186E9CA57}"/>
              </a:ext>
            </a:extLst>
          </p:cNvPr>
          <p:cNvGrpSpPr/>
          <p:nvPr/>
        </p:nvGrpSpPr>
        <p:grpSpPr>
          <a:xfrm>
            <a:off x="5060267" y="4680774"/>
            <a:ext cx="5661119" cy="407300"/>
            <a:chOff x="6167973" y="1536801"/>
            <a:chExt cx="5661119" cy="407300"/>
          </a:xfrm>
        </p:grpSpPr>
        <p:cxnSp>
          <p:nvCxnSpPr>
            <p:cNvPr id="74" name="Straight Connector 73">
              <a:extLst>
                <a:ext uri="{FF2B5EF4-FFF2-40B4-BE49-F238E27FC236}">
                  <a16:creationId xmlns:a16="http://schemas.microsoft.com/office/drawing/2014/main" id="{AF45AB8F-49D8-DD0A-029F-A34CDF634080}"/>
                </a:ext>
              </a:extLst>
            </p:cNvPr>
            <p:cNvCxnSpPr>
              <a:cxnSpLocks/>
            </p:cNvCxnSpPr>
            <p:nvPr/>
          </p:nvCxnSpPr>
          <p:spPr>
            <a:xfrm>
              <a:off x="6167973" y="1536801"/>
              <a:ext cx="460040" cy="406695"/>
            </a:xfrm>
            <a:prstGeom prst="line">
              <a:avLst/>
            </a:prstGeom>
            <a:ln w="12700">
              <a:solidFill>
                <a:srgbClr val="304462"/>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C17C206E-FC1B-EBA5-49FA-C863B55A5D65}"/>
                </a:ext>
              </a:extLst>
            </p:cNvPr>
            <p:cNvCxnSpPr>
              <a:cxnSpLocks/>
            </p:cNvCxnSpPr>
            <p:nvPr/>
          </p:nvCxnSpPr>
          <p:spPr>
            <a:xfrm flipV="1">
              <a:off x="6620393" y="1942562"/>
              <a:ext cx="5208699" cy="1539"/>
            </a:xfrm>
            <a:prstGeom prst="line">
              <a:avLst/>
            </a:prstGeom>
            <a:ln w="12700">
              <a:solidFill>
                <a:srgbClr val="304462"/>
              </a:solidFill>
            </a:ln>
          </p:spPr>
          <p:style>
            <a:lnRef idx="1">
              <a:schemeClr val="accent1"/>
            </a:lnRef>
            <a:fillRef idx="0">
              <a:schemeClr val="accent1"/>
            </a:fillRef>
            <a:effectRef idx="0">
              <a:schemeClr val="accent1"/>
            </a:effectRef>
            <a:fontRef idx="minor">
              <a:schemeClr val="tx1"/>
            </a:fontRef>
          </p:style>
        </p:cxnSp>
      </p:grpSp>
      <p:sp>
        <p:nvSpPr>
          <p:cNvPr id="76" name="TextBox 75">
            <a:extLst>
              <a:ext uri="{FF2B5EF4-FFF2-40B4-BE49-F238E27FC236}">
                <a16:creationId xmlns:a16="http://schemas.microsoft.com/office/drawing/2014/main" id="{9B7A04D4-CA32-4ADB-C0E4-3FD93A316A93}"/>
              </a:ext>
            </a:extLst>
          </p:cNvPr>
          <p:cNvSpPr txBox="1"/>
          <p:nvPr/>
        </p:nvSpPr>
        <p:spPr>
          <a:xfrm>
            <a:off x="6521789" y="4748821"/>
            <a:ext cx="2813764" cy="359646"/>
          </a:xfrm>
          <a:prstGeom prst="rect">
            <a:avLst/>
          </a:prstGeom>
        </p:spPr>
        <p:txBody>
          <a:bodyPr vert="horz" wrap="squar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1" i="0" u="none" strike="noStrike" kern="1200" cap="none" spc="0" normalizeH="0" baseline="0" noProof="0">
                <a:ln>
                  <a:noFill/>
                </a:ln>
                <a:solidFill>
                  <a:srgbClr val="00338D"/>
                </a:solidFill>
                <a:effectLst/>
                <a:uLnTx/>
                <a:uFillTx/>
                <a:latin typeface="Arial"/>
                <a:ea typeface="+mn-ea"/>
                <a:cs typeface="+mn-cs"/>
              </a:rPr>
              <a:t>Regulatory Delays &amp; Seasonal Reality</a:t>
            </a:r>
          </a:p>
        </p:txBody>
      </p:sp>
      <p:sp>
        <p:nvSpPr>
          <p:cNvPr id="77" name="Rectangle 76">
            <a:extLst>
              <a:ext uri="{FF2B5EF4-FFF2-40B4-BE49-F238E27FC236}">
                <a16:creationId xmlns:a16="http://schemas.microsoft.com/office/drawing/2014/main" id="{608541E1-4EF0-29C1-6E1D-ECB6692F0EAA}"/>
              </a:ext>
            </a:extLst>
          </p:cNvPr>
          <p:cNvSpPr/>
          <p:nvPr/>
        </p:nvSpPr>
        <p:spPr>
          <a:xfrm>
            <a:off x="5060267" y="4653684"/>
            <a:ext cx="5703217" cy="1420266"/>
          </a:xfrm>
          <a:prstGeom prst="rect">
            <a:avLst/>
          </a:prstGeom>
          <a:noFill/>
          <a:ln>
            <a:solidFill>
              <a:srgbClr val="304462"/>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FFFFFF"/>
              </a:solidFill>
              <a:effectLst/>
              <a:uLnTx/>
              <a:uFillTx/>
              <a:latin typeface="Arial"/>
              <a:ea typeface="+mn-ea"/>
              <a:cs typeface="+mn-cs"/>
            </a:endParaRPr>
          </a:p>
        </p:txBody>
      </p:sp>
      <p:sp>
        <p:nvSpPr>
          <p:cNvPr id="78" name="Rectangle 77">
            <a:extLst>
              <a:ext uri="{FF2B5EF4-FFF2-40B4-BE49-F238E27FC236}">
                <a16:creationId xmlns:a16="http://schemas.microsoft.com/office/drawing/2014/main" id="{3089E669-42F4-CC56-7273-567EBBF3D5B7}"/>
              </a:ext>
            </a:extLst>
          </p:cNvPr>
          <p:cNvSpPr/>
          <p:nvPr/>
        </p:nvSpPr>
        <p:spPr>
          <a:xfrm>
            <a:off x="7907623" y="5213261"/>
            <a:ext cx="2813763" cy="697071"/>
          </a:xfrm>
          <a:prstGeom prst="rect">
            <a:avLst/>
          </a:prstGeom>
          <a:solidFill>
            <a:schemeClr val="bg1"/>
          </a:solidFill>
          <a:ln>
            <a:solidFill>
              <a:schemeClr val="bg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The Michigan Impact: </a:t>
            </a:r>
            <a:r>
              <a:rPr kumimoji="0" lang="en-US" sz="1000" b="0" i="0" u="none" strike="noStrike" kern="1200" cap="none" spc="0" normalizeH="0" baseline="0" noProof="0">
                <a:ln>
                  <a:noFill/>
                </a:ln>
                <a:solidFill>
                  <a:srgbClr val="000000"/>
                </a:solidFill>
                <a:effectLst/>
                <a:uLnTx/>
                <a:uFillTx/>
                <a:latin typeface="Arial"/>
                <a:ea typeface="+mn-ea"/>
                <a:cs typeface="+mn-cs"/>
              </a:rPr>
              <a:t>A formal dispute can trigger a 180-day resolution timeline. This process consumes the majority of Michigan's ~6-month construction season, threatening to push project completion into the following year</a:t>
            </a:r>
          </a:p>
        </p:txBody>
      </p:sp>
      <p:pic>
        <p:nvPicPr>
          <p:cNvPr id="80" name="Graphic 79" descr="Users with solid fill">
            <a:extLst>
              <a:ext uri="{FF2B5EF4-FFF2-40B4-BE49-F238E27FC236}">
                <a16:creationId xmlns:a16="http://schemas.microsoft.com/office/drawing/2014/main" id="{2CE9F031-D920-317A-ACB0-ED20E895B08D}"/>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392677" y="3030904"/>
            <a:ext cx="457200" cy="535873"/>
          </a:xfrm>
          <a:prstGeom prst="rect">
            <a:avLst/>
          </a:prstGeom>
        </p:spPr>
      </p:pic>
      <p:pic>
        <p:nvPicPr>
          <p:cNvPr id="81" name="Graphic 80" descr="Checklist with solid fill">
            <a:extLst>
              <a:ext uri="{FF2B5EF4-FFF2-40B4-BE49-F238E27FC236}">
                <a16:creationId xmlns:a16="http://schemas.microsoft.com/office/drawing/2014/main" id="{B91F7405-EDCB-5D05-52CF-A89B28BBCF85}"/>
              </a:ext>
            </a:extLst>
          </p:cNvPr>
          <p:cNvPicPr>
            <a:picLocks noChangeAspect="1"/>
          </p:cNvPicPr>
          <p:nvPr/>
        </p:nvPicPr>
        <p:blipFill>
          <a:blip>
            <a:extLst>
              <a:ext uri="{96DAC541-7B7A-43D3-8B79-37D633B846F1}">
                <asvg:svgBlip xmlns:asvg="http://schemas.microsoft.com/office/drawing/2016/SVG/main" r:embed="rId10"/>
              </a:ext>
            </a:extLst>
          </a:blip>
          <a:srcRect/>
          <a:stretch/>
        </p:blipFill>
        <p:spPr>
          <a:xfrm>
            <a:off x="5430296" y="4651267"/>
            <a:ext cx="457200" cy="457200"/>
          </a:xfrm>
          <a:prstGeom prst="rect">
            <a:avLst/>
          </a:prstGeom>
        </p:spPr>
      </p:pic>
      <p:cxnSp>
        <p:nvCxnSpPr>
          <p:cNvPr id="83" name="Connector: Elbow 82">
            <a:extLst>
              <a:ext uri="{FF2B5EF4-FFF2-40B4-BE49-F238E27FC236}">
                <a16:creationId xmlns:a16="http://schemas.microsoft.com/office/drawing/2014/main" id="{B4955749-F2A3-4505-0BF8-F52F61A591DD}"/>
              </a:ext>
            </a:extLst>
          </p:cNvPr>
          <p:cNvCxnSpPr>
            <a:stCxn id="51" idx="6"/>
            <a:endCxn id="37" idx="1"/>
          </p:cNvCxnSpPr>
          <p:nvPr/>
        </p:nvCxnSpPr>
        <p:spPr>
          <a:xfrm>
            <a:off x="2710299" y="1958474"/>
            <a:ext cx="2333172" cy="233362"/>
          </a:xfrm>
          <a:prstGeom prst="bentConnector3">
            <a:avLst/>
          </a:prstGeom>
          <a:ln w="12700">
            <a:solidFill>
              <a:schemeClr val="tx2"/>
            </a:solidFill>
            <a:prstDash val="dash"/>
          </a:ln>
        </p:spPr>
        <p:style>
          <a:lnRef idx="1">
            <a:schemeClr val="accent1"/>
          </a:lnRef>
          <a:fillRef idx="0">
            <a:schemeClr val="accent1"/>
          </a:fillRef>
          <a:effectRef idx="0">
            <a:schemeClr val="accent1"/>
          </a:effectRef>
          <a:fontRef idx="minor">
            <a:schemeClr val="tx1"/>
          </a:fontRef>
        </p:style>
      </p:cxnSp>
      <p:cxnSp>
        <p:nvCxnSpPr>
          <p:cNvPr id="85" name="Connector: Elbow 84">
            <a:extLst>
              <a:ext uri="{FF2B5EF4-FFF2-40B4-BE49-F238E27FC236}">
                <a16:creationId xmlns:a16="http://schemas.microsoft.com/office/drawing/2014/main" id="{C69CFD9D-77F6-44D9-C392-E1419C9EA546}"/>
              </a:ext>
            </a:extLst>
          </p:cNvPr>
          <p:cNvCxnSpPr>
            <a:stCxn id="53" idx="6"/>
            <a:endCxn id="65" idx="1"/>
          </p:cNvCxnSpPr>
          <p:nvPr/>
        </p:nvCxnSpPr>
        <p:spPr>
          <a:xfrm>
            <a:off x="3551597" y="3424549"/>
            <a:ext cx="2440299" cy="338748"/>
          </a:xfrm>
          <a:prstGeom prst="bentConnector3">
            <a:avLst/>
          </a:prstGeom>
          <a:ln w="12700">
            <a:solidFill>
              <a:srgbClr val="002060"/>
            </a:solidFill>
            <a:prstDash val="dash"/>
          </a:ln>
        </p:spPr>
        <p:style>
          <a:lnRef idx="1">
            <a:schemeClr val="accent1"/>
          </a:lnRef>
          <a:fillRef idx="0">
            <a:schemeClr val="accent1"/>
          </a:fillRef>
          <a:effectRef idx="0">
            <a:schemeClr val="accent1"/>
          </a:effectRef>
          <a:fontRef idx="minor">
            <a:schemeClr val="tx1"/>
          </a:fontRef>
        </p:style>
      </p:cxnSp>
      <p:cxnSp>
        <p:nvCxnSpPr>
          <p:cNvPr id="87" name="Connector: Elbow 86">
            <a:extLst>
              <a:ext uri="{FF2B5EF4-FFF2-40B4-BE49-F238E27FC236}">
                <a16:creationId xmlns:a16="http://schemas.microsoft.com/office/drawing/2014/main" id="{2A8548E2-F818-D2C5-CED0-5E82CF3267DC}"/>
              </a:ext>
            </a:extLst>
          </p:cNvPr>
          <p:cNvCxnSpPr>
            <a:stCxn id="54" idx="6"/>
            <a:endCxn id="71" idx="1"/>
          </p:cNvCxnSpPr>
          <p:nvPr/>
        </p:nvCxnSpPr>
        <p:spPr>
          <a:xfrm>
            <a:off x="2928223" y="5187413"/>
            <a:ext cx="2165637" cy="359717"/>
          </a:xfrm>
          <a:prstGeom prst="bentConnector3">
            <a:avLst/>
          </a:prstGeom>
          <a:ln w="12700">
            <a:solidFill>
              <a:schemeClr val="accent2"/>
            </a:solidFill>
            <a:prstDash val="dash"/>
          </a:ln>
        </p:spPr>
        <p:style>
          <a:lnRef idx="1">
            <a:schemeClr val="accent1"/>
          </a:lnRef>
          <a:fillRef idx="0">
            <a:schemeClr val="accent1"/>
          </a:fillRef>
          <a:effectRef idx="0">
            <a:schemeClr val="accent1"/>
          </a:effectRef>
          <a:fontRef idx="minor">
            <a:schemeClr val="tx1"/>
          </a:fontRef>
        </p:style>
      </p:cxnSp>
      <p:sp>
        <p:nvSpPr>
          <p:cNvPr id="88" name="TextBox 23">
            <a:extLst>
              <a:ext uri="{FF2B5EF4-FFF2-40B4-BE49-F238E27FC236}">
                <a16:creationId xmlns:a16="http://schemas.microsoft.com/office/drawing/2014/main" id="{38AC041D-4A4F-472D-8615-AE25445BE629}"/>
              </a:ext>
            </a:extLst>
          </p:cNvPr>
          <p:cNvSpPr txBox="1"/>
          <p:nvPr/>
        </p:nvSpPr>
        <p:spPr>
          <a:xfrm>
            <a:off x="599374" y="2756269"/>
            <a:ext cx="2319356" cy="184890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defTabSz="914400" rtl="0" eaLnBrk="1" fontAlgn="auto" latinLnBrk="0" hangingPunct="1">
              <a:lnSpc>
                <a:spcPct val="110000"/>
              </a:lnSpc>
              <a:spcBef>
                <a:spcPts val="0"/>
              </a:spcBef>
              <a:spcAft>
                <a:spcPts val="600"/>
              </a:spcAft>
              <a:buClrTx/>
              <a:buSzTx/>
              <a:buFontTx/>
              <a:buNone/>
              <a:tabLst/>
              <a:defRPr/>
            </a:pPr>
            <a:r>
              <a:rPr kumimoji="0" lang="en-US" sz="1000" b="0" i="0" u="none" strike="noStrike" kern="1200" cap="none" spc="0" normalizeH="0" baseline="0" noProof="0">
                <a:ln>
                  <a:noFill/>
                </a:ln>
                <a:solidFill>
                  <a:srgbClr val="304462"/>
                </a:solidFill>
                <a:effectLst/>
                <a:uLnTx/>
                <a:uFillTx/>
                <a:latin typeface="Arial"/>
                <a:ea typeface="+mn-ea"/>
                <a:cs typeface="+mn-cs"/>
              </a:rPr>
              <a:t>Michigan is poised to close its digital divide with a historic $1.56 billion BEAD investment. However, success is not guaranteed by funding alone. The primary challenge is execution. This analysis reveals three interconnected constraints that threaten the timeline, budget, and ultimate success of the program, particularly for the small, local providers essential for reaching our most remote communities.</a:t>
            </a:r>
            <a:endParaRPr kumimoji="0" lang="en-GB" sz="1000" b="0" i="0" u="none" strike="noStrike" kern="1200" cap="none" spc="0" normalizeH="0" baseline="0" noProof="0">
              <a:ln>
                <a:noFill/>
              </a:ln>
              <a:solidFill>
                <a:srgbClr val="304462"/>
              </a:solidFill>
              <a:effectLst/>
              <a:uLnTx/>
              <a:uFillTx/>
              <a:latin typeface="Arial"/>
              <a:ea typeface="+mn-ea"/>
              <a:cs typeface="+mn-cs"/>
            </a:endParaRPr>
          </a:p>
        </p:txBody>
      </p:sp>
      <p:sp>
        <p:nvSpPr>
          <p:cNvPr id="107" name="Callout: Double Bent Line with No Border 106">
            <a:extLst>
              <a:ext uri="{FF2B5EF4-FFF2-40B4-BE49-F238E27FC236}">
                <a16:creationId xmlns:a16="http://schemas.microsoft.com/office/drawing/2014/main" id="{0EA374C7-3C84-2A1A-6063-14EA51BBBFA1}"/>
              </a:ext>
            </a:extLst>
          </p:cNvPr>
          <p:cNvSpPr/>
          <p:nvPr/>
        </p:nvSpPr>
        <p:spPr>
          <a:xfrm>
            <a:off x="3248668" y="1478858"/>
            <a:ext cx="1790705" cy="155448"/>
          </a:xfrm>
          <a:prstGeom prst="callout3">
            <a:avLst>
              <a:gd name="adj1" fmla="val 18750"/>
              <a:gd name="adj2" fmla="val -8333"/>
              <a:gd name="adj3" fmla="val 18750"/>
              <a:gd name="adj4" fmla="val -16667"/>
              <a:gd name="adj5" fmla="val 6344"/>
              <a:gd name="adj6" fmla="val 161883"/>
              <a:gd name="adj7" fmla="val 112963"/>
              <a:gd name="adj8" fmla="val -8333"/>
            </a:avLst>
          </a:prstGeom>
          <a:solidFill>
            <a:srgbClr val="DFE5E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3B5479"/>
                </a:solidFill>
                <a:effectLst/>
                <a:uLnTx/>
                <a:uFillTx/>
                <a:latin typeface="Arial"/>
                <a:ea typeface="+mn-ea"/>
                <a:cs typeface="+mn-cs"/>
              </a:rPr>
              <a:t>Corning, Prysmian, STL Produces</a:t>
            </a:r>
          </a:p>
        </p:txBody>
      </p:sp>
      <p:sp>
        <p:nvSpPr>
          <p:cNvPr id="108" name="Callout: Double Bent Line with No Border 107">
            <a:extLst>
              <a:ext uri="{FF2B5EF4-FFF2-40B4-BE49-F238E27FC236}">
                <a16:creationId xmlns:a16="http://schemas.microsoft.com/office/drawing/2014/main" id="{039C596A-0F96-0EDA-964C-EF65A109C36F}"/>
              </a:ext>
            </a:extLst>
          </p:cNvPr>
          <p:cNvSpPr/>
          <p:nvPr/>
        </p:nvSpPr>
        <p:spPr>
          <a:xfrm>
            <a:off x="4017297" y="1634416"/>
            <a:ext cx="1024125" cy="155448"/>
          </a:xfrm>
          <a:prstGeom prst="callout3">
            <a:avLst>
              <a:gd name="adj1" fmla="val 18750"/>
              <a:gd name="adj2" fmla="val -8333"/>
              <a:gd name="adj3" fmla="val 18750"/>
              <a:gd name="adj4" fmla="val -16667"/>
              <a:gd name="adj5" fmla="val 6344"/>
              <a:gd name="adj6" fmla="val 161883"/>
              <a:gd name="adj7" fmla="val 112963"/>
              <a:gd name="adj8" fmla="val -8333"/>
            </a:avLst>
          </a:prstGeom>
          <a:solidFill>
            <a:srgbClr val="3B547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a:ea typeface="+mn-ea"/>
                <a:cs typeface="+mn-cs"/>
              </a:rPr>
              <a:t>90% of fiber in US</a:t>
            </a:r>
          </a:p>
        </p:txBody>
      </p:sp>
      <p:sp>
        <p:nvSpPr>
          <p:cNvPr id="111" name="Callout: Double Bent Line with No Border 110">
            <a:extLst>
              <a:ext uri="{FF2B5EF4-FFF2-40B4-BE49-F238E27FC236}">
                <a16:creationId xmlns:a16="http://schemas.microsoft.com/office/drawing/2014/main" id="{0F7B1B1C-1EA9-0A64-9F0E-D2C47BA24A7F}"/>
              </a:ext>
            </a:extLst>
          </p:cNvPr>
          <p:cNvSpPr/>
          <p:nvPr/>
        </p:nvSpPr>
        <p:spPr>
          <a:xfrm>
            <a:off x="3455235" y="4327749"/>
            <a:ext cx="2937442" cy="155448"/>
          </a:xfrm>
          <a:prstGeom prst="callout3">
            <a:avLst>
              <a:gd name="adj1" fmla="val 18750"/>
              <a:gd name="adj2" fmla="val -8333"/>
              <a:gd name="adj3" fmla="val 18750"/>
              <a:gd name="adj4" fmla="val -16667"/>
              <a:gd name="adj5" fmla="val 6344"/>
              <a:gd name="adj6" fmla="val 161883"/>
              <a:gd name="adj7" fmla="val 112963"/>
              <a:gd name="adj8" fmla="val -8333"/>
            </a:avLst>
          </a:prstGeom>
          <a:solidFill>
            <a:srgbClr val="DFE5EF"/>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3B5479"/>
                </a:solidFill>
                <a:effectLst/>
                <a:uLnTx/>
                <a:uFillTx/>
                <a:latin typeface="Arial"/>
                <a:ea typeface="+mn-ea"/>
                <a:cs typeface="+mn-cs"/>
              </a:rPr>
              <a:t>Michigan needs to fill 1,750 new broadband jobs annually</a:t>
            </a:r>
          </a:p>
        </p:txBody>
      </p:sp>
      <p:sp>
        <p:nvSpPr>
          <p:cNvPr id="112" name="Callout: Double Bent Line with No Border 111">
            <a:extLst>
              <a:ext uri="{FF2B5EF4-FFF2-40B4-BE49-F238E27FC236}">
                <a16:creationId xmlns:a16="http://schemas.microsoft.com/office/drawing/2014/main" id="{25C61213-1511-FFBD-362C-B7ACA93178DF}"/>
              </a:ext>
            </a:extLst>
          </p:cNvPr>
          <p:cNvSpPr/>
          <p:nvPr/>
        </p:nvSpPr>
        <p:spPr>
          <a:xfrm>
            <a:off x="3636845" y="4170938"/>
            <a:ext cx="2354006" cy="155448"/>
          </a:xfrm>
          <a:prstGeom prst="callout3">
            <a:avLst>
              <a:gd name="adj1" fmla="val 18750"/>
              <a:gd name="adj2" fmla="val -8333"/>
              <a:gd name="adj3" fmla="val 18750"/>
              <a:gd name="adj4" fmla="val -16667"/>
              <a:gd name="adj5" fmla="val 6344"/>
              <a:gd name="adj6" fmla="val 161883"/>
              <a:gd name="adj7" fmla="val 112963"/>
              <a:gd name="adj8" fmla="val -8333"/>
            </a:avLst>
          </a:prstGeom>
          <a:solidFill>
            <a:srgbClr val="3B547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a:ea typeface="+mn-ea"/>
                <a:cs typeface="+mn-cs"/>
              </a:rPr>
              <a:t>60% of technicians are nearing retirement.</a:t>
            </a:r>
          </a:p>
        </p:txBody>
      </p:sp>
      <p:sp>
        <p:nvSpPr>
          <p:cNvPr id="113" name="Callout: Double Bent Line with No Border 112">
            <a:extLst>
              <a:ext uri="{FF2B5EF4-FFF2-40B4-BE49-F238E27FC236}">
                <a16:creationId xmlns:a16="http://schemas.microsoft.com/office/drawing/2014/main" id="{D9E487F8-D59E-1757-02CB-C4ACA1931D9B}"/>
              </a:ext>
            </a:extLst>
          </p:cNvPr>
          <p:cNvSpPr/>
          <p:nvPr/>
        </p:nvSpPr>
        <p:spPr>
          <a:xfrm>
            <a:off x="2661889" y="5916404"/>
            <a:ext cx="2764018" cy="155448"/>
          </a:xfrm>
          <a:prstGeom prst="callout3">
            <a:avLst>
              <a:gd name="adj1" fmla="val 18750"/>
              <a:gd name="adj2" fmla="val -8333"/>
              <a:gd name="adj3" fmla="val 18750"/>
              <a:gd name="adj4" fmla="val -16667"/>
              <a:gd name="adj5" fmla="val 6344"/>
              <a:gd name="adj6" fmla="val 161883"/>
              <a:gd name="adj7" fmla="val 112963"/>
              <a:gd name="adj8" fmla="val -8333"/>
            </a:avLst>
          </a:prstGeom>
          <a:solidFill>
            <a:srgbClr val="3B547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0" normalizeH="0" baseline="0" noProof="0">
                <a:ln>
                  <a:noFill/>
                </a:ln>
                <a:solidFill>
                  <a:srgbClr val="FFFFFF"/>
                </a:solidFill>
                <a:effectLst/>
                <a:uLnTx/>
                <a:uFillTx/>
                <a:latin typeface="Arial"/>
                <a:ea typeface="+mn-ea"/>
                <a:cs typeface="+mn-cs"/>
              </a:rPr>
              <a:t>Potential delays can push a project back a full year</a:t>
            </a:r>
          </a:p>
        </p:txBody>
      </p:sp>
      <p:sp>
        <p:nvSpPr>
          <p:cNvPr id="114" name="TextBox 23">
            <a:extLst>
              <a:ext uri="{FF2B5EF4-FFF2-40B4-BE49-F238E27FC236}">
                <a16:creationId xmlns:a16="http://schemas.microsoft.com/office/drawing/2014/main" id="{E8CFB1F4-CE58-C28D-473D-AF5330D3DE8D}"/>
              </a:ext>
            </a:extLst>
          </p:cNvPr>
          <p:cNvSpPr txBox="1"/>
          <p:nvPr/>
        </p:nvSpPr>
        <p:spPr>
          <a:xfrm>
            <a:off x="498224" y="2527056"/>
            <a:ext cx="2230437" cy="187424"/>
          </a:xfrm>
          <a:prstGeom prst="rect">
            <a:avLst/>
          </a:prstGeom>
          <a:noFill/>
        </p:spPr>
        <p:txBody>
          <a:bodyPr wrap="square" lIns="0" tIns="0" rIns="0" bIns="0"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10000"/>
              </a:lnSpc>
              <a:spcBef>
                <a:spcPts val="0"/>
              </a:spcBef>
              <a:spcAft>
                <a:spcPts val="600"/>
              </a:spcAft>
              <a:buClrTx/>
              <a:buSzTx/>
              <a:buFontTx/>
              <a:buNone/>
              <a:tabLst/>
              <a:defRPr/>
            </a:pPr>
            <a:r>
              <a:rPr kumimoji="0" lang="en-US" sz="1200" b="1" i="0" u="sng" strike="noStrike" kern="1200" cap="none" spc="0" normalizeH="0" baseline="0" noProof="0">
                <a:ln>
                  <a:noFill/>
                </a:ln>
                <a:solidFill>
                  <a:srgbClr val="304462"/>
                </a:solidFill>
                <a:effectLst/>
                <a:uLnTx/>
                <a:uFillTx/>
                <a:latin typeface="Arial"/>
                <a:ea typeface="+mn-ea"/>
                <a:cs typeface="+mn-cs"/>
              </a:rPr>
              <a:t>Critical Path to Deployment</a:t>
            </a:r>
            <a:endParaRPr kumimoji="0" lang="en-GB" sz="1200" b="1" i="0" u="sng" strike="noStrike" kern="1200" cap="none" spc="0" normalizeH="0" baseline="0" noProof="0">
              <a:ln>
                <a:noFill/>
              </a:ln>
              <a:solidFill>
                <a:srgbClr val="304462"/>
              </a:solidFill>
              <a:effectLst/>
              <a:uLnTx/>
              <a:uFillTx/>
              <a:latin typeface="Arial"/>
              <a:ea typeface="+mn-ea"/>
              <a:cs typeface="+mn-cs"/>
            </a:endParaRPr>
          </a:p>
        </p:txBody>
      </p:sp>
      <p:cxnSp>
        <p:nvCxnSpPr>
          <p:cNvPr id="7" name="Straight Connector 6">
            <a:extLst>
              <a:ext uri="{FF2B5EF4-FFF2-40B4-BE49-F238E27FC236}">
                <a16:creationId xmlns:a16="http://schemas.microsoft.com/office/drawing/2014/main" id="{4A864B06-82BC-4E78-6D0B-F18A44996B2C}"/>
              </a:ext>
            </a:extLst>
          </p:cNvPr>
          <p:cNvCxnSpPr/>
          <p:nvPr/>
        </p:nvCxnSpPr>
        <p:spPr>
          <a:xfrm>
            <a:off x="7768477" y="22989"/>
            <a:ext cx="1114425" cy="0"/>
          </a:xfrm>
          <a:prstGeom prst="line">
            <a:avLst/>
          </a:prstGeom>
          <a:ln w="76200" cap="flat" cmpd="sng" algn="ctr">
            <a:solidFill>
              <a:srgbClr val="6F8DB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386E3DC-780C-9F66-A3F5-E6B7F6958273}"/>
              </a:ext>
            </a:extLst>
          </p:cNvPr>
          <p:cNvCxnSpPr/>
          <p:nvPr/>
        </p:nvCxnSpPr>
        <p:spPr>
          <a:xfrm>
            <a:off x="8912273" y="22989"/>
            <a:ext cx="1114425" cy="0"/>
          </a:xfrm>
          <a:prstGeom prst="line">
            <a:avLst/>
          </a:prstGeom>
          <a:ln w="38100">
            <a:solidFill>
              <a:srgbClr val="3B5479"/>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BCF75E47-31B8-7514-CDAA-1963ACA8D668}"/>
              </a:ext>
            </a:extLst>
          </p:cNvPr>
          <p:cNvCxnSpPr/>
          <p:nvPr/>
        </p:nvCxnSpPr>
        <p:spPr>
          <a:xfrm>
            <a:off x="10056068" y="22989"/>
            <a:ext cx="1114425" cy="0"/>
          </a:xfrm>
          <a:prstGeom prst="line">
            <a:avLst/>
          </a:prstGeom>
          <a:ln w="38100">
            <a:solidFill>
              <a:srgbClr val="3B5479"/>
            </a:solidFill>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8279D2BE-6F65-FE6E-58FE-7004E1757F4B}"/>
              </a:ext>
            </a:extLst>
          </p:cNvPr>
          <p:cNvSpPr/>
          <p:nvPr/>
        </p:nvSpPr>
        <p:spPr>
          <a:xfrm>
            <a:off x="7768477" y="89664"/>
            <a:ext cx="1114425" cy="179659"/>
          </a:xfrm>
          <a:prstGeom prst="rect">
            <a:avLst/>
          </a:prstGeom>
          <a:solidFill>
            <a:schemeClr val="bg1"/>
          </a:solidFill>
          <a:ln>
            <a:solidFill>
              <a:srgbClr val="6F8DB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rgbClr val="6F8DB9"/>
                </a:solidFill>
              </a:rPr>
              <a:t>Executive Summary</a:t>
            </a:r>
            <a:endParaRPr lang="en-US" sz="800">
              <a:solidFill>
                <a:srgbClr val="6F8DB9"/>
              </a:solidFill>
              <a:cs typeface="Arial"/>
            </a:endParaRPr>
          </a:p>
        </p:txBody>
      </p:sp>
      <p:cxnSp>
        <p:nvCxnSpPr>
          <p:cNvPr id="11" name="Straight Connector 10">
            <a:extLst>
              <a:ext uri="{FF2B5EF4-FFF2-40B4-BE49-F238E27FC236}">
                <a16:creationId xmlns:a16="http://schemas.microsoft.com/office/drawing/2014/main" id="{F00B22F3-EB8F-1368-0842-922F3941C285}"/>
              </a:ext>
            </a:extLst>
          </p:cNvPr>
          <p:cNvCxnSpPr>
            <a:cxnSpLocks/>
          </p:cNvCxnSpPr>
          <p:nvPr/>
        </p:nvCxnSpPr>
        <p:spPr>
          <a:xfrm>
            <a:off x="11199863" y="22989"/>
            <a:ext cx="992137"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934560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45"/>
                                        </p:tgtEl>
                                        <p:attrNameLst>
                                          <p:attrName>style.visibility</p:attrName>
                                        </p:attrNameLst>
                                      </p:cBhvr>
                                      <p:to>
                                        <p:strVal val="visible"/>
                                      </p:to>
                                    </p:set>
                                    <p:anim calcmode="lin" valueType="num">
                                      <p:cBhvr additive="base">
                                        <p:cTn id="7" dur="500" fill="hold"/>
                                        <p:tgtEl>
                                          <p:spTgt spid="45"/>
                                        </p:tgtEl>
                                        <p:attrNameLst>
                                          <p:attrName>ppt_x</p:attrName>
                                        </p:attrNameLst>
                                      </p:cBhvr>
                                      <p:tavLst>
                                        <p:tav tm="0">
                                          <p:val>
                                            <p:strVal val="#ppt_x"/>
                                          </p:val>
                                        </p:tav>
                                        <p:tav tm="100000">
                                          <p:val>
                                            <p:strVal val="#ppt_x"/>
                                          </p:val>
                                        </p:tav>
                                      </p:tavLst>
                                    </p:anim>
                                    <p:anim calcmode="lin" valueType="num">
                                      <p:cBhvr additive="base">
                                        <p:cTn id="8" dur="500" fill="hold"/>
                                        <p:tgtEl>
                                          <p:spTgt spid="45"/>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grpId="0" nodeType="afterEffect">
                                  <p:stCondLst>
                                    <p:cond delay="0"/>
                                  </p:stCondLst>
                                  <p:childTnLst>
                                    <p:set>
                                      <p:cBhvr>
                                        <p:cTn id="11" dur="1" fill="hold">
                                          <p:stCondLst>
                                            <p:cond delay="0"/>
                                          </p:stCondLst>
                                        </p:cTn>
                                        <p:tgtEl>
                                          <p:spTgt spid="51"/>
                                        </p:tgtEl>
                                        <p:attrNameLst>
                                          <p:attrName>style.visibility</p:attrName>
                                        </p:attrNameLst>
                                      </p:cBhvr>
                                      <p:to>
                                        <p:strVal val="visible"/>
                                      </p:to>
                                    </p:set>
                                    <p:anim calcmode="lin" valueType="num">
                                      <p:cBhvr>
                                        <p:cTn id="12" dur="500" fill="hold"/>
                                        <p:tgtEl>
                                          <p:spTgt spid="51"/>
                                        </p:tgtEl>
                                        <p:attrNameLst>
                                          <p:attrName>ppt_w</p:attrName>
                                        </p:attrNameLst>
                                      </p:cBhvr>
                                      <p:tavLst>
                                        <p:tav tm="0">
                                          <p:val>
                                            <p:fltVal val="0"/>
                                          </p:val>
                                        </p:tav>
                                        <p:tav tm="100000">
                                          <p:val>
                                            <p:strVal val="#ppt_w"/>
                                          </p:val>
                                        </p:tav>
                                      </p:tavLst>
                                    </p:anim>
                                    <p:anim calcmode="lin" valueType="num">
                                      <p:cBhvr>
                                        <p:cTn id="13" dur="500" fill="hold"/>
                                        <p:tgtEl>
                                          <p:spTgt spid="51"/>
                                        </p:tgtEl>
                                        <p:attrNameLst>
                                          <p:attrName>ppt_h</p:attrName>
                                        </p:attrNameLst>
                                      </p:cBhvr>
                                      <p:tavLst>
                                        <p:tav tm="0">
                                          <p:val>
                                            <p:fltVal val="0"/>
                                          </p:val>
                                        </p:tav>
                                        <p:tav tm="100000">
                                          <p:val>
                                            <p:strVal val="#ppt_h"/>
                                          </p:val>
                                        </p:tav>
                                      </p:tavLst>
                                    </p:anim>
                                    <p:animEffect transition="in" filter="fade">
                                      <p:cBhvr>
                                        <p:cTn id="14" dur="500"/>
                                        <p:tgtEl>
                                          <p:spTgt spid="51"/>
                                        </p:tgtEl>
                                      </p:cBhvr>
                                    </p:animEffect>
                                  </p:childTnLst>
                                </p:cTn>
                              </p:par>
                            </p:childTnLst>
                          </p:cTn>
                        </p:par>
                        <p:par>
                          <p:cTn id="15" fill="hold">
                            <p:stCondLst>
                              <p:cond delay="1000"/>
                            </p:stCondLst>
                            <p:childTnLst>
                              <p:par>
                                <p:cTn id="16" presetID="53" presetClass="entr" presetSubtype="16" fill="hold" grpId="0" nodeType="afterEffect">
                                  <p:stCondLst>
                                    <p:cond delay="0"/>
                                  </p:stCondLst>
                                  <p:childTnLst>
                                    <p:set>
                                      <p:cBhvr>
                                        <p:cTn id="17" dur="1" fill="hold">
                                          <p:stCondLst>
                                            <p:cond delay="0"/>
                                          </p:stCondLst>
                                        </p:cTn>
                                        <p:tgtEl>
                                          <p:spTgt spid="53"/>
                                        </p:tgtEl>
                                        <p:attrNameLst>
                                          <p:attrName>style.visibility</p:attrName>
                                        </p:attrNameLst>
                                      </p:cBhvr>
                                      <p:to>
                                        <p:strVal val="visible"/>
                                      </p:to>
                                    </p:set>
                                    <p:anim calcmode="lin" valueType="num">
                                      <p:cBhvr>
                                        <p:cTn id="18" dur="500" fill="hold"/>
                                        <p:tgtEl>
                                          <p:spTgt spid="53"/>
                                        </p:tgtEl>
                                        <p:attrNameLst>
                                          <p:attrName>ppt_w</p:attrName>
                                        </p:attrNameLst>
                                      </p:cBhvr>
                                      <p:tavLst>
                                        <p:tav tm="0">
                                          <p:val>
                                            <p:fltVal val="0"/>
                                          </p:val>
                                        </p:tav>
                                        <p:tav tm="100000">
                                          <p:val>
                                            <p:strVal val="#ppt_w"/>
                                          </p:val>
                                        </p:tav>
                                      </p:tavLst>
                                    </p:anim>
                                    <p:anim calcmode="lin" valueType="num">
                                      <p:cBhvr>
                                        <p:cTn id="19" dur="500" fill="hold"/>
                                        <p:tgtEl>
                                          <p:spTgt spid="53"/>
                                        </p:tgtEl>
                                        <p:attrNameLst>
                                          <p:attrName>ppt_h</p:attrName>
                                        </p:attrNameLst>
                                      </p:cBhvr>
                                      <p:tavLst>
                                        <p:tav tm="0">
                                          <p:val>
                                            <p:fltVal val="0"/>
                                          </p:val>
                                        </p:tav>
                                        <p:tav tm="100000">
                                          <p:val>
                                            <p:strVal val="#ppt_h"/>
                                          </p:val>
                                        </p:tav>
                                      </p:tavLst>
                                    </p:anim>
                                    <p:animEffect transition="in" filter="fade">
                                      <p:cBhvr>
                                        <p:cTn id="20" dur="500"/>
                                        <p:tgtEl>
                                          <p:spTgt spid="53"/>
                                        </p:tgtEl>
                                      </p:cBhvr>
                                    </p:animEffect>
                                  </p:childTnLst>
                                </p:cTn>
                              </p:par>
                            </p:childTnLst>
                          </p:cTn>
                        </p:par>
                        <p:par>
                          <p:cTn id="21" fill="hold">
                            <p:stCondLst>
                              <p:cond delay="1500"/>
                            </p:stCondLst>
                            <p:childTnLst>
                              <p:par>
                                <p:cTn id="22" presetID="53" presetClass="entr" presetSubtype="16" fill="hold" grpId="0" nodeType="afterEffect">
                                  <p:stCondLst>
                                    <p:cond delay="0"/>
                                  </p:stCondLst>
                                  <p:childTnLst>
                                    <p:set>
                                      <p:cBhvr>
                                        <p:cTn id="23" dur="1" fill="hold">
                                          <p:stCondLst>
                                            <p:cond delay="0"/>
                                          </p:stCondLst>
                                        </p:cTn>
                                        <p:tgtEl>
                                          <p:spTgt spid="54"/>
                                        </p:tgtEl>
                                        <p:attrNameLst>
                                          <p:attrName>style.visibility</p:attrName>
                                        </p:attrNameLst>
                                      </p:cBhvr>
                                      <p:to>
                                        <p:strVal val="visible"/>
                                      </p:to>
                                    </p:set>
                                    <p:anim calcmode="lin" valueType="num">
                                      <p:cBhvr>
                                        <p:cTn id="24" dur="500" fill="hold"/>
                                        <p:tgtEl>
                                          <p:spTgt spid="54"/>
                                        </p:tgtEl>
                                        <p:attrNameLst>
                                          <p:attrName>ppt_w</p:attrName>
                                        </p:attrNameLst>
                                      </p:cBhvr>
                                      <p:tavLst>
                                        <p:tav tm="0">
                                          <p:val>
                                            <p:fltVal val="0"/>
                                          </p:val>
                                        </p:tav>
                                        <p:tav tm="100000">
                                          <p:val>
                                            <p:strVal val="#ppt_w"/>
                                          </p:val>
                                        </p:tav>
                                      </p:tavLst>
                                    </p:anim>
                                    <p:anim calcmode="lin" valueType="num">
                                      <p:cBhvr>
                                        <p:cTn id="25" dur="500" fill="hold"/>
                                        <p:tgtEl>
                                          <p:spTgt spid="54"/>
                                        </p:tgtEl>
                                        <p:attrNameLst>
                                          <p:attrName>ppt_h</p:attrName>
                                        </p:attrNameLst>
                                      </p:cBhvr>
                                      <p:tavLst>
                                        <p:tav tm="0">
                                          <p:val>
                                            <p:fltVal val="0"/>
                                          </p:val>
                                        </p:tav>
                                        <p:tav tm="100000">
                                          <p:val>
                                            <p:strVal val="#ppt_h"/>
                                          </p:val>
                                        </p:tav>
                                      </p:tavLst>
                                    </p:anim>
                                    <p:animEffect transition="in" filter="fade">
                                      <p:cBhvr>
                                        <p:cTn id="26" dur="500"/>
                                        <p:tgtEl>
                                          <p:spTgt spid="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 grpId="0" animBg="1"/>
      <p:bldP spid="53" grpId="0" animBg="1"/>
      <p:bldP spid="54"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C98D8E-42DC-4661-E7AF-AE0F2126632E}"/>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FC38880-A59A-02BB-3590-97FF3BA16E0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9FC38880-A59A-02BB-3590-97FF3BA16E09}"/>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pic>
        <p:nvPicPr>
          <p:cNvPr id="49" name="Picture 48">
            <a:extLst>
              <a:ext uri="{FF2B5EF4-FFF2-40B4-BE49-F238E27FC236}">
                <a16:creationId xmlns:a16="http://schemas.microsoft.com/office/drawing/2014/main" id="{18E6B64A-F3A0-9F85-739B-1A10765EFAE9}"/>
              </a:ext>
            </a:extLst>
          </p:cNvPr>
          <p:cNvPicPr>
            <a:picLocks noChangeAspect="1"/>
          </p:cNvPicPr>
          <p:nvPr/>
        </p:nvPicPr>
        <p:blipFill>
          <a:blip r:embed="rId6"/>
          <a:stretch>
            <a:fillRect/>
          </a:stretch>
        </p:blipFill>
        <p:spPr>
          <a:xfrm>
            <a:off x="812924" y="1431646"/>
            <a:ext cx="5923769" cy="4819232"/>
          </a:xfrm>
          <a:prstGeom prst="rect">
            <a:avLst/>
          </a:prstGeom>
          <a:ln w="19050">
            <a:solidFill>
              <a:srgbClr val="95ABCB"/>
            </a:solidFill>
          </a:ln>
          <a:effectLst>
            <a:outerShdw blurRad="50800" dist="38100" dir="10800000" algn="r" rotWithShape="0">
              <a:prstClr val="black">
                <a:alpha val="40000"/>
              </a:prstClr>
            </a:outerShdw>
          </a:effectLst>
        </p:spPr>
      </p:pic>
      <p:sp>
        <p:nvSpPr>
          <p:cNvPr id="17" name="Title 16">
            <a:extLst>
              <a:ext uri="{FF2B5EF4-FFF2-40B4-BE49-F238E27FC236}">
                <a16:creationId xmlns:a16="http://schemas.microsoft.com/office/drawing/2014/main" id="{0027F56C-0ADA-3C88-113C-CBBCA41A9A11}"/>
              </a:ext>
            </a:extLst>
          </p:cNvPr>
          <p:cNvSpPr>
            <a:spLocks noGrp="1"/>
          </p:cNvSpPr>
          <p:nvPr>
            <p:ph type="title"/>
          </p:nvPr>
        </p:nvSpPr>
        <p:spPr>
          <a:xfrm>
            <a:off x="495600" y="749917"/>
            <a:ext cx="11192256" cy="701410"/>
          </a:xfrm>
        </p:spPr>
        <p:txBody>
          <a:bodyPr vert="horz">
            <a:noAutofit/>
          </a:bodyPr>
          <a:lstStyle/>
          <a:p>
            <a:r>
              <a:rPr lang="en-US" sz="2800" dirty="0">
                <a:solidFill>
                  <a:srgbClr val="00338D"/>
                </a:solidFill>
                <a:latin typeface="Calibri" panose="020F0502020204030204" pitchFamily="34" charset="0"/>
                <a:cs typeface="Calibri" panose="020F0502020204030204" pitchFamily="34" charset="0"/>
              </a:rPr>
              <a:t>Michigan's $1.56B Mission: Connecting 500,000 Unserved Locations</a:t>
            </a:r>
            <a:br>
              <a:rPr lang="en-US" sz="2800" i="1" dirty="0">
                <a:solidFill>
                  <a:srgbClr val="00338D"/>
                </a:solidFill>
                <a:latin typeface="Calibri" panose="020F0502020204030204" pitchFamily="34" charset="0"/>
                <a:cs typeface="Calibri" panose="020F0502020204030204" pitchFamily="34" charset="0"/>
              </a:rPr>
            </a:br>
            <a:br>
              <a:rPr lang="en-US" sz="2800" dirty="0">
                <a:solidFill>
                  <a:schemeClr val="tx1"/>
                </a:solidFill>
                <a:latin typeface="Calibri" panose="020F0502020204030204" pitchFamily="34" charset="0"/>
                <a:cs typeface="Calibri" panose="020F0502020204030204" pitchFamily="34" charset="0"/>
              </a:rPr>
            </a:br>
            <a:endParaRPr lang="en-US" sz="2800" dirty="0">
              <a:solidFill>
                <a:schemeClr val="tx1"/>
              </a:solidFill>
              <a:latin typeface="Calibri" panose="020F0502020204030204" pitchFamily="34" charset="0"/>
              <a:cs typeface="Calibri" panose="020F0502020204030204" pitchFamily="34" charset="0"/>
            </a:endParaRPr>
          </a:p>
        </p:txBody>
      </p:sp>
      <p:sp>
        <p:nvSpPr>
          <p:cNvPr id="5" name="Title 1">
            <a:extLst>
              <a:ext uri="{FF2B5EF4-FFF2-40B4-BE49-F238E27FC236}">
                <a16:creationId xmlns:a16="http://schemas.microsoft.com/office/drawing/2014/main" id="{EEF662E8-6959-40A1-4379-BF89D559F680}"/>
              </a:ext>
            </a:extLst>
          </p:cNvPr>
          <p:cNvSpPr txBox="1">
            <a:spLocks/>
          </p:cNvSpPr>
          <p:nvPr/>
        </p:nvSpPr>
        <p:spPr>
          <a:xfrm>
            <a:off x="501927" y="407548"/>
            <a:ext cx="11213148" cy="533400"/>
          </a:xfrm>
          <a:prstGeom prst="rect">
            <a:avLst/>
          </a:prstGeom>
        </p:spPr>
        <p:txBody>
          <a:bodyPr vert="horz" lIns="91440" tIns="45720" rIns="91440" bIns="45720" rtlCol="0" anchor="b">
            <a:no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US" sz="4000" b="0" i="0" u="none" strike="noStrike" kern="1200" cap="none" spc="0" normalizeH="0" baseline="0" noProof="0">
              <a:ln>
                <a:noFill/>
              </a:ln>
              <a:solidFill>
                <a:srgbClr val="00338D"/>
              </a:solidFill>
              <a:effectLst/>
              <a:uLnTx/>
              <a:uFillTx/>
              <a:latin typeface="KPMG Bold" panose="020B0803030202040204" pitchFamily="34" charset="0"/>
              <a:ea typeface="+mj-ea"/>
              <a:cs typeface="Arial" panose="020B0604020202020204" pitchFamily="34" charset="0"/>
            </a:endParaRPr>
          </a:p>
        </p:txBody>
      </p:sp>
      <p:sp>
        <p:nvSpPr>
          <p:cNvPr id="11" name="TextBox 10">
            <a:extLst>
              <a:ext uri="{FF2B5EF4-FFF2-40B4-BE49-F238E27FC236}">
                <a16:creationId xmlns:a16="http://schemas.microsoft.com/office/drawing/2014/main" id="{759A0457-F591-055D-43D2-A9C457018B84}"/>
              </a:ext>
            </a:extLst>
          </p:cNvPr>
          <p:cNvSpPr txBox="1"/>
          <p:nvPr/>
        </p:nvSpPr>
        <p:spPr>
          <a:xfrm>
            <a:off x="1382233" y="2541181"/>
            <a:ext cx="914400" cy="914400"/>
          </a:xfrm>
          <a:prstGeom prst="rect">
            <a:avLst/>
          </a:prstGeom>
        </p:spPr>
        <p:txBody>
          <a:bodyPr vert="horz" wrap="none" lIns="0" tIns="0" rIns="0" bIns="0" rtlCol="0" anchor="t" anchorCtr="0">
            <a:noAutofit/>
          </a:bodyPr>
          <a:lstStyle/>
          <a:p>
            <a:pPr marL="0" marR="0" lvl="0" indent="0" algn="l" defTabSz="914400" rtl="0" eaLnBrk="1" fontAlgn="auto" latinLnBrk="0" hangingPunct="1">
              <a:lnSpc>
                <a:spcPct val="100000"/>
              </a:lnSpc>
              <a:spcBef>
                <a:spcPts val="0"/>
              </a:spcBef>
              <a:spcAft>
                <a:spcPts val="600"/>
              </a:spcAft>
              <a:buClrTx/>
              <a:buSzTx/>
              <a:buFontTx/>
              <a:buNone/>
              <a:tabLst/>
              <a:defRPr/>
            </a:pPr>
            <a:endParaRPr kumimoji="0" lang="en-US" sz="1500" b="1" i="0" u="none" strike="noStrike" kern="1200" cap="none" spc="0" normalizeH="0" baseline="0" noProof="0">
              <a:ln>
                <a:noFill/>
              </a:ln>
              <a:solidFill>
                <a:srgbClr val="00338D"/>
              </a:solidFill>
              <a:effectLst/>
              <a:uLnTx/>
              <a:uFillTx/>
              <a:latin typeface="Arial"/>
              <a:ea typeface="+mn-ea"/>
              <a:cs typeface="+mn-cs"/>
            </a:endParaRPr>
          </a:p>
        </p:txBody>
      </p:sp>
      <p:sp>
        <p:nvSpPr>
          <p:cNvPr id="16" name="Text Placeholder 15">
            <a:extLst>
              <a:ext uri="{FF2B5EF4-FFF2-40B4-BE49-F238E27FC236}">
                <a16:creationId xmlns:a16="http://schemas.microsoft.com/office/drawing/2014/main" id="{86290494-15B6-E8CE-D8D5-93245B2EB545}"/>
              </a:ext>
            </a:extLst>
          </p:cNvPr>
          <p:cNvSpPr>
            <a:spLocks noGrp="1"/>
          </p:cNvSpPr>
          <p:nvPr>
            <p:ph type="body" sz="quarter" idx="20"/>
          </p:nvPr>
        </p:nvSpPr>
        <p:spPr/>
        <p:txBody>
          <a:bodyPr/>
          <a:lstStyle/>
          <a:p>
            <a:r>
              <a:rPr lang="en-US" dirty="0"/>
              <a:t>State of Michigan: Lay of the land</a:t>
            </a:r>
          </a:p>
        </p:txBody>
      </p:sp>
      <p:sp>
        <p:nvSpPr>
          <p:cNvPr id="51" name="Rectangle 50">
            <a:extLst>
              <a:ext uri="{FF2B5EF4-FFF2-40B4-BE49-F238E27FC236}">
                <a16:creationId xmlns:a16="http://schemas.microsoft.com/office/drawing/2014/main" id="{5EDB7655-C4FB-490D-1854-9E40C96BDD56}"/>
              </a:ext>
            </a:extLst>
          </p:cNvPr>
          <p:cNvSpPr/>
          <p:nvPr/>
        </p:nvSpPr>
        <p:spPr>
          <a:xfrm>
            <a:off x="6777173" y="1034001"/>
            <a:ext cx="4910683" cy="5368294"/>
          </a:xfrm>
          <a:prstGeom prst="rect">
            <a:avLst/>
          </a:prstGeom>
          <a:solidFill>
            <a:srgbClr val="3B547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endParaRPr>
          </a:p>
        </p:txBody>
      </p:sp>
      <p:sp>
        <p:nvSpPr>
          <p:cNvPr id="52" name="Isosceles Triangle 51">
            <a:extLst>
              <a:ext uri="{FF2B5EF4-FFF2-40B4-BE49-F238E27FC236}">
                <a16:creationId xmlns:a16="http://schemas.microsoft.com/office/drawing/2014/main" id="{ED7C4BC2-6AF5-2FA8-1DAA-40779C4B988F}"/>
              </a:ext>
            </a:extLst>
          </p:cNvPr>
          <p:cNvSpPr/>
          <p:nvPr/>
        </p:nvSpPr>
        <p:spPr>
          <a:xfrm rot="5400000">
            <a:off x="6725350" y="3683431"/>
            <a:ext cx="419309" cy="315662"/>
          </a:xfrm>
          <a:prstGeom prst="triangle">
            <a:avLst/>
          </a:prstGeom>
          <a:solidFill>
            <a:schemeClr val="bg1">
              <a:lumMod val="10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endParaRPr>
          </a:p>
        </p:txBody>
      </p:sp>
      <p:grpSp>
        <p:nvGrpSpPr>
          <p:cNvPr id="65" name="Group 64">
            <a:extLst>
              <a:ext uri="{FF2B5EF4-FFF2-40B4-BE49-F238E27FC236}">
                <a16:creationId xmlns:a16="http://schemas.microsoft.com/office/drawing/2014/main" id="{DA3B9265-5B52-93FF-109F-6A1270DF5E4D}"/>
              </a:ext>
            </a:extLst>
          </p:cNvPr>
          <p:cNvGrpSpPr/>
          <p:nvPr/>
        </p:nvGrpSpPr>
        <p:grpSpPr>
          <a:xfrm>
            <a:off x="4750438" y="1595281"/>
            <a:ext cx="2085308" cy="568899"/>
            <a:chOff x="5036637" y="1577871"/>
            <a:chExt cx="2085308" cy="568899"/>
          </a:xfrm>
        </p:grpSpPr>
        <p:sp>
          <p:nvSpPr>
            <p:cNvPr id="50" name="Rectangle 49">
              <a:extLst>
                <a:ext uri="{FF2B5EF4-FFF2-40B4-BE49-F238E27FC236}">
                  <a16:creationId xmlns:a16="http://schemas.microsoft.com/office/drawing/2014/main" id="{6F6107A0-585F-992A-F089-645BF9EB517B}"/>
                </a:ext>
              </a:extLst>
            </p:cNvPr>
            <p:cNvSpPr/>
            <p:nvPr/>
          </p:nvSpPr>
          <p:spPr>
            <a:xfrm>
              <a:off x="5270000" y="1851138"/>
              <a:ext cx="1647887" cy="134434"/>
            </a:xfrm>
            <a:prstGeom prst="rect">
              <a:avLst/>
            </a:prstGeom>
            <a:gradFill flip="none" rotWithShape="1">
              <a:gsLst>
                <a:gs pos="0">
                  <a:srgbClr val="08519C"/>
                </a:gs>
                <a:gs pos="55000">
                  <a:srgbClr val="6DAFD6"/>
                </a:gs>
                <a:gs pos="100000">
                  <a:srgbClr val="E4EDFA"/>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endParaRPr>
            </a:p>
          </p:txBody>
        </p:sp>
        <p:sp>
          <p:nvSpPr>
            <p:cNvPr id="53" name="Rectangle 52">
              <a:extLst>
                <a:ext uri="{FF2B5EF4-FFF2-40B4-BE49-F238E27FC236}">
                  <a16:creationId xmlns:a16="http://schemas.microsoft.com/office/drawing/2014/main" id="{C0962A4E-B5AB-7F0B-8337-7F24D07392F9}"/>
                </a:ext>
              </a:extLst>
            </p:cNvPr>
            <p:cNvSpPr/>
            <p:nvPr/>
          </p:nvSpPr>
          <p:spPr>
            <a:xfrm rot="10800000" flipV="1">
              <a:off x="5541493" y="1577871"/>
              <a:ext cx="1104900" cy="239252"/>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tx1">
                      <a:lumMod val="100000"/>
                    </a:schemeClr>
                  </a:solidFill>
                </a:rPr>
                <a:t>BEAD Eligible BSLs*</a:t>
              </a:r>
            </a:p>
          </p:txBody>
        </p:sp>
        <p:sp>
          <p:nvSpPr>
            <p:cNvPr id="54" name="Rectangle 53">
              <a:extLst>
                <a:ext uri="{FF2B5EF4-FFF2-40B4-BE49-F238E27FC236}">
                  <a16:creationId xmlns:a16="http://schemas.microsoft.com/office/drawing/2014/main" id="{F069FE77-AC7A-AF0F-8D41-7F34B67E23E0}"/>
                </a:ext>
              </a:extLst>
            </p:cNvPr>
            <p:cNvSpPr/>
            <p:nvPr/>
          </p:nvSpPr>
          <p:spPr>
            <a:xfrm>
              <a:off x="5036637" y="2019587"/>
              <a:ext cx="466725" cy="127183"/>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tx1">
                      <a:lumMod val="100000"/>
                    </a:schemeClr>
                  </a:solidFill>
                </a:rPr>
                <a:t>&gt;1500</a:t>
              </a:r>
            </a:p>
          </p:txBody>
        </p:sp>
        <p:sp>
          <p:nvSpPr>
            <p:cNvPr id="55" name="Rectangle 54">
              <a:extLst>
                <a:ext uri="{FF2B5EF4-FFF2-40B4-BE49-F238E27FC236}">
                  <a16:creationId xmlns:a16="http://schemas.microsoft.com/office/drawing/2014/main" id="{F3ADC248-4287-21C1-A461-F7E613D46EA3}"/>
                </a:ext>
              </a:extLst>
            </p:cNvPr>
            <p:cNvSpPr/>
            <p:nvPr/>
          </p:nvSpPr>
          <p:spPr>
            <a:xfrm>
              <a:off x="5860580" y="2019587"/>
              <a:ext cx="466725" cy="127183"/>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tx1">
                      <a:lumMod val="100000"/>
                    </a:schemeClr>
                  </a:solidFill>
                </a:rPr>
                <a:t>750</a:t>
              </a:r>
            </a:p>
          </p:txBody>
        </p:sp>
        <p:sp>
          <p:nvSpPr>
            <p:cNvPr id="56" name="Rectangle 55">
              <a:extLst>
                <a:ext uri="{FF2B5EF4-FFF2-40B4-BE49-F238E27FC236}">
                  <a16:creationId xmlns:a16="http://schemas.microsoft.com/office/drawing/2014/main" id="{988B51B2-50D3-6EC9-9E93-930C431CCB44}"/>
                </a:ext>
              </a:extLst>
            </p:cNvPr>
            <p:cNvSpPr/>
            <p:nvPr/>
          </p:nvSpPr>
          <p:spPr>
            <a:xfrm>
              <a:off x="6655220" y="2010393"/>
              <a:ext cx="466725" cy="127183"/>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chemeClr val="tx1">
                      <a:lumMod val="100000"/>
                    </a:schemeClr>
                  </a:solidFill>
                </a:rPr>
                <a:t>0</a:t>
              </a:r>
            </a:p>
          </p:txBody>
        </p:sp>
        <p:cxnSp>
          <p:nvCxnSpPr>
            <p:cNvPr id="57" name="Straight Connector 56">
              <a:extLst>
                <a:ext uri="{FF2B5EF4-FFF2-40B4-BE49-F238E27FC236}">
                  <a16:creationId xmlns:a16="http://schemas.microsoft.com/office/drawing/2014/main" id="{2402A8A9-61F9-CDF2-3623-3C2152D263FD}"/>
                </a:ext>
              </a:extLst>
            </p:cNvPr>
            <p:cNvCxnSpPr>
              <a:cxnSpLocks/>
            </p:cNvCxnSpPr>
            <p:nvPr/>
          </p:nvCxnSpPr>
          <p:spPr>
            <a:xfrm>
              <a:off x="5272672" y="1779890"/>
              <a:ext cx="2" cy="239697"/>
            </a:xfrm>
            <a:prstGeom prst="line">
              <a:avLst/>
            </a:prstGeom>
            <a:ln w="12700" cap="flat" cmpd="sng" algn="ctr">
              <a:solidFill>
                <a:schemeClr val="tx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C58F0317-A84A-B060-82E7-B3DBB4394B59}"/>
                </a:ext>
              </a:extLst>
            </p:cNvPr>
            <p:cNvCxnSpPr>
              <a:cxnSpLocks/>
            </p:cNvCxnSpPr>
            <p:nvPr/>
          </p:nvCxnSpPr>
          <p:spPr>
            <a:xfrm>
              <a:off x="6093942" y="1779889"/>
              <a:ext cx="2" cy="239697"/>
            </a:xfrm>
            <a:prstGeom prst="line">
              <a:avLst/>
            </a:prstGeom>
            <a:ln w="12700" cap="flat" cmpd="sng" algn="ctr">
              <a:solidFill>
                <a:schemeClr val="tx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E0356389-FA8E-5CE2-689D-75A64616C360}"/>
                </a:ext>
              </a:extLst>
            </p:cNvPr>
            <p:cNvCxnSpPr>
              <a:cxnSpLocks/>
            </p:cNvCxnSpPr>
            <p:nvPr/>
          </p:nvCxnSpPr>
          <p:spPr>
            <a:xfrm>
              <a:off x="6888579" y="1783682"/>
              <a:ext cx="2" cy="239697"/>
            </a:xfrm>
            <a:prstGeom prst="line">
              <a:avLst/>
            </a:prstGeom>
            <a:ln w="12700" cap="flat" cmpd="sng" algn="ctr">
              <a:solidFill>
                <a:schemeClr val="tx1">
                  <a:lumMod val="100000"/>
                </a:schemeClr>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6" name="Rectangle: Top Corners Rounded 65">
            <a:extLst>
              <a:ext uri="{FF2B5EF4-FFF2-40B4-BE49-F238E27FC236}">
                <a16:creationId xmlns:a16="http://schemas.microsoft.com/office/drawing/2014/main" id="{BDABAE98-B14E-0422-C1EA-F40B9D7139E6}"/>
              </a:ext>
            </a:extLst>
          </p:cNvPr>
          <p:cNvSpPr/>
          <p:nvPr/>
        </p:nvSpPr>
        <p:spPr>
          <a:xfrm rot="10800000">
            <a:off x="7216144" y="1034001"/>
            <a:ext cx="4041773" cy="286438"/>
          </a:xfrm>
          <a:prstGeom prst="round2SameRect">
            <a:avLst/>
          </a:prstGeom>
          <a:solidFill>
            <a:srgbClr val="EAEAEA"/>
          </a:solidFill>
          <a:ln w="9525" cap="flat" cmpd="sng" algn="ctr">
            <a:solidFill>
              <a:srgbClr val="0C233C"/>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en-US" sz="1000" b="1">
              <a:solidFill>
                <a:schemeClr val="tx1"/>
              </a:solidFill>
            </a:endParaRPr>
          </a:p>
        </p:txBody>
      </p:sp>
      <p:cxnSp>
        <p:nvCxnSpPr>
          <p:cNvPr id="67" name="Straight Connector 66">
            <a:extLst>
              <a:ext uri="{FF2B5EF4-FFF2-40B4-BE49-F238E27FC236}">
                <a16:creationId xmlns:a16="http://schemas.microsoft.com/office/drawing/2014/main" id="{B1FDC33B-3EC1-E0B1-B043-7DD295F1794C}"/>
              </a:ext>
            </a:extLst>
          </p:cNvPr>
          <p:cNvCxnSpPr>
            <a:cxnSpLocks/>
          </p:cNvCxnSpPr>
          <p:nvPr/>
        </p:nvCxnSpPr>
        <p:spPr>
          <a:xfrm>
            <a:off x="7155824" y="1468352"/>
            <a:ext cx="2244194" cy="0"/>
          </a:xfrm>
          <a:prstGeom prst="line">
            <a:avLst/>
          </a:prstGeom>
          <a:ln w="12700" cap="flat" cmpd="sng" algn="ctr">
            <a:solidFill>
              <a:srgbClr val="95ABCB"/>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7D01A763-61FD-3B5F-8FC7-E9DF3BC94AA6}"/>
              </a:ext>
            </a:extLst>
          </p:cNvPr>
          <p:cNvCxnSpPr>
            <a:cxnSpLocks/>
          </p:cNvCxnSpPr>
          <p:nvPr/>
        </p:nvCxnSpPr>
        <p:spPr>
          <a:xfrm>
            <a:off x="7216144" y="1400014"/>
            <a:ext cx="0" cy="1308931"/>
          </a:xfrm>
          <a:prstGeom prst="line">
            <a:avLst/>
          </a:prstGeom>
          <a:ln w="12700" cap="flat" cmpd="sng" algn="ctr">
            <a:solidFill>
              <a:srgbClr val="95ABCB"/>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9" name="Rectangle 68">
            <a:extLst>
              <a:ext uri="{FF2B5EF4-FFF2-40B4-BE49-F238E27FC236}">
                <a16:creationId xmlns:a16="http://schemas.microsoft.com/office/drawing/2014/main" id="{BCC8864A-609F-1380-4227-32CF388DCED9}"/>
              </a:ext>
            </a:extLst>
          </p:cNvPr>
          <p:cNvSpPr/>
          <p:nvPr/>
        </p:nvSpPr>
        <p:spPr>
          <a:xfrm>
            <a:off x="7653474" y="1618101"/>
            <a:ext cx="3543298" cy="187062"/>
          </a:xfrm>
          <a:prstGeom prst="rect">
            <a:avLst/>
          </a:prstGeom>
          <a:solidFill>
            <a:srgbClr val="3B5479"/>
          </a:solidFill>
          <a:ln w="9525" cap="flat" cmpd="sng" algn="ctr">
            <a:solidFill>
              <a:schemeClr val="bg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dirty="0">
                <a:solidFill>
                  <a:schemeClr val="bg1"/>
                </a:solidFill>
              </a:rPr>
              <a:t>$1.559 Billion: </a:t>
            </a:r>
            <a:r>
              <a:rPr lang="en-US" sz="1000" dirty="0">
                <a:solidFill>
                  <a:schemeClr val="bg1"/>
                </a:solidFill>
              </a:rPr>
              <a:t>Federal BEAD Program Allocation</a:t>
            </a:r>
            <a:endParaRPr lang="en-US" sz="1000" b="1" dirty="0">
              <a:solidFill>
                <a:schemeClr val="bg1"/>
              </a:solidFill>
            </a:endParaRPr>
          </a:p>
        </p:txBody>
      </p:sp>
      <p:sp>
        <p:nvSpPr>
          <p:cNvPr id="70" name="Rectangle 69">
            <a:extLst>
              <a:ext uri="{FF2B5EF4-FFF2-40B4-BE49-F238E27FC236}">
                <a16:creationId xmlns:a16="http://schemas.microsoft.com/office/drawing/2014/main" id="{5F860BB8-EB66-D73B-2217-646E113AF84F}"/>
              </a:ext>
            </a:extLst>
          </p:cNvPr>
          <p:cNvSpPr/>
          <p:nvPr/>
        </p:nvSpPr>
        <p:spPr>
          <a:xfrm>
            <a:off x="7653474" y="1988276"/>
            <a:ext cx="3543298" cy="331956"/>
          </a:xfrm>
          <a:prstGeom prst="rect">
            <a:avLst/>
          </a:prstGeom>
          <a:solidFill>
            <a:srgbClr val="3B5479"/>
          </a:solidFill>
          <a:ln w="9525" cap="flat" cmpd="sng" algn="ctr">
            <a:solidFill>
              <a:schemeClr val="bg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dirty="0">
                <a:solidFill>
                  <a:schemeClr val="bg1"/>
                </a:solidFill>
              </a:rPr>
              <a:t>~500,000 </a:t>
            </a:r>
            <a:r>
              <a:rPr lang="en-US" sz="1000" dirty="0">
                <a:solidFill>
                  <a:schemeClr val="bg1"/>
                </a:solidFill>
              </a:rPr>
              <a:t>Unserved or Underserved Locations to Be Connected</a:t>
            </a:r>
          </a:p>
        </p:txBody>
      </p:sp>
      <p:sp>
        <p:nvSpPr>
          <p:cNvPr id="71" name="Rectangle 70">
            <a:extLst>
              <a:ext uri="{FF2B5EF4-FFF2-40B4-BE49-F238E27FC236}">
                <a16:creationId xmlns:a16="http://schemas.microsoft.com/office/drawing/2014/main" id="{9E12C936-AFC7-065B-12B0-30A591B302DA}"/>
              </a:ext>
            </a:extLst>
          </p:cNvPr>
          <p:cNvSpPr/>
          <p:nvPr/>
        </p:nvSpPr>
        <p:spPr>
          <a:xfrm>
            <a:off x="7653474" y="2503345"/>
            <a:ext cx="3552818" cy="220166"/>
          </a:xfrm>
          <a:prstGeom prst="rect">
            <a:avLst/>
          </a:prstGeom>
          <a:solidFill>
            <a:srgbClr val="3B5479"/>
          </a:solidFill>
          <a:ln w="9525" cap="flat" cmpd="sng" algn="ctr">
            <a:solidFill>
              <a:schemeClr val="bg1">
                <a:lumMod val="10000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a:solidFill>
                  <a:schemeClr val="bg1"/>
                </a:solidFill>
              </a:rPr>
              <a:t>2030: </a:t>
            </a:r>
            <a:r>
              <a:rPr lang="en-US" sz="1000">
                <a:solidFill>
                  <a:schemeClr val="bg1"/>
                </a:solidFill>
              </a:rPr>
              <a:t>Target year for achieving universal connectivity</a:t>
            </a:r>
            <a:endParaRPr lang="en-US" sz="1000" b="1">
              <a:solidFill>
                <a:schemeClr val="bg1"/>
              </a:solidFill>
            </a:endParaRPr>
          </a:p>
        </p:txBody>
      </p:sp>
      <p:pic>
        <p:nvPicPr>
          <p:cNvPr id="73" name="Graphic 72" descr="Group of people outline">
            <a:extLst>
              <a:ext uri="{FF2B5EF4-FFF2-40B4-BE49-F238E27FC236}">
                <a16:creationId xmlns:a16="http://schemas.microsoft.com/office/drawing/2014/main" id="{865C0E7D-5799-6706-0253-2C13BE3DC8B5}"/>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306002" y="2004087"/>
            <a:ext cx="347472" cy="347472"/>
          </a:xfrm>
          <a:prstGeom prst="rect">
            <a:avLst/>
          </a:prstGeom>
        </p:spPr>
      </p:pic>
      <p:cxnSp>
        <p:nvCxnSpPr>
          <p:cNvPr id="74" name="Straight Connector 73">
            <a:extLst>
              <a:ext uri="{FF2B5EF4-FFF2-40B4-BE49-F238E27FC236}">
                <a16:creationId xmlns:a16="http://schemas.microsoft.com/office/drawing/2014/main" id="{3F5797AB-1C99-8ECC-BCD2-293021EF94F9}"/>
              </a:ext>
            </a:extLst>
          </p:cNvPr>
          <p:cNvCxnSpPr>
            <a:cxnSpLocks/>
          </p:cNvCxnSpPr>
          <p:nvPr/>
        </p:nvCxnSpPr>
        <p:spPr>
          <a:xfrm>
            <a:off x="9279101" y="2899794"/>
            <a:ext cx="2244194" cy="0"/>
          </a:xfrm>
          <a:prstGeom prst="line">
            <a:avLst/>
          </a:prstGeom>
          <a:ln w="12700" cap="flat" cmpd="sng" algn="ctr">
            <a:solidFill>
              <a:srgbClr val="95ABCB"/>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D344BCE1-8BE9-14FA-FC40-E9AF780F12E8}"/>
              </a:ext>
            </a:extLst>
          </p:cNvPr>
          <p:cNvCxnSpPr>
            <a:cxnSpLocks/>
          </p:cNvCxnSpPr>
          <p:nvPr/>
        </p:nvCxnSpPr>
        <p:spPr>
          <a:xfrm>
            <a:off x="11469591" y="1688816"/>
            <a:ext cx="0" cy="1308931"/>
          </a:xfrm>
          <a:prstGeom prst="line">
            <a:avLst/>
          </a:prstGeom>
          <a:ln w="12700" cap="flat" cmpd="sng" algn="ctr">
            <a:solidFill>
              <a:srgbClr val="95ABCB"/>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6" name="Graphic 75" descr="Workflow outline">
            <a:extLst>
              <a:ext uri="{FF2B5EF4-FFF2-40B4-BE49-F238E27FC236}">
                <a16:creationId xmlns:a16="http://schemas.microsoft.com/office/drawing/2014/main" id="{F324EA2F-7B29-45A6-DDD7-6D49B2E3980B}"/>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7329543" y="2428330"/>
            <a:ext cx="347472" cy="347472"/>
          </a:xfrm>
          <a:prstGeom prst="rect">
            <a:avLst/>
          </a:prstGeom>
        </p:spPr>
      </p:pic>
      <p:pic>
        <p:nvPicPr>
          <p:cNvPr id="83" name="Graphic 82" descr="Dollar outline">
            <a:extLst>
              <a:ext uri="{FF2B5EF4-FFF2-40B4-BE49-F238E27FC236}">
                <a16:creationId xmlns:a16="http://schemas.microsoft.com/office/drawing/2014/main" id="{78A49012-4CA1-9321-50A7-532041DFA314}"/>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7306002" y="1552626"/>
            <a:ext cx="347472" cy="347472"/>
          </a:xfrm>
          <a:prstGeom prst="rect">
            <a:avLst/>
          </a:prstGeom>
        </p:spPr>
      </p:pic>
      <p:graphicFrame>
        <p:nvGraphicFramePr>
          <p:cNvPr id="84" name="Table 83">
            <a:extLst>
              <a:ext uri="{FF2B5EF4-FFF2-40B4-BE49-F238E27FC236}">
                <a16:creationId xmlns:a16="http://schemas.microsoft.com/office/drawing/2014/main" id="{0FA308DC-90BE-D036-B78C-909BC389C2B5}"/>
              </a:ext>
            </a:extLst>
          </p:cNvPr>
          <p:cNvGraphicFramePr>
            <a:graphicFrameLocks noGrp="1"/>
          </p:cNvGraphicFramePr>
          <p:nvPr/>
        </p:nvGraphicFramePr>
        <p:xfrm>
          <a:off x="7133316" y="3352329"/>
          <a:ext cx="4336274" cy="2413588"/>
        </p:xfrm>
        <a:graphic>
          <a:graphicData uri="http://schemas.openxmlformats.org/drawingml/2006/table">
            <a:tbl>
              <a:tblPr>
                <a:tableStyleId>{1E171933-4619-4E11-9A3F-F7608DF75F80}</a:tableStyleId>
              </a:tblPr>
              <a:tblGrid>
                <a:gridCol w="1040117">
                  <a:extLst>
                    <a:ext uri="{9D8B030D-6E8A-4147-A177-3AD203B41FA5}">
                      <a16:colId xmlns:a16="http://schemas.microsoft.com/office/drawing/2014/main" val="2183033784"/>
                    </a:ext>
                  </a:extLst>
                </a:gridCol>
                <a:gridCol w="1098719">
                  <a:extLst>
                    <a:ext uri="{9D8B030D-6E8A-4147-A177-3AD203B41FA5}">
                      <a16:colId xmlns:a16="http://schemas.microsoft.com/office/drawing/2014/main" val="3260937238"/>
                    </a:ext>
                  </a:extLst>
                </a:gridCol>
                <a:gridCol w="1098719">
                  <a:extLst>
                    <a:ext uri="{9D8B030D-6E8A-4147-A177-3AD203B41FA5}">
                      <a16:colId xmlns:a16="http://schemas.microsoft.com/office/drawing/2014/main" val="19280819"/>
                    </a:ext>
                  </a:extLst>
                </a:gridCol>
                <a:gridCol w="1098719">
                  <a:extLst>
                    <a:ext uri="{9D8B030D-6E8A-4147-A177-3AD203B41FA5}">
                      <a16:colId xmlns:a16="http://schemas.microsoft.com/office/drawing/2014/main" val="3682877480"/>
                    </a:ext>
                  </a:extLst>
                </a:gridCol>
              </a:tblGrid>
              <a:tr h="427649">
                <a:tc>
                  <a:txBody>
                    <a:bodyPr/>
                    <a:lstStyle/>
                    <a:p>
                      <a:pPr marL="0" marR="0">
                        <a:lnSpc>
                          <a:spcPct val="114000"/>
                        </a:lnSpc>
                        <a:spcBef>
                          <a:spcPts val="600"/>
                        </a:spcBef>
                        <a:spcAft>
                          <a:spcPts val="600"/>
                        </a:spcAft>
                        <a:buNone/>
                      </a:pPr>
                      <a:r>
                        <a:rPr lang="en-US" sz="900" b="1">
                          <a:effectLst/>
                        </a:rPr>
                        <a:t>Status Category</a:t>
                      </a:r>
                      <a:endParaRPr lang="en-US" sz="900" b="1">
                        <a:effectLst/>
                        <a:latin typeface="Arial" panose="020B0604020202020204" pitchFamily="34" charset="0"/>
                        <a:ea typeface="Arial" panose="020B0604020202020204" pitchFamily="34" charset="0"/>
                      </a:endParaRPr>
                    </a:p>
                  </a:txBody>
                  <a:tcPr marL="101827" marR="101827" marT="67884" marB="67884">
                    <a:solidFill>
                      <a:schemeClr val="bg1">
                        <a:lumMod val="95000"/>
                      </a:schemeClr>
                    </a:solidFill>
                  </a:tcPr>
                </a:tc>
                <a:tc>
                  <a:txBody>
                    <a:bodyPr/>
                    <a:lstStyle/>
                    <a:p>
                      <a:pPr marL="0" marR="0">
                        <a:lnSpc>
                          <a:spcPct val="114000"/>
                        </a:lnSpc>
                        <a:spcBef>
                          <a:spcPts val="600"/>
                        </a:spcBef>
                        <a:spcAft>
                          <a:spcPts val="600"/>
                        </a:spcAft>
                        <a:buNone/>
                      </a:pPr>
                      <a:r>
                        <a:rPr lang="en-US" sz="900" b="1">
                          <a:effectLst/>
                        </a:rPr>
                        <a:t>Estimated Locations</a:t>
                      </a:r>
                      <a:endParaRPr lang="en-US" sz="900" b="1">
                        <a:effectLst/>
                        <a:latin typeface="Arial" panose="020B0604020202020204" pitchFamily="34" charset="0"/>
                        <a:ea typeface="Arial" panose="020B0604020202020204" pitchFamily="34" charset="0"/>
                      </a:endParaRPr>
                    </a:p>
                  </a:txBody>
                  <a:tcPr marL="101827" marR="101827" marT="67884" marB="67884">
                    <a:solidFill>
                      <a:schemeClr val="bg1">
                        <a:lumMod val="95000"/>
                      </a:schemeClr>
                    </a:solidFill>
                  </a:tcPr>
                </a:tc>
                <a:tc>
                  <a:txBody>
                    <a:bodyPr/>
                    <a:lstStyle/>
                    <a:p>
                      <a:pPr marL="0" marR="0">
                        <a:lnSpc>
                          <a:spcPct val="114000"/>
                        </a:lnSpc>
                        <a:spcBef>
                          <a:spcPts val="600"/>
                        </a:spcBef>
                        <a:spcAft>
                          <a:spcPts val="600"/>
                        </a:spcAft>
                        <a:buNone/>
                      </a:pPr>
                      <a:r>
                        <a:rPr lang="en-US" sz="900" b="1">
                          <a:effectLst/>
                        </a:rPr>
                        <a:t>Primary Geographic Concentration</a:t>
                      </a:r>
                      <a:endParaRPr lang="en-US" sz="900" b="1">
                        <a:effectLst/>
                        <a:latin typeface="Arial" panose="020B0604020202020204" pitchFamily="34" charset="0"/>
                        <a:ea typeface="Arial" panose="020B0604020202020204" pitchFamily="34" charset="0"/>
                      </a:endParaRPr>
                    </a:p>
                  </a:txBody>
                  <a:tcPr marL="101827" marR="101827" marT="67884" marB="67884">
                    <a:solidFill>
                      <a:schemeClr val="bg1">
                        <a:lumMod val="95000"/>
                      </a:schemeClr>
                    </a:solidFill>
                  </a:tcPr>
                </a:tc>
                <a:tc>
                  <a:txBody>
                    <a:bodyPr/>
                    <a:lstStyle/>
                    <a:p>
                      <a:pPr marL="0" marR="0">
                        <a:lnSpc>
                          <a:spcPct val="114000"/>
                        </a:lnSpc>
                        <a:spcBef>
                          <a:spcPts val="600"/>
                        </a:spcBef>
                        <a:spcAft>
                          <a:spcPts val="600"/>
                        </a:spcAft>
                        <a:buNone/>
                      </a:pPr>
                      <a:r>
                        <a:rPr lang="en-US" sz="900" b="1">
                          <a:effectLst/>
                        </a:rPr>
                        <a:t>Socio-Economic Impact</a:t>
                      </a:r>
                      <a:endParaRPr lang="en-US" sz="900" b="1">
                        <a:effectLst/>
                        <a:latin typeface="Arial" panose="020B0604020202020204" pitchFamily="34" charset="0"/>
                        <a:ea typeface="Arial" panose="020B0604020202020204" pitchFamily="34" charset="0"/>
                      </a:endParaRPr>
                    </a:p>
                  </a:txBody>
                  <a:tcPr marL="101827" marR="101827" marT="67884" marB="67884">
                    <a:solidFill>
                      <a:schemeClr val="bg1">
                        <a:lumMod val="95000"/>
                      </a:schemeClr>
                    </a:solidFill>
                  </a:tcPr>
                </a:tc>
                <a:extLst>
                  <a:ext uri="{0D108BD9-81ED-4DB2-BD59-A6C34878D82A}">
                    <a16:rowId xmlns:a16="http://schemas.microsoft.com/office/drawing/2014/main" val="4238702637"/>
                  </a:ext>
                </a:extLst>
              </a:tr>
              <a:tr h="540642">
                <a:tc>
                  <a:txBody>
                    <a:bodyPr/>
                    <a:lstStyle/>
                    <a:p>
                      <a:pPr marL="0" marR="0">
                        <a:lnSpc>
                          <a:spcPct val="114000"/>
                        </a:lnSpc>
                        <a:spcBef>
                          <a:spcPts val="600"/>
                        </a:spcBef>
                        <a:spcAft>
                          <a:spcPts val="600"/>
                        </a:spcAft>
                        <a:buNone/>
                      </a:pPr>
                      <a:r>
                        <a:rPr lang="en-US" sz="900">
                          <a:effectLst/>
                        </a:rPr>
                        <a:t>Unserved</a:t>
                      </a:r>
                      <a:endParaRPr lang="en-US" sz="900">
                        <a:effectLst/>
                        <a:latin typeface="Arial" panose="020B0604020202020204" pitchFamily="34" charset="0"/>
                        <a:ea typeface="Arial" panose="020B0604020202020204" pitchFamily="34" charset="0"/>
                      </a:endParaRPr>
                    </a:p>
                  </a:txBody>
                  <a:tcPr marL="101827" marR="101827" marT="67884" marB="67884"/>
                </a:tc>
                <a:tc>
                  <a:txBody>
                    <a:bodyPr/>
                    <a:lstStyle/>
                    <a:p>
                      <a:pPr marL="0" marR="0">
                        <a:lnSpc>
                          <a:spcPct val="114000"/>
                        </a:lnSpc>
                        <a:buNone/>
                      </a:pPr>
                      <a:r>
                        <a:rPr lang="en-US" sz="900">
                          <a:effectLst/>
                        </a:rPr>
                        <a:t>~210,000 - 244,000 </a:t>
                      </a:r>
                      <a:r>
                        <a:rPr lang="en-US" sz="900" baseline="30000">
                          <a:effectLst/>
                        </a:rPr>
                        <a:t>5</a:t>
                      </a:r>
                      <a:endParaRPr lang="en-US" sz="900">
                        <a:effectLst/>
                        <a:latin typeface="Arial" panose="020B0604020202020204" pitchFamily="34" charset="0"/>
                        <a:ea typeface="Arial" panose="020B0604020202020204" pitchFamily="34" charset="0"/>
                      </a:endParaRPr>
                    </a:p>
                  </a:txBody>
                  <a:tcPr marL="101827" marR="101827" marT="67884" marB="67884"/>
                </a:tc>
                <a:tc>
                  <a:txBody>
                    <a:bodyPr/>
                    <a:lstStyle/>
                    <a:p>
                      <a:pPr marL="0" marR="0">
                        <a:lnSpc>
                          <a:spcPct val="114000"/>
                        </a:lnSpc>
                        <a:spcBef>
                          <a:spcPts val="600"/>
                        </a:spcBef>
                        <a:spcAft>
                          <a:spcPts val="600"/>
                        </a:spcAft>
                        <a:buNone/>
                      </a:pPr>
                      <a:r>
                        <a:rPr lang="en-US" sz="900">
                          <a:effectLst/>
                        </a:rPr>
                        <a:t>Upper Peninsula, Northeast Lower Peninsula</a:t>
                      </a:r>
                      <a:endParaRPr lang="en-US" sz="900">
                        <a:effectLst/>
                        <a:latin typeface="Arial" panose="020B0604020202020204" pitchFamily="34" charset="0"/>
                        <a:ea typeface="Arial" panose="020B0604020202020204" pitchFamily="34" charset="0"/>
                      </a:endParaRPr>
                    </a:p>
                  </a:txBody>
                  <a:tcPr marL="101827" marR="101827" marT="67884" marB="67884"/>
                </a:tc>
                <a:tc>
                  <a:txBody>
                    <a:bodyPr/>
                    <a:lstStyle/>
                    <a:p>
                      <a:pPr marL="0" marR="0">
                        <a:lnSpc>
                          <a:spcPct val="114000"/>
                        </a:lnSpc>
                        <a:spcBef>
                          <a:spcPts val="600"/>
                        </a:spcBef>
                        <a:spcAft>
                          <a:spcPts val="600"/>
                        </a:spcAft>
                        <a:buNone/>
                      </a:pPr>
                      <a:r>
                        <a:rPr lang="en-US" sz="900">
                          <a:effectLst/>
                        </a:rPr>
                        <a:t>Total exclusion from remote work, telehealth, and digital education.</a:t>
                      </a:r>
                      <a:endParaRPr lang="en-US" sz="900">
                        <a:effectLst/>
                        <a:latin typeface="Arial" panose="020B0604020202020204" pitchFamily="34" charset="0"/>
                        <a:ea typeface="Arial" panose="020B0604020202020204" pitchFamily="34" charset="0"/>
                      </a:endParaRPr>
                    </a:p>
                  </a:txBody>
                  <a:tcPr marL="101827" marR="101827" marT="67884" marB="67884"/>
                </a:tc>
                <a:extLst>
                  <a:ext uri="{0D108BD9-81ED-4DB2-BD59-A6C34878D82A}">
                    <a16:rowId xmlns:a16="http://schemas.microsoft.com/office/drawing/2014/main" val="2995303628"/>
                  </a:ext>
                </a:extLst>
              </a:tr>
              <a:tr h="653635">
                <a:tc>
                  <a:txBody>
                    <a:bodyPr/>
                    <a:lstStyle/>
                    <a:p>
                      <a:pPr marL="0" marR="0">
                        <a:lnSpc>
                          <a:spcPct val="114000"/>
                        </a:lnSpc>
                        <a:spcBef>
                          <a:spcPts val="600"/>
                        </a:spcBef>
                        <a:spcAft>
                          <a:spcPts val="600"/>
                        </a:spcAft>
                        <a:buNone/>
                      </a:pPr>
                      <a:r>
                        <a:rPr lang="en-US" sz="900">
                          <a:effectLst/>
                        </a:rPr>
                        <a:t>Underserved</a:t>
                      </a:r>
                      <a:endParaRPr lang="en-US" sz="900">
                        <a:effectLst/>
                        <a:latin typeface="Arial" panose="020B0604020202020204" pitchFamily="34" charset="0"/>
                        <a:ea typeface="Arial" panose="020B0604020202020204" pitchFamily="34" charset="0"/>
                      </a:endParaRPr>
                    </a:p>
                  </a:txBody>
                  <a:tcPr marL="101827" marR="101827" marT="67884" marB="67884"/>
                </a:tc>
                <a:tc>
                  <a:txBody>
                    <a:bodyPr/>
                    <a:lstStyle/>
                    <a:p>
                      <a:pPr marL="0" marR="0">
                        <a:lnSpc>
                          <a:spcPct val="114000"/>
                        </a:lnSpc>
                        <a:buNone/>
                      </a:pPr>
                      <a:r>
                        <a:rPr lang="en-US" sz="900">
                          <a:effectLst/>
                        </a:rPr>
                        <a:t>~248,000 - 256,000 </a:t>
                      </a:r>
                      <a:r>
                        <a:rPr lang="en-US" sz="900" baseline="30000">
                          <a:effectLst/>
                        </a:rPr>
                        <a:t>1</a:t>
                      </a:r>
                      <a:endParaRPr lang="en-US" sz="900">
                        <a:effectLst/>
                        <a:latin typeface="Arial" panose="020B0604020202020204" pitchFamily="34" charset="0"/>
                        <a:ea typeface="Arial" panose="020B0604020202020204" pitchFamily="34" charset="0"/>
                      </a:endParaRPr>
                    </a:p>
                  </a:txBody>
                  <a:tcPr marL="101827" marR="101827" marT="67884" marB="67884"/>
                </a:tc>
                <a:tc>
                  <a:txBody>
                    <a:bodyPr/>
                    <a:lstStyle/>
                    <a:p>
                      <a:pPr marL="0" marR="0">
                        <a:lnSpc>
                          <a:spcPct val="114000"/>
                        </a:lnSpc>
                        <a:spcBef>
                          <a:spcPts val="600"/>
                        </a:spcBef>
                        <a:spcAft>
                          <a:spcPts val="600"/>
                        </a:spcAft>
                        <a:buNone/>
                      </a:pPr>
                      <a:r>
                        <a:rPr lang="en-US" sz="900">
                          <a:effectLst/>
                        </a:rPr>
                        <a:t>Rural townships, suburban fringes</a:t>
                      </a:r>
                      <a:endParaRPr lang="en-US" sz="900">
                        <a:effectLst/>
                        <a:latin typeface="Arial" panose="020B0604020202020204" pitchFamily="34" charset="0"/>
                        <a:ea typeface="Arial" panose="020B0604020202020204" pitchFamily="34" charset="0"/>
                      </a:endParaRPr>
                    </a:p>
                  </a:txBody>
                  <a:tcPr marL="101827" marR="101827" marT="67884" marB="67884"/>
                </a:tc>
                <a:tc>
                  <a:txBody>
                    <a:bodyPr/>
                    <a:lstStyle/>
                    <a:p>
                      <a:pPr marL="0" marR="0">
                        <a:lnSpc>
                          <a:spcPct val="114000"/>
                        </a:lnSpc>
                        <a:spcBef>
                          <a:spcPts val="600"/>
                        </a:spcBef>
                        <a:spcAft>
                          <a:spcPts val="600"/>
                        </a:spcAft>
                        <a:buNone/>
                      </a:pPr>
                      <a:r>
                        <a:rPr lang="en-US" sz="900">
                          <a:effectLst/>
                        </a:rPr>
                        <a:t>Limited ability to utilize high-bandwidth applications; digital frustration.</a:t>
                      </a:r>
                      <a:endParaRPr lang="en-US" sz="900">
                        <a:effectLst/>
                        <a:latin typeface="Arial" panose="020B0604020202020204" pitchFamily="34" charset="0"/>
                        <a:ea typeface="Arial" panose="020B0604020202020204" pitchFamily="34" charset="0"/>
                      </a:endParaRPr>
                    </a:p>
                  </a:txBody>
                  <a:tcPr marL="101827" marR="101827" marT="67884" marB="67884"/>
                </a:tc>
                <a:extLst>
                  <a:ext uri="{0D108BD9-81ED-4DB2-BD59-A6C34878D82A}">
                    <a16:rowId xmlns:a16="http://schemas.microsoft.com/office/drawing/2014/main" val="4181442397"/>
                  </a:ext>
                </a:extLst>
              </a:tr>
            </a:tbl>
          </a:graphicData>
        </a:graphic>
      </p:graphicFrame>
      <p:sp>
        <p:nvSpPr>
          <p:cNvPr id="85" name="Rectangle 84">
            <a:extLst>
              <a:ext uri="{FF2B5EF4-FFF2-40B4-BE49-F238E27FC236}">
                <a16:creationId xmlns:a16="http://schemas.microsoft.com/office/drawing/2014/main" id="{25556FF6-DB7A-DAEC-5DD8-7999BC9DB116}"/>
              </a:ext>
            </a:extLst>
          </p:cNvPr>
          <p:cNvSpPr/>
          <p:nvPr/>
        </p:nvSpPr>
        <p:spPr>
          <a:xfrm>
            <a:off x="7513863" y="3049741"/>
            <a:ext cx="3575180" cy="279400"/>
          </a:xfrm>
          <a:prstGeom prst="rect">
            <a:avLst/>
          </a:prstGeom>
          <a:solidFill>
            <a:srgbClr val="3B5479"/>
          </a:solidFill>
          <a:ln w="6350">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b" anchorCtr="0"/>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a:ea typeface="+mn-ea"/>
                <a:cs typeface="+mn-cs"/>
              </a:rPr>
              <a:t>By the Numbers – Unserved and Underserved Locations</a:t>
            </a:r>
          </a:p>
        </p:txBody>
      </p:sp>
      <p:sp>
        <p:nvSpPr>
          <p:cNvPr id="86" name="TextBox 85">
            <a:extLst>
              <a:ext uri="{FF2B5EF4-FFF2-40B4-BE49-F238E27FC236}">
                <a16:creationId xmlns:a16="http://schemas.microsoft.com/office/drawing/2014/main" id="{50394169-24E8-7846-CB72-AFA95246AFA3}"/>
              </a:ext>
            </a:extLst>
          </p:cNvPr>
          <p:cNvSpPr txBox="1"/>
          <p:nvPr/>
        </p:nvSpPr>
        <p:spPr>
          <a:xfrm>
            <a:off x="8277921" y="1086070"/>
            <a:ext cx="2774949" cy="255730"/>
          </a:xfrm>
          <a:prstGeom prst="rect">
            <a:avLst/>
          </a:prstGeom>
        </p:spPr>
        <p:txBody>
          <a:bodyPr vert="horz" wrap="square" lIns="0" tIns="0" rIns="0" bIns="0" rtlCol="0" anchor="t" anchorCtr="0">
            <a:noAutofit/>
          </a:bodyPr>
          <a:lstStyle/>
          <a:p>
            <a:pPr>
              <a:spcAft>
                <a:spcPts val="600"/>
              </a:spcAft>
            </a:pPr>
            <a:r>
              <a:rPr lang="en-US" sz="1000" b="1" dirty="0"/>
              <a:t>The BEAD Mandate for Michigan</a:t>
            </a:r>
          </a:p>
          <a:p>
            <a:pPr algn="l">
              <a:spcAft>
                <a:spcPts val="600"/>
              </a:spcAft>
            </a:pPr>
            <a:endParaRPr lang="en-US" sz="1500" b="1" dirty="0"/>
          </a:p>
        </p:txBody>
      </p:sp>
      <p:sp>
        <p:nvSpPr>
          <p:cNvPr id="87" name="Rectangle 86">
            <a:extLst>
              <a:ext uri="{FF2B5EF4-FFF2-40B4-BE49-F238E27FC236}">
                <a16:creationId xmlns:a16="http://schemas.microsoft.com/office/drawing/2014/main" id="{C66C29C1-9D0F-3667-8A06-764772320435}"/>
              </a:ext>
            </a:extLst>
          </p:cNvPr>
          <p:cNvSpPr/>
          <p:nvPr/>
        </p:nvSpPr>
        <p:spPr>
          <a:xfrm>
            <a:off x="7133316" y="5896108"/>
            <a:ext cx="4336275" cy="370109"/>
          </a:xfrm>
          <a:prstGeom prst="rect">
            <a:avLst/>
          </a:prstGeom>
          <a:solidFill>
            <a:srgbClr val="A9BDD3"/>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800" i="1">
                <a:solidFill>
                  <a:schemeClr val="tx1"/>
                </a:solidFill>
              </a:rPr>
              <a:t>* BEAD Eligible BSLs (Broadband Service Locations): These are addresses lacking adequate internet, specifically those identified as unserved (under 25/3 Mbps) or underserved (under 100/20 Mbps)</a:t>
            </a:r>
          </a:p>
        </p:txBody>
      </p:sp>
      <p:cxnSp>
        <p:nvCxnSpPr>
          <p:cNvPr id="3" name="Straight Connector 2">
            <a:extLst>
              <a:ext uri="{FF2B5EF4-FFF2-40B4-BE49-F238E27FC236}">
                <a16:creationId xmlns:a16="http://schemas.microsoft.com/office/drawing/2014/main" id="{EB3AB3F5-9DBC-35E4-9EEF-28AC44B117D2}"/>
              </a:ext>
            </a:extLst>
          </p:cNvPr>
          <p:cNvCxnSpPr/>
          <p:nvPr/>
        </p:nvCxnSpPr>
        <p:spPr>
          <a:xfrm>
            <a:off x="7685323" y="8455"/>
            <a:ext cx="1114425"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FDE4EE84-AA51-D8D0-9D02-CC8FCF196757}"/>
              </a:ext>
            </a:extLst>
          </p:cNvPr>
          <p:cNvCxnSpPr/>
          <p:nvPr/>
        </p:nvCxnSpPr>
        <p:spPr>
          <a:xfrm>
            <a:off x="8845789" y="8455"/>
            <a:ext cx="1114425" cy="0"/>
          </a:xfrm>
          <a:prstGeom prst="line">
            <a:avLst/>
          </a:prstGeom>
          <a:ln w="76200" cap="flat" cmpd="sng" algn="ctr">
            <a:solidFill>
              <a:srgbClr val="6F8DB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Rectangle 14">
            <a:extLst>
              <a:ext uri="{FF2B5EF4-FFF2-40B4-BE49-F238E27FC236}">
                <a16:creationId xmlns:a16="http://schemas.microsoft.com/office/drawing/2014/main" id="{825138E4-E364-F9E0-4FDA-9B46953DC481}"/>
              </a:ext>
            </a:extLst>
          </p:cNvPr>
          <p:cNvSpPr/>
          <p:nvPr/>
        </p:nvSpPr>
        <p:spPr>
          <a:xfrm>
            <a:off x="8843291" y="72526"/>
            <a:ext cx="1114425" cy="179659"/>
          </a:xfrm>
          <a:prstGeom prst="rect">
            <a:avLst/>
          </a:prstGeom>
          <a:solidFill>
            <a:schemeClr val="bg1">
              <a:lumMod val="100000"/>
            </a:schemeClr>
          </a:solidFill>
          <a:ln>
            <a:solidFill>
              <a:srgbClr val="6F8DB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rgbClr val="6F8DB9"/>
                </a:solidFill>
              </a:rPr>
              <a:t>Value</a:t>
            </a:r>
            <a:r>
              <a:rPr lang="en-US" sz="800">
                <a:solidFill>
                  <a:schemeClr val="accent6">
                    <a:lumMod val="100000"/>
                  </a:schemeClr>
                </a:solidFill>
              </a:rPr>
              <a:t> </a:t>
            </a:r>
            <a:r>
              <a:rPr lang="en-US" sz="800">
                <a:solidFill>
                  <a:srgbClr val="6F8DB9"/>
                </a:solidFill>
              </a:rPr>
              <a:t>Chain</a:t>
            </a:r>
          </a:p>
        </p:txBody>
      </p:sp>
      <p:cxnSp>
        <p:nvCxnSpPr>
          <p:cNvPr id="19" name="Straight Connector 18">
            <a:extLst>
              <a:ext uri="{FF2B5EF4-FFF2-40B4-BE49-F238E27FC236}">
                <a16:creationId xmlns:a16="http://schemas.microsoft.com/office/drawing/2014/main" id="{411DF5C1-F789-9473-8B3A-A3C00A63AD19}"/>
              </a:ext>
            </a:extLst>
          </p:cNvPr>
          <p:cNvCxnSpPr>
            <a:cxnSpLocks/>
          </p:cNvCxnSpPr>
          <p:nvPr/>
        </p:nvCxnSpPr>
        <p:spPr>
          <a:xfrm>
            <a:off x="11183902" y="-3513"/>
            <a:ext cx="1008098"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6F8C776C-BF22-4534-E763-E0194CEF7981}"/>
              </a:ext>
            </a:extLst>
          </p:cNvPr>
          <p:cNvCxnSpPr>
            <a:cxnSpLocks/>
          </p:cNvCxnSpPr>
          <p:nvPr/>
        </p:nvCxnSpPr>
        <p:spPr>
          <a:xfrm>
            <a:off x="10002442" y="0"/>
            <a:ext cx="1134047" cy="0"/>
          </a:xfrm>
          <a:prstGeom prst="line">
            <a:avLst/>
          </a:prstGeom>
          <a:ln w="38100">
            <a:solidFill>
              <a:srgbClr val="3B5479"/>
            </a:solidFill>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41614C8-762A-7B46-BA22-8A7380A462CD}"/>
              </a:ext>
            </a:extLst>
          </p:cNvPr>
          <p:cNvSpPr txBox="1"/>
          <p:nvPr/>
        </p:nvSpPr>
        <p:spPr>
          <a:xfrm>
            <a:off x="812924" y="6306889"/>
            <a:ext cx="10579509" cy="149455"/>
          </a:xfrm>
          <a:prstGeom prst="rect">
            <a:avLst/>
          </a:prstGeom>
        </p:spPr>
        <p:txBody>
          <a:bodyPr vert="horz" wrap="square" lIns="0" tIns="0" rIns="0" bIns="0" rtlCol="0" anchor="ctr" anchorCtr="0">
            <a:noAutofit/>
          </a:bodyPr>
          <a:lstStyle/>
          <a:p>
            <a:pPr>
              <a:defRPr/>
            </a:pPr>
            <a:r>
              <a:rPr kumimoji="0" lang="en-US" sz="800" b="0" i="1" u="none" strike="noStrike" kern="1200" cap="none" spc="0" normalizeH="0" baseline="0" noProof="0">
                <a:ln>
                  <a:noFill/>
                </a:ln>
                <a:solidFill>
                  <a:schemeClr val="tx1">
                    <a:lumMod val="100000"/>
                  </a:schemeClr>
                </a:solidFill>
                <a:effectLst/>
                <a:uLnTx/>
                <a:uFillTx/>
                <a:latin typeface="Arial"/>
                <a:ea typeface="+mn-ea"/>
                <a:cs typeface="+mn-cs"/>
              </a:rPr>
              <a:t>Source: </a:t>
            </a:r>
            <a:r>
              <a:rPr lang="en-US" sz="800" i="1">
                <a:solidFill>
                  <a:schemeClr val="tx1">
                    <a:lumMod val="100000"/>
                  </a:schemeClr>
                </a:solidFill>
              </a:rPr>
              <a:t>Michigan High-Speed Internet Office (MIHI), BEAD,  accessed Jan ’26.</a:t>
            </a:r>
            <a:endParaRPr kumimoji="0" lang="en-US" sz="800" b="0" i="1" u="none" strike="noStrike" kern="1200" cap="none" spc="0" normalizeH="0" baseline="0" noProof="0">
              <a:ln>
                <a:noFill/>
              </a:ln>
              <a:solidFill>
                <a:srgbClr val="00338D"/>
              </a:solidFill>
              <a:effectLst/>
              <a:uLnTx/>
              <a:uFillTx/>
              <a:latin typeface="Arial"/>
              <a:ea typeface="+mn-ea"/>
              <a:cs typeface="+mn-cs"/>
            </a:endParaRPr>
          </a:p>
        </p:txBody>
      </p:sp>
    </p:spTree>
    <p:extLst>
      <p:ext uri="{BB962C8B-B14F-4D97-AF65-F5344CB8AC3E}">
        <p14:creationId xmlns:p14="http://schemas.microsoft.com/office/powerpoint/2010/main" val="22621290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2C7526-AE1B-6329-8E36-C200AC3802CC}"/>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F7A77F0-ADA5-95ED-28E0-8B5405D22E9C}"/>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24" imgW="416" imgH="416" progId="TCLayout.ActiveDocument.1">
                  <p:embed/>
                </p:oleObj>
              </mc:Choice>
              <mc:Fallback>
                <p:oleObj name="think-cell Slide" r:id="rId24" imgW="416" imgH="416" progId="TCLayout.ActiveDocument.1">
                  <p:embed/>
                  <p:pic>
                    <p:nvPicPr>
                      <p:cNvPr id="4" name="Object 3" hidden="1">
                        <a:extLst>
                          <a:ext uri="{FF2B5EF4-FFF2-40B4-BE49-F238E27FC236}">
                            <a16:creationId xmlns:a16="http://schemas.microsoft.com/office/drawing/2014/main" id="{6F7A77F0-ADA5-95ED-28E0-8B5405D22E9C}"/>
                          </a:ext>
                        </a:extLst>
                      </p:cNvPr>
                      <p:cNvPicPr/>
                      <p:nvPr/>
                    </p:nvPicPr>
                    <p:blipFill>
                      <a:blip r:embed="rId25"/>
                      <a:stretch>
                        <a:fillRect/>
                      </a:stretch>
                    </p:blipFill>
                    <p:spPr>
                      <a:xfrm>
                        <a:off x="1588" y="1588"/>
                        <a:ext cx="1588" cy="1588"/>
                      </a:xfrm>
                      <a:prstGeom prst="rect">
                        <a:avLst/>
                      </a:prstGeom>
                    </p:spPr>
                  </p:pic>
                </p:oleObj>
              </mc:Fallback>
            </mc:AlternateContent>
          </a:graphicData>
        </a:graphic>
      </p:graphicFrame>
      <p:sp>
        <p:nvSpPr>
          <p:cNvPr id="174" name="Rectangle: Top Corners Rounded 173">
            <a:extLst>
              <a:ext uri="{FF2B5EF4-FFF2-40B4-BE49-F238E27FC236}">
                <a16:creationId xmlns:a16="http://schemas.microsoft.com/office/drawing/2014/main" id="{6BEA921D-ADEF-A8EA-8E00-AB8D13BD3AD0}"/>
              </a:ext>
            </a:extLst>
          </p:cNvPr>
          <p:cNvSpPr/>
          <p:nvPr/>
        </p:nvSpPr>
        <p:spPr>
          <a:xfrm rot="10800000">
            <a:off x="2913994" y="4225940"/>
            <a:ext cx="6432547" cy="384174"/>
          </a:xfrm>
          <a:prstGeom prst="round2SameRect">
            <a:avLst/>
          </a:prstGeom>
          <a:solidFill>
            <a:schemeClr val="tx2"/>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en-US" sz="1000" b="1">
              <a:solidFill>
                <a:schemeClr val="bg1"/>
              </a:solidFill>
            </a:endParaRPr>
          </a:p>
        </p:txBody>
      </p:sp>
      <p:sp>
        <p:nvSpPr>
          <p:cNvPr id="17" name="Title 16">
            <a:extLst>
              <a:ext uri="{FF2B5EF4-FFF2-40B4-BE49-F238E27FC236}">
                <a16:creationId xmlns:a16="http://schemas.microsoft.com/office/drawing/2014/main" id="{D08EB7B9-26C9-C2E2-AC6B-6A6000D68739}"/>
              </a:ext>
            </a:extLst>
          </p:cNvPr>
          <p:cNvSpPr>
            <a:spLocks noGrp="1"/>
          </p:cNvSpPr>
          <p:nvPr>
            <p:ph type="title"/>
          </p:nvPr>
        </p:nvSpPr>
        <p:spPr>
          <a:xfrm>
            <a:off x="497817" y="455705"/>
            <a:ext cx="11192256" cy="701410"/>
          </a:xfrm>
        </p:spPr>
        <p:txBody>
          <a:bodyPr vert="horz">
            <a:normAutofit/>
          </a:bodyPr>
          <a:lstStyle/>
          <a:p>
            <a:r>
              <a:rPr lang="en-US" sz="2800" dirty="0">
                <a:solidFill>
                  <a:srgbClr val="00338D"/>
                </a:solidFill>
                <a:latin typeface="Calibri" panose="020F0502020204030204" pitchFamily="34" charset="0"/>
                <a:cs typeface="Calibri" panose="020F0502020204030204" pitchFamily="34" charset="0"/>
              </a:rPr>
              <a:t>A Concentrated National Supply Chain Creates High Risk for Small ISPs</a:t>
            </a:r>
            <a:endParaRPr lang="en-US" sz="2800" dirty="0">
              <a:solidFill>
                <a:schemeClr val="tx1"/>
              </a:solidFill>
              <a:latin typeface="Calibri" panose="020F0502020204030204" pitchFamily="34" charset="0"/>
              <a:cs typeface="Calibri" panose="020F0502020204030204" pitchFamily="34" charset="0"/>
            </a:endParaRPr>
          </a:p>
        </p:txBody>
      </p:sp>
      <p:sp>
        <p:nvSpPr>
          <p:cNvPr id="16" name="Text Placeholder 15">
            <a:extLst>
              <a:ext uri="{FF2B5EF4-FFF2-40B4-BE49-F238E27FC236}">
                <a16:creationId xmlns:a16="http://schemas.microsoft.com/office/drawing/2014/main" id="{E8994AFD-8DB1-BC33-2370-38A0CCCFF4CC}"/>
              </a:ext>
            </a:extLst>
          </p:cNvPr>
          <p:cNvSpPr>
            <a:spLocks noGrp="1"/>
          </p:cNvSpPr>
          <p:nvPr>
            <p:ph type="body" sz="quarter" idx="20"/>
          </p:nvPr>
        </p:nvSpPr>
        <p:spPr/>
        <p:txBody>
          <a:bodyPr/>
          <a:lstStyle/>
          <a:p>
            <a:r>
              <a:rPr lang="en-US"/>
              <a:t>Broadband Value chain</a:t>
            </a:r>
          </a:p>
        </p:txBody>
      </p:sp>
      <p:grpSp>
        <p:nvGrpSpPr>
          <p:cNvPr id="10" name="Subtitle [Placeholder]">
            <a:extLst>
              <a:ext uri="{FF2B5EF4-FFF2-40B4-BE49-F238E27FC236}">
                <a16:creationId xmlns:a16="http://schemas.microsoft.com/office/drawing/2014/main" id="{682F004A-9348-5FBD-6521-FB92FFADBAA8}"/>
              </a:ext>
            </a:extLst>
          </p:cNvPr>
          <p:cNvGrpSpPr>
            <a:grpSpLocks/>
          </p:cNvGrpSpPr>
          <p:nvPr/>
        </p:nvGrpSpPr>
        <p:grpSpPr bwMode="auto">
          <a:xfrm>
            <a:off x="4798485" y="1112219"/>
            <a:ext cx="6830882" cy="666750"/>
            <a:chOff x="902" y="1329"/>
            <a:chExt cx="4812" cy="420"/>
          </a:xfrm>
        </p:grpSpPr>
        <p:sp>
          <p:nvSpPr>
            <p:cNvPr id="12" name="Line 56">
              <a:extLst>
                <a:ext uri="{FF2B5EF4-FFF2-40B4-BE49-F238E27FC236}">
                  <a16:creationId xmlns:a16="http://schemas.microsoft.com/office/drawing/2014/main" id="{C0D93334-86BA-76E2-7C2B-D2EE41DA07E9}"/>
                </a:ext>
              </a:extLst>
            </p:cNvPr>
            <p:cNvSpPr>
              <a:spLocks noChangeShapeType="1"/>
            </p:cNvSpPr>
            <p:nvPr>
              <p:custDataLst>
                <p:tags r:id="rId20"/>
              </p:custDataLst>
            </p:nvPr>
          </p:nvSpPr>
          <p:spPr bwMode="gray">
            <a:xfrm>
              <a:off x="902" y="1749"/>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endParaRPr lang="en-US">
                <a:solidFill>
                  <a:srgbClr val="00338D"/>
                </a:solidFill>
                <a:latin typeface="Arial" panose="020B0604020202020204" pitchFamily="34" charset="0"/>
                <a:cs typeface="Arial" panose="020B0604020202020204" pitchFamily="34" charset="0"/>
              </a:endParaRPr>
            </a:p>
          </p:txBody>
        </p:sp>
        <p:sp>
          <p:nvSpPr>
            <p:cNvPr id="13" name="Text Box 57">
              <a:extLst>
                <a:ext uri="{FF2B5EF4-FFF2-40B4-BE49-F238E27FC236}">
                  <a16:creationId xmlns:a16="http://schemas.microsoft.com/office/drawing/2014/main" id="{2521E273-DE83-37CF-06A1-920CF574B1C3}"/>
                </a:ext>
              </a:extLst>
            </p:cNvPr>
            <p:cNvSpPr txBox="1">
              <a:spLocks noChangeArrowheads="1"/>
            </p:cNvSpPr>
            <p:nvPr>
              <p:custDataLst>
                <p:tags r:id="rId21"/>
              </p:custDataLst>
            </p:nvPr>
          </p:nvSpPr>
          <p:spPr bwMode="gray">
            <a:xfrm>
              <a:off x="902" y="1329"/>
              <a:ext cx="4810" cy="3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rtl="0"/>
              <a:r>
                <a:rPr lang="en-US" b="1" i="0" u="none" strike="noStrike" kern="1200" baseline="0">
                  <a:solidFill>
                    <a:srgbClr val="00338D"/>
                  </a:solidFill>
                  <a:latin typeface="Arial" panose="020B0604020202020204" pitchFamily="34" charset="0"/>
                </a:rPr>
                <a:t>The “Allocation Risk”: How Supply Constraints Disproportionately Impact Small ISPs</a:t>
              </a:r>
            </a:p>
            <a:p>
              <a:r>
                <a:rPr lang="en-US" altLang="en-US" i="1">
                  <a:solidFill>
                    <a:schemeClr val="tx1"/>
                  </a:solidFill>
                  <a:cs typeface="Arial" panose="020B0604020202020204" pitchFamily="34" charset="0"/>
                </a:rPr>
                <a:t>For a Michigan-based project, a 6-month lead time is not just a delay—it's a potential loss of an entire construction season. This risk threatens the viability of BEAD projects in the UP and Northern Lower Peninsula, where the building window is already severely truncated by winter weather</a:t>
              </a:r>
              <a:endParaRPr lang="en-CA" altLang="en-US" i="1">
                <a:solidFill>
                  <a:schemeClr val="tx1"/>
                </a:solidFill>
                <a:cs typeface="Arial" panose="020B0604020202020204" pitchFamily="34" charset="0"/>
              </a:endParaRPr>
            </a:p>
          </p:txBody>
        </p:sp>
      </p:grpSp>
      <p:graphicFrame>
        <p:nvGraphicFramePr>
          <p:cNvPr id="29" name="Chart 28">
            <a:extLst>
              <a:ext uri="{FF2B5EF4-FFF2-40B4-BE49-F238E27FC236}">
                <a16:creationId xmlns:a16="http://schemas.microsoft.com/office/drawing/2014/main" id="{4DB362BD-EB4D-7340-61A3-6E2122EF547E}"/>
              </a:ext>
            </a:extLst>
          </p:cNvPr>
          <p:cNvGraphicFramePr/>
          <p:nvPr>
            <p:custDataLst>
              <p:tags r:id="rId2"/>
            </p:custDataLst>
          </p:nvPr>
        </p:nvGraphicFramePr>
        <p:xfrm>
          <a:off x="6111875" y="1760538"/>
          <a:ext cx="5343525" cy="2455862"/>
        </p:xfrm>
        <a:graphic>
          <a:graphicData uri="http://schemas.openxmlformats.org/drawingml/2006/chart">
            <c:chart xmlns:c="http://schemas.openxmlformats.org/drawingml/2006/chart" xmlns:r="http://schemas.openxmlformats.org/officeDocument/2006/relationships" r:id="rId26"/>
          </a:graphicData>
        </a:graphic>
      </p:graphicFrame>
      <p:sp>
        <p:nvSpPr>
          <p:cNvPr id="14" name="Text Placeholder 2">
            <a:extLst>
              <a:ext uri="{FF2B5EF4-FFF2-40B4-BE49-F238E27FC236}">
                <a16:creationId xmlns:a16="http://schemas.microsoft.com/office/drawing/2014/main" id="{8B301A81-1B7F-41ED-D734-0A70F0F6FD98}"/>
              </a:ext>
            </a:extLst>
          </p:cNvPr>
          <p:cNvSpPr>
            <a:spLocks noGrp="1"/>
          </p:cNvSpPr>
          <p:nvPr>
            <p:custDataLst>
              <p:tags r:id="rId3"/>
            </p:custDataLst>
          </p:nvPr>
        </p:nvSpPr>
        <p:spPr bwMode="auto">
          <a:xfrm>
            <a:off x="5055529" y="2406033"/>
            <a:ext cx="1071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11E5228A-33DA-43B2-88DB-A61E076CDFC2}" type="datetime'Tier'''' ''1'''' ''''''Nati''on''a''l P''''''r''ov''ide''r'">
              <a:rPr lang="en-US" altLang="en-US" sz="800" smtClean="0"/>
              <a:pPr lvl="1" algn="r">
                <a:spcBef>
                  <a:spcPct val="0"/>
                </a:spcBef>
                <a:spcAft>
                  <a:spcPct val="0"/>
                </a:spcAft>
              </a:pPr>
              <a:t>Tier 1 National Provider</a:t>
            </a:fld>
            <a:endParaRPr lang="en-US" sz="800"/>
          </a:p>
        </p:txBody>
      </p:sp>
      <p:sp>
        <p:nvSpPr>
          <p:cNvPr id="18" name="Text Placeholder 2">
            <a:extLst>
              <a:ext uri="{FF2B5EF4-FFF2-40B4-BE49-F238E27FC236}">
                <a16:creationId xmlns:a16="http://schemas.microsoft.com/office/drawing/2014/main" id="{6E5EAF5A-004C-7AC0-DC78-052CF556BE8F}"/>
              </a:ext>
            </a:extLst>
          </p:cNvPr>
          <p:cNvSpPr>
            <a:spLocks noGrp="1"/>
          </p:cNvSpPr>
          <p:nvPr>
            <p:custDataLst>
              <p:tags r:id="rId4"/>
            </p:custDataLst>
          </p:nvPr>
        </p:nvSpPr>
        <p:spPr bwMode="auto">
          <a:xfrm>
            <a:off x="4857092" y="3447433"/>
            <a:ext cx="12700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80F0FD6C-AA49-4EE1-B2BC-73068DA745E7}" type="datetime'''Smal''''''l M''i''c''higa''n ISP'' /'''''''''''' ''C''o-Op'">
              <a:rPr lang="en-US" altLang="en-US" sz="800" smtClean="0"/>
              <a:pPr lvl="1" algn="r">
                <a:spcBef>
                  <a:spcPct val="0"/>
                </a:spcBef>
                <a:spcAft>
                  <a:spcPct val="0"/>
                </a:spcAft>
              </a:pPr>
              <a:t>Small Michigan ISP / Co-Op</a:t>
            </a:fld>
            <a:endParaRPr lang="en-US" sz="800"/>
          </a:p>
        </p:txBody>
      </p:sp>
      <p:sp>
        <p:nvSpPr>
          <p:cNvPr id="111" name="Text Placeholder 2">
            <a:extLst>
              <a:ext uri="{FF2B5EF4-FFF2-40B4-BE49-F238E27FC236}">
                <a16:creationId xmlns:a16="http://schemas.microsoft.com/office/drawing/2014/main" id="{1E36E557-92EA-BB41-4865-49FD4E1E55F6}"/>
              </a:ext>
            </a:extLst>
          </p:cNvPr>
          <p:cNvSpPr>
            <a:spLocks noGrp="1"/>
          </p:cNvSpPr>
          <p:nvPr>
            <p:custDataLst>
              <p:tags r:id="rId5"/>
            </p:custDataLst>
          </p:nvPr>
        </p:nvSpPr>
        <p:spPr bwMode="gray">
          <a:xfrm>
            <a:off x="6995454" y="2591771"/>
            <a:ext cx="2333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0B4B231E-9CFB-4675-85A0-6F018834F6CB}" type="datetime'''''''1''''''''''''''''5''''''''''''''''''''''''''''''''%'''''">
              <a:rPr lang="en-US" altLang="en-US" sz="800" smtClean="0"/>
              <a:pPr lvl="1">
                <a:spcBef>
                  <a:spcPct val="0"/>
                </a:spcBef>
                <a:spcAft>
                  <a:spcPct val="0"/>
                </a:spcAft>
              </a:pPr>
              <a:t>15%</a:t>
            </a:fld>
            <a:endParaRPr lang="en-US" sz="800"/>
          </a:p>
        </p:txBody>
      </p:sp>
      <p:sp>
        <p:nvSpPr>
          <p:cNvPr id="118" name="Text Placeholder 2">
            <a:extLst>
              <a:ext uri="{FF2B5EF4-FFF2-40B4-BE49-F238E27FC236}">
                <a16:creationId xmlns:a16="http://schemas.microsoft.com/office/drawing/2014/main" id="{D14C0B0E-A6B6-65A4-7A90-E1FA801D1780}"/>
              </a:ext>
            </a:extLst>
          </p:cNvPr>
          <p:cNvSpPr>
            <a:spLocks noGrp="1"/>
          </p:cNvSpPr>
          <p:nvPr>
            <p:custDataLst>
              <p:tags r:id="rId6"/>
            </p:custDataLst>
          </p:nvPr>
        </p:nvSpPr>
        <p:spPr bwMode="gray">
          <a:xfrm>
            <a:off x="11397592" y="3634758"/>
            <a:ext cx="2905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14288" tIns="0" rIns="14288"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6C44AD56-D458-4CA8-A32E-2B418FEAC161}" type="datetime'''''''''''''''''''10''''0''%'''''''''''''''''''''''''''''''''">
              <a:rPr lang="en-US" altLang="en-US" sz="800" smtClean="0"/>
              <a:pPr lvl="1">
                <a:spcBef>
                  <a:spcPct val="0"/>
                </a:spcBef>
                <a:spcAft>
                  <a:spcPct val="0"/>
                </a:spcAft>
              </a:pPr>
              <a:t>100%</a:t>
            </a:fld>
            <a:endParaRPr lang="en-US" sz="800"/>
          </a:p>
        </p:txBody>
      </p:sp>
      <p:sp>
        <p:nvSpPr>
          <p:cNvPr id="82" name="Rectangle 81">
            <a:extLst>
              <a:ext uri="{FF2B5EF4-FFF2-40B4-BE49-F238E27FC236}">
                <a16:creationId xmlns:a16="http://schemas.microsoft.com/office/drawing/2014/main" id="{808F2B65-9301-12A9-3F57-4170C1E084D6}"/>
              </a:ext>
            </a:extLst>
          </p:cNvPr>
          <p:cNvSpPr/>
          <p:nvPr>
            <p:custDataLst>
              <p:tags r:id="rId7"/>
            </p:custDataLst>
          </p:nvPr>
        </p:nvSpPr>
        <p:spPr bwMode="auto">
          <a:xfrm>
            <a:off x="8660742" y="1990108"/>
            <a:ext cx="142875" cy="106363"/>
          </a:xfrm>
          <a:prstGeom prst="rect">
            <a:avLst/>
          </a:prstGeom>
          <a:solidFill>
            <a:srgbClr val="7768B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endParaRPr>
          </a:p>
        </p:txBody>
      </p:sp>
      <p:sp>
        <p:nvSpPr>
          <p:cNvPr id="88" name="Rectangle 87">
            <a:extLst>
              <a:ext uri="{FF2B5EF4-FFF2-40B4-BE49-F238E27FC236}">
                <a16:creationId xmlns:a16="http://schemas.microsoft.com/office/drawing/2014/main" id="{9DF15302-AF44-781D-8EEC-9D1F500B8C4C}"/>
              </a:ext>
            </a:extLst>
          </p:cNvPr>
          <p:cNvSpPr/>
          <p:nvPr>
            <p:custDataLst>
              <p:tags r:id="rId8"/>
            </p:custDataLst>
          </p:nvPr>
        </p:nvSpPr>
        <p:spPr bwMode="auto">
          <a:xfrm>
            <a:off x="8660742" y="2163146"/>
            <a:ext cx="142875" cy="106363"/>
          </a:xfrm>
          <a:prstGeom prst="rect">
            <a:avLst/>
          </a:prstGeom>
          <a:solidFill>
            <a:srgbClr val="D1CDE5"/>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endParaRPr lang="en-US" sz="1000">
              <a:solidFill>
                <a:schemeClr val="bg1"/>
              </a:solidFill>
            </a:endParaRPr>
          </a:p>
        </p:txBody>
      </p:sp>
      <p:sp>
        <p:nvSpPr>
          <p:cNvPr id="44" name="Text Placeholder 2">
            <a:extLst>
              <a:ext uri="{FF2B5EF4-FFF2-40B4-BE49-F238E27FC236}">
                <a16:creationId xmlns:a16="http://schemas.microsoft.com/office/drawing/2014/main" id="{A95AC99D-A223-01B3-72CE-FCC730F1C0F4}"/>
              </a:ext>
            </a:extLst>
          </p:cNvPr>
          <p:cNvSpPr>
            <a:spLocks noGrp="1"/>
          </p:cNvSpPr>
          <p:nvPr>
            <p:custDataLst>
              <p:tags r:id="rId9"/>
            </p:custDataLst>
          </p:nvPr>
        </p:nvSpPr>
        <p:spPr bwMode="auto">
          <a:xfrm>
            <a:off x="8854417" y="1985346"/>
            <a:ext cx="8890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B005BA19-9B68-4ED1-A83D-AE53BA3165CB}" type="datetime'''''''Lea''d T''i''''''m''e (''''W''''''ee''''k''''''''s'')'">
              <a:rPr lang="en-US" altLang="en-US" sz="800" smtClean="0"/>
              <a:pPr lvl="1">
                <a:spcBef>
                  <a:spcPct val="0"/>
                </a:spcBef>
                <a:spcAft>
                  <a:spcPct val="0"/>
                </a:spcAft>
              </a:pPr>
              <a:t>Lead Time (Weeks)</a:t>
            </a:fld>
            <a:endParaRPr lang="en-US" sz="800"/>
          </a:p>
        </p:txBody>
      </p:sp>
      <p:sp>
        <p:nvSpPr>
          <p:cNvPr id="48" name="Text Placeholder 2">
            <a:extLst>
              <a:ext uri="{FF2B5EF4-FFF2-40B4-BE49-F238E27FC236}">
                <a16:creationId xmlns:a16="http://schemas.microsoft.com/office/drawing/2014/main" id="{8DBC6C0D-7E77-0738-5179-5A5CABCEC57A}"/>
              </a:ext>
            </a:extLst>
          </p:cNvPr>
          <p:cNvSpPr>
            <a:spLocks noGrp="1"/>
          </p:cNvSpPr>
          <p:nvPr>
            <p:custDataLst>
              <p:tags r:id="rId10"/>
            </p:custDataLst>
          </p:nvPr>
        </p:nvSpPr>
        <p:spPr bwMode="auto">
          <a:xfrm>
            <a:off x="8854417" y="2158383"/>
            <a:ext cx="164782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A9F4C29F-16DD-4E88-AF0C-7C24920B48B6}" type="datetime'''Wor''''k''''ing ''Capita''''l'' (%'' of M''ateria''l Cost)'">
              <a:rPr lang="en-US" altLang="en-US" sz="800" smtClean="0"/>
              <a:pPr lvl="1">
                <a:spcBef>
                  <a:spcPct val="0"/>
                </a:spcBef>
                <a:spcAft>
                  <a:spcPct val="0"/>
                </a:spcAft>
              </a:pPr>
              <a:t>Working Capital (% of Material Cost)</a:t>
            </a:fld>
            <a:endParaRPr lang="en-US" sz="800"/>
          </a:p>
        </p:txBody>
      </p:sp>
      <p:sp>
        <p:nvSpPr>
          <p:cNvPr id="126" name="Rectangle 125">
            <a:extLst>
              <a:ext uri="{FF2B5EF4-FFF2-40B4-BE49-F238E27FC236}">
                <a16:creationId xmlns:a16="http://schemas.microsoft.com/office/drawing/2014/main" id="{113BF557-63D9-3991-2F9D-0902FB1F7A8B}"/>
              </a:ext>
            </a:extLst>
          </p:cNvPr>
          <p:cNvSpPr/>
          <p:nvPr/>
        </p:nvSpPr>
        <p:spPr>
          <a:xfrm>
            <a:off x="7830478" y="3234708"/>
            <a:ext cx="1555750" cy="18891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i="1">
                <a:solidFill>
                  <a:schemeClr val="tx1"/>
                </a:solidFill>
              </a:rPr>
              <a:t>De-Prioritized Allocation</a:t>
            </a:r>
          </a:p>
        </p:txBody>
      </p:sp>
      <p:sp>
        <p:nvSpPr>
          <p:cNvPr id="127" name="Rectangle 126">
            <a:extLst>
              <a:ext uri="{FF2B5EF4-FFF2-40B4-BE49-F238E27FC236}">
                <a16:creationId xmlns:a16="http://schemas.microsoft.com/office/drawing/2014/main" id="{B8488DE9-9154-57AB-FA8A-73223EDEA3A0}"/>
              </a:ext>
            </a:extLst>
          </p:cNvPr>
          <p:cNvSpPr/>
          <p:nvPr/>
        </p:nvSpPr>
        <p:spPr>
          <a:xfrm>
            <a:off x="6660491" y="2182196"/>
            <a:ext cx="1555750" cy="187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i="1">
                <a:solidFill>
                  <a:schemeClr val="tx1"/>
                </a:solidFill>
              </a:rPr>
              <a:t>Prioritized Allocation</a:t>
            </a:r>
          </a:p>
        </p:txBody>
      </p:sp>
      <p:sp>
        <p:nvSpPr>
          <p:cNvPr id="128" name="Rectangle 127">
            <a:extLst>
              <a:ext uri="{FF2B5EF4-FFF2-40B4-BE49-F238E27FC236}">
                <a16:creationId xmlns:a16="http://schemas.microsoft.com/office/drawing/2014/main" id="{FF1BD9B0-7388-00E1-C397-91581614EE2B}"/>
              </a:ext>
            </a:extLst>
          </p:cNvPr>
          <p:cNvSpPr/>
          <p:nvPr/>
        </p:nvSpPr>
        <p:spPr>
          <a:xfrm>
            <a:off x="7438366" y="2520333"/>
            <a:ext cx="1555750" cy="187325"/>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i="1">
                <a:solidFill>
                  <a:schemeClr val="tx1"/>
                </a:solidFill>
              </a:rPr>
              <a:t>Favorable Payment Terms</a:t>
            </a:r>
          </a:p>
        </p:txBody>
      </p:sp>
      <p:sp>
        <p:nvSpPr>
          <p:cNvPr id="129" name="Rectangle 128">
            <a:extLst>
              <a:ext uri="{FF2B5EF4-FFF2-40B4-BE49-F238E27FC236}">
                <a16:creationId xmlns:a16="http://schemas.microsoft.com/office/drawing/2014/main" id="{41FCA04E-CDAE-9307-37B5-6548DDAC646C}"/>
              </a:ext>
            </a:extLst>
          </p:cNvPr>
          <p:cNvSpPr/>
          <p:nvPr/>
        </p:nvSpPr>
        <p:spPr>
          <a:xfrm>
            <a:off x="9773578" y="3601421"/>
            <a:ext cx="1555750" cy="188913"/>
          </a:xfrm>
          <a:prstGeom prst="rect">
            <a:avLst/>
          </a:prstGeom>
          <a:no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i="1">
                <a:solidFill>
                  <a:schemeClr val="tx1"/>
                </a:solidFill>
              </a:rPr>
              <a:t>Forced to Stockpile &amp; Pre-Pay</a:t>
            </a:r>
          </a:p>
        </p:txBody>
      </p:sp>
      <p:grpSp>
        <p:nvGrpSpPr>
          <p:cNvPr id="132" name="Subtitle [Placeholder]">
            <a:extLst>
              <a:ext uri="{FF2B5EF4-FFF2-40B4-BE49-F238E27FC236}">
                <a16:creationId xmlns:a16="http://schemas.microsoft.com/office/drawing/2014/main" id="{0B39F81F-82FF-F3A0-94FA-50D5CEECCC08}"/>
              </a:ext>
            </a:extLst>
          </p:cNvPr>
          <p:cNvGrpSpPr>
            <a:grpSpLocks/>
          </p:cNvGrpSpPr>
          <p:nvPr/>
        </p:nvGrpSpPr>
        <p:grpSpPr bwMode="auto">
          <a:xfrm>
            <a:off x="497817" y="1600452"/>
            <a:ext cx="3186640" cy="323"/>
            <a:chOff x="902" y="1426"/>
            <a:chExt cx="4812" cy="323"/>
          </a:xfrm>
        </p:grpSpPr>
        <p:sp>
          <p:nvSpPr>
            <p:cNvPr id="133" name="Line 56">
              <a:extLst>
                <a:ext uri="{FF2B5EF4-FFF2-40B4-BE49-F238E27FC236}">
                  <a16:creationId xmlns:a16="http://schemas.microsoft.com/office/drawing/2014/main" id="{FFDF49B8-8523-DA1D-0ADF-77BA6FE502DF}"/>
                </a:ext>
              </a:extLst>
            </p:cNvPr>
            <p:cNvSpPr>
              <a:spLocks noChangeShapeType="1"/>
            </p:cNvSpPr>
            <p:nvPr>
              <p:custDataLst>
                <p:tags r:id="rId18"/>
              </p:custDataLst>
            </p:nvPr>
          </p:nvSpPr>
          <p:spPr bwMode="gray">
            <a:xfrm>
              <a:off x="902" y="1749"/>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endParaRPr lang="en-US">
                <a:solidFill>
                  <a:srgbClr val="00338D"/>
                </a:solidFill>
                <a:latin typeface="Arial" panose="020B0604020202020204" pitchFamily="34" charset="0"/>
                <a:cs typeface="Arial" panose="020B0604020202020204" pitchFamily="34" charset="0"/>
              </a:endParaRPr>
            </a:p>
          </p:txBody>
        </p:sp>
        <p:sp>
          <p:nvSpPr>
            <p:cNvPr id="134" name="Text Box 57">
              <a:extLst>
                <a:ext uri="{FF2B5EF4-FFF2-40B4-BE49-F238E27FC236}">
                  <a16:creationId xmlns:a16="http://schemas.microsoft.com/office/drawing/2014/main" id="{60C1313D-D45C-6399-41EB-94D83943C81F}"/>
                </a:ext>
              </a:extLst>
            </p:cNvPr>
            <p:cNvSpPr txBox="1">
              <a:spLocks noChangeArrowheads="1"/>
            </p:cNvSpPr>
            <p:nvPr>
              <p:custDataLst>
                <p:tags r:id="rId19"/>
              </p:custDataLst>
            </p:nvPr>
          </p:nvSpPr>
          <p:spPr bwMode="gray">
            <a:xfrm>
              <a:off x="902" y="1426"/>
              <a:ext cx="4810" cy="29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rtl="0"/>
              <a:r>
                <a:rPr lang="en-US" b="1" i="0" u="none" strike="noStrike" kern="1200" baseline="0">
                  <a:solidFill>
                    <a:srgbClr val="00338D"/>
                  </a:solidFill>
                  <a:latin typeface="Arial" panose="020B0604020202020204" pitchFamily="34" charset="0"/>
                </a:rPr>
                <a:t>U.S. BABA-Compliant Fiber Market Concentration</a:t>
              </a:r>
            </a:p>
            <a:p>
              <a:r>
                <a:rPr lang="en-US" altLang="en-US" i="1">
                  <a:solidFill>
                    <a:schemeClr val="tx1"/>
                  </a:solidFill>
                  <a:cs typeface="Arial" panose="020B0604020202020204" pitchFamily="34" charset="0"/>
                </a:rPr>
                <a:t>Over 90% of the domestic supply for the entire BEAD program is controlled by just three corporate entities</a:t>
              </a:r>
              <a:endParaRPr lang="en-CA" altLang="en-US" i="1">
                <a:solidFill>
                  <a:schemeClr val="tx1"/>
                </a:solidFill>
                <a:cs typeface="Arial" panose="020B0604020202020204" pitchFamily="34" charset="0"/>
              </a:endParaRPr>
            </a:p>
          </p:txBody>
        </p:sp>
      </p:grpSp>
      <p:cxnSp>
        <p:nvCxnSpPr>
          <p:cNvPr id="141" name="Straight Connector 140">
            <a:extLst>
              <a:ext uri="{FF2B5EF4-FFF2-40B4-BE49-F238E27FC236}">
                <a16:creationId xmlns:a16="http://schemas.microsoft.com/office/drawing/2014/main" id="{40436ECD-D521-8E23-83C5-F29D761551D1}"/>
              </a:ext>
            </a:extLst>
          </p:cNvPr>
          <p:cNvCxnSpPr>
            <a:cxnSpLocks/>
          </p:cNvCxnSpPr>
          <p:nvPr/>
        </p:nvCxnSpPr>
        <p:spPr>
          <a:xfrm>
            <a:off x="497817" y="4227292"/>
            <a:ext cx="11324295" cy="0"/>
          </a:xfrm>
          <a:prstGeom prst="line">
            <a:avLst/>
          </a:prstGeom>
          <a:ln/>
        </p:spPr>
        <p:style>
          <a:lnRef idx="1">
            <a:schemeClr val="accent4"/>
          </a:lnRef>
          <a:fillRef idx="0">
            <a:schemeClr val="accent4"/>
          </a:fillRef>
          <a:effectRef idx="0">
            <a:schemeClr val="accent4"/>
          </a:effectRef>
          <a:fontRef idx="minor">
            <a:schemeClr val="tx1"/>
          </a:fontRef>
        </p:style>
      </p:cxnSp>
      <p:graphicFrame>
        <p:nvGraphicFramePr>
          <p:cNvPr id="7" name="Chart 6">
            <a:extLst>
              <a:ext uri="{FF2B5EF4-FFF2-40B4-BE49-F238E27FC236}">
                <a16:creationId xmlns:a16="http://schemas.microsoft.com/office/drawing/2014/main" id="{B21D1996-9BAD-4D37-4D43-7A360FE03E84}"/>
              </a:ext>
            </a:extLst>
          </p:cNvPr>
          <p:cNvGraphicFramePr/>
          <p:nvPr>
            <p:custDataLst>
              <p:tags r:id="rId11"/>
            </p:custDataLst>
          </p:nvPr>
        </p:nvGraphicFramePr>
        <p:xfrm>
          <a:off x="1101725" y="1817688"/>
          <a:ext cx="2136775" cy="2481262"/>
        </p:xfrm>
        <a:graphic>
          <a:graphicData uri="http://schemas.openxmlformats.org/drawingml/2006/chart">
            <c:chart xmlns:c="http://schemas.openxmlformats.org/drawingml/2006/chart" xmlns:r="http://schemas.openxmlformats.org/officeDocument/2006/relationships" r:id="rId27"/>
          </a:graphicData>
        </a:graphic>
      </p:graphicFrame>
      <p:sp>
        <p:nvSpPr>
          <p:cNvPr id="143" name="Text Placeholder 2">
            <a:extLst>
              <a:ext uri="{FF2B5EF4-FFF2-40B4-BE49-F238E27FC236}">
                <a16:creationId xmlns:a16="http://schemas.microsoft.com/office/drawing/2014/main" id="{83386D51-E606-B5C6-E8FE-E471557CA76F}"/>
              </a:ext>
            </a:extLst>
          </p:cNvPr>
          <p:cNvSpPr>
            <a:spLocks noGrp="1"/>
          </p:cNvSpPr>
          <p:nvPr>
            <p:custDataLst>
              <p:tags r:id="rId12"/>
            </p:custDataLst>
          </p:nvPr>
        </p:nvSpPr>
        <p:spPr bwMode="auto">
          <a:xfrm>
            <a:off x="3175929" y="2996583"/>
            <a:ext cx="3571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7044A9E7-B6FA-4417-B044-EA572AD8F9C7}" type="datetime'''''C''orn''''''''''i''''n''g'''''''''''">
              <a:rPr lang="en-US" altLang="en-US" sz="800" smtClean="0"/>
              <a:pPr lvl="1">
                <a:spcBef>
                  <a:spcPct val="0"/>
                </a:spcBef>
                <a:spcAft>
                  <a:spcPct val="0"/>
                </a:spcAft>
              </a:pPr>
              <a:t>Corning</a:t>
            </a:fld>
            <a:endParaRPr lang="en-US" sz="800"/>
          </a:p>
        </p:txBody>
      </p:sp>
      <p:sp>
        <p:nvSpPr>
          <p:cNvPr id="144" name="Text Placeholder 2">
            <a:extLst>
              <a:ext uri="{FF2B5EF4-FFF2-40B4-BE49-F238E27FC236}">
                <a16:creationId xmlns:a16="http://schemas.microsoft.com/office/drawing/2014/main" id="{850C4184-E1F7-8510-74BC-AF3D2ADEA6A9}"/>
              </a:ext>
            </a:extLst>
          </p:cNvPr>
          <p:cNvSpPr>
            <a:spLocks noGrp="1"/>
          </p:cNvSpPr>
          <p:nvPr>
            <p:custDataLst>
              <p:tags r:id="rId13"/>
            </p:custDataLst>
          </p:nvPr>
        </p:nvSpPr>
        <p:spPr bwMode="auto">
          <a:xfrm>
            <a:off x="708954" y="3768108"/>
            <a:ext cx="7366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A2D6A774-9B3E-47E3-B5E2-F6D21EB7D3A3}" type="datetime'''P''r''ys''''m''''ian'''' ''''''''''G''r''''''''''o''u''p'">
              <a:rPr lang="en-US" altLang="en-US" sz="800" smtClean="0"/>
              <a:pPr lvl="1" algn="r">
                <a:spcBef>
                  <a:spcPct val="0"/>
                </a:spcBef>
                <a:spcAft>
                  <a:spcPct val="0"/>
                </a:spcAft>
              </a:pPr>
              <a:t>Prysmian Group</a:t>
            </a:fld>
            <a:endParaRPr lang="en-US" sz="800"/>
          </a:p>
        </p:txBody>
      </p:sp>
      <p:sp>
        <p:nvSpPr>
          <p:cNvPr id="145" name="Text Placeholder 2">
            <a:extLst>
              <a:ext uri="{FF2B5EF4-FFF2-40B4-BE49-F238E27FC236}">
                <a16:creationId xmlns:a16="http://schemas.microsoft.com/office/drawing/2014/main" id="{A4D15A7D-07DD-58C6-6BF5-EDA80468040B}"/>
              </a:ext>
            </a:extLst>
          </p:cNvPr>
          <p:cNvSpPr>
            <a:spLocks noGrp="1"/>
          </p:cNvSpPr>
          <p:nvPr>
            <p:custDataLst>
              <p:tags r:id="rId14"/>
            </p:custDataLst>
          </p:nvPr>
        </p:nvSpPr>
        <p:spPr bwMode="auto">
          <a:xfrm>
            <a:off x="731179" y="2356821"/>
            <a:ext cx="59055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DAA3A185-44EB-4781-B7AB-0D87FD8478BC}" type="datetime'''''''''''''S''''''''T''L ''/ ''''''Ster''li''''''''t''''''e'">
              <a:rPr lang="en-US" altLang="en-US" sz="800" smtClean="0"/>
              <a:pPr lvl="1" algn="r">
                <a:spcBef>
                  <a:spcPct val="0"/>
                </a:spcBef>
                <a:spcAft>
                  <a:spcPct val="0"/>
                </a:spcAft>
              </a:pPr>
              <a:t>STL / Sterlite</a:t>
            </a:fld>
            <a:endParaRPr lang="en-US" sz="800"/>
          </a:p>
        </p:txBody>
      </p:sp>
      <p:sp>
        <p:nvSpPr>
          <p:cNvPr id="160" name="Text Placeholder 2">
            <a:extLst>
              <a:ext uri="{FF2B5EF4-FFF2-40B4-BE49-F238E27FC236}">
                <a16:creationId xmlns:a16="http://schemas.microsoft.com/office/drawing/2014/main" id="{EEA52A08-F0E3-3E7E-A672-08AF3905A906}"/>
              </a:ext>
            </a:extLst>
          </p:cNvPr>
          <p:cNvSpPr>
            <a:spLocks noGrp="1"/>
          </p:cNvSpPr>
          <p:nvPr>
            <p:custDataLst>
              <p:tags r:id="rId15"/>
            </p:custDataLst>
          </p:nvPr>
        </p:nvSpPr>
        <p:spPr bwMode="auto">
          <a:xfrm>
            <a:off x="1793217" y="1937721"/>
            <a:ext cx="2555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3B10F0DF-F60D-459B-94EB-F228D9789E59}" type="datetime'''''''''''''''O''''''''t''''''''''''h''''e''''''r'''''''''''''">
              <a:rPr lang="en-US" altLang="en-US" sz="800" smtClean="0"/>
              <a:pPr lvl="1" algn="r">
                <a:spcBef>
                  <a:spcPct val="0"/>
                </a:spcBef>
                <a:spcAft>
                  <a:spcPct val="0"/>
                </a:spcAft>
              </a:pPr>
              <a:t>Other</a:t>
            </a:fld>
            <a:endParaRPr lang="en-US" sz="800"/>
          </a:p>
        </p:txBody>
      </p:sp>
      <p:grpSp>
        <p:nvGrpSpPr>
          <p:cNvPr id="169" name="Subtitle [Placeholder]">
            <a:extLst>
              <a:ext uri="{FF2B5EF4-FFF2-40B4-BE49-F238E27FC236}">
                <a16:creationId xmlns:a16="http://schemas.microsoft.com/office/drawing/2014/main" id="{3385B5B2-176A-2530-E726-BA7831767B82}"/>
              </a:ext>
            </a:extLst>
          </p:cNvPr>
          <p:cNvGrpSpPr>
            <a:grpSpLocks/>
          </p:cNvGrpSpPr>
          <p:nvPr/>
        </p:nvGrpSpPr>
        <p:grpSpPr bwMode="auto">
          <a:xfrm>
            <a:off x="3055277" y="4334945"/>
            <a:ext cx="6595891" cy="153888"/>
            <a:chOff x="902" y="-142688"/>
            <a:chExt cx="5045" cy="153888"/>
          </a:xfrm>
        </p:grpSpPr>
        <p:sp>
          <p:nvSpPr>
            <p:cNvPr id="170" name="Line 56">
              <a:extLst>
                <a:ext uri="{FF2B5EF4-FFF2-40B4-BE49-F238E27FC236}">
                  <a16:creationId xmlns:a16="http://schemas.microsoft.com/office/drawing/2014/main" id="{B7FE7B93-8F90-A766-4FB9-D61DD7380944}"/>
                </a:ext>
              </a:extLst>
            </p:cNvPr>
            <p:cNvSpPr>
              <a:spLocks noChangeShapeType="1"/>
            </p:cNvSpPr>
            <p:nvPr>
              <p:custDataLst>
                <p:tags r:id="rId16"/>
              </p:custDataLst>
            </p:nvPr>
          </p:nvSpPr>
          <p:spPr bwMode="gray">
            <a:xfrm>
              <a:off x="902" y="1749"/>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endParaRPr lang="en-US">
                <a:solidFill>
                  <a:srgbClr val="00338D"/>
                </a:solidFill>
                <a:latin typeface="Arial" panose="020B0604020202020204" pitchFamily="34" charset="0"/>
                <a:cs typeface="Arial" panose="020B0604020202020204" pitchFamily="34" charset="0"/>
              </a:endParaRPr>
            </a:p>
          </p:txBody>
        </p:sp>
        <p:sp>
          <p:nvSpPr>
            <p:cNvPr id="171" name="Text Box 57">
              <a:extLst>
                <a:ext uri="{FF2B5EF4-FFF2-40B4-BE49-F238E27FC236}">
                  <a16:creationId xmlns:a16="http://schemas.microsoft.com/office/drawing/2014/main" id="{76A05BA1-D113-6B8E-B39E-47CA5AC4075D}"/>
                </a:ext>
              </a:extLst>
            </p:cNvPr>
            <p:cNvSpPr txBox="1">
              <a:spLocks noChangeArrowheads="1"/>
            </p:cNvSpPr>
            <p:nvPr>
              <p:custDataLst>
                <p:tags r:id="rId17"/>
              </p:custDataLst>
            </p:nvPr>
          </p:nvSpPr>
          <p:spPr bwMode="gray">
            <a:xfrm>
              <a:off x="1137" y="-142688"/>
              <a:ext cx="4810"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rtl="0"/>
              <a:r>
                <a:rPr lang="en-US" b="1" i="0" u="none" strike="noStrike" kern="1200" baseline="0">
                  <a:solidFill>
                    <a:schemeClr val="bg1"/>
                  </a:solidFill>
                  <a:latin typeface="Arial" panose="020B0604020202020204" pitchFamily="34" charset="0"/>
                </a:rPr>
                <a:t>The Foundational BABA Rules: Understanding ‘Build American, Buy America’ (BABA)</a:t>
              </a:r>
            </a:p>
          </p:txBody>
        </p:sp>
      </p:grpSp>
      <p:graphicFrame>
        <p:nvGraphicFramePr>
          <p:cNvPr id="172" name="Table 171">
            <a:extLst>
              <a:ext uri="{FF2B5EF4-FFF2-40B4-BE49-F238E27FC236}">
                <a16:creationId xmlns:a16="http://schemas.microsoft.com/office/drawing/2014/main" id="{8760C59D-C112-A8D2-ACA3-98A1CFD9CFA7}"/>
              </a:ext>
            </a:extLst>
          </p:cNvPr>
          <p:cNvGraphicFramePr>
            <a:graphicFrameLocks noGrp="1"/>
          </p:cNvGraphicFramePr>
          <p:nvPr/>
        </p:nvGraphicFramePr>
        <p:xfrm>
          <a:off x="497817" y="4736587"/>
          <a:ext cx="11324295" cy="1039896"/>
        </p:xfrm>
        <a:graphic>
          <a:graphicData uri="http://schemas.openxmlformats.org/drawingml/2006/table">
            <a:tbl>
              <a:tblPr/>
              <a:tblGrid>
                <a:gridCol w="3774765">
                  <a:extLst>
                    <a:ext uri="{9D8B030D-6E8A-4147-A177-3AD203B41FA5}">
                      <a16:colId xmlns:a16="http://schemas.microsoft.com/office/drawing/2014/main" val="3372453630"/>
                    </a:ext>
                  </a:extLst>
                </a:gridCol>
                <a:gridCol w="3774765">
                  <a:extLst>
                    <a:ext uri="{9D8B030D-6E8A-4147-A177-3AD203B41FA5}">
                      <a16:colId xmlns:a16="http://schemas.microsoft.com/office/drawing/2014/main" val="1903016208"/>
                    </a:ext>
                  </a:extLst>
                </a:gridCol>
                <a:gridCol w="3774765">
                  <a:extLst>
                    <a:ext uri="{9D8B030D-6E8A-4147-A177-3AD203B41FA5}">
                      <a16:colId xmlns:a16="http://schemas.microsoft.com/office/drawing/2014/main" val="4000077707"/>
                    </a:ext>
                  </a:extLst>
                </a:gridCol>
              </a:tblGrid>
              <a:tr h="204269">
                <a:tc>
                  <a:txBody>
                    <a:bodyPr/>
                    <a:lstStyle/>
                    <a:p>
                      <a:pPr algn="ctr">
                        <a:buNone/>
                      </a:pPr>
                      <a:r>
                        <a:rPr lang="en-US" sz="1000" b="1">
                          <a:effectLst/>
                        </a:rPr>
                        <a:t>Fiber Optic Cable</a:t>
                      </a:r>
                      <a:endParaRPr lang="en-US" sz="1000">
                        <a:effectLst/>
                      </a:endParaRPr>
                    </a:p>
                  </a:txBody>
                  <a:tcPr marL="38577" marR="38577" marT="38577" marB="38577" anchor="ctr">
                    <a:lnL w="7055" cap="flat" cmpd="sng" algn="ctr">
                      <a:solidFill>
                        <a:srgbClr val="D5D5DC"/>
                      </a:solidFill>
                      <a:prstDash val="solid"/>
                      <a:round/>
                      <a:headEnd type="none" w="med" len="med"/>
                      <a:tailEnd type="none" w="med" len="med"/>
                    </a:lnL>
                    <a:lnR w="7055" cap="flat" cmpd="sng" algn="ctr">
                      <a:solidFill>
                        <a:srgbClr val="D5D5DC"/>
                      </a:solidFill>
                      <a:prstDash val="solid"/>
                      <a:round/>
                      <a:headEnd type="none" w="med" len="med"/>
                      <a:tailEnd type="none" w="med" len="med"/>
                    </a:lnR>
                    <a:lnT w="7055" cap="flat" cmpd="sng" algn="ctr">
                      <a:solidFill>
                        <a:srgbClr val="D5D5DC"/>
                      </a:solidFill>
                      <a:prstDash val="solid"/>
                      <a:round/>
                      <a:headEnd type="none" w="med" len="med"/>
                      <a:tailEnd type="none" w="med" len="med"/>
                    </a:lnT>
                    <a:lnB w="7055" cap="flat" cmpd="sng" algn="ctr">
                      <a:solidFill>
                        <a:srgbClr val="D5D5DC"/>
                      </a:solidFill>
                      <a:prstDash val="solid"/>
                      <a:round/>
                      <a:headEnd type="none" w="med" len="med"/>
                      <a:tailEnd type="none" w="med" len="med"/>
                    </a:lnB>
                    <a:solidFill>
                      <a:srgbClr val="FFFFFF"/>
                    </a:solidFill>
                  </a:tcPr>
                </a:tc>
                <a:tc>
                  <a:txBody>
                    <a:bodyPr/>
                    <a:lstStyle/>
                    <a:p>
                      <a:pPr algn="ctr">
                        <a:buNone/>
                      </a:pPr>
                      <a:r>
                        <a:rPr lang="en-US" sz="1000" b="1">
                          <a:effectLst/>
                        </a:rPr>
                        <a:t>Enclosures &amp; Hardware</a:t>
                      </a:r>
                      <a:endParaRPr lang="en-US" sz="1000">
                        <a:effectLst/>
                      </a:endParaRPr>
                    </a:p>
                  </a:txBody>
                  <a:tcPr marL="38577" marR="38577" marT="38577" marB="38577" anchor="ctr">
                    <a:lnL w="7055" cap="flat" cmpd="sng" algn="ctr">
                      <a:solidFill>
                        <a:srgbClr val="D5D5DC"/>
                      </a:solidFill>
                      <a:prstDash val="solid"/>
                      <a:round/>
                      <a:headEnd type="none" w="med" len="med"/>
                      <a:tailEnd type="none" w="med" len="med"/>
                    </a:lnL>
                    <a:lnR w="7055" cap="flat" cmpd="sng" algn="ctr">
                      <a:solidFill>
                        <a:srgbClr val="D5D5DC"/>
                      </a:solidFill>
                      <a:prstDash val="solid"/>
                      <a:round/>
                      <a:headEnd type="none" w="med" len="med"/>
                      <a:tailEnd type="none" w="med" len="med"/>
                    </a:lnR>
                    <a:lnT w="7055" cap="flat" cmpd="sng" algn="ctr">
                      <a:solidFill>
                        <a:srgbClr val="D5D5DC"/>
                      </a:solidFill>
                      <a:prstDash val="solid"/>
                      <a:round/>
                      <a:headEnd type="none" w="med" len="med"/>
                      <a:tailEnd type="none" w="med" len="med"/>
                    </a:lnT>
                    <a:lnB w="7055" cap="flat" cmpd="sng" algn="ctr">
                      <a:solidFill>
                        <a:srgbClr val="D5D5DC"/>
                      </a:solidFill>
                      <a:prstDash val="solid"/>
                      <a:round/>
                      <a:headEnd type="none" w="med" len="med"/>
                      <a:tailEnd type="none" w="med" len="med"/>
                    </a:lnB>
                    <a:solidFill>
                      <a:srgbClr val="FFFFFF"/>
                    </a:solidFill>
                  </a:tcPr>
                </a:tc>
                <a:tc>
                  <a:txBody>
                    <a:bodyPr/>
                    <a:lstStyle/>
                    <a:p>
                      <a:pPr algn="ctr">
                        <a:buNone/>
                      </a:pPr>
                      <a:r>
                        <a:rPr lang="en-US" sz="1000" b="1">
                          <a:effectLst/>
                        </a:rPr>
                        <a:t>Network Electronics</a:t>
                      </a:r>
                      <a:endParaRPr lang="en-US" sz="1000">
                        <a:effectLst/>
                      </a:endParaRPr>
                    </a:p>
                  </a:txBody>
                  <a:tcPr marL="38577" marR="38577" marT="38577" marB="38577" anchor="ctr">
                    <a:lnL w="7055" cap="flat" cmpd="sng" algn="ctr">
                      <a:solidFill>
                        <a:srgbClr val="D5D5DC"/>
                      </a:solidFill>
                      <a:prstDash val="solid"/>
                      <a:round/>
                      <a:headEnd type="none" w="med" len="med"/>
                      <a:tailEnd type="none" w="med" len="med"/>
                    </a:lnL>
                    <a:lnR>
                      <a:noFill/>
                    </a:lnR>
                    <a:lnT w="7055" cap="flat" cmpd="sng" algn="ctr">
                      <a:solidFill>
                        <a:srgbClr val="D5D5DC"/>
                      </a:solidFill>
                      <a:prstDash val="solid"/>
                      <a:round/>
                      <a:headEnd type="none" w="med" len="med"/>
                      <a:tailEnd type="none" w="med" len="med"/>
                    </a:lnT>
                    <a:lnB w="7055" cap="flat" cmpd="sng" algn="ctr">
                      <a:solidFill>
                        <a:srgbClr val="D5D5DC"/>
                      </a:solidFill>
                      <a:prstDash val="solid"/>
                      <a:round/>
                      <a:headEnd type="none" w="med" len="med"/>
                      <a:tailEnd type="none" w="med" len="med"/>
                    </a:lnB>
                    <a:solidFill>
                      <a:srgbClr val="FFFFFF"/>
                    </a:solidFill>
                  </a:tcPr>
                </a:tc>
                <a:extLst>
                  <a:ext uri="{0D108BD9-81ED-4DB2-BD59-A6C34878D82A}">
                    <a16:rowId xmlns:a16="http://schemas.microsoft.com/office/drawing/2014/main" val="3382801982"/>
                  </a:ext>
                </a:extLst>
              </a:tr>
              <a:tr h="810342">
                <a:tc>
                  <a:txBody>
                    <a:bodyPr/>
                    <a:lstStyle/>
                    <a:p>
                      <a:pPr algn="l">
                        <a:buNone/>
                      </a:pPr>
                      <a:r>
                        <a:rPr lang="en-US" sz="1000" b="1">
                          <a:effectLst/>
                        </a:rPr>
                        <a:t>The Rule (Most Stringent):</a:t>
                      </a:r>
                      <a:r>
                        <a:rPr lang="en-US" sz="1000">
                          <a:effectLst/>
                        </a:rPr>
                        <a:t> "BABA requires that </a:t>
                      </a:r>
                      <a:r>
                        <a:rPr lang="en-US" sz="1000" b="1">
                          <a:effectLst/>
                        </a:rPr>
                        <a:t>100% of the manufacturing process</a:t>
                      </a:r>
                      <a:r>
                        <a:rPr lang="en-US" sz="1000">
                          <a:effectLst/>
                        </a:rPr>
                        <a:t>—from creating the core glass preforms to the final protective jacketing—must occur domestically. This is the most rigorous standard."</a:t>
                      </a:r>
                    </a:p>
                  </a:txBody>
                  <a:tcPr marL="38577" marR="38577" marT="38577" marB="38577" anchor="ctr">
                    <a:lnL w="7055" cap="flat" cmpd="sng" algn="ctr">
                      <a:solidFill>
                        <a:srgbClr val="D5D5DC"/>
                      </a:solidFill>
                      <a:prstDash val="solid"/>
                      <a:round/>
                      <a:headEnd type="none" w="med" len="med"/>
                      <a:tailEnd type="none" w="med" len="med"/>
                    </a:lnL>
                    <a:lnR w="7055" cap="flat" cmpd="sng" algn="ctr">
                      <a:solidFill>
                        <a:srgbClr val="D5D5DC"/>
                      </a:solidFill>
                      <a:prstDash val="solid"/>
                      <a:round/>
                      <a:headEnd type="none" w="med" len="med"/>
                      <a:tailEnd type="none" w="med" len="med"/>
                    </a:lnR>
                    <a:lnT w="7055" cap="flat" cmpd="sng" algn="ctr">
                      <a:solidFill>
                        <a:srgbClr val="D5D5DC"/>
                      </a:solidFill>
                      <a:prstDash val="solid"/>
                      <a:round/>
                      <a:headEnd type="none" w="med" len="med"/>
                      <a:tailEnd type="none" w="med" len="med"/>
                    </a:lnT>
                    <a:lnB>
                      <a:noFill/>
                    </a:lnB>
                    <a:solidFill>
                      <a:srgbClr val="FFFFFF"/>
                    </a:solidFill>
                  </a:tcPr>
                </a:tc>
                <a:tc>
                  <a:txBody>
                    <a:bodyPr/>
                    <a:lstStyle/>
                    <a:p>
                      <a:pPr algn="l">
                        <a:buNone/>
                      </a:pPr>
                      <a:r>
                        <a:rPr lang="en-US" sz="1000" b="1">
                          <a:effectLst/>
                        </a:rPr>
                        <a:t>The Rule (Standard):</a:t>
                      </a:r>
                      <a:r>
                        <a:rPr lang="en-US" sz="1000">
                          <a:effectLst/>
                        </a:rPr>
                        <a:t> "Covers items like cabinets, splice closures, and mounting hardware. As 'manufactured products,' all manufacturing processes must occur in the U.S. Any iron or steel components must also be domestically sourced."</a:t>
                      </a:r>
                    </a:p>
                  </a:txBody>
                  <a:tcPr marL="38577" marR="38577" marT="38577" marB="38577" anchor="ctr">
                    <a:lnL w="7055" cap="flat" cmpd="sng" algn="ctr">
                      <a:solidFill>
                        <a:srgbClr val="D5D5DC"/>
                      </a:solidFill>
                      <a:prstDash val="solid"/>
                      <a:round/>
                      <a:headEnd type="none" w="med" len="med"/>
                      <a:tailEnd type="none" w="med" len="med"/>
                    </a:lnL>
                    <a:lnR w="7055" cap="flat" cmpd="sng" algn="ctr">
                      <a:solidFill>
                        <a:srgbClr val="D5D5DC"/>
                      </a:solidFill>
                      <a:prstDash val="solid"/>
                      <a:round/>
                      <a:headEnd type="none" w="med" len="med"/>
                      <a:tailEnd type="none" w="med" len="med"/>
                    </a:lnR>
                    <a:lnT w="7055" cap="flat" cmpd="sng" algn="ctr">
                      <a:solidFill>
                        <a:srgbClr val="D5D5DC"/>
                      </a:solidFill>
                      <a:prstDash val="solid"/>
                      <a:round/>
                      <a:headEnd type="none" w="med" len="med"/>
                      <a:tailEnd type="none" w="med" len="med"/>
                    </a:lnT>
                    <a:lnB>
                      <a:noFill/>
                    </a:lnB>
                    <a:solidFill>
                      <a:srgbClr val="FFFFFF"/>
                    </a:solidFill>
                  </a:tcPr>
                </a:tc>
                <a:tc>
                  <a:txBody>
                    <a:bodyPr/>
                    <a:lstStyle/>
                    <a:p>
                      <a:pPr algn="l">
                        <a:buNone/>
                      </a:pPr>
                      <a:r>
                        <a:rPr lang="en-US" sz="1000" b="1">
                          <a:effectLst/>
                        </a:rPr>
                        <a:t>The Rule (Specific Waivers):</a:t>
                      </a:r>
                      <a:r>
                        <a:rPr lang="en-US" sz="1000">
                          <a:effectLst/>
                        </a:rPr>
                        <a:t> "BABA requires the </a:t>
                      </a:r>
                      <a:r>
                        <a:rPr lang="en-US" sz="1000" b="1">
                          <a:effectLst/>
                        </a:rPr>
                        <a:t>final assembly and integration</a:t>
                      </a:r>
                      <a:r>
                        <a:rPr lang="en-US" sz="1000">
                          <a:effectLst/>
                        </a:rPr>
                        <a:t> of active equipment to occur in the U.S. Some underlying components, like non-BABA compliant microchips, are permitted under a limited waiver."</a:t>
                      </a:r>
                    </a:p>
                  </a:txBody>
                  <a:tcPr marL="38577" marR="38577" marT="38577" marB="38577" anchor="ctr">
                    <a:lnL w="7055" cap="flat" cmpd="sng" algn="ctr">
                      <a:solidFill>
                        <a:srgbClr val="D5D5DC"/>
                      </a:solidFill>
                      <a:prstDash val="solid"/>
                      <a:round/>
                      <a:headEnd type="none" w="med" len="med"/>
                      <a:tailEnd type="none" w="med" len="med"/>
                    </a:lnL>
                    <a:lnR>
                      <a:noFill/>
                    </a:lnR>
                    <a:lnT w="7055" cap="flat" cmpd="sng" algn="ctr">
                      <a:solidFill>
                        <a:srgbClr val="D5D5DC"/>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525882480"/>
                  </a:ext>
                </a:extLst>
              </a:tr>
            </a:tbl>
          </a:graphicData>
        </a:graphic>
      </p:graphicFrame>
      <p:sp>
        <p:nvSpPr>
          <p:cNvPr id="2" name="TextBox 1">
            <a:extLst>
              <a:ext uri="{FF2B5EF4-FFF2-40B4-BE49-F238E27FC236}">
                <a16:creationId xmlns:a16="http://schemas.microsoft.com/office/drawing/2014/main" id="{D341E182-7A05-7F14-40FE-F406CD7F19B6}"/>
              </a:ext>
            </a:extLst>
          </p:cNvPr>
          <p:cNvSpPr txBox="1"/>
          <p:nvPr/>
        </p:nvSpPr>
        <p:spPr>
          <a:xfrm>
            <a:off x="624475" y="6057002"/>
            <a:ext cx="10579509" cy="149455"/>
          </a:xfrm>
          <a:prstGeom prst="rect">
            <a:avLst/>
          </a:prstGeom>
        </p:spPr>
        <p:txBody>
          <a:bodyPr vert="horz" wrap="square" lIns="0" tIns="0" rIns="0" bIns="0" rtlCol="0" anchor="ctr" anchorCtr="0">
            <a:noAutofit/>
          </a:bodyPr>
          <a:lstStyle/>
          <a:p>
            <a:pPr>
              <a:defRPr/>
            </a:pPr>
            <a:r>
              <a:rPr kumimoji="0" lang="en-US" sz="800" b="0" i="1" u="none" strike="noStrike" kern="1200" cap="none" spc="0" normalizeH="0" baseline="0" noProof="0">
                <a:ln>
                  <a:noFill/>
                </a:ln>
                <a:solidFill>
                  <a:schemeClr val="tx1">
                    <a:lumMod val="100000"/>
                  </a:schemeClr>
                </a:solidFill>
                <a:effectLst/>
                <a:uLnTx/>
                <a:uFillTx/>
                <a:latin typeface="Arial"/>
                <a:ea typeface="+mn-ea"/>
                <a:cs typeface="+mn-cs"/>
              </a:rPr>
              <a:t>Source: Secondary </a:t>
            </a:r>
            <a:r>
              <a:rPr lang="en-US" sz="800" i="1">
                <a:solidFill>
                  <a:schemeClr val="tx1">
                    <a:lumMod val="100000"/>
                  </a:schemeClr>
                </a:solidFill>
                <a:latin typeface="Arial"/>
              </a:rPr>
              <a:t>R</a:t>
            </a:r>
            <a:r>
              <a:rPr kumimoji="0" lang="en-US" sz="800" b="0" i="1" u="none" strike="noStrike" kern="1200" cap="none" spc="0" normalizeH="0" baseline="0" noProof="0" err="1">
                <a:ln>
                  <a:noFill/>
                </a:ln>
                <a:solidFill>
                  <a:schemeClr val="tx1">
                    <a:lumMod val="100000"/>
                  </a:schemeClr>
                </a:solidFill>
                <a:effectLst/>
                <a:uLnTx/>
                <a:uFillTx/>
                <a:latin typeface="Arial"/>
                <a:ea typeface="+mn-ea"/>
                <a:cs typeface="+mn-cs"/>
              </a:rPr>
              <a:t>esearch</a:t>
            </a:r>
            <a:r>
              <a:rPr kumimoji="0" lang="en-US" sz="800" b="0" i="1" u="none" strike="noStrike" kern="1200" cap="none" spc="0" normalizeH="0" baseline="0" noProof="0">
                <a:ln>
                  <a:noFill/>
                </a:ln>
                <a:solidFill>
                  <a:schemeClr val="tx1">
                    <a:lumMod val="100000"/>
                  </a:schemeClr>
                </a:solidFill>
                <a:effectLst/>
                <a:uLnTx/>
                <a:uFillTx/>
                <a:latin typeface="Arial"/>
                <a:ea typeface="+mn-ea"/>
                <a:cs typeface="+mn-cs"/>
              </a:rPr>
              <a:t>,  Michigan High-Speed Internet Office (MIHI), NTIA, and Telecom </a:t>
            </a:r>
            <a:r>
              <a:rPr lang="en-US" sz="800" i="1">
                <a:solidFill>
                  <a:schemeClr val="tx1">
                    <a:lumMod val="100000"/>
                  </a:schemeClr>
                </a:solidFill>
                <a:latin typeface="Arial"/>
              </a:rPr>
              <a:t>industry </a:t>
            </a:r>
            <a:r>
              <a:rPr kumimoji="0" lang="en-US" sz="800" b="0" i="1" u="none" strike="noStrike" kern="1200" cap="none" spc="0" normalizeH="0" baseline="0" noProof="0">
                <a:ln>
                  <a:noFill/>
                </a:ln>
                <a:solidFill>
                  <a:schemeClr val="tx1">
                    <a:lumMod val="100000"/>
                  </a:schemeClr>
                </a:solidFill>
                <a:effectLst/>
                <a:uLnTx/>
                <a:uFillTx/>
                <a:latin typeface="Arial"/>
                <a:ea typeface="+mn-ea"/>
                <a:cs typeface="+mn-cs"/>
              </a:rPr>
              <a:t>reports. accessed Jan ’26.</a:t>
            </a:r>
            <a:endParaRPr kumimoji="0" lang="en-US" sz="800" b="0" i="1" u="none" strike="noStrike" kern="1200" cap="none" spc="0" normalizeH="0" baseline="0" noProof="0">
              <a:ln>
                <a:noFill/>
              </a:ln>
              <a:solidFill>
                <a:srgbClr val="00338D"/>
              </a:solidFill>
              <a:effectLst/>
              <a:uLnTx/>
              <a:uFillTx/>
              <a:latin typeface="Arial"/>
              <a:ea typeface="+mn-ea"/>
              <a:cs typeface="+mn-cs"/>
            </a:endParaRPr>
          </a:p>
        </p:txBody>
      </p:sp>
      <p:cxnSp>
        <p:nvCxnSpPr>
          <p:cNvPr id="8" name="Straight Connector 7">
            <a:extLst>
              <a:ext uri="{FF2B5EF4-FFF2-40B4-BE49-F238E27FC236}">
                <a16:creationId xmlns:a16="http://schemas.microsoft.com/office/drawing/2014/main" id="{3AF01700-D16D-E3B1-FBAF-9FF00A67F6FF}"/>
              </a:ext>
            </a:extLst>
          </p:cNvPr>
          <p:cNvCxnSpPr/>
          <p:nvPr/>
        </p:nvCxnSpPr>
        <p:spPr>
          <a:xfrm>
            <a:off x="7685323" y="8455"/>
            <a:ext cx="1114425"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D31B9EBE-B71C-27BB-14B1-5FA9B8D121D6}"/>
              </a:ext>
            </a:extLst>
          </p:cNvPr>
          <p:cNvCxnSpPr/>
          <p:nvPr/>
        </p:nvCxnSpPr>
        <p:spPr>
          <a:xfrm>
            <a:off x="8845789" y="8455"/>
            <a:ext cx="1114425" cy="0"/>
          </a:xfrm>
          <a:prstGeom prst="line">
            <a:avLst/>
          </a:prstGeom>
          <a:ln w="76200" cap="flat" cmpd="sng" algn="ctr">
            <a:solidFill>
              <a:srgbClr val="6F8DB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189DA66A-5B9F-A4BA-6D56-00EB4A02FD51}"/>
              </a:ext>
            </a:extLst>
          </p:cNvPr>
          <p:cNvSpPr/>
          <p:nvPr/>
        </p:nvSpPr>
        <p:spPr>
          <a:xfrm>
            <a:off x="8843291" y="72526"/>
            <a:ext cx="1114425" cy="179659"/>
          </a:xfrm>
          <a:prstGeom prst="rect">
            <a:avLst/>
          </a:prstGeom>
          <a:solidFill>
            <a:schemeClr val="bg1">
              <a:lumMod val="100000"/>
            </a:schemeClr>
          </a:solidFill>
          <a:ln>
            <a:solidFill>
              <a:srgbClr val="6F8DB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rgbClr val="6F8DB9"/>
                </a:solidFill>
              </a:rPr>
              <a:t>Value</a:t>
            </a:r>
            <a:r>
              <a:rPr lang="en-US" sz="800">
                <a:solidFill>
                  <a:schemeClr val="accent6">
                    <a:lumMod val="100000"/>
                  </a:schemeClr>
                </a:solidFill>
              </a:rPr>
              <a:t> </a:t>
            </a:r>
            <a:r>
              <a:rPr lang="en-US" sz="800">
                <a:solidFill>
                  <a:srgbClr val="6F8DB9"/>
                </a:solidFill>
              </a:rPr>
              <a:t>Chain</a:t>
            </a:r>
          </a:p>
        </p:txBody>
      </p:sp>
      <p:cxnSp>
        <p:nvCxnSpPr>
          <p:cNvPr id="26" name="Straight Connector 25">
            <a:extLst>
              <a:ext uri="{FF2B5EF4-FFF2-40B4-BE49-F238E27FC236}">
                <a16:creationId xmlns:a16="http://schemas.microsoft.com/office/drawing/2014/main" id="{277A6FF9-FAD2-5A4D-51CE-41FD610A7601}"/>
              </a:ext>
            </a:extLst>
          </p:cNvPr>
          <p:cNvCxnSpPr>
            <a:cxnSpLocks/>
          </p:cNvCxnSpPr>
          <p:nvPr/>
        </p:nvCxnSpPr>
        <p:spPr>
          <a:xfrm>
            <a:off x="11183902" y="-3513"/>
            <a:ext cx="1008098"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BD74C9F4-E16A-73F3-886B-A151AA5EEFDB}"/>
              </a:ext>
            </a:extLst>
          </p:cNvPr>
          <p:cNvCxnSpPr>
            <a:cxnSpLocks/>
          </p:cNvCxnSpPr>
          <p:nvPr/>
        </p:nvCxnSpPr>
        <p:spPr>
          <a:xfrm>
            <a:off x="10002442" y="0"/>
            <a:ext cx="1134047" cy="0"/>
          </a:xfrm>
          <a:prstGeom prst="line">
            <a:avLst/>
          </a:prstGeom>
          <a:ln w="38100">
            <a:solidFill>
              <a:srgbClr val="3B5479"/>
            </a:solidFill>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A13F86BB-7370-8C50-8C90-9A54FB563306}"/>
              </a:ext>
            </a:extLst>
          </p:cNvPr>
          <p:cNvSpPr txBox="1"/>
          <p:nvPr/>
        </p:nvSpPr>
        <p:spPr>
          <a:xfrm>
            <a:off x="4089400" y="6565900"/>
            <a:ext cx="0" cy="0"/>
          </a:xfrm>
          <a:prstGeom prst="rect">
            <a:avLst/>
          </a:prstGeom>
        </p:spPr>
        <p:txBody>
          <a:bodyPr vert="horz" wrap="none" lIns="0" tIns="0" rIns="0" bIns="0" rtlCol="0" anchor="t" anchorCtr="0">
            <a:noAutofit/>
          </a:bodyPr>
          <a:lstStyle/>
          <a:p>
            <a:pPr algn="l">
              <a:spcAft>
                <a:spcPts val="600"/>
              </a:spcAft>
            </a:pPr>
            <a:endParaRPr lang="en-US" sz="1500" b="1" dirty="0">
              <a:solidFill>
                <a:schemeClr val="tx2"/>
              </a:solidFill>
            </a:endParaRPr>
          </a:p>
        </p:txBody>
      </p:sp>
      <p:sp>
        <p:nvSpPr>
          <p:cNvPr id="5" name="TextBox 4">
            <a:extLst>
              <a:ext uri="{FF2B5EF4-FFF2-40B4-BE49-F238E27FC236}">
                <a16:creationId xmlns:a16="http://schemas.microsoft.com/office/drawing/2014/main" id="{D71EFCFD-38EA-5D1E-C8FD-6C45A24E3C55}"/>
              </a:ext>
            </a:extLst>
          </p:cNvPr>
          <p:cNvSpPr txBox="1"/>
          <p:nvPr/>
        </p:nvSpPr>
        <p:spPr>
          <a:xfrm>
            <a:off x="3416300" y="6692900"/>
            <a:ext cx="0" cy="0"/>
          </a:xfrm>
          <a:prstGeom prst="rect">
            <a:avLst/>
          </a:prstGeom>
        </p:spPr>
        <p:txBody>
          <a:bodyPr vert="horz" wrap="none" lIns="0" tIns="0" rIns="0" bIns="0" rtlCol="0" anchor="t" anchorCtr="0">
            <a:noAutofit/>
          </a:bodyPr>
          <a:lstStyle/>
          <a:p>
            <a:pPr algn="l">
              <a:spcAft>
                <a:spcPts val="600"/>
              </a:spcAft>
            </a:pPr>
            <a:endParaRPr lang="en-US" sz="1500" b="1" dirty="0">
              <a:solidFill>
                <a:schemeClr val="tx2"/>
              </a:solidFill>
            </a:endParaRPr>
          </a:p>
        </p:txBody>
      </p:sp>
    </p:spTree>
    <p:extLst>
      <p:ext uri="{BB962C8B-B14F-4D97-AF65-F5344CB8AC3E}">
        <p14:creationId xmlns:p14="http://schemas.microsoft.com/office/powerpoint/2010/main" val="25445393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4384E8-943F-0B58-18C4-90D3DF5BFDA7}"/>
            </a:ext>
          </a:extLst>
        </p:cNvPr>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99B2A54E-602F-982C-03A1-AB11205CD727}"/>
              </a:ext>
            </a:extLst>
          </p:cNvPr>
          <p:cNvGraphicFramePr>
            <a:graphicFrameLocks/>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4" name="Object 3" hidden="1">
                        <a:extLst>
                          <a:ext uri="{FF2B5EF4-FFF2-40B4-BE49-F238E27FC236}">
                            <a16:creationId xmlns:a16="http://schemas.microsoft.com/office/drawing/2014/main" id="{99B2A54E-602F-982C-03A1-AB11205CD727}"/>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11" name="Text Placeholder 10">
            <a:extLst>
              <a:ext uri="{FF2B5EF4-FFF2-40B4-BE49-F238E27FC236}">
                <a16:creationId xmlns:a16="http://schemas.microsoft.com/office/drawing/2014/main" id="{D99D5EFA-FEB4-24A9-20D8-D242C04D354C}"/>
              </a:ext>
            </a:extLst>
          </p:cNvPr>
          <p:cNvSpPr>
            <a:spLocks noGrp="1"/>
          </p:cNvSpPr>
          <p:nvPr>
            <p:ph type="body" sz="quarter" idx="20"/>
          </p:nvPr>
        </p:nvSpPr>
        <p:spPr/>
        <p:txBody>
          <a:bodyPr/>
          <a:lstStyle/>
          <a:p>
            <a:r>
              <a:rPr lang="en-US" dirty="0"/>
              <a:t>Broadband Value chain</a:t>
            </a:r>
          </a:p>
        </p:txBody>
      </p:sp>
      <p:sp>
        <p:nvSpPr>
          <p:cNvPr id="2" name="Title 1">
            <a:extLst>
              <a:ext uri="{FF2B5EF4-FFF2-40B4-BE49-F238E27FC236}">
                <a16:creationId xmlns:a16="http://schemas.microsoft.com/office/drawing/2014/main" id="{E568856D-BB2D-AD19-9C84-4727DBB9AA47}"/>
              </a:ext>
            </a:extLst>
          </p:cNvPr>
          <p:cNvSpPr>
            <a:spLocks noGrp="1"/>
          </p:cNvSpPr>
          <p:nvPr>
            <p:ph type="title"/>
          </p:nvPr>
        </p:nvSpPr>
        <p:spPr/>
        <p:txBody>
          <a:bodyPr vert="horz" rIns="0">
            <a:noAutofit/>
          </a:bodyPr>
          <a:lstStyle/>
          <a:p>
            <a:r>
              <a:rPr lang="en-US" sz="2800" b="1" dirty="0">
                <a:solidFill>
                  <a:srgbClr val="3A5479"/>
                </a:solidFill>
                <a:latin typeface="Calibri" panose="020F0502020204030204" pitchFamily="34" charset="0"/>
                <a:cs typeface="Calibri" panose="020F0502020204030204" pitchFamily="34" charset="0"/>
              </a:rPr>
              <a:t>The Flow of Broadband Materials is Governed by Two Realities: A National Capacity Limit for Fiber and the Local Priority System for Distribution.</a:t>
            </a:r>
            <a:endParaRPr lang="en-US" sz="2800" dirty="0">
              <a:solidFill>
                <a:srgbClr val="3A5479"/>
              </a:solidFill>
              <a:latin typeface="Calibri" panose="020F0502020204030204" pitchFamily="34" charset="0"/>
              <a:cs typeface="Calibri" panose="020F0502020204030204" pitchFamily="34" charset="0"/>
            </a:endParaRPr>
          </a:p>
        </p:txBody>
      </p:sp>
      <p:sp>
        <p:nvSpPr>
          <p:cNvPr id="105" name="TextBox 104">
            <a:extLst>
              <a:ext uri="{FF2B5EF4-FFF2-40B4-BE49-F238E27FC236}">
                <a16:creationId xmlns:a16="http://schemas.microsoft.com/office/drawing/2014/main" id="{3C34D590-9C05-DFD9-13BA-328114654E06}"/>
              </a:ext>
            </a:extLst>
          </p:cNvPr>
          <p:cNvSpPr txBox="1"/>
          <p:nvPr/>
        </p:nvSpPr>
        <p:spPr>
          <a:xfrm>
            <a:off x="665148" y="6183247"/>
            <a:ext cx="158408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1" u="none" strike="noStrike" kern="1200" cap="none" spc="0" normalizeH="0" baseline="0" noProof="0">
                <a:ln>
                  <a:noFill/>
                </a:ln>
                <a:solidFill>
                  <a:schemeClr val="tx1">
                    <a:lumMod val="85000"/>
                    <a:lumOff val="15000"/>
                  </a:schemeClr>
                </a:solidFill>
                <a:effectLst/>
                <a:uLnTx/>
                <a:uFillTx/>
                <a:latin typeface="Arial"/>
                <a:ea typeface="+mn-ea"/>
                <a:cs typeface="+mn-cs"/>
              </a:rPr>
              <a:t>Sources: Secondary Research</a:t>
            </a:r>
          </a:p>
        </p:txBody>
      </p:sp>
      <p:sp>
        <p:nvSpPr>
          <p:cNvPr id="14" name="Rectangle 13">
            <a:extLst>
              <a:ext uri="{FF2B5EF4-FFF2-40B4-BE49-F238E27FC236}">
                <a16:creationId xmlns:a16="http://schemas.microsoft.com/office/drawing/2014/main" id="{EB55B2FA-EC9A-8AE1-0AEF-BC5229B42843}"/>
              </a:ext>
            </a:extLst>
          </p:cNvPr>
          <p:cNvSpPr/>
          <p:nvPr/>
        </p:nvSpPr>
        <p:spPr>
          <a:xfrm>
            <a:off x="349632" y="6664844"/>
            <a:ext cx="10750551" cy="75955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endParaRPr kumimoji="0" lang="en-US" sz="1200" b="0" i="0" u="none" strike="noStrike" kern="1200" cap="none" spc="0" normalizeH="0" baseline="0" noProof="0">
              <a:ln>
                <a:noFill/>
              </a:ln>
              <a:solidFill>
                <a:schemeClr val="tx1"/>
              </a:solidFill>
              <a:effectLst/>
              <a:uLnTx/>
              <a:uFillTx/>
              <a:latin typeface="Arial"/>
              <a:ea typeface="+mn-lt"/>
              <a:cs typeface="Arial"/>
            </a:endParaRPr>
          </a:p>
        </p:txBody>
      </p:sp>
      <p:sp>
        <p:nvSpPr>
          <p:cNvPr id="42" name="Rectangle 41">
            <a:extLst>
              <a:ext uri="{FF2B5EF4-FFF2-40B4-BE49-F238E27FC236}">
                <a16:creationId xmlns:a16="http://schemas.microsoft.com/office/drawing/2014/main" id="{E177E030-A29F-B13C-AFEE-EE2902C82C8C}"/>
              </a:ext>
            </a:extLst>
          </p:cNvPr>
          <p:cNvSpPr/>
          <p:nvPr/>
        </p:nvSpPr>
        <p:spPr>
          <a:xfrm>
            <a:off x="4073732" y="2316033"/>
            <a:ext cx="2323810" cy="548640"/>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Calix  | Michigan | Optical Line Terminal (OLT) Platforms </a:t>
            </a:r>
          </a:p>
        </p:txBody>
      </p:sp>
      <p:sp>
        <p:nvSpPr>
          <p:cNvPr id="43" name="Rectangle 42">
            <a:extLst>
              <a:ext uri="{FF2B5EF4-FFF2-40B4-BE49-F238E27FC236}">
                <a16:creationId xmlns:a16="http://schemas.microsoft.com/office/drawing/2014/main" id="{033225EF-E45C-C155-E06F-BC1FC88A9979}"/>
              </a:ext>
            </a:extLst>
          </p:cNvPr>
          <p:cNvSpPr/>
          <p:nvPr/>
        </p:nvSpPr>
        <p:spPr>
          <a:xfrm>
            <a:off x="4079289" y="3337097"/>
            <a:ext cx="2323810" cy="548640"/>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Adtran  | Alabama | OLT</a:t>
            </a:r>
          </a:p>
        </p:txBody>
      </p:sp>
      <p:sp>
        <p:nvSpPr>
          <p:cNvPr id="44" name="Rectangle 43">
            <a:extLst>
              <a:ext uri="{FF2B5EF4-FFF2-40B4-BE49-F238E27FC236}">
                <a16:creationId xmlns:a16="http://schemas.microsoft.com/office/drawing/2014/main" id="{FA642D45-B783-45F3-FBD3-F8E739EC4E6F}"/>
              </a:ext>
            </a:extLst>
          </p:cNvPr>
          <p:cNvSpPr/>
          <p:nvPr/>
        </p:nvSpPr>
        <p:spPr>
          <a:xfrm>
            <a:off x="4134835" y="4441806"/>
            <a:ext cx="2323810" cy="631738"/>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Nokia  | Texas| OLT &amp; ONTs</a:t>
            </a:r>
          </a:p>
        </p:txBody>
      </p:sp>
      <p:sp>
        <p:nvSpPr>
          <p:cNvPr id="45" name="Rectangle 44">
            <a:extLst>
              <a:ext uri="{FF2B5EF4-FFF2-40B4-BE49-F238E27FC236}">
                <a16:creationId xmlns:a16="http://schemas.microsoft.com/office/drawing/2014/main" id="{C702E7C1-EF85-9D1D-E630-889ED4AAFCFD}"/>
              </a:ext>
            </a:extLst>
          </p:cNvPr>
          <p:cNvSpPr/>
          <p:nvPr/>
        </p:nvSpPr>
        <p:spPr>
          <a:xfrm>
            <a:off x="7117002" y="2788457"/>
            <a:ext cx="2286000" cy="548640"/>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8288" tIns="54610" rIns="18288"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Graybar | Michigan | BABA-compliant SKUs </a:t>
            </a:r>
          </a:p>
        </p:txBody>
      </p:sp>
      <p:sp>
        <p:nvSpPr>
          <p:cNvPr id="46" name="Rectangle 45">
            <a:extLst>
              <a:ext uri="{FF2B5EF4-FFF2-40B4-BE49-F238E27FC236}">
                <a16:creationId xmlns:a16="http://schemas.microsoft.com/office/drawing/2014/main" id="{72F34615-7922-E024-7A6C-F0B85EF6CD6D}"/>
              </a:ext>
            </a:extLst>
          </p:cNvPr>
          <p:cNvSpPr/>
          <p:nvPr/>
        </p:nvSpPr>
        <p:spPr>
          <a:xfrm>
            <a:off x="7117002" y="3885737"/>
            <a:ext cx="2286000" cy="548640"/>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8288" tIns="54610" rIns="18288"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Power &amp; Tel | Michigan | Distributor </a:t>
            </a:r>
          </a:p>
        </p:txBody>
      </p:sp>
      <p:sp>
        <p:nvSpPr>
          <p:cNvPr id="47" name="Rectangle 46">
            <a:extLst>
              <a:ext uri="{FF2B5EF4-FFF2-40B4-BE49-F238E27FC236}">
                <a16:creationId xmlns:a16="http://schemas.microsoft.com/office/drawing/2014/main" id="{42A22115-64AD-79AE-E9A7-94A13ECB159B}"/>
              </a:ext>
            </a:extLst>
          </p:cNvPr>
          <p:cNvSpPr/>
          <p:nvPr/>
        </p:nvSpPr>
        <p:spPr>
          <a:xfrm>
            <a:off x="4321236" y="1738865"/>
            <a:ext cx="1828801" cy="363716"/>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Tier 2 Supplier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(Company | State | Product) </a:t>
            </a:r>
          </a:p>
        </p:txBody>
      </p:sp>
      <p:sp>
        <p:nvSpPr>
          <p:cNvPr id="48" name="Rectangle 47">
            <a:extLst>
              <a:ext uri="{FF2B5EF4-FFF2-40B4-BE49-F238E27FC236}">
                <a16:creationId xmlns:a16="http://schemas.microsoft.com/office/drawing/2014/main" id="{BCEEBB2A-6859-2187-4579-836942D7269C}"/>
              </a:ext>
            </a:extLst>
          </p:cNvPr>
          <p:cNvSpPr/>
          <p:nvPr/>
        </p:nvSpPr>
        <p:spPr>
          <a:xfrm>
            <a:off x="1077740" y="2313417"/>
            <a:ext cx="2323810" cy="548640"/>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Corning | North Carolina | FlexNAP System</a:t>
            </a:r>
          </a:p>
        </p:txBody>
      </p:sp>
      <p:sp>
        <p:nvSpPr>
          <p:cNvPr id="49" name="Rectangle 48">
            <a:extLst>
              <a:ext uri="{FF2B5EF4-FFF2-40B4-BE49-F238E27FC236}">
                <a16:creationId xmlns:a16="http://schemas.microsoft.com/office/drawing/2014/main" id="{E2BBA572-E1FE-7290-C264-998564F6E136}"/>
              </a:ext>
            </a:extLst>
          </p:cNvPr>
          <p:cNvSpPr/>
          <p:nvPr/>
        </p:nvSpPr>
        <p:spPr>
          <a:xfrm>
            <a:off x="1077740" y="3353664"/>
            <a:ext cx="2323810" cy="548640"/>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Sterlite Technologies | South Carolina | RapidRibbon Cables</a:t>
            </a:r>
          </a:p>
        </p:txBody>
      </p:sp>
      <p:sp>
        <p:nvSpPr>
          <p:cNvPr id="50" name="Rectangle 49">
            <a:extLst>
              <a:ext uri="{FF2B5EF4-FFF2-40B4-BE49-F238E27FC236}">
                <a16:creationId xmlns:a16="http://schemas.microsoft.com/office/drawing/2014/main" id="{0972B913-A209-8C21-C5F9-5A915D1836AD}"/>
              </a:ext>
            </a:extLst>
          </p:cNvPr>
          <p:cNvSpPr/>
          <p:nvPr/>
        </p:nvSpPr>
        <p:spPr>
          <a:xfrm>
            <a:off x="1077740" y="4441806"/>
            <a:ext cx="2323810" cy="631738"/>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Prysmian | North and South Carolina | Fiber Cable</a:t>
            </a:r>
          </a:p>
        </p:txBody>
      </p:sp>
      <p:sp>
        <p:nvSpPr>
          <p:cNvPr id="51" name="Right Brace 50">
            <a:extLst>
              <a:ext uri="{FF2B5EF4-FFF2-40B4-BE49-F238E27FC236}">
                <a16:creationId xmlns:a16="http://schemas.microsoft.com/office/drawing/2014/main" id="{93CEF7B1-28A9-96C7-C989-21159F3C399A}"/>
              </a:ext>
            </a:extLst>
          </p:cNvPr>
          <p:cNvSpPr/>
          <p:nvPr/>
        </p:nvSpPr>
        <p:spPr>
          <a:xfrm>
            <a:off x="3409170" y="2578923"/>
            <a:ext cx="579951" cy="2189530"/>
          </a:xfrm>
          <a:prstGeom prst="rightBrace">
            <a:avLst>
              <a:gd name="adj1" fmla="val 8333"/>
              <a:gd name="adj2" fmla="val 47837"/>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chemeClr val="tx2"/>
              </a:solidFill>
              <a:effectLst/>
              <a:uLnTx/>
              <a:uFillTx/>
              <a:latin typeface="Arial"/>
              <a:ea typeface="+mn-ea"/>
              <a:cs typeface="+mn-cs"/>
            </a:endParaRPr>
          </a:p>
        </p:txBody>
      </p:sp>
      <p:cxnSp>
        <p:nvCxnSpPr>
          <p:cNvPr id="52" name="Straight Arrow Connector 51">
            <a:extLst>
              <a:ext uri="{FF2B5EF4-FFF2-40B4-BE49-F238E27FC236}">
                <a16:creationId xmlns:a16="http://schemas.microsoft.com/office/drawing/2014/main" id="{82E2E226-263C-798D-7913-0538B45A6369}"/>
              </a:ext>
            </a:extLst>
          </p:cNvPr>
          <p:cNvCxnSpPr>
            <a:cxnSpLocks/>
            <a:stCxn id="49" idx="3"/>
            <a:endCxn id="51" idx="1"/>
          </p:cNvCxnSpPr>
          <p:nvPr/>
        </p:nvCxnSpPr>
        <p:spPr>
          <a:xfrm flipV="1">
            <a:off x="3401550" y="3626328"/>
            <a:ext cx="587571" cy="1656"/>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3" name="Right Brace 52">
            <a:extLst>
              <a:ext uri="{FF2B5EF4-FFF2-40B4-BE49-F238E27FC236}">
                <a16:creationId xmlns:a16="http://schemas.microsoft.com/office/drawing/2014/main" id="{61E7B590-97A9-A999-31EE-1F2A36E96693}"/>
              </a:ext>
            </a:extLst>
          </p:cNvPr>
          <p:cNvSpPr/>
          <p:nvPr/>
        </p:nvSpPr>
        <p:spPr>
          <a:xfrm>
            <a:off x="6458645" y="2596721"/>
            <a:ext cx="595191" cy="2189530"/>
          </a:xfrm>
          <a:prstGeom prst="rightBrace">
            <a:avLst>
              <a:gd name="adj1" fmla="val 8333"/>
              <a:gd name="adj2" fmla="val 46445"/>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cxnSp>
        <p:nvCxnSpPr>
          <p:cNvPr id="54" name="Straight Arrow Connector 53">
            <a:extLst>
              <a:ext uri="{FF2B5EF4-FFF2-40B4-BE49-F238E27FC236}">
                <a16:creationId xmlns:a16="http://schemas.microsoft.com/office/drawing/2014/main" id="{96F3BAAD-A3B0-839A-FBA0-F714FA6ABB1C}"/>
              </a:ext>
            </a:extLst>
          </p:cNvPr>
          <p:cNvCxnSpPr>
            <a:cxnSpLocks/>
            <a:stCxn id="43" idx="3"/>
            <a:endCxn id="53" idx="1"/>
          </p:cNvCxnSpPr>
          <p:nvPr/>
        </p:nvCxnSpPr>
        <p:spPr>
          <a:xfrm>
            <a:off x="6403099" y="3611417"/>
            <a:ext cx="650737" cy="2231"/>
          </a:xfrm>
          <a:prstGeom prst="straightConnector1">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9A04B868-4C05-258D-9737-9F9464750E0F}"/>
              </a:ext>
            </a:extLst>
          </p:cNvPr>
          <p:cNvSpPr/>
          <p:nvPr/>
        </p:nvSpPr>
        <p:spPr>
          <a:xfrm>
            <a:off x="10002442" y="3312779"/>
            <a:ext cx="1686560" cy="548640"/>
          </a:xfrm>
          <a:prstGeom prst="rect">
            <a:avLst/>
          </a:prstGeom>
          <a:noFill/>
          <a:ln w="9525" cap="flat" cmpd="sng" algn="ctr">
            <a:solidFill>
              <a:srgbClr val="00338D"/>
            </a:solidFill>
            <a:prstDash val="solid"/>
            <a:miter lim="800000"/>
            <a:headEnd type="none" w="med" len="med"/>
            <a:tailEnd type="none" w="med" len="med"/>
          </a:ln>
          <a:extLst>
            <a:ext uri="{909E8E84-426E-40DD-AFC4-6F175D3DCCD1}">
              <a14:hiddenFill xmlns:a14="http://schemas.microsoft.com/office/drawing/2010/main">
                <a:solidFill>
                  <a:srgbClr val="00338D"/>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18288" tIns="54610" rIns="18288" bIns="5461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lumMod val="100000"/>
                  </a:srgbClr>
                </a:solidFill>
                <a:effectLst/>
                <a:uLnTx/>
                <a:uFillTx/>
                <a:latin typeface="Arial"/>
                <a:ea typeface="+mn-ea"/>
                <a:cs typeface="+mn-cs"/>
              </a:rPr>
              <a:t>ISPs | Michigan</a:t>
            </a:r>
          </a:p>
        </p:txBody>
      </p:sp>
      <p:sp>
        <p:nvSpPr>
          <p:cNvPr id="56" name="Right Brace 55">
            <a:extLst>
              <a:ext uri="{FF2B5EF4-FFF2-40B4-BE49-F238E27FC236}">
                <a16:creationId xmlns:a16="http://schemas.microsoft.com/office/drawing/2014/main" id="{8678A658-0C7B-846D-82DB-0B7B7E24C66C}"/>
              </a:ext>
            </a:extLst>
          </p:cNvPr>
          <p:cNvSpPr/>
          <p:nvPr/>
        </p:nvSpPr>
        <p:spPr>
          <a:xfrm>
            <a:off x="9572225" y="2590353"/>
            <a:ext cx="341948" cy="2189530"/>
          </a:xfrm>
          <a:prstGeom prst="rightBrace">
            <a:avLst>
              <a:gd name="adj1" fmla="val 6438"/>
              <a:gd name="adj2" fmla="val 44918"/>
            </a:avLst>
          </a:prstGeom>
          <a:ln w="12700">
            <a:solidFill>
              <a:schemeClr val="tx2"/>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srgbClr val="000000"/>
              </a:solidFill>
              <a:effectLst/>
              <a:uLnTx/>
              <a:uFillTx/>
              <a:latin typeface="Arial"/>
              <a:ea typeface="+mn-ea"/>
              <a:cs typeface="+mn-cs"/>
            </a:endParaRPr>
          </a:p>
        </p:txBody>
      </p:sp>
      <p:cxnSp>
        <p:nvCxnSpPr>
          <p:cNvPr id="57" name="Straight Arrow Connector 56">
            <a:extLst>
              <a:ext uri="{FF2B5EF4-FFF2-40B4-BE49-F238E27FC236}">
                <a16:creationId xmlns:a16="http://schemas.microsoft.com/office/drawing/2014/main" id="{819F760B-B3CB-0627-2EEA-D5B4F59086B2}"/>
              </a:ext>
            </a:extLst>
          </p:cNvPr>
          <p:cNvCxnSpPr>
            <a:cxnSpLocks/>
            <a:stCxn id="53" idx="2"/>
            <a:endCxn id="56" idx="2"/>
          </p:cNvCxnSpPr>
          <p:nvPr/>
        </p:nvCxnSpPr>
        <p:spPr>
          <a:xfrm flipV="1">
            <a:off x="6458645" y="4779883"/>
            <a:ext cx="3113580" cy="6368"/>
          </a:xfrm>
          <a:prstGeom prst="straightConnector1">
            <a:avLst/>
          </a:prstGeom>
          <a:ln w="127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489CDFA-DC83-F601-D045-BD9955D37A7E}"/>
              </a:ext>
            </a:extLst>
          </p:cNvPr>
          <p:cNvCxnSpPr>
            <a:cxnSpLocks/>
            <a:stCxn id="42" idx="3"/>
            <a:endCxn id="56" idx="0"/>
          </p:cNvCxnSpPr>
          <p:nvPr/>
        </p:nvCxnSpPr>
        <p:spPr>
          <a:xfrm>
            <a:off x="6397542" y="2590353"/>
            <a:ext cx="3174683" cy="0"/>
          </a:xfrm>
          <a:prstGeom prst="straightConnector1">
            <a:avLst/>
          </a:prstGeom>
          <a:ln w="12700">
            <a:solidFill>
              <a:schemeClr val="tx2"/>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59" name="Connector: Elbow 58">
            <a:extLst>
              <a:ext uri="{FF2B5EF4-FFF2-40B4-BE49-F238E27FC236}">
                <a16:creationId xmlns:a16="http://schemas.microsoft.com/office/drawing/2014/main" id="{1F18F79A-42F6-634D-9ECA-782A6F6A31F9}"/>
              </a:ext>
            </a:extLst>
          </p:cNvPr>
          <p:cNvCxnSpPr>
            <a:cxnSpLocks/>
            <a:stCxn id="46" idx="3"/>
            <a:endCxn id="56" idx="1"/>
          </p:cNvCxnSpPr>
          <p:nvPr/>
        </p:nvCxnSpPr>
        <p:spPr>
          <a:xfrm flipV="1">
            <a:off x="9403002" y="3573846"/>
            <a:ext cx="511171" cy="586211"/>
          </a:xfrm>
          <a:prstGeom prst="bentConnector3">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cxnSp>
        <p:nvCxnSpPr>
          <p:cNvPr id="60" name="Connector: Elbow 59">
            <a:extLst>
              <a:ext uri="{FF2B5EF4-FFF2-40B4-BE49-F238E27FC236}">
                <a16:creationId xmlns:a16="http://schemas.microsoft.com/office/drawing/2014/main" id="{09142184-9CF5-B6CB-D950-DC404D0DFB93}"/>
              </a:ext>
            </a:extLst>
          </p:cNvPr>
          <p:cNvCxnSpPr>
            <a:cxnSpLocks/>
            <a:stCxn id="45" idx="3"/>
            <a:endCxn id="56" idx="1"/>
          </p:cNvCxnSpPr>
          <p:nvPr/>
        </p:nvCxnSpPr>
        <p:spPr>
          <a:xfrm>
            <a:off x="9403002" y="3062777"/>
            <a:ext cx="511171" cy="511069"/>
          </a:xfrm>
          <a:prstGeom prst="bentConnector3">
            <a:avLst>
              <a:gd name="adj1" fmla="val 49006"/>
            </a:avLst>
          </a:prstGeom>
          <a:ln w="12700">
            <a:solidFill>
              <a:schemeClr val="tx2"/>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CB5F5FB3-C6A3-F877-1992-D7689C03A2A5}"/>
              </a:ext>
            </a:extLst>
          </p:cNvPr>
          <p:cNvSpPr/>
          <p:nvPr/>
        </p:nvSpPr>
        <p:spPr>
          <a:xfrm>
            <a:off x="7398630" y="1740160"/>
            <a:ext cx="1828801" cy="363716"/>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Tier 3 Supplier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(Company | State | Product) </a:t>
            </a:r>
          </a:p>
        </p:txBody>
      </p:sp>
      <p:sp>
        <p:nvSpPr>
          <p:cNvPr id="62" name="TextBox 61">
            <a:extLst>
              <a:ext uri="{FF2B5EF4-FFF2-40B4-BE49-F238E27FC236}">
                <a16:creationId xmlns:a16="http://schemas.microsoft.com/office/drawing/2014/main" id="{1D4B187A-C154-C016-A8CA-FAE5E16E954F}"/>
              </a:ext>
            </a:extLst>
          </p:cNvPr>
          <p:cNvSpPr txBox="1"/>
          <p:nvPr/>
        </p:nvSpPr>
        <p:spPr>
          <a:xfrm>
            <a:off x="1021195" y="1442652"/>
            <a:ext cx="2674140" cy="246221"/>
          </a:xfrm>
          <a:prstGeom prst="rect">
            <a:avLst/>
          </a:prstGeom>
          <a:solidFill>
            <a:schemeClr val="bg1">
              <a:lumMod val="85000"/>
            </a:schemeClr>
          </a:solidFill>
          <a:ln>
            <a:solidFill>
              <a:schemeClr val="tx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Optical Glass &amp; Cable Manufacturing</a:t>
            </a:r>
          </a:p>
        </p:txBody>
      </p:sp>
      <p:sp>
        <p:nvSpPr>
          <p:cNvPr id="63" name="TextBox 62">
            <a:extLst>
              <a:ext uri="{FF2B5EF4-FFF2-40B4-BE49-F238E27FC236}">
                <a16:creationId xmlns:a16="http://schemas.microsoft.com/office/drawing/2014/main" id="{1F817CEC-5E43-E99A-3B74-B91C293AD717}"/>
              </a:ext>
            </a:extLst>
          </p:cNvPr>
          <p:cNvSpPr txBox="1"/>
          <p:nvPr/>
        </p:nvSpPr>
        <p:spPr>
          <a:xfrm>
            <a:off x="3959670" y="1442652"/>
            <a:ext cx="2674140" cy="246221"/>
          </a:xfrm>
          <a:prstGeom prst="rect">
            <a:avLst/>
          </a:prstGeom>
          <a:solidFill>
            <a:schemeClr val="bg1">
              <a:lumMod val="85000"/>
            </a:schemeClr>
          </a:solidFill>
          <a:ln>
            <a:solidFill>
              <a:schemeClr val="tx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Active Electronics</a:t>
            </a:r>
          </a:p>
        </p:txBody>
      </p:sp>
      <p:sp>
        <p:nvSpPr>
          <p:cNvPr id="64" name="TextBox 63">
            <a:extLst>
              <a:ext uri="{FF2B5EF4-FFF2-40B4-BE49-F238E27FC236}">
                <a16:creationId xmlns:a16="http://schemas.microsoft.com/office/drawing/2014/main" id="{553B402D-CCF0-09BE-2F04-B1F97AD5DC22}"/>
              </a:ext>
            </a:extLst>
          </p:cNvPr>
          <p:cNvSpPr txBox="1"/>
          <p:nvPr/>
        </p:nvSpPr>
        <p:spPr>
          <a:xfrm>
            <a:off x="7053836" y="1442652"/>
            <a:ext cx="2518389" cy="246221"/>
          </a:xfrm>
          <a:prstGeom prst="rect">
            <a:avLst/>
          </a:prstGeom>
          <a:solidFill>
            <a:schemeClr val="bg1">
              <a:lumMod val="85000"/>
            </a:schemeClr>
          </a:solidFill>
          <a:ln>
            <a:solidFill>
              <a:schemeClr val="tx2"/>
            </a:solidFill>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Distributor</a:t>
            </a:r>
          </a:p>
        </p:txBody>
      </p:sp>
      <p:sp>
        <p:nvSpPr>
          <p:cNvPr id="65" name="TextBox 64">
            <a:extLst>
              <a:ext uri="{FF2B5EF4-FFF2-40B4-BE49-F238E27FC236}">
                <a16:creationId xmlns:a16="http://schemas.microsoft.com/office/drawing/2014/main" id="{1AD8CAB0-E95D-B04F-0BEF-4F2295FFD67B}"/>
              </a:ext>
            </a:extLst>
          </p:cNvPr>
          <p:cNvSpPr txBox="1"/>
          <p:nvPr/>
        </p:nvSpPr>
        <p:spPr>
          <a:xfrm>
            <a:off x="6546914" y="4885536"/>
            <a:ext cx="3455528" cy="246221"/>
          </a:xfrm>
          <a:prstGeom prst="rect">
            <a:avLst/>
          </a:prstGeom>
          <a:solidFill>
            <a:schemeClr val="bg1">
              <a:lumMod val="95000"/>
            </a:schemeClr>
          </a:solidFill>
          <a:ln>
            <a:solidFill>
              <a:schemeClr val="tx1"/>
            </a:solidFill>
            <a:prstDash val="dashDot"/>
          </a:ln>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Large account ISPs sources directly from Tier 2 suppliers</a:t>
            </a:r>
          </a:p>
        </p:txBody>
      </p:sp>
      <p:sp>
        <p:nvSpPr>
          <p:cNvPr id="66" name="Rectangle 65">
            <a:extLst>
              <a:ext uri="{FF2B5EF4-FFF2-40B4-BE49-F238E27FC236}">
                <a16:creationId xmlns:a16="http://schemas.microsoft.com/office/drawing/2014/main" id="{B650F574-8104-54D3-ECAD-D92D538BCD97}"/>
              </a:ext>
            </a:extLst>
          </p:cNvPr>
          <p:cNvSpPr/>
          <p:nvPr/>
        </p:nvSpPr>
        <p:spPr>
          <a:xfrm>
            <a:off x="672817" y="1851192"/>
            <a:ext cx="3133656" cy="363716"/>
          </a:xfrm>
          <a:prstGeom prst="rect">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rgbClr val="000000"/>
                </a:solidFill>
                <a:effectLst/>
                <a:uLnTx/>
                <a:uFillTx/>
                <a:latin typeface="Arial"/>
                <a:ea typeface="+mn-ea"/>
                <a:cs typeface="+mn-cs"/>
              </a:rPr>
              <a:t>Tier 1 Supplier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000000"/>
                </a:solidFill>
                <a:effectLst/>
                <a:uLnTx/>
                <a:uFillTx/>
                <a:latin typeface="Arial"/>
                <a:ea typeface="+mn-ea"/>
                <a:cs typeface="+mn-cs"/>
              </a:rPr>
              <a:t>(Company | State | Product)</a:t>
            </a:r>
          </a:p>
        </p:txBody>
      </p:sp>
      <p:sp>
        <p:nvSpPr>
          <p:cNvPr id="9" name="Rectangle 8">
            <a:extLst>
              <a:ext uri="{FF2B5EF4-FFF2-40B4-BE49-F238E27FC236}">
                <a16:creationId xmlns:a16="http://schemas.microsoft.com/office/drawing/2014/main" id="{CAC36F96-B373-8A9F-D98C-4ACB1827F32F}"/>
              </a:ext>
            </a:extLst>
          </p:cNvPr>
          <p:cNvSpPr/>
          <p:nvPr/>
        </p:nvSpPr>
        <p:spPr>
          <a:xfrm>
            <a:off x="672816" y="5397910"/>
            <a:ext cx="11016185" cy="519185"/>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dirty="0">
                <a:solidFill>
                  <a:schemeClr val="tx1">
                    <a:lumMod val="100000"/>
                  </a:schemeClr>
                </a:solidFill>
              </a:rPr>
              <a:t>Key Takeaways:</a:t>
            </a:r>
          </a:p>
          <a:p>
            <a:pPr marL="171450" indent="-171450" rtl="0">
              <a:buSzPts val="1200"/>
              <a:buFont typeface="Arial" panose="020B0604020202020204" pitchFamily="34" charset="0"/>
              <a:buChar char="•"/>
            </a:pPr>
            <a:r>
              <a:rPr lang="en-US" sz="1000" b="0" i="0" u="none" strike="noStrike" kern="1200" baseline="0" dirty="0">
                <a:solidFill>
                  <a:srgbClr val="000000"/>
                </a:solidFill>
                <a:latin typeface="Arial" panose="020B0604020202020204" pitchFamily="34" charset="0"/>
              </a:rPr>
              <a:t>Michigan’s broadband expansion relies heavily on fiber‑optic materials and must comply with the Build America, Buy America (BABA) Act, requiring domestic production of covered materials for federally funded projects</a:t>
            </a:r>
          </a:p>
          <a:p>
            <a:pPr marL="171450" indent="-171450" rtl="0">
              <a:buSzPts val="1200"/>
              <a:buFont typeface="Arial" panose="020B0604020202020204" pitchFamily="34" charset="0"/>
              <a:buChar char="•"/>
            </a:pPr>
            <a:r>
              <a:rPr lang="en-US" sz="1000" b="0" i="0" u="none" strike="noStrike" kern="1200" baseline="0" dirty="0">
                <a:solidFill>
                  <a:srgbClr val="000000"/>
                </a:solidFill>
                <a:latin typeface="Arial" panose="020B0604020202020204" pitchFamily="34" charset="0"/>
              </a:rPr>
              <a:t>Locally established firms benefit from local manufacturing, reducing shipping delays and transportation costs compared to reliance on distant suppliers</a:t>
            </a:r>
          </a:p>
        </p:txBody>
      </p:sp>
      <p:cxnSp>
        <p:nvCxnSpPr>
          <p:cNvPr id="5" name="Straight Connector 4">
            <a:extLst>
              <a:ext uri="{FF2B5EF4-FFF2-40B4-BE49-F238E27FC236}">
                <a16:creationId xmlns:a16="http://schemas.microsoft.com/office/drawing/2014/main" id="{28772CFD-1295-7ED5-3D76-0E666F3EE0E4}"/>
              </a:ext>
            </a:extLst>
          </p:cNvPr>
          <p:cNvCxnSpPr/>
          <p:nvPr/>
        </p:nvCxnSpPr>
        <p:spPr>
          <a:xfrm>
            <a:off x="7685323" y="8455"/>
            <a:ext cx="1114425"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CA3ECC-3870-2A0E-0240-02C336D9FEE4}"/>
              </a:ext>
            </a:extLst>
          </p:cNvPr>
          <p:cNvCxnSpPr/>
          <p:nvPr/>
        </p:nvCxnSpPr>
        <p:spPr>
          <a:xfrm>
            <a:off x="8845789" y="8455"/>
            <a:ext cx="1114425" cy="0"/>
          </a:xfrm>
          <a:prstGeom prst="line">
            <a:avLst/>
          </a:prstGeom>
          <a:ln w="76200" cap="flat" cmpd="sng" algn="ctr">
            <a:solidFill>
              <a:srgbClr val="6F8DB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EFABD5F-0E4F-F21B-E54D-87FE1F039F43}"/>
              </a:ext>
            </a:extLst>
          </p:cNvPr>
          <p:cNvSpPr/>
          <p:nvPr/>
        </p:nvSpPr>
        <p:spPr>
          <a:xfrm>
            <a:off x="8843291" y="72526"/>
            <a:ext cx="1114425" cy="179659"/>
          </a:xfrm>
          <a:prstGeom prst="rect">
            <a:avLst/>
          </a:prstGeom>
          <a:solidFill>
            <a:schemeClr val="bg1">
              <a:lumMod val="100000"/>
            </a:schemeClr>
          </a:solidFill>
          <a:ln>
            <a:solidFill>
              <a:srgbClr val="6F8DB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rgbClr val="6F8DB9"/>
                </a:solidFill>
              </a:rPr>
              <a:t>Value</a:t>
            </a:r>
            <a:r>
              <a:rPr lang="en-US" sz="800">
                <a:solidFill>
                  <a:schemeClr val="accent6">
                    <a:lumMod val="100000"/>
                  </a:schemeClr>
                </a:solidFill>
              </a:rPr>
              <a:t> </a:t>
            </a:r>
            <a:r>
              <a:rPr lang="en-US" sz="800">
                <a:solidFill>
                  <a:srgbClr val="6F8DB9"/>
                </a:solidFill>
              </a:rPr>
              <a:t>Chain</a:t>
            </a:r>
          </a:p>
        </p:txBody>
      </p:sp>
      <p:cxnSp>
        <p:nvCxnSpPr>
          <p:cNvPr id="13" name="Straight Connector 12">
            <a:extLst>
              <a:ext uri="{FF2B5EF4-FFF2-40B4-BE49-F238E27FC236}">
                <a16:creationId xmlns:a16="http://schemas.microsoft.com/office/drawing/2014/main" id="{14FE9D1E-1350-772C-ED7D-09B0CD7A6BB0}"/>
              </a:ext>
            </a:extLst>
          </p:cNvPr>
          <p:cNvCxnSpPr>
            <a:cxnSpLocks/>
          </p:cNvCxnSpPr>
          <p:nvPr/>
        </p:nvCxnSpPr>
        <p:spPr>
          <a:xfrm>
            <a:off x="11183902" y="-3513"/>
            <a:ext cx="1008098"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4516FC8-9B8A-2D91-C845-9DD5154953C3}"/>
              </a:ext>
            </a:extLst>
          </p:cNvPr>
          <p:cNvCxnSpPr>
            <a:cxnSpLocks/>
          </p:cNvCxnSpPr>
          <p:nvPr/>
        </p:nvCxnSpPr>
        <p:spPr>
          <a:xfrm>
            <a:off x="10002442" y="0"/>
            <a:ext cx="1134047" cy="0"/>
          </a:xfrm>
          <a:prstGeom prst="line">
            <a:avLst/>
          </a:prstGeom>
          <a:ln w="38100">
            <a:solidFill>
              <a:srgbClr val="3B5479"/>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596037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50022-38D5-1309-3975-4CD077FD5396}"/>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581FFA6C-EFF5-BC15-4AD5-E540764B8825}"/>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6" imgH="416" progId="TCLayout.ActiveDocument.1">
                  <p:embed/>
                </p:oleObj>
              </mc:Choice>
              <mc:Fallback>
                <p:oleObj name="think-cell Slide" r:id="rId15" imgW="416" imgH="416" progId="TCLayout.ActiveDocument.1">
                  <p:embed/>
                  <p:pic>
                    <p:nvPicPr>
                      <p:cNvPr id="5" name="think-cell data - do not delete" hidden="1">
                        <a:extLst>
                          <a:ext uri="{FF2B5EF4-FFF2-40B4-BE49-F238E27FC236}">
                            <a16:creationId xmlns:a16="http://schemas.microsoft.com/office/drawing/2014/main" id="{581FFA6C-EFF5-BC15-4AD5-E540764B8825}"/>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335E78AA-69FF-4563-0C87-CE48B78C2BCC}"/>
              </a:ext>
            </a:extLst>
          </p:cNvPr>
          <p:cNvSpPr>
            <a:spLocks noGrp="1"/>
          </p:cNvSpPr>
          <p:nvPr>
            <p:ph type="body" sz="quarter" idx="20"/>
          </p:nvPr>
        </p:nvSpPr>
        <p:spPr>
          <a:xfrm>
            <a:off x="522807" y="162762"/>
            <a:ext cx="11192256" cy="121990"/>
          </a:xfrm>
        </p:spPr>
        <p:txBody>
          <a:bodyPr/>
          <a:lstStyle/>
          <a:p>
            <a:r>
              <a:rPr lang="en-US"/>
              <a:t>Broadband Labor analytics</a:t>
            </a:r>
          </a:p>
        </p:txBody>
      </p:sp>
      <p:sp>
        <p:nvSpPr>
          <p:cNvPr id="7" name="Title 31">
            <a:extLst>
              <a:ext uri="{FF2B5EF4-FFF2-40B4-BE49-F238E27FC236}">
                <a16:creationId xmlns:a16="http://schemas.microsoft.com/office/drawing/2014/main" id="{A4C1A59D-D723-0A65-D35B-0A9CA7CD5832}"/>
              </a:ext>
            </a:extLst>
          </p:cNvPr>
          <p:cNvSpPr>
            <a:spLocks noGrp="1"/>
          </p:cNvSpPr>
          <p:nvPr>
            <p:ph type="title"/>
          </p:nvPr>
        </p:nvSpPr>
        <p:spPr>
          <a:xfrm>
            <a:off x="501520" y="441590"/>
            <a:ext cx="11192256" cy="701410"/>
          </a:xfrm>
        </p:spPr>
        <p:txBody>
          <a:bodyPr vert="horz">
            <a:noAutofit/>
          </a:bodyPr>
          <a:lstStyle/>
          <a:p>
            <a:r>
              <a:rPr lang="en-US" sz="2800" dirty="0">
                <a:solidFill>
                  <a:srgbClr val="3A5479"/>
                </a:solidFill>
                <a:latin typeface="Calibri" panose="020F0502020204030204" pitchFamily="34" charset="0"/>
                <a:cs typeface="Calibri" panose="020F0502020204030204" pitchFamily="34" charset="0"/>
              </a:rPr>
              <a:t>A Few Specialized "Outside Plant" Roles Create a Critical Workforce Bottleneck</a:t>
            </a:r>
          </a:p>
        </p:txBody>
      </p:sp>
      <p:grpSp>
        <p:nvGrpSpPr>
          <p:cNvPr id="8" name="Subtitle [Placeholder]">
            <a:extLst>
              <a:ext uri="{FF2B5EF4-FFF2-40B4-BE49-F238E27FC236}">
                <a16:creationId xmlns:a16="http://schemas.microsoft.com/office/drawing/2014/main" id="{4FD0F8C1-BD4C-4538-747B-A8656B7A3307}"/>
              </a:ext>
            </a:extLst>
          </p:cNvPr>
          <p:cNvGrpSpPr>
            <a:grpSpLocks/>
          </p:cNvGrpSpPr>
          <p:nvPr/>
        </p:nvGrpSpPr>
        <p:grpSpPr bwMode="auto">
          <a:xfrm>
            <a:off x="506149" y="1234621"/>
            <a:ext cx="3070486" cy="461697"/>
            <a:chOff x="902" y="-459948"/>
            <a:chExt cx="4812" cy="461697"/>
          </a:xfrm>
        </p:grpSpPr>
        <p:sp>
          <p:nvSpPr>
            <p:cNvPr id="10" name="Line 56">
              <a:extLst>
                <a:ext uri="{FF2B5EF4-FFF2-40B4-BE49-F238E27FC236}">
                  <a16:creationId xmlns:a16="http://schemas.microsoft.com/office/drawing/2014/main" id="{E983A5C2-4FCB-EE23-4FC3-4A5C036ABDAE}"/>
                </a:ext>
              </a:extLst>
            </p:cNvPr>
            <p:cNvSpPr>
              <a:spLocks noChangeShapeType="1"/>
            </p:cNvSpPr>
            <p:nvPr>
              <p:custDataLst>
                <p:tags r:id="rId11"/>
              </p:custDataLst>
            </p:nvPr>
          </p:nvSpPr>
          <p:spPr bwMode="gray">
            <a:xfrm>
              <a:off x="902" y="1749"/>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endParaRPr lang="en-US">
                <a:solidFill>
                  <a:srgbClr val="00338D"/>
                </a:solidFill>
                <a:latin typeface="Arial" panose="020B0604020202020204" pitchFamily="34" charset="0"/>
                <a:cs typeface="Arial" panose="020B0604020202020204" pitchFamily="34" charset="0"/>
              </a:endParaRPr>
            </a:p>
          </p:txBody>
        </p:sp>
        <p:sp>
          <p:nvSpPr>
            <p:cNvPr id="17" name="Text Box 57">
              <a:extLst>
                <a:ext uri="{FF2B5EF4-FFF2-40B4-BE49-F238E27FC236}">
                  <a16:creationId xmlns:a16="http://schemas.microsoft.com/office/drawing/2014/main" id="{A395909B-18BF-C11D-BE54-46F63AA055CF}"/>
                </a:ext>
              </a:extLst>
            </p:cNvPr>
            <p:cNvSpPr txBox="1">
              <a:spLocks noChangeArrowheads="1"/>
            </p:cNvSpPr>
            <p:nvPr>
              <p:custDataLst>
                <p:tags r:id="rId12"/>
              </p:custDataLst>
            </p:nvPr>
          </p:nvSpPr>
          <p:spPr bwMode="gray">
            <a:xfrm>
              <a:off x="902" y="-459948"/>
              <a:ext cx="48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rtl="0"/>
              <a:r>
                <a:rPr lang="en-US" b="1" i="0" u="none" strike="noStrike" kern="1200" baseline="0">
                  <a:solidFill>
                    <a:srgbClr val="00338D"/>
                  </a:solidFill>
                  <a:latin typeface="Arial" panose="020B0604020202020204" pitchFamily="34" charset="0"/>
                </a:rPr>
                <a:t>Macro View: Total Workforce Universe</a:t>
              </a:r>
            </a:p>
            <a:p>
              <a:r>
                <a:rPr lang="en-US" altLang="en-US" i="1">
                  <a:solidFill>
                    <a:schemeClr val="tx1"/>
                  </a:solidFill>
                  <a:cs typeface="Arial" panose="020B0604020202020204" pitchFamily="34" charset="0"/>
                </a:rPr>
                <a:t>A look at the diverse ecosystem of talent required for a successful deployment</a:t>
              </a:r>
              <a:endParaRPr lang="en-CA" altLang="en-US" i="1">
                <a:solidFill>
                  <a:schemeClr val="tx1"/>
                </a:solidFill>
                <a:cs typeface="Arial" panose="020B0604020202020204" pitchFamily="34" charset="0"/>
              </a:endParaRPr>
            </a:p>
          </p:txBody>
        </p:sp>
      </p:grpSp>
      <p:graphicFrame>
        <p:nvGraphicFramePr>
          <p:cNvPr id="12" name="Chart 11">
            <a:extLst>
              <a:ext uri="{FF2B5EF4-FFF2-40B4-BE49-F238E27FC236}">
                <a16:creationId xmlns:a16="http://schemas.microsoft.com/office/drawing/2014/main" id="{6F876925-2D3A-425D-2DF7-521EE959E6B3}"/>
              </a:ext>
            </a:extLst>
          </p:cNvPr>
          <p:cNvGraphicFramePr/>
          <p:nvPr>
            <p:custDataLst>
              <p:tags r:id="rId2"/>
            </p:custDataLst>
          </p:nvPr>
        </p:nvGraphicFramePr>
        <p:xfrm>
          <a:off x="1262063" y="2084388"/>
          <a:ext cx="1927225" cy="2128837"/>
        </p:xfrm>
        <a:graphic>
          <a:graphicData uri="http://schemas.openxmlformats.org/drawingml/2006/chart">
            <c:chart xmlns:c="http://schemas.openxmlformats.org/drawingml/2006/chart" xmlns:r="http://schemas.openxmlformats.org/officeDocument/2006/relationships" r:id="rId17"/>
          </a:graphicData>
        </a:graphic>
      </p:graphicFrame>
      <p:sp>
        <p:nvSpPr>
          <p:cNvPr id="20" name="Text Placeholder 2">
            <a:extLst>
              <a:ext uri="{FF2B5EF4-FFF2-40B4-BE49-F238E27FC236}">
                <a16:creationId xmlns:a16="http://schemas.microsoft.com/office/drawing/2014/main" id="{A878B102-6EA1-BCFB-5797-849868AD2F96}"/>
              </a:ext>
            </a:extLst>
          </p:cNvPr>
          <p:cNvSpPr>
            <a:spLocks noGrp="1"/>
          </p:cNvSpPr>
          <p:nvPr>
            <p:custDataLst>
              <p:tags r:id="rId3"/>
            </p:custDataLst>
          </p:nvPr>
        </p:nvSpPr>
        <p:spPr bwMode="auto">
          <a:xfrm>
            <a:off x="2736850" y="2378075"/>
            <a:ext cx="839788"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spcBef>
                <a:spcPct val="0"/>
              </a:spcBef>
              <a:spcAft>
                <a:spcPct val="0"/>
              </a:spcAft>
            </a:pPr>
            <a:fld id="{9B0FB51D-416D-4D07-A075-BE4797DBCC8F}" type="datetime'Sk''''''''''''ill''e''''''d'''' F''iel''d'' La''''bo''r'''''''">
              <a:rPr lang="en-US" altLang="en-US" sz="800" smtClean="0"/>
              <a:pPr lvl="1">
                <a:spcBef>
                  <a:spcPct val="0"/>
                </a:spcBef>
                <a:spcAft>
                  <a:spcPct val="0"/>
                </a:spcAft>
              </a:pPr>
              <a:t>Skilled Field Labor</a:t>
            </a:fld>
            <a:endParaRPr lang="en-US" sz="800"/>
          </a:p>
        </p:txBody>
      </p:sp>
      <p:sp>
        <p:nvSpPr>
          <p:cNvPr id="21" name="Text Placeholder 2">
            <a:extLst>
              <a:ext uri="{FF2B5EF4-FFF2-40B4-BE49-F238E27FC236}">
                <a16:creationId xmlns:a16="http://schemas.microsoft.com/office/drawing/2014/main" id="{76B00DD9-2593-046D-173D-00C53F95A2C1}"/>
              </a:ext>
            </a:extLst>
          </p:cNvPr>
          <p:cNvSpPr>
            <a:spLocks noGrp="1"/>
          </p:cNvSpPr>
          <p:nvPr>
            <p:custDataLst>
              <p:tags r:id="rId4"/>
            </p:custDataLst>
          </p:nvPr>
        </p:nvSpPr>
        <p:spPr bwMode="auto">
          <a:xfrm>
            <a:off x="511175" y="3500438"/>
            <a:ext cx="942975"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566941D2-3F76-4F96-B73F-EE7E409CE3EF}" type="datetime'''''Pr''o''je''''''''''ct'' M''''''a''n''age''m''e''n''''''t'">
              <a:rPr lang="en-US" altLang="en-US" sz="800" smtClean="0"/>
              <a:pPr lvl="1" algn="r">
                <a:spcBef>
                  <a:spcPct val="0"/>
                </a:spcBef>
                <a:spcAft>
                  <a:spcPct val="0"/>
                </a:spcAft>
              </a:pPr>
              <a:t>Project Management</a:t>
            </a:fld>
            <a:endParaRPr lang="en-US" sz="800"/>
          </a:p>
        </p:txBody>
      </p:sp>
      <p:sp>
        <p:nvSpPr>
          <p:cNvPr id="22" name="Text Placeholder 2">
            <a:extLst>
              <a:ext uri="{FF2B5EF4-FFF2-40B4-BE49-F238E27FC236}">
                <a16:creationId xmlns:a16="http://schemas.microsoft.com/office/drawing/2014/main" id="{C3E1AF6C-0564-E2DF-21DA-1BD2ADA020D1}"/>
              </a:ext>
            </a:extLst>
          </p:cNvPr>
          <p:cNvSpPr>
            <a:spLocks noGrp="1"/>
          </p:cNvSpPr>
          <p:nvPr>
            <p:custDataLst>
              <p:tags r:id="rId5"/>
            </p:custDataLst>
          </p:nvPr>
        </p:nvSpPr>
        <p:spPr bwMode="auto">
          <a:xfrm>
            <a:off x="1082675" y="2441575"/>
            <a:ext cx="546100"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CEC6B58B-B86C-4C82-887C-CC55507C1806}" type="datetime'''''''''''En''''gi''''''n''''e''e''ri''''''''''''''n''''g'''">
              <a:rPr lang="en-US" altLang="en-US" sz="800" smtClean="0"/>
              <a:pPr lvl="1" algn="r">
                <a:spcBef>
                  <a:spcPct val="0"/>
                </a:spcBef>
                <a:spcAft>
                  <a:spcPct val="0"/>
                </a:spcAft>
              </a:pPr>
              <a:t>Engineering</a:t>
            </a:fld>
            <a:endParaRPr lang="en-US" sz="800"/>
          </a:p>
        </p:txBody>
      </p:sp>
      <p:sp>
        <p:nvSpPr>
          <p:cNvPr id="23" name="Text Placeholder 2">
            <a:extLst>
              <a:ext uri="{FF2B5EF4-FFF2-40B4-BE49-F238E27FC236}">
                <a16:creationId xmlns:a16="http://schemas.microsoft.com/office/drawing/2014/main" id="{B0A0105A-98DD-DD1F-44F1-0A7CF3913B37}"/>
              </a:ext>
            </a:extLst>
          </p:cNvPr>
          <p:cNvSpPr>
            <a:spLocks noGrp="1"/>
          </p:cNvSpPr>
          <p:nvPr>
            <p:custDataLst>
              <p:tags r:id="rId6"/>
            </p:custDataLst>
          </p:nvPr>
        </p:nvSpPr>
        <p:spPr bwMode="auto">
          <a:xfrm>
            <a:off x="1533525" y="2201863"/>
            <a:ext cx="6080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fld id="{AC0642A3-0181-49FB-BE11-5150111EA989}" type="datetime'''''Sup''''p''l''''''''''''''y'''' ''''C''h''''''''ai''''''n'">
              <a:rPr lang="en-US" altLang="en-US" sz="800" smtClean="0"/>
              <a:pPr lvl="1" algn="r">
                <a:spcBef>
                  <a:spcPct val="0"/>
                </a:spcBef>
                <a:spcAft>
                  <a:spcPct val="0"/>
                </a:spcAft>
              </a:pPr>
              <a:t>Supply Chain</a:t>
            </a:fld>
            <a:endParaRPr lang="en-US" sz="800"/>
          </a:p>
        </p:txBody>
      </p:sp>
      <p:sp>
        <p:nvSpPr>
          <p:cNvPr id="75" name="Rectangle 74">
            <a:extLst>
              <a:ext uri="{FF2B5EF4-FFF2-40B4-BE49-F238E27FC236}">
                <a16:creationId xmlns:a16="http://schemas.microsoft.com/office/drawing/2014/main" id="{60FE5A04-8F5B-A142-ECA0-5897FED92738}"/>
              </a:ext>
            </a:extLst>
          </p:cNvPr>
          <p:cNvSpPr/>
          <p:nvPr/>
        </p:nvSpPr>
        <p:spPr>
          <a:xfrm>
            <a:off x="421420" y="4202584"/>
            <a:ext cx="3153939" cy="2269775"/>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a:solidFill>
                  <a:schemeClr val="tx1">
                    <a:lumMod val="100000"/>
                  </a:schemeClr>
                </a:solidFill>
              </a:rPr>
              <a:t>Key Takeaway:</a:t>
            </a:r>
          </a:p>
          <a:p>
            <a:pPr marL="171450" indent="-171450" algn="l">
              <a:buFont typeface="Arial" panose="020B0604020202020204" pitchFamily="34" charset="0"/>
              <a:buChar char="•"/>
            </a:pPr>
            <a:r>
              <a:rPr lang="en-US" sz="1000">
                <a:solidFill>
                  <a:schemeClr val="tx1">
                    <a:lumMod val="100000"/>
                  </a:schemeClr>
                </a:solidFill>
              </a:rPr>
              <a:t>The BEAD program requires a large, diverse ecosystem of talent. Nearly half of the workforce is in Supply Chain roles (laborers, material movers, trucking crews), while success also depends on Skilled Field Labor (equipment operators, fiber/wireless technicians, electricians, trenchers) and a strong Engineering backbone (network architects, RF &amp; field engineers, software and structural engineers), supported by Project Management for coordination and compliance.</a:t>
            </a:r>
          </a:p>
        </p:txBody>
      </p:sp>
      <p:cxnSp>
        <p:nvCxnSpPr>
          <p:cNvPr id="77" name="Straight Connector 76">
            <a:extLst>
              <a:ext uri="{FF2B5EF4-FFF2-40B4-BE49-F238E27FC236}">
                <a16:creationId xmlns:a16="http://schemas.microsoft.com/office/drawing/2014/main" id="{73BC4416-910F-1A60-D793-C914561B75A8}"/>
              </a:ext>
            </a:extLst>
          </p:cNvPr>
          <p:cNvCxnSpPr>
            <a:cxnSpLocks/>
          </p:cNvCxnSpPr>
          <p:nvPr/>
        </p:nvCxnSpPr>
        <p:spPr>
          <a:xfrm>
            <a:off x="3683618" y="1241911"/>
            <a:ext cx="0" cy="4709160"/>
          </a:xfrm>
          <a:prstGeom prst="line">
            <a:avLst/>
          </a:prstGeom>
          <a:ln>
            <a:prstDash val="sysDash"/>
          </a:ln>
        </p:spPr>
        <p:style>
          <a:lnRef idx="1">
            <a:schemeClr val="accent4"/>
          </a:lnRef>
          <a:fillRef idx="0">
            <a:schemeClr val="accent4"/>
          </a:fillRef>
          <a:effectRef idx="0">
            <a:schemeClr val="accent4"/>
          </a:effectRef>
          <a:fontRef idx="minor">
            <a:schemeClr val="tx1"/>
          </a:fontRef>
        </p:style>
      </p:cxnSp>
      <p:cxnSp>
        <p:nvCxnSpPr>
          <p:cNvPr id="78" name="Straight Connector 77">
            <a:extLst>
              <a:ext uri="{FF2B5EF4-FFF2-40B4-BE49-F238E27FC236}">
                <a16:creationId xmlns:a16="http://schemas.microsoft.com/office/drawing/2014/main" id="{480485EA-6FC5-4161-983F-BFA514998D18}"/>
              </a:ext>
            </a:extLst>
          </p:cNvPr>
          <p:cNvCxnSpPr>
            <a:cxnSpLocks/>
          </p:cNvCxnSpPr>
          <p:nvPr/>
        </p:nvCxnSpPr>
        <p:spPr>
          <a:xfrm>
            <a:off x="8263943" y="1240922"/>
            <a:ext cx="0" cy="4710149"/>
          </a:xfrm>
          <a:prstGeom prst="line">
            <a:avLst/>
          </a:prstGeom>
          <a:ln>
            <a:prstDash val="sysDash"/>
          </a:ln>
        </p:spPr>
        <p:style>
          <a:lnRef idx="1">
            <a:schemeClr val="accent4"/>
          </a:lnRef>
          <a:fillRef idx="0">
            <a:schemeClr val="accent4"/>
          </a:fillRef>
          <a:effectRef idx="0">
            <a:schemeClr val="accent4"/>
          </a:effectRef>
          <a:fontRef idx="minor">
            <a:schemeClr val="tx1"/>
          </a:fontRef>
        </p:style>
      </p:cxnSp>
      <p:grpSp>
        <p:nvGrpSpPr>
          <p:cNvPr id="79" name="Subtitle [Placeholder]">
            <a:extLst>
              <a:ext uri="{FF2B5EF4-FFF2-40B4-BE49-F238E27FC236}">
                <a16:creationId xmlns:a16="http://schemas.microsoft.com/office/drawing/2014/main" id="{B27D9D82-7A2C-D4E1-A86B-8D4E209AD948}"/>
              </a:ext>
            </a:extLst>
          </p:cNvPr>
          <p:cNvGrpSpPr>
            <a:grpSpLocks/>
          </p:cNvGrpSpPr>
          <p:nvPr/>
        </p:nvGrpSpPr>
        <p:grpSpPr bwMode="auto">
          <a:xfrm>
            <a:off x="3786566" y="1222598"/>
            <a:ext cx="4337587" cy="461697"/>
            <a:chOff x="902" y="-459948"/>
            <a:chExt cx="4812" cy="461697"/>
          </a:xfrm>
        </p:grpSpPr>
        <p:sp>
          <p:nvSpPr>
            <p:cNvPr id="80" name="Line 56">
              <a:extLst>
                <a:ext uri="{FF2B5EF4-FFF2-40B4-BE49-F238E27FC236}">
                  <a16:creationId xmlns:a16="http://schemas.microsoft.com/office/drawing/2014/main" id="{D54817D7-7FD6-40A8-4CE1-62FB7DAC1740}"/>
                </a:ext>
              </a:extLst>
            </p:cNvPr>
            <p:cNvSpPr>
              <a:spLocks noChangeShapeType="1"/>
            </p:cNvSpPr>
            <p:nvPr>
              <p:custDataLst>
                <p:tags r:id="rId9"/>
              </p:custDataLst>
            </p:nvPr>
          </p:nvSpPr>
          <p:spPr bwMode="gray">
            <a:xfrm>
              <a:off x="902" y="1749"/>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endParaRPr lang="en-US">
                <a:solidFill>
                  <a:srgbClr val="00338D"/>
                </a:solidFill>
                <a:latin typeface="Arial" panose="020B0604020202020204" pitchFamily="34" charset="0"/>
                <a:cs typeface="Arial" panose="020B0604020202020204" pitchFamily="34" charset="0"/>
              </a:endParaRPr>
            </a:p>
          </p:txBody>
        </p:sp>
        <p:sp>
          <p:nvSpPr>
            <p:cNvPr id="81" name="Text Box 57">
              <a:extLst>
                <a:ext uri="{FF2B5EF4-FFF2-40B4-BE49-F238E27FC236}">
                  <a16:creationId xmlns:a16="http://schemas.microsoft.com/office/drawing/2014/main" id="{974BE962-8273-2E83-2C1A-5084ABDAA5E8}"/>
                </a:ext>
              </a:extLst>
            </p:cNvPr>
            <p:cNvSpPr txBox="1">
              <a:spLocks noChangeArrowheads="1"/>
            </p:cNvSpPr>
            <p:nvPr>
              <p:custDataLst>
                <p:tags r:id="rId10"/>
              </p:custDataLst>
            </p:nvPr>
          </p:nvSpPr>
          <p:spPr bwMode="gray">
            <a:xfrm>
              <a:off x="902" y="-459948"/>
              <a:ext cx="48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rtl="0"/>
              <a:r>
                <a:rPr lang="en-US" b="1" i="0" u="none" strike="noStrike" kern="1200" baseline="0">
                  <a:solidFill>
                    <a:srgbClr val="00338D"/>
                  </a:solidFill>
                  <a:latin typeface="Arial" panose="020B0604020202020204" pitchFamily="34" charset="0"/>
                </a:rPr>
                <a:t>Process View: Deployment Across Project Lifecycle</a:t>
              </a:r>
            </a:p>
            <a:p>
              <a:r>
                <a:rPr lang="en-US" altLang="en-US" i="1">
                  <a:solidFill>
                    <a:schemeClr val="tx1"/>
                  </a:solidFill>
                  <a:cs typeface="Arial" panose="020B0604020202020204" pitchFamily="34" charset="0"/>
                </a:rPr>
                <a:t>How workforce demand shifts and peaks from initial planning to long-term operations through the course of a project</a:t>
              </a:r>
              <a:endParaRPr lang="en-CA" altLang="en-US" i="1">
                <a:solidFill>
                  <a:schemeClr val="tx1"/>
                </a:solidFill>
                <a:cs typeface="Arial" panose="020B0604020202020204" pitchFamily="34" charset="0"/>
              </a:endParaRPr>
            </a:p>
          </p:txBody>
        </p:sp>
      </p:grpSp>
      <p:grpSp>
        <p:nvGrpSpPr>
          <p:cNvPr id="82" name="Subtitle [Placeholder]">
            <a:extLst>
              <a:ext uri="{FF2B5EF4-FFF2-40B4-BE49-F238E27FC236}">
                <a16:creationId xmlns:a16="http://schemas.microsoft.com/office/drawing/2014/main" id="{D7514C69-77E4-2A98-D751-E2ABAFB94713}"/>
              </a:ext>
            </a:extLst>
          </p:cNvPr>
          <p:cNvGrpSpPr>
            <a:grpSpLocks/>
          </p:cNvGrpSpPr>
          <p:nvPr/>
        </p:nvGrpSpPr>
        <p:grpSpPr bwMode="auto">
          <a:xfrm>
            <a:off x="8381269" y="1222598"/>
            <a:ext cx="3292565" cy="461697"/>
            <a:chOff x="902" y="-459948"/>
            <a:chExt cx="4812" cy="461697"/>
          </a:xfrm>
        </p:grpSpPr>
        <p:sp>
          <p:nvSpPr>
            <p:cNvPr id="83" name="Line 56">
              <a:extLst>
                <a:ext uri="{FF2B5EF4-FFF2-40B4-BE49-F238E27FC236}">
                  <a16:creationId xmlns:a16="http://schemas.microsoft.com/office/drawing/2014/main" id="{09A263C9-8CDD-AC77-526C-99C3169B64EE}"/>
                </a:ext>
              </a:extLst>
            </p:cNvPr>
            <p:cNvSpPr>
              <a:spLocks noChangeShapeType="1"/>
            </p:cNvSpPr>
            <p:nvPr>
              <p:custDataLst>
                <p:tags r:id="rId7"/>
              </p:custDataLst>
            </p:nvPr>
          </p:nvSpPr>
          <p:spPr bwMode="gray">
            <a:xfrm>
              <a:off x="902" y="1749"/>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endParaRPr lang="en-US">
                <a:solidFill>
                  <a:srgbClr val="00338D"/>
                </a:solidFill>
                <a:latin typeface="Arial" panose="020B0604020202020204" pitchFamily="34" charset="0"/>
                <a:cs typeface="Arial" panose="020B0604020202020204" pitchFamily="34" charset="0"/>
              </a:endParaRPr>
            </a:p>
          </p:txBody>
        </p:sp>
        <p:sp>
          <p:nvSpPr>
            <p:cNvPr id="84" name="Text Box 57">
              <a:extLst>
                <a:ext uri="{FF2B5EF4-FFF2-40B4-BE49-F238E27FC236}">
                  <a16:creationId xmlns:a16="http://schemas.microsoft.com/office/drawing/2014/main" id="{F58FE76A-7191-07CA-CD37-170CC065FEF2}"/>
                </a:ext>
              </a:extLst>
            </p:cNvPr>
            <p:cNvSpPr txBox="1">
              <a:spLocks noChangeArrowheads="1"/>
            </p:cNvSpPr>
            <p:nvPr>
              <p:custDataLst>
                <p:tags r:id="rId8"/>
              </p:custDataLst>
            </p:nvPr>
          </p:nvSpPr>
          <p:spPr bwMode="gray">
            <a:xfrm>
              <a:off x="902" y="-459948"/>
              <a:ext cx="4810"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rtl="0"/>
              <a:r>
                <a:rPr lang="en-US" b="1" i="0" u="none" strike="noStrike" kern="1200" baseline="0">
                  <a:solidFill>
                    <a:srgbClr val="00338D"/>
                  </a:solidFill>
                  <a:latin typeface="Arial" panose="020B0604020202020204" pitchFamily="34" charset="0"/>
                </a:rPr>
                <a:t>Micro View: Pinpointed Bottleneck</a:t>
              </a:r>
            </a:p>
            <a:p>
              <a:r>
                <a:rPr lang="en-US" altLang="en-US" i="1">
                  <a:solidFill>
                    <a:schemeClr val="tx1"/>
                  </a:solidFill>
                  <a:cs typeface="Arial" panose="020B0604020202020204" pitchFamily="34" charset="0"/>
                </a:rPr>
                <a:t>Quantifying the gap between BEAD demand and Michigan's existing talent pool</a:t>
              </a:r>
              <a:endParaRPr lang="en-CA" altLang="en-US" i="1">
                <a:solidFill>
                  <a:schemeClr val="tx1"/>
                </a:solidFill>
                <a:cs typeface="Arial" panose="020B0604020202020204" pitchFamily="34" charset="0"/>
              </a:endParaRPr>
            </a:p>
          </p:txBody>
        </p:sp>
      </p:grpSp>
      <p:sp>
        <p:nvSpPr>
          <p:cNvPr id="85" name="Rectangle 84">
            <a:extLst>
              <a:ext uri="{FF2B5EF4-FFF2-40B4-BE49-F238E27FC236}">
                <a16:creationId xmlns:a16="http://schemas.microsoft.com/office/drawing/2014/main" id="{4ABDE070-D1D5-7CCF-E777-D82D53BC2C11}"/>
              </a:ext>
            </a:extLst>
          </p:cNvPr>
          <p:cNvSpPr/>
          <p:nvPr/>
        </p:nvSpPr>
        <p:spPr>
          <a:xfrm>
            <a:off x="3787932" y="4847087"/>
            <a:ext cx="4337587" cy="519185"/>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a:solidFill>
                  <a:schemeClr val="tx1">
                    <a:lumMod val="100000"/>
                  </a:schemeClr>
                </a:solidFill>
              </a:rPr>
              <a:t>Key Takeaway:</a:t>
            </a:r>
          </a:p>
          <a:p>
            <a:pPr marL="171450" indent="-171450" algn="l">
              <a:buFont typeface="Arial" panose="020B0604020202020204" pitchFamily="34" charset="0"/>
              <a:buChar char="•"/>
            </a:pPr>
            <a:r>
              <a:rPr lang="en-US" sz="1000">
                <a:solidFill>
                  <a:schemeClr val="tx1">
                    <a:lumMod val="100000"/>
                  </a:schemeClr>
                </a:solidFill>
              </a:rPr>
              <a:t>The BEAD program requires a large, diverse ecosystem of talent. While over half the effort is in skilled field deployment, success is equally dependent on a strong backbone of project managers, engineers, and compliance specialists.</a:t>
            </a:r>
          </a:p>
        </p:txBody>
      </p:sp>
      <p:graphicFrame>
        <p:nvGraphicFramePr>
          <p:cNvPr id="86" name="Table 85">
            <a:extLst>
              <a:ext uri="{FF2B5EF4-FFF2-40B4-BE49-F238E27FC236}">
                <a16:creationId xmlns:a16="http://schemas.microsoft.com/office/drawing/2014/main" id="{A0230B2D-9278-D105-1D72-E042ECECB000}"/>
              </a:ext>
            </a:extLst>
          </p:cNvPr>
          <p:cNvGraphicFramePr>
            <a:graphicFrameLocks noGrp="1"/>
          </p:cNvGraphicFramePr>
          <p:nvPr/>
        </p:nvGraphicFramePr>
        <p:xfrm>
          <a:off x="3867265" y="2466539"/>
          <a:ext cx="4258254" cy="2169273"/>
        </p:xfrm>
        <a:graphic>
          <a:graphicData uri="http://schemas.openxmlformats.org/drawingml/2006/table">
            <a:tbl>
              <a:tblPr>
                <a:tableStyleId>{EB9631B5-78F2-41C9-869B-9F39066F8104}</a:tableStyleId>
              </a:tblPr>
              <a:tblGrid>
                <a:gridCol w="1499865">
                  <a:extLst>
                    <a:ext uri="{9D8B030D-6E8A-4147-A177-3AD203B41FA5}">
                      <a16:colId xmlns:a16="http://schemas.microsoft.com/office/drawing/2014/main" val="3045592314"/>
                    </a:ext>
                  </a:extLst>
                </a:gridCol>
                <a:gridCol w="1375576">
                  <a:extLst>
                    <a:ext uri="{9D8B030D-6E8A-4147-A177-3AD203B41FA5}">
                      <a16:colId xmlns:a16="http://schemas.microsoft.com/office/drawing/2014/main" val="1062290752"/>
                    </a:ext>
                  </a:extLst>
                </a:gridCol>
                <a:gridCol w="1382813">
                  <a:extLst>
                    <a:ext uri="{9D8B030D-6E8A-4147-A177-3AD203B41FA5}">
                      <a16:colId xmlns:a16="http://schemas.microsoft.com/office/drawing/2014/main" val="4235888274"/>
                    </a:ext>
                  </a:extLst>
                </a:gridCol>
              </a:tblGrid>
              <a:tr h="505261">
                <a:tc>
                  <a:txBody>
                    <a:bodyPr/>
                    <a:lstStyle/>
                    <a:p>
                      <a:pPr algn="l">
                        <a:buNone/>
                      </a:pPr>
                      <a:r>
                        <a:rPr lang="en-US" sz="800" b="1">
                          <a:effectLst/>
                        </a:rPr>
                        <a:t>Function:</a:t>
                      </a:r>
                      <a:r>
                        <a:rPr lang="en-US" sz="800">
                          <a:effectLst/>
                        </a:rPr>
                        <a:t> Secure the grant, design the network, and obtain all necessary permits and approvals.</a:t>
                      </a:r>
                    </a:p>
                  </a:txBody>
                  <a:tcPr marL="20357" marR="20357" marT="20357" marB="20357" anchor="ctr"/>
                </a:tc>
                <a:tc>
                  <a:txBody>
                    <a:bodyPr/>
                    <a:lstStyle/>
                    <a:p>
                      <a:pPr algn="l">
                        <a:buNone/>
                      </a:pPr>
                      <a:r>
                        <a:rPr lang="en-US" sz="800" b="1">
                          <a:effectLst/>
                        </a:rPr>
                        <a:t>Function:</a:t>
                      </a:r>
                      <a:r>
                        <a:rPr lang="en-US" sz="800">
                          <a:effectLst/>
                        </a:rPr>
                        <a:t> Physically install the fiber optic infrastructure, from the "middle mile" to the customer's home.</a:t>
                      </a:r>
                    </a:p>
                  </a:txBody>
                  <a:tcPr marL="20357" marR="20357" marT="20357" marB="20357" anchor="ctr"/>
                </a:tc>
                <a:tc>
                  <a:txBody>
                    <a:bodyPr/>
                    <a:lstStyle/>
                    <a:p>
                      <a:pPr algn="l">
                        <a:buNone/>
                      </a:pPr>
                      <a:r>
                        <a:rPr lang="en-US" sz="800" b="1">
                          <a:effectLst/>
                        </a:rPr>
                        <a:t>Function:</a:t>
                      </a:r>
                      <a:r>
                        <a:rPr lang="en-US" sz="800">
                          <a:effectLst/>
                        </a:rPr>
                        <a:t> Activate customers, operate and maintain the live network, and provide ongoing support.</a:t>
                      </a:r>
                    </a:p>
                  </a:txBody>
                  <a:tcPr marL="20357" marR="20357" marT="20357" marB="20357" anchor="ctr"/>
                </a:tc>
                <a:extLst>
                  <a:ext uri="{0D108BD9-81ED-4DB2-BD59-A6C34878D82A}">
                    <a16:rowId xmlns:a16="http://schemas.microsoft.com/office/drawing/2014/main" val="3101605097"/>
                  </a:ext>
                </a:extLst>
              </a:tr>
              <a:tr h="1640879">
                <a:tc>
                  <a:txBody>
                    <a:bodyPr/>
                    <a:lstStyle/>
                    <a:p>
                      <a:pPr algn="l">
                        <a:buNone/>
                      </a:pPr>
                      <a:r>
                        <a:rPr lang="en-US" sz="800" b="1">
                          <a:effectLst/>
                        </a:rPr>
                        <a:t>Key ISP Roles:</a:t>
                      </a:r>
                      <a:br>
                        <a:rPr lang="en-US" sz="800">
                          <a:effectLst/>
                        </a:rPr>
                      </a:br>
                      <a:r>
                        <a:rPr lang="en-US" sz="800">
                          <a:effectLst/>
                        </a:rPr>
                        <a:t>• </a:t>
                      </a:r>
                      <a:r>
                        <a:rPr lang="en-US" sz="800" b="1">
                          <a:effectLst/>
                        </a:rPr>
                        <a:t>Project Management Specialists</a:t>
                      </a:r>
                      <a:br>
                        <a:rPr lang="en-US" sz="800">
                          <a:effectLst/>
                        </a:rPr>
                      </a:br>
                      <a:r>
                        <a:rPr lang="en-US" sz="800">
                          <a:effectLst/>
                        </a:rPr>
                        <a:t>• </a:t>
                      </a:r>
                      <a:r>
                        <a:rPr lang="en-US" sz="800" b="1">
                          <a:effectLst/>
                        </a:rPr>
                        <a:t>Network Architects</a:t>
                      </a:r>
                      <a:br>
                        <a:rPr lang="en-US" sz="800">
                          <a:effectLst/>
                        </a:rPr>
                      </a:br>
                      <a:r>
                        <a:rPr lang="en-US" sz="800">
                          <a:effectLst/>
                        </a:rPr>
                        <a:t>• </a:t>
                      </a:r>
                      <a:r>
                        <a:rPr lang="en-US" sz="800" b="1">
                          <a:effectLst/>
                        </a:rPr>
                        <a:t>Compliance Officers</a:t>
                      </a:r>
                      <a:br>
                        <a:rPr lang="en-US" sz="800">
                          <a:effectLst/>
                        </a:rPr>
                      </a:br>
                      <a:r>
                        <a:rPr lang="en-US" sz="800">
                          <a:effectLst/>
                        </a:rPr>
                        <a:t>• </a:t>
                      </a:r>
                      <a:r>
                        <a:rPr lang="en-US" sz="800" b="1">
                          <a:effectLst/>
                        </a:rPr>
                        <a:t>Civil Engineers</a:t>
                      </a:r>
                      <a:br>
                        <a:rPr lang="en-US" sz="800">
                          <a:effectLst/>
                        </a:rPr>
                      </a:br>
                      <a:r>
                        <a:rPr lang="en-US" sz="800">
                          <a:effectLst/>
                        </a:rPr>
                        <a:t>• Surveyors</a:t>
                      </a:r>
                      <a:br>
                        <a:rPr lang="en-US" sz="800">
                          <a:effectLst/>
                        </a:rPr>
                      </a:br>
                      <a:r>
                        <a:rPr lang="en-US" sz="800">
                          <a:effectLst/>
                        </a:rPr>
                        <a:t>• Cost Estimators</a:t>
                      </a:r>
                    </a:p>
                  </a:txBody>
                  <a:tcPr marL="20357" marR="20357" marT="20357" marB="20357" anchor="ctr"/>
                </a:tc>
                <a:tc>
                  <a:txBody>
                    <a:bodyPr/>
                    <a:lstStyle/>
                    <a:p>
                      <a:pPr marL="0" indent="0" algn="l">
                        <a:buFont typeface="Arial" panose="020B0604020202020204" pitchFamily="34" charset="0"/>
                        <a:buNone/>
                      </a:pPr>
                      <a:r>
                        <a:rPr lang="en-US" sz="800" b="1">
                          <a:effectLst/>
                        </a:rPr>
                        <a:t>Key ISP Roles:</a:t>
                      </a:r>
                      <a:endParaRPr lang="en-US" sz="800">
                        <a:effectLst/>
                      </a:endParaRPr>
                    </a:p>
                    <a:p>
                      <a:pPr marL="171450" indent="-171450" algn="l">
                        <a:buFont typeface="Arial" panose="020B0604020202020204" pitchFamily="34" charset="0"/>
                        <a:buChar char="•"/>
                      </a:pPr>
                      <a:r>
                        <a:rPr lang="en-US" sz="800" b="1">
                          <a:effectLst/>
                        </a:rPr>
                        <a:t>Construction Supervisors</a:t>
                      </a:r>
                    </a:p>
                    <a:p>
                      <a:pPr marL="171450" indent="-171450" algn="l">
                        <a:buFont typeface="Arial" panose="020B0604020202020204" pitchFamily="34" charset="0"/>
                        <a:buChar char="•"/>
                      </a:pPr>
                      <a:r>
                        <a:rPr lang="en-US" sz="800" b="1">
                          <a:effectLst/>
                        </a:rPr>
                        <a:t>Equipment Operators &amp; Engineers</a:t>
                      </a:r>
                    </a:p>
                    <a:p>
                      <a:pPr marL="171450" indent="-171450" algn="l">
                        <a:buFont typeface="Arial" panose="020B0604020202020204" pitchFamily="34" charset="0"/>
                        <a:buChar char="•"/>
                      </a:pPr>
                      <a:r>
                        <a:rPr lang="en-US" sz="800" b="1">
                          <a:effectLst/>
                        </a:rPr>
                        <a:t>Telecommunications Line Installers </a:t>
                      </a:r>
                    </a:p>
                    <a:p>
                      <a:pPr marL="171450" indent="-171450" algn="l">
                        <a:buFont typeface="Arial" panose="020B0604020202020204" pitchFamily="34" charset="0"/>
                        <a:buChar char="•"/>
                      </a:pPr>
                      <a:r>
                        <a:rPr lang="en-US" sz="800">
                          <a:effectLst/>
                        </a:rPr>
                        <a:t>Master and Stage Electricians Trenchers</a:t>
                      </a:r>
                    </a:p>
                  </a:txBody>
                  <a:tcPr marL="20357" marR="20357" marT="20357" marB="20357" anchor="ctr"/>
                </a:tc>
                <a:tc>
                  <a:txBody>
                    <a:bodyPr/>
                    <a:lstStyle/>
                    <a:p>
                      <a:pPr algn="l">
                        <a:buNone/>
                      </a:pPr>
                      <a:r>
                        <a:rPr lang="en-US" sz="800" b="1">
                          <a:effectLst/>
                        </a:rPr>
                        <a:t>Key ISP Roles:</a:t>
                      </a:r>
                      <a:br>
                        <a:rPr lang="en-US" sz="800">
                          <a:effectLst/>
                        </a:rPr>
                      </a:br>
                      <a:r>
                        <a:rPr lang="en-US" sz="800">
                          <a:effectLst/>
                        </a:rPr>
                        <a:t>• </a:t>
                      </a:r>
                      <a:r>
                        <a:rPr lang="en-US" sz="800" b="1">
                          <a:effectLst/>
                        </a:rPr>
                        <a:t>Network Administrators</a:t>
                      </a:r>
                      <a:br>
                        <a:rPr lang="en-US" sz="800">
                          <a:effectLst/>
                        </a:rPr>
                      </a:br>
                      <a:r>
                        <a:rPr lang="en-US" sz="800">
                          <a:effectLst/>
                        </a:rPr>
                        <a:t>• </a:t>
                      </a:r>
                      <a:r>
                        <a:rPr lang="en-US" sz="800" b="1">
                          <a:effectLst/>
                        </a:rPr>
                        <a:t>Customer Install Techs</a:t>
                      </a:r>
                      <a:br>
                        <a:rPr lang="en-US" sz="800">
                          <a:effectLst/>
                        </a:rPr>
                      </a:br>
                      <a:r>
                        <a:rPr lang="en-US" sz="800">
                          <a:effectLst/>
                        </a:rPr>
                        <a:t>• </a:t>
                      </a:r>
                      <a:r>
                        <a:rPr lang="en-US" sz="800" b="1">
                          <a:effectLst/>
                        </a:rPr>
                        <a:t>Computer User Support</a:t>
                      </a:r>
                      <a:br>
                        <a:rPr lang="en-US" sz="800">
                          <a:effectLst/>
                        </a:rPr>
                      </a:br>
                      <a:r>
                        <a:rPr lang="en-US" sz="800">
                          <a:effectLst/>
                        </a:rPr>
                        <a:t>• Customer Service Reps</a:t>
                      </a:r>
                      <a:br>
                        <a:rPr lang="en-US" sz="800">
                          <a:effectLst/>
                        </a:rPr>
                      </a:br>
                      <a:r>
                        <a:rPr lang="en-US" sz="800">
                          <a:effectLst/>
                        </a:rPr>
                        <a:t>• Software Developers (OSS/BSS)</a:t>
                      </a:r>
                    </a:p>
                  </a:txBody>
                  <a:tcPr marL="20357" marR="20357" marT="20357" marB="20357" anchor="ctr"/>
                </a:tc>
                <a:extLst>
                  <a:ext uri="{0D108BD9-81ED-4DB2-BD59-A6C34878D82A}">
                    <a16:rowId xmlns:a16="http://schemas.microsoft.com/office/drawing/2014/main" val="2614160281"/>
                  </a:ext>
                </a:extLst>
              </a:tr>
            </a:tbl>
          </a:graphicData>
        </a:graphic>
      </p:graphicFrame>
      <p:sp>
        <p:nvSpPr>
          <p:cNvPr id="87" name="Arrow: Chevron 86">
            <a:extLst>
              <a:ext uri="{FF2B5EF4-FFF2-40B4-BE49-F238E27FC236}">
                <a16:creationId xmlns:a16="http://schemas.microsoft.com/office/drawing/2014/main" id="{E8CA0AC1-C9C2-AA67-A46B-0B8B64A56DD8}"/>
              </a:ext>
            </a:extLst>
          </p:cNvPr>
          <p:cNvSpPr/>
          <p:nvPr/>
        </p:nvSpPr>
        <p:spPr>
          <a:xfrm>
            <a:off x="3867265" y="1798064"/>
            <a:ext cx="1554480" cy="457200"/>
          </a:xfrm>
          <a:prstGeom prst="chevron">
            <a:avLst/>
          </a:prstGeom>
          <a:solidFill>
            <a:srgbClr val="B8C8DA"/>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a:solidFill>
                  <a:schemeClr val="bg1"/>
                </a:solidFill>
              </a:rPr>
              <a:t>Phase 1:</a:t>
            </a:r>
            <a:r>
              <a:rPr lang="en-US" sz="1000">
                <a:solidFill>
                  <a:schemeClr val="bg1"/>
                </a:solidFill>
              </a:rPr>
              <a:t> Preconstruction</a:t>
            </a:r>
          </a:p>
        </p:txBody>
      </p:sp>
      <p:sp>
        <p:nvSpPr>
          <p:cNvPr id="88" name="Arrow: Chevron 87">
            <a:extLst>
              <a:ext uri="{FF2B5EF4-FFF2-40B4-BE49-F238E27FC236}">
                <a16:creationId xmlns:a16="http://schemas.microsoft.com/office/drawing/2014/main" id="{090A8A43-B20E-1E01-EED7-13797DE719D7}"/>
              </a:ext>
            </a:extLst>
          </p:cNvPr>
          <p:cNvSpPr/>
          <p:nvPr/>
        </p:nvSpPr>
        <p:spPr>
          <a:xfrm>
            <a:off x="5217073" y="1801341"/>
            <a:ext cx="1554480" cy="453923"/>
          </a:xfrm>
          <a:prstGeom prst="chevron">
            <a:avLst/>
          </a:prstGeom>
          <a:solidFill>
            <a:srgbClr val="6F8DB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a:solidFill>
                  <a:schemeClr val="bg1"/>
                </a:solidFill>
              </a:rPr>
              <a:t>Phase 2: </a:t>
            </a:r>
            <a:r>
              <a:rPr lang="en-US" sz="1000">
                <a:solidFill>
                  <a:schemeClr val="bg1"/>
                </a:solidFill>
              </a:rPr>
              <a:t>Construction &amp; Deployment</a:t>
            </a:r>
          </a:p>
        </p:txBody>
      </p:sp>
      <p:sp>
        <p:nvSpPr>
          <p:cNvPr id="90" name="Arrow: Chevron 89">
            <a:extLst>
              <a:ext uri="{FF2B5EF4-FFF2-40B4-BE49-F238E27FC236}">
                <a16:creationId xmlns:a16="http://schemas.microsoft.com/office/drawing/2014/main" id="{B5B21A46-B2CC-0793-6709-EBA7F935CF81}"/>
              </a:ext>
            </a:extLst>
          </p:cNvPr>
          <p:cNvSpPr/>
          <p:nvPr/>
        </p:nvSpPr>
        <p:spPr>
          <a:xfrm>
            <a:off x="6566882" y="1801341"/>
            <a:ext cx="1554480" cy="453923"/>
          </a:xfrm>
          <a:prstGeom prst="chevron">
            <a:avLst/>
          </a:prstGeom>
          <a:solidFill>
            <a:srgbClr val="3B5479"/>
          </a:solidFill>
          <a:ln>
            <a:no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a:solidFill>
                  <a:schemeClr val="bg1"/>
                </a:solidFill>
              </a:rPr>
              <a:t>Phase 3: </a:t>
            </a:r>
            <a:r>
              <a:rPr lang="en-US" sz="1000">
                <a:solidFill>
                  <a:schemeClr val="bg1"/>
                </a:solidFill>
              </a:rPr>
              <a:t>Services &amp; Operations</a:t>
            </a:r>
          </a:p>
        </p:txBody>
      </p:sp>
      <p:sp>
        <p:nvSpPr>
          <p:cNvPr id="91" name="Rectangle 90">
            <a:extLst>
              <a:ext uri="{FF2B5EF4-FFF2-40B4-BE49-F238E27FC236}">
                <a16:creationId xmlns:a16="http://schemas.microsoft.com/office/drawing/2014/main" id="{F93577AA-84C7-5719-FB82-91113F33AFA3}"/>
              </a:ext>
            </a:extLst>
          </p:cNvPr>
          <p:cNvSpPr/>
          <p:nvPr/>
        </p:nvSpPr>
        <p:spPr>
          <a:xfrm>
            <a:off x="8381269" y="5083969"/>
            <a:ext cx="3199846" cy="519185"/>
          </a:xfrm>
          <a:prstGeom prst="rect">
            <a:avLst/>
          </a:prstGeom>
          <a:noFill/>
          <a:ln>
            <a:noFill/>
          </a:ln>
          <a:extLst>
            <a:ext uri="{909E8E84-426E-40DD-AFC4-6F175D3DCCD1}">
              <a14:hiddenFill xmlns:a14="http://schemas.microsoft.com/office/drawing/2010/main">
                <a:solidFill>
                  <a:schemeClr val="tx2"/>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l"/>
            <a:r>
              <a:rPr lang="en-US" sz="1000" b="1">
                <a:solidFill>
                  <a:schemeClr val="tx1">
                    <a:lumMod val="100000"/>
                  </a:schemeClr>
                </a:solidFill>
              </a:rPr>
              <a:t>Key Takeaway:</a:t>
            </a:r>
          </a:p>
          <a:p>
            <a:pPr marL="171450" indent="-171450" algn="l">
              <a:buFont typeface="Arial" panose="020B0604020202020204" pitchFamily="34" charset="0"/>
              <a:buChar char="•"/>
            </a:pPr>
            <a:r>
              <a:rPr lang="en-US" sz="1000">
                <a:solidFill>
                  <a:schemeClr val="tx1">
                    <a:lumMod val="100000"/>
                  </a:schemeClr>
                </a:solidFill>
              </a:rPr>
              <a:t>The success of a BEAD grant ultimately funnels down to an ISP's ability to recruit from this small, hyper-competitive pool of specialized OSP workers. This is the single greatest point of failure in the workforce pipeline</a:t>
            </a:r>
          </a:p>
        </p:txBody>
      </p:sp>
      <p:graphicFrame>
        <p:nvGraphicFramePr>
          <p:cNvPr id="96" name="Table 95">
            <a:extLst>
              <a:ext uri="{FF2B5EF4-FFF2-40B4-BE49-F238E27FC236}">
                <a16:creationId xmlns:a16="http://schemas.microsoft.com/office/drawing/2014/main" id="{213EDDF7-8CEF-6C65-0D75-6FE557C46D54}"/>
              </a:ext>
            </a:extLst>
          </p:cNvPr>
          <p:cNvGraphicFramePr>
            <a:graphicFrameLocks noGrp="1"/>
          </p:cNvGraphicFramePr>
          <p:nvPr/>
        </p:nvGraphicFramePr>
        <p:xfrm>
          <a:off x="8508150" y="2449146"/>
          <a:ext cx="3292564" cy="2211151"/>
        </p:xfrm>
        <a:graphic>
          <a:graphicData uri="http://schemas.openxmlformats.org/drawingml/2006/table">
            <a:tbl>
              <a:tblPr>
                <a:tableStyleId>{8EC20E35-A176-4012-BC5E-935CFFF8708E}</a:tableStyleId>
              </a:tblPr>
              <a:tblGrid>
                <a:gridCol w="984664">
                  <a:extLst>
                    <a:ext uri="{9D8B030D-6E8A-4147-A177-3AD203B41FA5}">
                      <a16:colId xmlns:a16="http://schemas.microsoft.com/office/drawing/2014/main" val="2966859746"/>
                    </a:ext>
                  </a:extLst>
                </a:gridCol>
                <a:gridCol w="729007">
                  <a:extLst>
                    <a:ext uri="{9D8B030D-6E8A-4147-A177-3AD203B41FA5}">
                      <a16:colId xmlns:a16="http://schemas.microsoft.com/office/drawing/2014/main" val="3616068646"/>
                    </a:ext>
                  </a:extLst>
                </a:gridCol>
                <a:gridCol w="729007">
                  <a:extLst>
                    <a:ext uri="{9D8B030D-6E8A-4147-A177-3AD203B41FA5}">
                      <a16:colId xmlns:a16="http://schemas.microsoft.com/office/drawing/2014/main" val="4145108029"/>
                    </a:ext>
                  </a:extLst>
                </a:gridCol>
                <a:gridCol w="849886">
                  <a:extLst>
                    <a:ext uri="{9D8B030D-6E8A-4147-A177-3AD203B41FA5}">
                      <a16:colId xmlns:a16="http://schemas.microsoft.com/office/drawing/2014/main" val="3294503457"/>
                    </a:ext>
                  </a:extLst>
                </a:gridCol>
              </a:tblGrid>
              <a:tr h="351662">
                <a:tc>
                  <a:txBody>
                    <a:bodyPr/>
                    <a:lstStyle/>
                    <a:p>
                      <a:pPr algn="l">
                        <a:buNone/>
                      </a:pPr>
                      <a:r>
                        <a:rPr lang="en-US" sz="800" b="1">
                          <a:effectLst/>
                        </a:rPr>
                        <a:t>Occupation (SOC Code)</a:t>
                      </a:r>
                      <a:endParaRPr lang="en-US" sz="800" b="1">
                        <a:effectLst/>
                        <a:latin typeface="+mn-lt"/>
                      </a:endParaRPr>
                    </a:p>
                  </a:txBody>
                  <a:tcPr marL="13891" marR="13891" marT="13891" marB="13891" anchor="ctr"/>
                </a:tc>
                <a:tc>
                  <a:txBody>
                    <a:bodyPr/>
                    <a:lstStyle/>
                    <a:p>
                      <a:pPr algn="l">
                        <a:buNone/>
                      </a:pPr>
                      <a:r>
                        <a:rPr lang="en-US" sz="800" b="1">
                          <a:effectLst/>
                        </a:rPr>
                        <a:t>Current MI Employment</a:t>
                      </a:r>
                      <a:endParaRPr lang="en-US" sz="800" b="1">
                        <a:effectLst/>
                        <a:latin typeface="+mn-lt"/>
                      </a:endParaRPr>
                    </a:p>
                  </a:txBody>
                  <a:tcPr marL="13891" marR="13891" marT="13891" marB="13891" anchor="ctr"/>
                </a:tc>
                <a:tc>
                  <a:txBody>
                    <a:bodyPr/>
                    <a:lstStyle/>
                    <a:p>
                      <a:pPr algn="l">
                        <a:buNone/>
                      </a:pPr>
                      <a:r>
                        <a:rPr lang="en-US" sz="800" b="1">
                          <a:effectLst/>
                        </a:rPr>
                        <a:t>MI Projected Annual Openings</a:t>
                      </a:r>
                      <a:endParaRPr lang="en-US" sz="800" b="1">
                        <a:effectLst/>
                        <a:latin typeface="+mn-lt"/>
                      </a:endParaRPr>
                    </a:p>
                  </a:txBody>
                  <a:tcPr marL="13891" marR="13891" marT="13891" marB="13891" anchor="ctr"/>
                </a:tc>
                <a:tc>
                  <a:txBody>
                    <a:bodyPr/>
                    <a:lstStyle/>
                    <a:p>
                      <a:pPr algn="l">
                        <a:buNone/>
                      </a:pPr>
                      <a:r>
                        <a:rPr lang="en-US" sz="800" b="1">
                          <a:effectLst/>
                        </a:rPr>
                        <a:t>Key Challenge</a:t>
                      </a:r>
                      <a:endParaRPr lang="en-US" sz="800" b="1">
                        <a:effectLst/>
                        <a:latin typeface="+mn-lt"/>
                      </a:endParaRPr>
                    </a:p>
                  </a:txBody>
                  <a:tcPr marL="13891" marR="13891" marT="13891" marB="13891" anchor="ctr"/>
                </a:tc>
                <a:extLst>
                  <a:ext uri="{0D108BD9-81ED-4DB2-BD59-A6C34878D82A}">
                    <a16:rowId xmlns:a16="http://schemas.microsoft.com/office/drawing/2014/main" val="2598007810"/>
                  </a:ext>
                </a:extLst>
              </a:tr>
              <a:tr h="569554">
                <a:tc>
                  <a:txBody>
                    <a:bodyPr/>
                    <a:lstStyle/>
                    <a:p>
                      <a:pPr algn="l">
                        <a:buNone/>
                      </a:pPr>
                      <a:r>
                        <a:rPr lang="en-US" sz="800" b="0">
                          <a:effectLst/>
                        </a:rPr>
                        <a:t>Telecommunications Line Installers</a:t>
                      </a:r>
                    </a:p>
                    <a:p>
                      <a:pPr algn="l">
                        <a:buNone/>
                      </a:pPr>
                      <a:r>
                        <a:rPr lang="en-US" sz="800" b="0">
                          <a:effectLst/>
                        </a:rPr>
                        <a:t>(49-9052)</a:t>
                      </a:r>
                      <a:endParaRPr lang="en-US" sz="800" b="0">
                        <a:effectLst/>
                        <a:latin typeface="+mn-lt"/>
                      </a:endParaRPr>
                    </a:p>
                  </a:txBody>
                  <a:tcPr marL="13891" marR="13891" marT="13891" marB="13891" anchor="ctr"/>
                </a:tc>
                <a:tc>
                  <a:txBody>
                    <a:bodyPr/>
                    <a:lstStyle/>
                    <a:p>
                      <a:pPr algn="l">
                        <a:buNone/>
                      </a:pPr>
                      <a:r>
                        <a:rPr lang="en-US" sz="800" b="1">
                          <a:effectLst/>
                        </a:rPr>
                        <a:t>~2,050</a:t>
                      </a:r>
                      <a:endParaRPr lang="en-US" sz="800">
                        <a:effectLst/>
                        <a:latin typeface="+mn-lt"/>
                      </a:endParaRPr>
                    </a:p>
                  </a:txBody>
                  <a:tcPr marL="13891" marR="13891" marT="13891" marB="13891" anchor="ctr"/>
                </a:tc>
                <a:tc>
                  <a:txBody>
                    <a:bodyPr/>
                    <a:lstStyle/>
                    <a:p>
                      <a:pPr algn="l">
                        <a:buNone/>
                      </a:pPr>
                      <a:r>
                        <a:rPr lang="en-US" sz="800" b="1">
                          <a:effectLst/>
                        </a:rPr>
                        <a:t>~200</a:t>
                      </a:r>
                      <a:endParaRPr lang="en-US" sz="800">
                        <a:effectLst/>
                        <a:latin typeface="+mn-lt"/>
                      </a:endParaRPr>
                    </a:p>
                  </a:txBody>
                  <a:tcPr marL="13891" marR="13891" marT="13891" marB="13891" anchor="ctr"/>
                </a:tc>
                <a:tc>
                  <a:txBody>
                    <a:bodyPr/>
                    <a:lstStyle/>
                    <a:p>
                      <a:pPr algn="l">
                        <a:buNone/>
                      </a:pPr>
                      <a:r>
                        <a:rPr lang="en-US" sz="800" b="0">
                          <a:solidFill>
                            <a:srgbClr val="000000"/>
                          </a:solidFill>
                          <a:effectLst/>
                        </a:rPr>
                        <a:t>CRITICAL: Severe shortage; long training cycle</a:t>
                      </a:r>
                      <a:endParaRPr lang="en-US" sz="800" b="0">
                        <a:effectLst/>
                        <a:latin typeface="+mn-lt"/>
                      </a:endParaRPr>
                    </a:p>
                  </a:txBody>
                  <a:tcPr marL="13891" marR="13891" marT="13891" marB="13891" anchor="ctr"/>
                </a:tc>
                <a:extLst>
                  <a:ext uri="{0D108BD9-81ED-4DB2-BD59-A6C34878D82A}">
                    <a16:rowId xmlns:a16="http://schemas.microsoft.com/office/drawing/2014/main" val="1841760036"/>
                  </a:ext>
                </a:extLst>
              </a:tr>
              <a:tr h="678501">
                <a:tc>
                  <a:txBody>
                    <a:bodyPr/>
                    <a:lstStyle/>
                    <a:p>
                      <a:pPr algn="l">
                        <a:buNone/>
                      </a:pPr>
                      <a:r>
                        <a:rPr lang="en-US" sz="800" b="0">
                          <a:effectLst/>
                        </a:rPr>
                        <a:t>Construction Supervisors</a:t>
                      </a:r>
                    </a:p>
                    <a:p>
                      <a:pPr algn="l">
                        <a:buNone/>
                      </a:pPr>
                      <a:r>
                        <a:rPr lang="en-US" sz="800" b="0">
                          <a:effectLst/>
                        </a:rPr>
                        <a:t>(47-1011)</a:t>
                      </a:r>
                      <a:endParaRPr lang="en-US" sz="800" b="0">
                        <a:effectLst/>
                        <a:latin typeface="+mn-lt"/>
                      </a:endParaRPr>
                    </a:p>
                  </a:txBody>
                  <a:tcPr marL="13891" marR="13891" marT="13891" marB="13891" anchor="ctr"/>
                </a:tc>
                <a:tc>
                  <a:txBody>
                    <a:bodyPr/>
                    <a:lstStyle/>
                    <a:p>
                      <a:pPr algn="l">
                        <a:buNone/>
                      </a:pPr>
                      <a:r>
                        <a:rPr lang="en-US" sz="800">
                          <a:effectLst/>
                        </a:rPr>
                        <a:t>~17,760</a:t>
                      </a:r>
                      <a:endParaRPr lang="en-US" sz="800">
                        <a:effectLst/>
                        <a:latin typeface="+mn-lt"/>
                      </a:endParaRPr>
                    </a:p>
                  </a:txBody>
                  <a:tcPr marL="13891" marR="13891" marT="13891" marB="13891" anchor="ctr"/>
                </a:tc>
                <a:tc>
                  <a:txBody>
                    <a:bodyPr/>
                    <a:lstStyle/>
                    <a:p>
                      <a:pPr algn="l">
                        <a:buNone/>
                      </a:pPr>
                      <a:r>
                        <a:rPr lang="en-US" sz="800">
                          <a:effectLst/>
                        </a:rPr>
                        <a:t>~1,400</a:t>
                      </a:r>
                      <a:endParaRPr lang="en-US" sz="800">
                        <a:effectLst/>
                        <a:latin typeface="+mn-lt"/>
                      </a:endParaRPr>
                    </a:p>
                  </a:txBody>
                  <a:tcPr marL="13891" marR="13891" marT="13891" marB="13891" anchor="ctr"/>
                </a:tc>
                <a:tc>
                  <a:txBody>
                    <a:bodyPr/>
                    <a:lstStyle/>
                    <a:p>
                      <a:pPr algn="l">
                        <a:buNone/>
                      </a:pPr>
                      <a:r>
                        <a:rPr lang="en-US" sz="800" b="0">
                          <a:solidFill>
                            <a:srgbClr val="000000"/>
                          </a:solidFill>
                          <a:effectLst/>
                        </a:rPr>
                        <a:t>HIGH: Field leadership gap is a productivity bottleneck.</a:t>
                      </a:r>
                      <a:endParaRPr lang="en-US" sz="800" b="0">
                        <a:effectLst/>
                        <a:latin typeface="+mn-lt"/>
                      </a:endParaRPr>
                    </a:p>
                  </a:txBody>
                  <a:tcPr marL="13891" marR="13891" marT="13891" marB="13891" anchor="ctr"/>
                </a:tc>
                <a:extLst>
                  <a:ext uri="{0D108BD9-81ED-4DB2-BD59-A6C34878D82A}">
                    <a16:rowId xmlns:a16="http://schemas.microsoft.com/office/drawing/2014/main" val="2927977465"/>
                  </a:ext>
                </a:extLst>
              </a:tr>
              <a:tr h="569554">
                <a:tc>
                  <a:txBody>
                    <a:bodyPr/>
                    <a:lstStyle/>
                    <a:p>
                      <a:pPr algn="l">
                        <a:buNone/>
                      </a:pPr>
                      <a:r>
                        <a:rPr lang="en-US" sz="800" b="0">
                          <a:effectLst/>
                        </a:rPr>
                        <a:t>Operating Engineers </a:t>
                      </a:r>
                    </a:p>
                    <a:p>
                      <a:pPr algn="l">
                        <a:buNone/>
                      </a:pPr>
                      <a:r>
                        <a:rPr lang="en-US" sz="800" b="0">
                          <a:effectLst/>
                        </a:rPr>
                        <a:t>(47-2073 )</a:t>
                      </a:r>
                      <a:endParaRPr lang="en-US" sz="800" b="0">
                        <a:effectLst/>
                        <a:latin typeface="+mn-lt"/>
                      </a:endParaRPr>
                    </a:p>
                  </a:txBody>
                  <a:tcPr marL="13891" marR="13891" marT="13891" marB="13891" anchor="ctr"/>
                </a:tc>
                <a:tc>
                  <a:txBody>
                    <a:bodyPr/>
                    <a:lstStyle/>
                    <a:p>
                      <a:pPr algn="l">
                        <a:buNone/>
                      </a:pPr>
                      <a:r>
                        <a:rPr lang="en-US" sz="800">
                          <a:effectLst/>
                        </a:rPr>
                        <a:t>~10,270</a:t>
                      </a:r>
                      <a:endParaRPr lang="en-US" sz="800">
                        <a:effectLst/>
                        <a:latin typeface="+mn-lt"/>
                      </a:endParaRPr>
                    </a:p>
                  </a:txBody>
                  <a:tcPr marL="13891" marR="13891" marT="13891" marB="13891" anchor="ctr"/>
                </a:tc>
                <a:tc>
                  <a:txBody>
                    <a:bodyPr/>
                    <a:lstStyle/>
                    <a:p>
                      <a:pPr algn="l">
                        <a:buNone/>
                      </a:pPr>
                      <a:r>
                        <a:rPr lang="en-US" sz="800">
                          <a:effectLst/>
                        </a:rPr>
                        <a:t>~860</a:t>
                      </a:r>
                      <a:endParaRPr lang="en-US" sz="800">
                        <a:effectLst/>
                        <a:latin typeface="+mn-lt"/>
                      </a:endParaRPr>
                    </a:p>
                  </a:txBody>
                  <a:tcPr marL="13891" marR="13891" marT="13891" marB="13891" anchor="ctr"/>
                </a:tc>
                <a:tc>
                  <a:txBody>
                    <a:bodyPr/>
                    <a:lstStyle/>
                    <a:p>
                      <a:pPr algn="l">
                        <a:buNone/>
                      </a:pPr>
                      <a:r>
                        <a:rPr lang="en-US" sz="800" b="0">
                          <a:solidFill>
                            <a:srgbClr val="000000"/>
                          </a:solidFill>
                          <a:effectLst/>
                        </a:rPr>
                        <a:t>HIGH: Specialized role for underground boring</a:t>
                      </a:r>
                      <a:endParaRPr lang="en-US" sz="800" b="0">
                        <a:effectLst/>
                        <a:latin typeface="+mn-lt"/>
                      </a:endParaRPr>
                    </a:p>
                  </a:txBody>
                  <a:tcPr marL="13891" marR="13891" marT="13891" marB="13891" anchor="ctr"/>
                </a:tc>
                <a:extLst>
                  <a:ext uri="{0D108BD9-81ED-4DB2-BD59-A6C34878D82A}">
                    <a16:rowId xmlns:a16="http://schemas.microsoft.com/office/drawing/2014/main" val="2554465522"/>
                  </a:ext>
                </a:extLst>
              </a:tr>
            </a:tbl>
          </a:graphicData>
        </a:graphic>
      </p:graphicFrame>
      <p:pic>
        <p:nvPicPr>
          <p:cNvPr id="108" name="Graphic 107" descr="Construction worker male with solid fill">
            <a:extLst>
              <a:ext uri="{FF2B5EF4-FFF2-40B4-BE49-F238E27FC236}">
                <a16:creationId xmlns:a16="http://schemas.microsoft.com/office/drawing/2014/main" id="{E06BEDD8-7D96-DB40-C3B4-4A23E2780F7C}"/>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366932" y="1805782"/>
            <a:ext cx="457200" cy="457200"/>
          </a:xfrm>
          <a:prstGeom prst="rect">
            <a:avLst/>
          </a:prstGeom>
        </p:spPr>
      </p:pic>
      <p:pic>
        <p:nvPicPr>
          <p:cNvPr id="110" name="Graphic 109" descr="Construction worker male outline">
            <a:extLst>
              <a:ext uri="{FF2B5EF4-FFF2-40B4-BE49-F238E27FC236}">
                <a16:creationId xmlns:a16="http://schemas.microsoft.com/office/drawing/2014/main" id="{EDB2B6AE-B485-F632-380E-C6251FFA9365}"/>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10312397" y="1805782"/>
            <a:ext cx="457200" cy="457200"/>
          </a:xfrm>
          <a:prstGeom prst="rect">
            <a:avLst/>
          </a:prstGeom>
        </p:spPr>
      </p:pic>
      <p:pic>
        <p:nvPicPr>
          <p:cNvPr id="112" name="Graphic 111" descr="Construction worker female outline">
            <a:extLst>
              <a:ext uri="{FF2B5EF4-FFF2-40B4-BE49-F238E27FC236}">
                <a16:creationId xmlns:a16="http://schemas.microsoft.com/office/drawing/2014/main" id="{2B5E843C-03B2-25C4-0805-6E5382184017}"/>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8421467" y="1805782"/>
            <a:ext cx="457200" cy="457200"/>
          </a:xfrm>
          <a:prstGeom prst="rect">
            <a:avLst/>
          </a:prstGeom>
        </p:spPr>
      </p:pic>
      <p:pic>
        <p:nvPicPr>
          <p:cNvPr id="114" name="Graphic 113" descr="Construction worker female with solid fill">
            <a:extLst>
              <a:ext uri="{FF2B5EF4-FFF2-40B4-BE49-F238E27FC236}">
                <a16:creationId xmlns:a16="http://schemas.microsoft.com/office/drawing/2014/main" id="{BADDEB48-D121-D288-5C9F-D4DD66DB9F51}"/>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11257863" y="1805782"/>
            <a:ext cx="457200" cy="457200"/>
          </a:xfrm>
          <a:prstGeom prst="rect">
            <a:avLst/>
          </a:prstGeom>
        </p:spPr>
      </p:pic>
      <p:sp>
        <p:nvSpPr>
          <p:cNvPr id="3" name="TextBox 2">
            <a:extLst>
              <a:ext uri="{FF2B5EF4-FFF2-40B4-BE49-F238E27FC236}">
                <a16:creationId xmlns:a16="http://schemas.microsoft.com/office/drawing/2014/main" id="{DF04EC1E-35F5-9989-7504-5EF85054CE99}"/>
              </a:ext>
            </a:extLst>
          </p:cNvPr>
          <p:cNvSpPr txBox="1"/>
          <p:nvPr/>
        </p:nvSpPr>
        <p:spPr>
          <a:xfrm>
            <a:off x="506283" y="6281424"/>
            <a:ext cx="10647178" cy="157218"/>
          </a:xfrm>
          <a:prstGeom prst="rect">
            <a:avLst/>
          </a:prstGeom>
        </p:spPr>
        <p:txBody>
          <a:bodyPr vert="horz"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1" u="none" strike="noStrike" kern="1200" cap="none" spc="0" normalizeH="0" baseline="0" noProof="0">
              <a:ln>
                <a:noFill/>
              </a:ln>
              <a:solidFill>
                <a:srgbClr val="00338D"/>
              </a:solidFill>
              <a:effectLst/>
              <a:uLnTx/>
              <a:uFillTx/>
              <a:ea typeface="+mn-ea"/>
              <a:cs typeface="+mn-cs"/>
            </a:endParaRPr>
          </a:p>
          <a:p>
            <a:pPr lvl="0">
              <a:defRPr/>
            </a:pPr>
            <a:r>
              <a:rPr kumimoji="0" lang="en-US" sz="800" b="0" i="1" u="none" strike="noStrike" kern="1200" cap="none" spc="0" normalizeH="0" baseline="0" noProof="0">
                <a:ln>
                  <a:noFill/>
                </a:ln>
                <a:solidFill>
                  <a:schemeClr val="tx1">
                    <a:lumMod val="100000"/>
                  </a:schemeClr>
                </a:solidFill>
                <a:effectLst/>
                <a:uLnTx/>
                <a:uFillTx/>
                <a:ea typeface="+mn-ea"/>
                <a:cs typeface="+mn-cs"/>
              </a:rPr>
              <a:t>Sources: </a:t>
            </a:r>
            <a:r>
              <a:rPr lang="en-US" sz="800" i="1" err="1">
                <a:solidFill>
                  <a:srgbClr val="000000">
                    <a:lumMod val="100000"/>
                  </a:srgbClr>
                </a:solidFill>
              </a:rPr>
              <a:t>ONet</a:t>
            </a:r>
            <a:r>
              <a:rPr lang="en-US" sz="800" i="1">
                <a:solidFill>
                  <a:srgbClr val="000000">
                    <a:lumMod val="100000"/>
                  </a:srgbClr>
                </a:solidFill>
              </a:rPr>
              <a:t> Data</a:t>
            </a:r>
            <a:r>
              <a:rPr lang="en-US" altLang="en-US" sz="800" i="1">
                <a:solidFill>
                  <a:srgbClr val="000000">
                    <a:lumMod val="100000"/>
                  </a:srgbClr>
                </a:solidFill>
              </a:rPr>
              <a:t>; all accessed in Jan’26</a:t>
            </a:r>
            <a:endParaRPr lang="en-US" sz="800" i="1">
              <a:solidFill>
                <a:schemeClr val="tx1">
                  <a:lumMod val="100000"/>
                </a:schemeClr>
              </a:solidFill>
            </a:endParaRPr>
          </a:p>
        </p:txBody>
      </p:sp>
      <p:sp>
        <p:nvSpPr>
          <p:cNvPr id="2" name="TextBox 1">
            <a:extLst>
              <a:ext uri="{FF2B5EF4-FFF2-40B4-BE49-F238E27FC236}">
                <a16:creationId xmlns:a16="http://schemas.microsoft.com/office/drawing/2014/main" id="{898C180C-969D-0B28-D3C4-0C5FDE2F8DE2}"/>
              </a:ext>
            </a:extLst>
          </p:cNvPr>
          <p:cNvSpPr txBox="1"/>
          <p:nvPr/>
        </p:nvSpPr>
        <p:spPr>
          <a:xfrm rot="16200000">
            <a:off x="7239593" y="3586821"/>
            <a:ext cx="2448432" cy="228503"/>
          </a:xfrm>
          <a:prstGeom prst="rect">
            <a:avLst/>
          </a:prstGeom>
        </p:spPr>
        <p:txBody>
          <a:bodyPr vert="horz" wrap="square" lIns="0" tIns="0" rIns="0" bIns="0" rtlCol="0" anchor="t" anchorCtr="0">
            <a:noAutofit/>
          </a:bodyPr>
          <a:lstStyle/>
          <a:p>
            <a:pPr algn="ctr">
              <a:spcAft>
                <a:spcPts val="600"/>
              </a:spcAft>
            </a:pPr>
            <a:r>
              <a:rPr lang="en-US" sz="800" b="1">
                <a:solidFill>
                  <a:srgbClr val="5379A3"/>
                </a:solidFill>
              </a:rPr>
              <a:t>PHASE 2 </a:t>
            </a:r>
          </a:p>
        </p:txBody>
      </p:sp>
      <p:cxnSp>
        <p:nvCxnSpPr>
          <p:cNvPr id="6" name="Straight Connector 5">
            <a:extLst>
              <a:ext uri="{FF2B5EF4-FFF2-40B4-BE49-F238E27FC236}">
                <a16:creationId xmlns:a16="http://schemas.microsoft.com/office/drawing/2014/main" id="{EFEC2BE3-70D5-0C7F-895F-C5820501405D}"/>
              </a:ext>
            </a:extLst>
          </p:cNvPr>
          <p:cNvCxnSpPr>
            <a:cxnSpLocks/>
          </p:cNvCxnSpPr>
          <p:nvPr/>
        </p:nvCxnSpPr>
        <p:spPr>
          <a:xfrm>
            <a:off x="8421467" y="2848045"/>
            <a:ext cx="0" cy="499578"/>
          </a:xfrm>
          <a:prstGeom prst="line">
            <a:avLst/>
          </a:prstGeom>
          <a:ln w="12700">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0DA47EA-92B7-E261-F896-DD588B6CF85D}"/>
              </a:ext>
            </a:extLst>
          </p:cNvPr>
          <p:cNvCxnSpPr>
            <a:cxnSpLocks/>
          </p:cNvCxnSpPr>
          <p:nvPr/>
        </p:nvCxnSpPr>
        <p:spPr>
          <a:xfrm>
            <a:off x="8421467" y="4076975"/>
            <a:ext cx="0" cy="499578"/>
          </a:xfrm>
          <a:prstGeom prst="line">
            <a:avLst/>
          </a:prstGeom>
          <a:ln w="12700">
            <a:solidFill>
              <a:srgbClr val="00338D"/>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DAADA3CB-D677-3F5F-3E7F-1939FD10237C}"/>
              </a:ext>
            </a:extLst>
          </p:cNvPr>
          <p:cNvCxnSpPr>
            <a:cxnSpLocks/>
          </p:cNvCxnSpPr>
          <p:nvPr/>
        </p:nvCxnSpPr>
        <p:spPr>
          <a:xfrm>
            <a:off x="8942653" y="35991"/>
            <a:ext cx="1067012"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00A0DCAB-6BD2-EE49-D341-DC969E4DD530}"/>
              </a:ext>
            </a:extLst>
          </p:cNvPr>
          <p:cNvCxnSpPr>
            <a:cxnSpLocks/>
          </p:cNvCxnSpPr>
          <p:nvPr/>
        </p:nvCxnSpPr>
        <p:spPr>
          <a:xfrm>
            <a:off x="10039036" y="35991"/>
            <a:ext cx="1114425" cy="0"/>
          </a:xfrm>
          <a:prstGeom prst="line">
            <a:avLst/>
          </a:prstGeom>
          <a:ln w="76200" cap="flat" cmpd="sng" algn="ctr">
            <a:solidFill>
              <a:srgbClr val="6F8DB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28304CFC-520D-E42D-F53C-10B931B3D138}"/>
              </a:ext>
            </a:extLst>
          </p:cNvPr>
          <p:cNvCxnSpPr>
            <a:cxnSpLocks/>
          </p:cNvCxnSpPr>
          <p:nvPr/>
        </p:nvCxnSpPr>
        <p:spPr>
          <a:xfrm>
            <a:off x="7761193" y="35991"/>
            <a:ext cx="1134047" cy="0"/>
          </a:xfrm>
          <a:prstGeom prst="line">
            <a:avLst/>
          </a:prstGeom>
          <a:ln w="38100">
            <a:solidFill>
              <a:srgbClr val="3B5479"/>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0EFF7361-91A1-4385-6DD4-62749E45C236}"/>
              </a:ext>
            </a:extLst>
          </p:cNvPr>
          <p:cNvSpPr/>
          <p:nvPr/>
        </p:nvSpPr>
        <p:spPr>
          <a:xfrm>
            <a:off x="10009665" y="106111"/>
            <a:ext cx="1114425" cy="179659"/>
          </a:xfrm>
          <a:prstGeom prst="rect">
            <a:avLst/>
          </a:prstGeom>
          <a:solidFill>
            <a:schemeClr val="bg1">
              <a:lumMod val="100000"/>
            </a:schemeClr>
          </a:solidFill>
          <a:ln>
            <a:solidFill>
              <a:srgbClr val="6F8DB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rgbClr val="6F8DB9"/>
                </a:solidFill>
              </a:rPr>
              <a:t>Workforce Analysis</a:t>
            </a:r>
            <a:endParaRPr lang="en-US" sz="800">
              <a:solidFill>
                <a:srgbClr val="6F8DB9"/>
              </a:solidFill>
              <a:cs typeface="Arial"/>
            </a:endParaRPr>
          </a:p>
        </p:txBody>
      </p:sp>
      <p:cxnSp>
        <p:nvCxnSpPr>
          <p:cNvPr id="30" name="Straight Connector 29">
            <a:extLst>
              <a:ext uri="{FF2B5EF4-FFF2-40B4-BE49-F238E27FC236}">
                <a16:creationId xmlns:a16="http://schemas.microsoft.com/office/drawing/2014/main" id="{142A050D-59D5-DD0E-4CD3-8C99345BE71E}"/>
              </a:ext>
            </a:extLst>
          </p:cNvPr>
          <p:cNvCxnSpPr>
            <a:cxnSpLocks/>
          </p:cNvCxnSpPr>
          <p:nvPr/>
        </p:nvCxnSpPr>
        <p:spPr>
          <a:xfrm>
            <a:off x="11170493" y="21414"/>
            <a:ext cx="1021507" cy="4262"/>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3071356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A989DD-4D13-D463-C334-7D6032292855}"/>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B993B4D-E42A-ED97-1E50-B7B25AE8FED9}"/>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5" imgW="416" imgH="416" progId="TCLayout.ActiveDocument.1">
                  <p:embed/>
                </p:oleObj>
              </mc:Choice>
              <mc:Fallback>
                <p:oleObj name="think-cell Slide" r:id="rId15" imgW="416" imgH="416" progId="TCLayout.ActiveDocument.1">
                  <p:embed/>
                  <p:pic>
                    <p:nvPicPr>
                      <p:cNvPr id="5" name="think-cell data - do not delete" hidden="1">
                        <a:extLst>
                          <a:ext uri="{FF2B5EF4-FFF2-40B4-BE49-F238E27FC236}">
                            <a16:creationId xmlns:a16="http://schemas.microsoft.com/office/drawing/2014/main" id="{4B993B4D-E42A-ED97-1E50-B7B25AE8FED9}"/>
                          </a:ext>
                        </a:extLst>
                      </p:cNvPr>
                      <p:cNvPicPr/>
                      <p:nvPr/>
                    </p:nvPicPr>
                    <p:blipFill>
                      <a:blip r:embed="rId16"/>
                      <a:stretch>
                        <a:fillRect/>
                      </a:stretch>
                    </p:blipFill>
                    <p:spPr>
                      <a:xfrm>
                        <a:off x="1588" y="1588"/>
                        <a:ext cx="1588"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4AA3B4FA-3D5E-21A5-D9E8-BE53E5D53992}"/>
              </a:ext>
            </a:extLst>
          </p:cNvPr>
          <p:cNvSpPr>
            <a:spLocks noGrp="1"/>
          </p:cNvSpPr>
          <p:nvPr>
            <p:ph type="body" sz="quarter" idx="20"/>
          </p:nvPr>
        </p:nvSpPr>
        <p:spPr/>
        <p:txBody>
          <a:bodyPr/>
          <a:lstStyle/>
          <a:p>
            <a:r>
              <a:rPr lang="en-US"/>
              <a:t>Broadband Labor analytics</a:t>
            </a:r>
          </a:p>
        </p:txBody>
      </p:sp>
      <p:sp>
        <p:nvSpPr>
          <p:cNvPr id="7" name="Title 31">
            <a:extLst>
              <a:ext uri="{FF2B5EF4-FFF2-40B4-BE49-F238E27FC236}">
                <a16:creationId xmlns:a16="http://schemas.microsoft.com/office/drawing/2014/main" id="{ED4B9859-F41C-FA3C-34B8-53B660AE0E17}"/>
              </a:ext>
            </a:extLst>
          </p:cNvPr>
          <p:cNvSpPr>
            <a:spLocks noGrp="1"/>
          </p:cNvSpPr>
          <p:nvPr>
            <p:ph type="title"/>
          </p:nvPr>
        </p:nvSpPr>
        <p:spPr>
          <a:xfrm>
            <a:off x="501520" y="441590"/>
            <a:ext cx="11192256" cy="701410"/>
          </a:xfrm>
        </p:spPr>
        <p:txBody>
          <a:bodyPr vert="horz">
            <a:noAutofit/>
          </a:bodyPr>
          <a:lstStyle/>
          <a:p>
            <a:r>
              <a:rPr lang="en-US" sz="2800" dirty="0">
                <a:solidFill>
                  <a:srgbClr val="3A5479"/>
                </a:solidFill>
                <a:latin typeface="Calibri" panose="020F0502020204030204" pitchFamily="34" charset="0"/>
                <a:cs typeface="Calibri" panose="020F0502020204030204" pitchFamily="34" charset="0"/>
              </a:rPr>
              <a:t>Scaling the broadband workforce requires filling both high-volume operational roles and critical engineering gaps</a:t>
            </a:r>
          </a:p>
        </p:txBody>
      </p:sp>
      <p:sp>
        <p:nvSpPr>
          <p:cNvPr id="27" name="Rectangle 26">
            <a:extLst>
              <a:ext uri="{FF2B5EF4-FFF2-40B4-BE49-F238E27FC236}">
                <a16:creationId xmlns:a16="http://schemas.microsoft.com/office/drawing/2014/main" id="{2F767C4B-8AD8-900D-BA18-152E38695E9F}"/>
              </a:ext>
            </a:extLst>
          </p:cNvPr>
          <p:cNvSpPr/>
          <p:nvPr/>
        </p:nvSpPr>
        <p:spPr>
          <a:xfrm>
            <a:off x="510754" y="1442792"/>
            <a:ext cx="6691607" cy="256032"/>
          </a:xfrm>
          <a:prstGeom prst="rect">
            <a:avLst/>
          </a:prstGeom>
          <a:noFill/>
          <a:ln w="6350">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b" anchorCtr="0"/>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Michigan Current and Projected Employment </a:t>
            </a:r>
          </a:p>
        </p:txBody>
      </p:sp>
      <p:sp>
        <p:nvSpPr>
          <p:cNvPr id="29" name="Rectangle 28">
            <a:extLst>
              <a:ext uri="{FF2B5EF4-FFF2-40B4-BE49-F238E27FC236}">
                <a16:creationId xmlns:a16="http://schemas.microsoft.com/office/drawing/2014/main" id="{4262A08D-F446-75A1-AF87-A43A831F7173}"/>
              </a:ext>
            </a:extLst>
          </p:cNvPr>
          <p:cNvSpPr/>
          <p:nvPr/>
        </p:nvSpPr>
        <p:spPr>
          <a:xfrm>
            <a:off x="414568" y="3793191"/>
            <a:ext cx="6691607" cy="256032"/>
          </a:xfrm>
          <a:prstGeom prst="rect">
            <a:avLst/>
          </a:prstGeom>
          <a:noFill/>
          <a:ln w="6350">
            <a:solidFill>
              <a:srgbClr val="00338D"/>
            </a:solid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b" anchorCtr="0"/>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Michigan Projected Annual Openings (2022-2032)</a:t>
            </a:r>
          </a:p>
        </p:txBody>
      </p:sp>
      <p:graphicFrame>
        <p:nvGraphicFramePr>
          <p:cNvPr id="36" name="Chart 35">
            <a:extLst>
              <a:ext uri="{FF2B5EF4-FFF2-40B4-BE49-F238E27FC236}">
                <a16:creationId xmlns:a16="http://schemas.microsoft.com/office/drawing/2014/main" id="{A48E69DB-2AB9-21D3-25BF-E380FD00693A}"/>
              </a:ext>
            </a:extLst>
          </p:cNvPr>
          <p:cNvGraphicFramePr/>
          <p:nvPr/>
        </p:nvGraphicFramePr>
        <p:xfrm>
          <a:off x="414568" y="3931631"/>
          <a:ext cx="6691607" cy="1804481"/>
        </p:xfrm>
        <a:graphic>
          <a:graphicData uri="http://schemas.openxmlformats.org/drawingml/2006/chart">
            <c:chart xmlns:c="http://schemas.openxmlformats.org/drawingml/2006/chart" xmlns:r="http://schemas.openxmlformats.org/officeDocument/2006/relationships" r:id="rId17"/>
          </a:graphicData>
        </a:graphic>
      </p:graphicFrame>
      <p:sp>
        <p:nvSpPr>
          <p:cNvPr id="53" name="Rectangle 52">
            <a:extLst>
              <a:ext uri="{FF2B5EF4-FFF2-40B4-BE49-F238E27FC236}">
                <a16:creationId xmlns:a16="http://schemas.microsoft.com/office/drawing/2014/main" id="{93D7038D-07A6-06E6-9C08-DB7860700659}"/>
              </a:ext>
            </a:extLst>
          </p:cNvPr>
          <p:cNvSpPr/>
          <p:nvPr>
            <p:custDataLst>
              <p:tags r:id="rId2"/>
            </p:custDataLst>
          </p:nvPr>
        </p:nvSpPr>
        <p:spPr bwMode="auto">
          <a:xfrm>
            <a:off x="3482374" y="3638998"/>
            <a:ext cx="143148" cy="72785"/>
          </a:xfrm>
          <a:prstGeom prst="rect">
            <a:avLst/>
          </a:prstGeom>
          <a:solidFill>
            <a:srgbClr val="DFE5EF"/>
          </a:solidFill>
          <a:ln w="9525" cmpd="sng" algn="ctr">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Arial"/>
              <a:ea typeface="+mn-ea"/>
              <a:cs typeface="+mn-cs"/>
            </a:endParaRPr>
          </a:p>
        </p:txBody>
      </p:sp>
      <p:sp>
        <p:nvSpPr>
          <p:cNvPr id="55" name="Text Placeholder 2">
            <a:extLst>
              <a:ext uri="{FF2B5EF4-FFF2-40B4-BE49-F238E27FC236}">
                <a16:creationId xmlns:a16="http://schemas.microsoft.com/office/drawing/2014/main" id="{A6C9D801-4325-4076-FE5E-D4F92F8BEC67}"/>
              </a:ext>
            </a:extLst>
          </p:cNvPr>
          <p:cNvSpPr>
            <a:spLocks noGrp="1"/>
          </p:cNvSpPr>
          <p:nvPr>
            <p:custDataLst>
              <p:tags r:id="rId3"/>
            </p:custDataLst>
          </p:nvPr>
        </p:nvSpPr>
        <p:spPr bwMode="auto">
          <a:xfrm>
            <a:off x="3655801" y="3607248"/>
            <a:ext cx="627537" cy="15240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0" algn="l" defTabSz="914400" rtl="0" eaLnBrk="1" fontAlgn="auto"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a:ea typeface="+mn-ea"/>
                <a:cs typeface="+mn-cs"/>
              </a:rPr>
              <a:t>Projected Employment (2032)</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61" name="Rectangle 60">
            <a:extLst>
              <a:ext uri="{FF2B5EF4-FFF2-40B4-BE49-F238E27FC236}">
                <a16:creationId xmlns:a16="http://schemas.microsoft.com/office/drawing/2014/main" id="{5204D6EA-28F2-B5CA-C8D4-067F17A99914}"/>
              </a:ext>
            </a:extLst>
          </p:cNvPr>
          <p:cNvSpPr/>
          <p:nvPr>
            <p:custDataLst>
              <p:tags r:id="rId4"/>
            </p:custDataLst>
          </p:nvPr>
        </p:nvSpPr>
        <p:spPr bwMode="auto">
          <a:xfrm>
            <a:off x="1766837" y="3642680"/>
            <a:ext cx="143148" cy="72785"/>
          </a:xfrm>
          <a:prstGeom prst="rect">
            <a:avLst/>
          </a:prstGeom>
          <a:solidFill>
            <a:srgbClr val="6F8DB9"/>
          </a:solidFill>
          <a:ln w="9525" cmpd="sng" algn="ctr">
            <a:solidFill>
              <a:schemeClr val="tx1"/>
            </a:solidFill>
          </a:ln>
          <a:effectLst/>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0" u="none" strike="noStrike" kern="1200" cap="none" spc="0" normalizeH="0" baseline="0" noProof="0">
              <a:ln>
                <a:noFill/>
              </a:ln>
              <a:solidFill>
                <a:srgbClr val="FFFFFF"/>
              </a:solidFill>
              <a:effectLst/>
              <a:uLnTx/>
              <a:uFillTx/>
              <a:latin typeface="Arial"/>
              <a:ea typeface="+mn-ea"/>
              <a:cs typeface="+mn-cs"/>
            </a:endParaRPr>
          </a:p>
        </p:txBody>
      </p:sp>
      <p:sp>
        <p:nvSpPr>
          <p:cNvPr id="62" name="Text Placeholder 2">
            <a:extLst>
              <a:ext uri="{FF2B5EF4-FFF2-40B4-BE49-F238E27FC236}">
                <a16:creationId xmlns:a16="http://schemas.microsoft.com/office/drawing/2014/main" id="{15B87AF5-4A3B-AA6F-82B1-044964C4C026}"/>
              </a:ext>
            </a:extLst>
          </p:cNvPr>
          <p:cNvSpPr>
            <a:spLocks noGrp="1"/>
          </p:cNvSpPr>
          <p:nvPr>
            <p:custDataLst>
              <p:tags r:id="rId5"/>
            </p:custDataLst>
          </p:nvPr>
        </p:nvSpPr>
        <p:spPr bwMode="auto">
          <a:xfrm>
            <a:off x="1940264" y="3603255"/>
            <a:ext cx="1385610" cy="158680"/>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marL="0" marR="0" lvl="1" indent="0" algn="l" defTabSz="914400" rtl="0" eaLnBrk="1" fontAlgn="auto" latinLnBrk="0" hangingPunct="1">
              <a:lnSpc>
                <a:spcPct val="100000"/>
              </a:lnSpc>
              <a:spcBef>
                <a:spcPct val="0"/>
              </a:spcBef>
              <a:spcAft>
                <a:spcPct val="0"/>
              </a:spcAft>
              <a:buClrTx/>
              <a:buSzTx/>
              <a:buFontTx/>
              <a:buNone/>
              <a:tabLst/>
              <a:defRPr/>
            </a:pPr>
            <a:r>
              <a:rPr kumimoji="0" lang="en-US" altLang="en-US" sz="800" b="0" i="0" u="none" strike="noStrike" kern="1200" cap="none" spc="0" normalizeH="0" baseline="0" noProof="0">
                <a:ln>
                  <a:noFill/>
                </a:ln>
                <a:solidFill>
                  <a:srgbClr val="000000"/>
                </a:solidFill>
                <a:effectLst/>
                <a:uLnTx/>
                <a:uFillTx/>
                <a:latin typeface="Arial"/>
                <a:ea typeface="+mn-ea"/>
                <a:cs typeface="+mn-cs"/>
              </a:rPr>
              <a:t>Current Employment</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grpSp>
        <p:nvGrpSpPr>
          <p:cNvPr id="11" name="Subtitle [Placeholder]">
            <a:extLst>
              <a:ext uri="{FF2B5EF4-FFF2-40B4-BE49-F238E27FC236}">
                <a16:creationId xmlns:a16="http://schemas.microsoft.com/office/drawing/2014/main" id="{C1BDAB49-4B9A-815D-CF4A-FBFB72F72652}"/>
              </a:ext>
            </a:extLst>
          </p:cNvPr>
          <p:cNvGrpSpPr>
            <a:grpSpLocks/>
          </p:cNvGrpSpPr>
          <p:nvPr/>
        </p:nvGrpSpPr>
        <p:grpSpPr bwMode="auto">
          <a:xfrm>
            <a:off x="8097292" y="1298820"/>
            <a:ext cx="3883487" cy="625475"/>
            <a:chOff x="816" y="1216"/>
            <a:chExt cx="5044" cy="394"/>
          </a:xfrm>
        </p:grpSpPr>
        <p:sp>
          <p:nvSpPr>
            <p:cNvPr id="12" name="Line 56">
              <a:extLst>
                <a:ext uri="{FF2B5EF4-FFF2-40B4-BE49-F238E27FC236}">
                  <a16:creationId xmlns:a16="http://schemas.microsoft.com/office/drawing/2014/main" id="{1005D82C-44B3-EC56-EF4C-F2484C4FE4F4}"/>
                </a:ext>
              </a:extLst>
            </p:cNvPr>
            <p:cNvSpPr>
              <a:spLocks noChangeShapeType="1"/>
            </p:cNvSpPr>
            <p:nvPr>
              <p:custDataLst>
                <p:tags r:id="rId11"/>
              </p:custDataLst>
            </p:nvPr>
          </p:nvSpPr>
          <p:spPr bwMode="gray">
            <a:xfrm>
              <a:off x="816" y="1610"/>
              <a:ext cx="4812" cy="0"/>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338D"/>
                </a:solidFill>
                <a:effectLst/>
                <a:uLnTx/>
                <a:uFillTx/>
                <a:latin typeface="Arial" panose="020B0604020202020204" pitchFamily="34" charset="0"/>
                <a:ea typeface="+mn-ea"/>
                <a:cs typeface="Arial" panose="020B0604020202020204" pitchFamily="34" charset="0"/>
              </a:endParaRPr>
            </a:p>
          </p:txBody>
        </p:sp>
        <p:sp>
          <p:nvSpPr>
            <p:cNvPr id="13" name="Text Box 57">
              <a:extLst>
                <a:ext uri="{FF2B5EF4-FFF2-40B4-BE49-F238E27FC236}">
                  <a16:creationId xmlns:a16="http://schemas.microsoft.com/office/drawing/2014/main" id="{545AC5E7-F060-2C48-BA13-2B50BF516AF7}"/>
                </a:ext>
              </a:extLst>
            </p:cNvPr>
            <p:cNvSpPr txBox="1">
              <a:spLocks noChangeArrowheads="1"/>
            </p:cNvSpPr>
            <p:nvPr>
              <p:custDataLst>
                <p:tags r:id="rId12"/>
              </p:custDataLst>
            </p:nvPr>
          </p:nvSpPr>
          <p:spPr bwMode="gray">
            <a:xfrm>
              <a:off x="904" y="1216"/>
              <a:ext cx="4956" cy="3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Significant concentration of the workforce in the Detroit metropolitan area</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en-US" sz="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Robust labor pool in Southeast Michigan but indicates potential challenges in sourcing skilled labor in other parts of the state.</a:t>
              </a:r>
              <a:endParaRPr kumimoji="0" lang="en-CA" altLang="en-US" sz="800" b="0" i="1"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p:txBody>
        </p:sp>
      </p:grpSp>
      <p:sp>
        <p:nvSpPr>
          <p:cNvPr id="15" name="TextBox 14">
            <a:extLst>
              <a:ext uri="{FF2B5EF4-FFF2-40B4-BE49-F238E27FC236}">
                <a16:creationId xmlns:a16="http://schemas.microsoft.com/office/drawing/2014/main" id="{B42AC2F7-EC78-15FA-BE26-111A25D78585}"/>
              </a:ext>
            </a:extLst>
          </p:cNvPr>
          <p:cNvSpPr txBox="1"/>
          <p:nvPr/>
        </p:nvSpPr>
        <p:spPr>
          <a:xfrm>
            <a:off x="8079486" y="4444290"/>
            <a:ext cx="3803314" cy="1701157"/>
          </a:xfrm>
          <a:prstGeom prst="rect">
            <a:avLst/>
          </a:prstGeom>
          <a:ln>
            <a:solidFill>
              <a:srgbClr val="00338D"/>
            </a:solidFill>
            <a:prstDash val="dash"/>
          </a:ln>
        </p:spPr>
        <p:txBody>
          <a:bodyPr vert="horz" wrap="square" lIns="91440" tIns="91440" rIns="91440" bIns="91440" rtlCol="0" anchor="t" anchorCtr="0">
            <a:noAutofit/>
          </a:bodyPr>
          <a:lstStyle/>
          <a:p>
            <a:pPr>
              <a:spcAft>
                <a:spcPts val="600"/>
              </a:spcAft>
              <a:defRPr/>
            </a:pPr>
            <a:r>
              <a:rPr lang="en-US" sz="1000" b="1">
                <a:solidFill>
                  <a:schemeClr val="tx1">
                    <a:lumMod val="100000"/>
                  </a:schemeClr>
                </a:solidFill>
              </a:rPr>
              <a:t>Key Takeaway:</a:t>
            </a:r>
            <a:endPar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endParaRP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Key Skills &amp; Demand</a:t>
            </a: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The largest number of projected openings are in Construction and Build, followed by a secondary, high-demand for Network Engineering and design roles.</a:t>
            </a:r>
          </a:p>
          <a:p>
            <a:pPr marL="171450" marR="0" lvl="0" indent="-1714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a:pPr>
            <a:r>
              <a:rPr kumimoji="0" lang="en-US" sz="1000" b="1"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Talent Concentration</a:t>
            </a: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The workforce is concentrated in a few high-volume technical roles, creating a risk of shortages in more specialized skills like </a:t>
            </a:r>
            <a:r>
              <a:rPr lang="en-US" sz="1000">
                <a:solidFill>
                  <a:srgbClr val="000000"/>
                </a:solidFill>
                <a:latin typeface="Arial" panose="020B0604020202020204" pitchFamily="34" charset="0"/>
                <a:cs typeface="Arial" panose="020B0604020202020204" pitchFamily="34" charset="0"/>
              </a:rPr>
              <a:t>Structural Engineers</a:t>
            </a:r>
            <a:r>
              <a:rPr kumimoji="0" lang="en-US" sz="1000" b="0" i="0" u="none" strike="noStrike" kern="1200" cap="none" spc="0" normalizeH="0" baseline="0" noProof="0">
                <a:ln>
                  <a:noFill/>
                </a:ln>
                <a:solidFill>
                  <a:srgbClr val="000000"/>
                </a:solidFill>
                <a:effectLst/>
                <a:uLnTx/>
                <a:uFillTx/>
                <a:latin typeface="Arial" panose="020B0604020202020204" pitchFamily="34" charset="0"/>
                <a:ea typeface="+mn-ea"/>
                <a:cs typeface="Arial" panose="020B0604020202020204" pitchFamily="34" charset="0"/>
              </a:rPr>
              <a:t> that are critical for new projects.</a:t>
            </a:r>
          </a:p>
        </p:txBody>
      </p:sp>
      <p:graphicFrame>
        <p:nvGraphicFramePr>
          <p:cNvPr id="30" name="Chart 29">
            <a:extLst>
              <a:ext uri="{FF2B5EF4-FFF2-40B4-BE49-F238E27FC236}">
                <a16:creationId xmlns:a16="http://schemas.microsoft.com/office/drawing/2014/main" id="{8BC2EA07-B554-DF34-C993-FE265196FEF8}"/>
              </a:ext>
            </a:extLst>
          </p:cNvPr>
          <p:cNvGraphicFramePr/>
          <p:nvPr/>
        </p:nvGraphicFramePr>
        <p:xfrm>
          <a:off x="481813" y="1601205"/>
          <a:ext cx="7787247" cy="1589932"/>
        </p:xfrm>
        <a:graphic>
          <a:graphicData uri="http://schemas.openxmlformats.org/drawingml/2006/chart">
            <c:chart xmlns:c="http://schemas.openxmlformats.org/drawingml/2006/chart" xmlns:r="http://schemas.openxmlformats.org/officeDocument/2006/relationships" r:id="rId18"/>
          </a:graphicData>
        </a:graphic>
      </p:graphicFrame>
      <p:sp>
        <p:nvSpPr>
          <p:cNvPr id="37" name="TextBox 36">
            <a:extLst>
              <a:ext uri="{FF2B5EF4-FFF2-40B4-BE49-F238E27FC236}">
                <a16:creationId xmlns:a16="http://schemas.microsoft.com/office/drawing/2014/main" id="{7C77593A-20C9-8693-DB09-55D626F02DBC}"/>
              </a:ext>
            </a:extLst>
          </p:cNvPr>
          <p:cNvSpPr txBox="1"/>
          <p:nvPr/>
        </p:nvSpPr>
        <p:spPr>
          <a:xfrm>
            <a:off x="3937447" y="3142306"/>
            <a:ext cx="809838"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000000"/>
                </a:solidFill>
                <a:latin typeface="Arial"/>
              </a:rPr>
              <a:t>Master and Stage Electricians</a:t>
            </a:r>
            <a:endParaRPr kumimoji="0" lang="en-US" sz="800" b="0" i="0" u="none" strike="noStrike" kern="1200" cap="none" spc="0" normalizeH="0" baseline="0" noProof="0">
              <a:ln>
                <a:noFill/>
              </a:ln>
              <a:solidFill>
                <a:srgbClr val="000000"/>
              </a:solidFill>
              <a:effectLst/>
              <a:uLnTx/>
              <a:uFillTx/>
              <a:latin typeface="Arial"/>
            </a:endParaRPr>
          </a:p>
        </p:txBody>
      </p:sp>
      <p:sp>
        <p:nvSpPr>
          <p:cNvPr id="56" name="TextBox 55">
            <a:extLst>
              <a:ext uri="{FF2B5EF4-FFF2-40B4-BE49-F238E27FC236}">
                <a16:creationId xmlns:a16="http://schemas.microsoft.com/office/drawing/2014/main" id="{F68C82A7-C640-D782-B840-FFEC1CBE60A8}"/>
              </a:ext>
            </a:extLst>
          </p:cNvPr>
          <p:cNvSpPr txBox="1"/>
          <p:nvPr/>
        </p:nvSpPr>
        <p:spPr>
          <a:xfrm>
            <a:off x="2589340" y="3104386"/>
            <a:ext cx="79328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Software Engineers</a:t>
            </a:r>
          </a:p>
        </p:txBody>
      </p:sp>
      <p:sp>
        <p:nvSpPr>
          <p:cNvPr id="57" name="TextBox 56">
            <a:extLst>
              <a:ext uri="{FF2B5EF4-FFF2-40B4-BE49-F238E27FC236}">
                <a16:creationId xmlns:a16="http://schemas.microsoft.com/office/drawing/2014/main" id="{A2CDA73A-4809-E8C9-0E91-E99D4B443B29}"/>
              </a:ext>
            </a:extLst>
          </p:cNvPr>
          <p:cNvSpPr txBox="1"/>
          <p:nvPr/>
        </p:nvSpPr>
        <p:spPr>
          <a:xfrm>
            <a:off x="1901473" y="3119139"/>
            <a:ext cx="67131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Structural Engineers</a:t>
            </a:r>
          </a:p>
        </p:txBody>
      </p:sp>
      <p:sp>
        <p:nvSpPr>
          <p:cNvPr id="58" name="TextBox 57">
            <a:extLst>
              <a:ext uri="{FF2B5EF4-FFF2-40B4-BE49-F238E27FC236}">
                <a16:creationId xmlns:a16="http://schemas.microsoft.com/office/drawing/2014/main" id="{951918E1-8BCD-D031-DBD1-BB439C945B2C}"/>
              </a:ext>
            </a:extLst>
          </p:cNvPr>
          <p:cNvSpPr txBox="1"/>
          <p:nvPr/>
        </p:nvSpPr>
        <p:spPr>
          <a:xfrm>
            <a:off x="561980" y="3126698"/>
            <a:ext cx="687534"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Laborers &amp; Material Movers</a:t>
            </a:r>
          </a:p>
        </p:txBody>
      </p:sp>
      <p:sp>
        <p:nvSpPr>
          <p:cNvPr id="59" name="TextBox 58">
            <a:extLst>
              <a:ext uri="{FF2B5EF4-FFF2-40B4-BE49-F238E27FC236}">
                <a16:creationId xmlns:a16="http://schemas.microsoft.com/office/drawing/2014/main" id="{4C774819-4973-4F57-7EE2-6425C1C98F33}"/>
              </a:ext>
            </a:extLst>
          </p:cNvPr>
          <p:cNvSpPr txBox="1"/>
          <p:nvPr/>
        </p:nvSpPr>
        <p:spPr>
          <a:xfrm>
            <a:off x="4546381" y="3118940"/>
            <a:ext cx="77161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Equipment Operators</a:t>
            </a:r>
          </a:p>
        </p:txBody>
      </p:sp>
      <p:sp>
        <p:nvSpPr>
          <p:cNvPr id="60" name="TextBox 59">
            <a:extLst>
              <a:ext uri="{FF2B5EF4-FFF2-40B4-BE49-F238E27FC236}">
                <a16:creationId xmlns:a16="http://schemas.microsoft.com/office/drawing/2014/main" id="{911A64C8-B7BE-AF91-91AD-5FA3E4473552}"/>
              </a:ext>
            </a:extLst>
          </p:cNvPr>
          <p:cNvSpPr txBox="1"/>
          <p:nvPr/>
        </p:nvSpPr>
        <p:spPr>
          <a:xfrm>
            <a:off x="5195804" y="3137957"/>
            <a:ext cx="755670"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Inspectors</a:t>
            </a:r>
          </a:p>
        </p:txBody>
      </p:sp>
      <p:sp>
        <p:nvSpPr>
          <p:cNvPr id="68" name="TextBox 67">
            <a:extLst>
              <a:ext uri="{FF2B5EF4-FFF2-40B4-BE49-F238E27FC236}">
                <a16:creationId xmlns:a16="http://schemas.microsoft.com/office/drawing/2014/main" id="{62E0BAE8-7EF0-EED6-0FB4-C97D257AF4D9}"/>
              </a:ext>
            </a:extLst>
          </p:cNvPr>
          <p:cNvSpPr txBox="1"/>
          <p:nvPr/>
        </p:nvSpPr>
        <p:spPr>
          <a:xfrm>
            <a:off x="5910200" y="3094387"/>
            <a:ext cx="63193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Network Architects</a:t>
            </a:r>
          </a:p>
        </p:txBody>
      </p:sp>
      <p:sp>
        <p:nvSpPr>
          <p:cNvPr id="69" name="TextBox 68">
            <a:extLst>
              <a:ext uri="{FF2B5EF4-FFF2-40B4-BE49-F238E27FC236}">
                <a16:creationId xmlns:a16="http://schemas.microsoft.com/office/drawing/2014/main" id="{38E84F3D-5F12-C66B-A84C-7A96894B4C9D}"/>
              </a:ext>
            </a:extLst>
          </p:cNvPr>
          <p:cNvSpPr txBox="1"/>
          <p:nvPr/>
        </p:nvSpPr>
        <p:spPr>
          <a:xfrm>
            <a:off x="3255772" y="3121522"/>
            <a:ext cx="657864"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Trenchers</a:t>
            </a:r>
          </a:p>
        </p:txBody>
      </p:sp>
      <p:sp>
        <p:nvSpPr>
          <p:cNvPr id="70" name="TextBox 69">
            <a:extLst>
              <a:ext uri="{FF2B5EF4-FFF2-40B4-BE49-F238E27FC236}">
                <a16:creationId xmlns:a16="http://schemas.microsoft.com/office/drawing/2014/main" id="{CFAAF95D-901B-7C73-2FD6-739A7713367D}"/>
              </a:ext>
            </a:extLst>
          </p:cNvPr>
          <p:cNvSpPr txBox="1"/>
          <p:nvPr/>
        </p:nvSpPr>
        <p:spPr>
          <a:xfrm>
            <a:off x="1284564" y="3158146"/>
            <a:ext cx="631889"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Trucking Crew</a:t>
            </a:r>
          </a:p>
        </p:txBody>
      </p:sp>
      <p:sp>
        <p:nvSpPr>
          <p:cNvPr id="2" name="TextBox 1">
            <a:extLst>
              <a:ext uri="{FF2B5EF4-FFF2-40B4-BE49-F238E27FC236}">
                <a16:creationId xmlns:a16="http://schemas.microsoft.com/office/drawing/2014/main" id="{899FDDD5-13CB-A517-2BD1-0AC103BBAE75}"/>
              </a:ext>
            </a:extLst>
          </p:cNvPr>
          <p:cNvSpPr txBox="1"/>
          <p:nvPr/>
        </p:nvSpPr>
        <p:spPr>
          <a:xfrm>
            <a:off x="506283" y="6281424"/>
            <a:ext cx="10647178" cy="157218"/>
          </a:xfrm>
          <a:prstGeom prst="rect">
            <a:avLst/>
          </a:prstGeom>
        </p:spPr>
        <p:txBody>
          <a:bodyPr vert="horz" wrap="square" lIns="0" tIns="0" rIns="0" bIns="0" rtlCol="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800" b="0" i="1" u="none" strike="noStrike" kern="1200" cap="none" spc="0" normalizeH="0" baseline="0" noProof="0">
              <a:ln>
                <a:noFill/>
              </a:ln>
              <a:solidFill>
                <a:srgbClr val="00338D"/>
              </a:solidFill>
              <a:effectLst/>
              <a:uLnTx/>
              <a:uFillTx/>
              <a:latin typeface="Arial"/>
              <a:ea typeface="+mn-ea"/>
              <a:cs typeface="+mn-cs"/>
            </a:endParaRPr>
          </a:p>
          <a:p>
            <a:pPr lvl="0">
              <a:defRPr/>
            </a:pPr>
            <a:r>
              <a:rPr kumimoji="0" lang="en-US" sz="800" b="0" i="1" u="none" strike="noStrike" kern="1200" cap="none" spc="0" normalizeH="0" baseline="0" noProof="0">
                <a:ln>
                  <a:noFill/>
                </a:ln>
                <a:solidFill>
                  <a:schemeClr val="tx1">
                    <a:lumMod val="100000"/>
                  </a:schemeClr>
                </a:solidFill>
                <a:effectLst/>
                <a:uLnTx/>
                <a:uFillTx/>
                <a:latin typeface="Arial"/>
                <a:ea typeface="+mn-ea"/>
                <a:cs typeface="+mn-cs"/>
              </a:rPr>
              <a:t>Data Sources: </a:t>
            </a:r>
            <a:r>
              <a:rPr lang="en-US" sz="800" i="1" err="1">
                <a:solidFill>
                  <a:srgbClr val="000000">
                    <a:lumMod val="100000"/>
                  </a:srgbClr>
                </a:solidFill>
                <a:latin typeface="Arial"/>
              </a:rPr>
              <a:t>ONet</a:t>
            </a:r>
            <a:r>
              <a:rPr lang="en-US" sz="800" i="1">
                <a:solidFill>
                  <a:srgbClr val="000000">
                    <a:lumMod val="100000"/>
                  </a:srgbClr>
                </a:solidFill>
                <a:latin typeface="Arial"/>
              </a:rPr>
              <a:t> Data</a:t>
            </a:r>
            <a:r>
              <a:rPr lang="en-US" altLang="en-US" sz="800" i="1">
                <a:solidFill>
                  <a:srgbClr val="000000">
                    <a:lumMod val="100000"/>
                  </a:srgbClr>
                </a:solidFill>
              </a:rPr>
              <a:t>; all accessed in Jan’26</a:t>
            </a:r>
            <a:endParaRPr lang="en-US" sz="800" i="1">
              <a:solidFill>
                <a:schemeClr val="tx1">
                  <a:lumMod val="100000"/>
                </a:schemeClr>
              </a:solidFill>
              <a:latin typeface="Arial"/>
            </a:endParaRPr>
          </a:p>
        </p:txBody>
      </p:sp>
      <p:sp>
        <p:nvSpPr>
          <p:cNvPr id="3" name="TextBox 2">
            <a:extLst>
              <a:ext uri="{FF2B5EF4-FFF2-40B4-BE49-F238E27FC236}">
                <a16:creationId xmlns:a16="http://schemas.microsoft.com/office/drawing/2014/main" id="{C7BA3AAD-EE07-0FFC-2ECA-F0522087CD59}"/>
              </a:ext>
            </a:extLst>
          </p:cNvPr>
          <p:cNvSpPr txBox="1"/>
          <p:nvPr/>
        </p:nvSpPr>
        <p:spPr>
          <a:xfrm flipH="1">
            <a:off x="6624806" y="3126698"/>
            <a:ext cx="842855"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Fiber and Wireless Technicians</a:t>
            </a:r>
          </a:p>
        </p:txBody>
      </p:sp>
      <p:sp>
        <p:nvSpPr>
          <p:cNvPr id="4" name="TextBox 3">
            <a:extLst>
              <a:ext uri="{FF2B5EF4-FFF2-40B4-BE49-F238E27FC236}">
                <a16:creationId xmlns:a16="http://schemas.microsoft.com/office/drawing/2014/main" id="{88874C73-00CE-70E0-0D76-4B7D1A3B03FF}"/>
              </a:ext>
            </a:extLst>
          </p:cNvPr>
          <p:cNvSpPr txBox="1"/>
          <p:nvPr/>
        </p:nvSpPr>
        <p:spPr>
          <a:xfrm>
            <a:off x="3772004" y="5593790"/>
            <a:ext cx="77176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a:solidFill>
                  <a:srgbClr val="000000"/>
                </a:solidFill>
                <a:latin typeface="Arial"/>
              </a:rPr>
              <a:t>Master and Stage Electricians</a:t>
            </a:r>
            <a:endParaRPr kumimoji="0" lang="en-US" sz="800" b="0" i="0" u="none" strike="noStrike" kern="1200" cap="none" spc="0" normalizeH="0" baseline="0" noProof="0">
              <a:ln>
                <a:noFill/>
              </a:ln>
              <a:solidFill>
                <a:srgbClr val="000000"/>
              </a:solidFill>
              <a:effectLst/>
              <a:uLnTx/>
              <a:uFillTx/>
              <a:latin typeface="Arial"/>
              <a:ea typeface="+mn-ea"/>
              <a:cs typeface="+mn-cs"/>
            </a:endParaRPr>
          </a:p>
        </p:txBody>
      </p:sp>
      <p:sp>
        <p:nvSpPr>
          <p:cNvPr id="6" name="TextBox 5">
            <a:extLst>
              <a:ext uri="{FF2B5EF4-FFF2-40B4-BE49-F238E27FC236}">
                <a16:creationId xmlns:a16="http://schemas.microsoft.com/office/drawing/2014/main" id="{A4ECAA05-E085-FF9D-C94B-C539D3E6DCD5}"/>
              </a:ext>
            </a:extLst>
          </p:cNvPr>
          <p:cNvSpPr txBox="1"/>
          <p:nvPr/>
        </p:nvSpPr>
        <p:spPr>
          <a:xfrm>
            <a:off x="3145842" y="5617882"/>
            <a:ext cx="75822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Software Engineers</a:t>
            </a:r>
          </a:p>
        </p:txBody>
      </p:sp>
      <p:sp>
        <p:nvSpPr>
          <p:cNvPr id="8" name="TextBox 7">
            <a:extLst>
              <a:ext uri="{FF2B5EF4-FFF2-40B4-BE49-F238E27FC236}">
                <a16:creationId xmlns:a16="http://schemas.microsoft.com/office/drawing/2014/main" id="{C07F0D61-EAF9-C968-B00E-EC5CBAE13C75}"/>
              </a:ext>
            </a:extLst>
          </p:cNvPr>
          <p:cNvSpPr txBox="1"/>
          <p:nvPr/>
        </p:nvSpPr>
        <p:spPr>
          <a:xfrm>
            <a:off x="1863182" y="5617883"/>
            <a:ext cx="671312"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Structural Engineers</a:t>
            </a:r>
          </a:p>
        </p:txBody>
      </p:sp>
      <p:sp>
        <p:nvSpPr>
          <p:cNvPr id="10" name="TextBox 9">
            <a:extLst>
              <a:ext uri="{FF2B5EF4-FFF2-40B4-BE49-F238E27FC236}">
                <a16:creationId xmlns:a16="http://schemas.microsoft.com/office/drawing/2014/main" id="{C0540F7B-120F-D76C-5AF7-DA7BD4E1E1E8}"/>
              </a:ext>
            </a:extLst>
          </p:cNvPr>
          <p:cNvSpPr txBox="1"/>
          <p:nvPr/>
        </p:nvSpPr>
        <p:spPr>
          <a:xfrm>
            <a:off x="483323" y="5578182"/>
            <a:ext cx="76619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Laborers &amp; Material Movers</a:t>
            </a:r>
          </a:p>
        </p:txBody>
      </p:sp>
      <p:sp>
        <p:nvSpPr>
          <p:cNvPr id="17" name="TextBox 16">
            <a:extLst>
              <a:ext uri="{FF2B5EF4-FFF2-40B4-BE49-F238E27FC236}">
                <a16:creationId xmlns:a16="http://schemas.microsoft.com/office/drawing/2014/main" id="{86B119AF-D19E-E1F8-EBF9-AFA14ADE3A39}"/>
              </a:ext>
            </a:extLst>
          </p:cNvPr>
          <p:cNvSpPr txBox="1"/>
          <p:nvPr/>
        </p:nvSpPr>
        <p:spPr>
          <a:xfrm>
            <a:off x="4434132" y="5636170"/>
            <a:ext cx="77161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Equipment Operators</a:t>
            </a:r>
          </a:p>
        </p:txBody>
      </p:sp>
      <p:sp>
        <p:nvSpPr>
          <p:cNvPr id="18" name="TextBox 17">
            <a:extLst>
              <a:ext uri="{FF2B5EF4-FFF2-40B4-BE49-F238E27FC236}">
                <a16:creationId xmlns:a16="http://schemas.microsoft.com/office/drawing/2014/main" id="{3C85F238-8DD8-524B-FADB-AFB8D671D3A1}"/>
              </a:ext>
            </a:extLst>
          </p:cNvPr>
          <p:cNvSpPr txBox="1"/>
          <p:nvPr/>
        </p:nvSpPr>
        <p:spPr>
          <a:xfrm>
            <a:off x="5138417" y="5642021"/>
            <a:ext cx="729457"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Inspectors</a:t>
            </a:r>
          </a:p>
        </p:txBody>
      </p:sp>
      <p:sp>
        <p:nvSpPr>
          <p:cNvPr id="20" name="TextBox 19">
            <a:extLst>
              <a:ext uri="{FF2B5EF4-FFF2-40B4-BE49-F238E27FC236}">
                <a16:creationId xmlns:a16="http://schemas.microsoft.com/office/drawing/2014/main" id="{60793422-119C-C45E-B491-0C08747B36B2}"/>
              </a:ext>
            </a:extLst>
          </p:cNvPr>
          <p:cNvSpPr txBox="1"/>
          <p:nvPr/>
        </p:nvSpPr>
        <p:spPr>
          <a:xfrm>
            <a:off x="6435880" y="5600604"/>
            <a:ext cx="63193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Network Architects</a:t>
            </a:r>
          </a:p>
        </p:txBody>
      </p:sp>
      <p:sp>
        <p:nvSpPr>
          <p:cNvPr id="21" name="TextBox 20">
            <a:extLst>
              <a:ext uri="{FF2B5EF4-FFF2-40B4-BE49-F238E27FC236}">
                <a16:creationId xmlns:a16="http://schemas.microsoft.com/office/drawing/2014/main" id="{9D38B2FD-BBBB-0625-ABDA-40DDC6647791}"/>
              </a:ext>
            </a:extLst>
          </p:cNvPr>
          <p:cNvSpPr txBox="1"/>
          <p:nvPr/>
        </p:nvSpPr>
        <p:spPr>
          <a:xfrm>
            <a:off x="2540818" y="5636170"/>
            <a:ext cx="684979" cy="21544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Trenchers</a:t>
            </a:r>
          </a:p>
        </p:txBody>
      </p:sp>
      <p:sp>
        <p:nvSpPr>
          <p:cNvPr id="22" name="TextBox 21">
            <a:extLst>
              <a:ext uri="{FF2B5EF4-FFF2-40B4-BE49-F238E27FC236}">
                <a16:creationId xmlns:a16="http://schemas.microsoft.com/office/drawing/2014/main" id="{F658565B-73EC-CEBF-0CB4-912CFFE08DA5}"/>
              </a:ext>
            </a:extLst>
          </p:cNvPr>
          <p:cNvSpPr txBox="1"/>
          <p:nvPr/>
        </p:nvSpPr>
        <p:spPr>
          <a:xfrm>
            <a:off x="1220706" y="5620115"/>
            <a:ext cx="71955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Trucking Crew</a:t>
            </a:r>
          </a:p>
        </p:txBody>
      </p:sp>
      <p:sp>
        <p:nvSpPr>
          <p:cNvPr id="23" name="TextBox 22">
            <a:extLst>
              <a:ext uri="{FF2B5EF4-FFF2-40B4-BE49-F238E27FC236}">
                <a16:creationId xmlns:a16="http://schemas.microsoft.com/office/drawing/2014/main" id="{7C50992B-D132-C1A1-CBFA-EEE6D45114E9}"/>
              </a:ext>
            </a:extLst>
          </p:cNvPr>
          <p:cNvSpPr txBox="1"/>
          <p:nvPr/>
        </p:nvSpPr>
        <p:spPr>
          <a:xfrm flipH="1">
            <a:off x="5735808" y="5624773"/>
            <a:ext cx="806326"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srgbClr val="000000"/>
                </a:solidFill>
                <a:effectLst/>
                <a:uLnTx/>
                <a:uFillTx/>
                <a:latin typeface="Arial"/>
                <a:ea typeface="+mn-ea"/>
                <a:cs typeface="+mn-cs"/>
              </a:rPr>
              <a:t>Fiber and Wireless Technicians</a:t>
            </a:r>
          </a:p>
        </p:txBody>
      </p:sp>
      <p:sp>
        <p:nvSpPr>
          <p:cNvPr id="24" name="Rectangle 23">
            <a:extLst>
              <a:ext uri="{FF2B5EF4-FFF2-40B4-BE49-F238E27FC236}">
                <a16:creationId xmlns:a16="http://schemas.microsoft.com/office/drawing/2014/main" id="{10295B51-F55F-2752-D91F-9B9DA72EFD6F}"/>
              </a:ext>
            </a:extLst>
          </p:cNvPr>
          <p:cNvSpPr/>
          <p:nvPr/>
        </p:nvSpPr>
        <p:spPr>
          <a:xfrm>
            <a:off x="8085355" y="1971113"/>
            <a:ext cx="3693870" cy="256032"/>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45720" rIns="45720" rtlCol="0" anchor="b" anchorCtr="0"/>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a:ln>
                  <a:noFill/>
                </a:ln>
                <a:solidFill>
                  <a:schemeClr val="tx1"/>
                </a:solidFill>
                <a:effectLst/>
                <a:uLnTx/>
                <a:uFillTx/>
                <a:latin typeface="Arial"/>
                <a:ea typeface="+mn-ea"/>
                <a:cs typeface="+mn-cs"/>
              </a:rPr>
              <a:t>Workforce Availability</a:t>
            </a:r>
          </a:p>
        </p:txBody>
      </p:sp>
      <p:graphicFrame>
        <p:nvGraphicFramePr>
          <p:cNvPr id="25" name="Chart 24">
            <a:extLst>
              <a:ext uri="{FF2B5EF4-FFF2-40B4-BE49-F238E27FC236}">
                <a16:creationId xmlns:a16="http://schemas.microsoft.com/office/drawing/2014/main" id="{872EA406-B6AC-02AA-DF09-F4508ED6A887}"/>
              </a:ext>
            </a:extLst>
          </p:cNvPr>
          <p:cNvGraphicFramePr/>
          <p:nvPr>
            <p:custDataLst>
              <p:tags r:id="rId6"/>
            </p:custDataLst>
          </p:nvPr>
        </p:nvGraphicFramePr>
        <p:xfrm>
          <a:off x="8164745" y="2259800"/>
          <a:ext cx="3693363" cy="1804479"/>
        </p:xfrm>
        <a:graphic>
          <a:graphicData uri="http://schemas.openxmlformats.org/drawingml/2006/chart">
            <c:chart xmlns:c="http://schemas.openxmlformats.org/drawingml/2006/chart" xmlns:r="http://schemas.openxmlformats.org/officeDocument/2006/relationships" r:id="rId19"/>
          </a:graphicData>
        </a:graphic>
      </p:graphicFrame>
      <p:cxnSp>
        <p:nvCxnSpPr>
          <p:cNvPr id="26" name="Straight Connector 25">
            <a:extLst>
              <a:ext uri="{FF2B5EF4-FFF2-40B4-BE49-F238E27FC236}">
                <a16:creationId xmlns:a16="http://schemas.microsoft.com/office/drawing/2014/main" id="{48408D57-55EC-D918-7FD0-2B555164A0E7}"/>
              </a:ext>
            </a:extLst>
          </p:cNvPr>
          <p:cNvCxnSpPr>
            <a:cxnSpLocks/>
          </p:cNvCxnSpPr>
          <p:nvPr/>
        </p:nvCxnSpPr>
        <p:spPr>
          <a:xfrm>
            <a:off x="8942653" y="35991"/>
            <a:ext cx="1067012"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121BAC64-1491-3FA7-18E9-160F7DE51DAA}"/>
              </a:ext>
            </a:extLst>
          </p:cNvPr>
          <p:cNvCxnSpPr>
            <a:cxnSpLocks/>
          </p:cNvCxnSpPr>
          <p:nvPr/>
        </p:nvCxnSpPr>
        <p:spPr>
          <a:xfrm>
            <a:off x="10039036" y="35991"/>
            <a:ext cx="1114425" cy="0"/>
          </a:xfrm>
          <a:prstGeom prst="line">
            <a:avLst/>
          </a:prstGeom>
          <a:ln w="76200" cap="flat" cmpd="sng" algn="ctr">
            <a:solidFill>
              <a:srgbClr val="6F8DB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A5503390-9181-0F94-DAB8-D811E3D821F3}"/>
              </a:ext>
            </a:extLst>
          </p:cNvPr>
          <p:cNvCxnSpPr>
            <a:cxnSpLocks/>
          </p:cNvCxnSpPr>
          <p:nvPr/>
        </p:nvCxnSpPr>
        <p:spPr>
          <a:xfrm>
            <a:off x="7761193" y="35991"/>
            <a:ext cx="1134047" cy="0"/>
          </a:xfrm>
          <a:prstGeom prst="line">
            <a:avLst/>
          </a:prstGeom>
          <a:ln w="38100">
            <a:solidFill>
              <a:srgbClr val="3B5479"/>
            </a:solidFill>
          </a:ln>
        </p:spPr>
        <p:style>
          <a:lnRef idx="1">
            <a:schemeClr val="accent1"/>
          </a:lnRef>
          <a:fillRef idx="0">
            <a:schemeClr val="accent1"/>
          </a:fillRef>
          <a:effectRef idx="0">
            <a:schemeClr val="accent1"/>
          </a:effectRef>
          <a:fontRef idx="minor">
            <a:schemeClr val="tx1"/>
          </a:fontRef>
        </p:style>
      </p:cxnSp>
      <p:sp>
        <p:nvSpPr>
          <p:cNvPr id="32" name="Rectangle 31">
            <a:extLst>
              <a:ext uri="{FF2B5EF4-FFF2-40B4-BE49-F238E27FC236}">
                <a16:creationId xmlns:a16="http://schemas.microsoft.com/office/drawing/2014/main" id="{B7F64747-EC49-03BA-0497-71C9B5F46E98}"/>
              </a:ext>
            </a:extLst>
          </p:cNvPr>
          <p:cNvSpPr/>
          <p:nvPr/>
        </p:nvSpPr>
        <p:spPr>
          <a:xfrm>
            <a:off x="10009665" y="106111"/>
            <a:ext cx="1114425" cy="179659"/>
          </a:xfrm>
          <a:prstGeom prst="rect">
            <a:avLst/>
          </a:prstGeom>
          <a:solidFill>
            <a:schemeClr val="bg1">
              <a:lumMod val="100000"/>
            </a:schemeClr>
          </a:solidFill>
          <a:ln>
            <a:solidFill>
              <a:srgbClr val="6F8DB9"/>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rgbClr val="6F8DB9"/>
                </a:solidFill>
              </a:rPr>
              <a:t>Workforce Analysis</a:t>
            </a:r>
            <a:endParaRPr lang="en-US" sz="800">
              <a:solidFill>
                <a:srgbClr val="6F8DB9"/>
              </a:solidFill>
              <a:cs typeface="Arial"/>
            </a:endParaRPr>
          </a:p>
        </p:txBody>
      </p:sp>
      <p:sp>
        <p:nvSpPr>
          <p:cNvPr id="38" name="TextBox 37">
            <a:extLst>
              <a:ext uri="{FF2B5EF4-FFF2-40B4-BE49-F238E27FC236}">
                <a16:creationId xmlns:a16="http://schemas.microsoft.com/office/drawing/2014/main" id="{8F52C203-BB5C-80D0-6F22-3A092183CB25}"/>
              </a:ext>
            </a:extLst>
          </p:cNvPr>
          <p:cNvSpPr txBox="1"/>
          <p:nvPr/>
        </p:nvSpPr>
        <p:spPr>
          <a:xfrm>
            <a:off x="8066766" y="3891515"/>
            <a:ext cx="914400" cy="914400"/>
          </a:xfrm>
          <a:prstGeom prst="rect">
            <a:avLst/>
          </a:prstGeom>
        </p:spPr>
        <p:txBody>
          <a:bodyPr vert="horz" wrap="none" lIns="0" tIns="0" rIns="0" bIns="0" rtlCol="0" anchor="t" anchorCtr="0">
            <a:noAutofit/>
          </a:bodyPr>
          <a:lstStyle/>
          <a:p>
            <a:pPr algn="l">
              <a:spcAft>
                <a:spcPts val="600"/>
              </a:spcAft>
            </a:pPr>
            <a:endParaRPr lang="en-US" sz="1500" b="1">
              <a:solidFill>
                <a:schemeClr val="tx2"/>
              </a:solidFill>
            </a:endParaRPr>
          </a:p>
        </p:txBody>
      </p:sp>
      <p:sp>
        <p:nvSpPr>
          <p:cNvPr id="39" name="Text Placeholder 2">
            <a:extLst>
              <a:ext uri="{FF2B5EF4-FFF2-40B4-BE49-F238E27FC236}">
                <a16:creationId xmlns:a16="http://schemas.microsoft.com/office/drawing/2014/main" id="{48EC003E-BE20-148B-3945-13D9070A1F96}"/>
              </a:ext>
            </a:extLst>
          </p:cNvPr>
          <p:cNvSpPr>
            <a:spLocks noGrp="1"/>
          </p:cNvSpPr>
          <p:nvPr>
            <p:custDataLst>
              <p:tags r:id="rId7"/>
            </p:custDataLst>
          </p:nvPr>
        </p:nvSpPr>
        <p:spPr bwMode="auto">
          <a:xfrm>
            <a:off x="10842176" y="3340896"/>
            <a:ext cx="6080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altLang="en-US" sz="800"/>
              <a:t>Detroit Metro</a:t>
            </a:r>
            <a:endParaRPr lang="en-US" sz="800"/>
          </a:p>
        </p:txBody>
      </p:sp>
      <p:sp>
        <p:nvSpPr>
          <p:cNvPr id="54" name="Text Placeholder 2">
            <a:extLst>
              <a:ext uri="{FF2B5EF4-FFF2-40B4-BE49-F238E27FC236}">
                <a16:creationId xmlns:a16="http://schemas.microsoft.com/office/drawing/2014/main" id="{31DF1D20-B1B2-BF9D-C7D2-B1EA35456B97}"/>
              </a:ext>
            </a:extLst>
          </p:cNvPr>
          <p:cNvSpPr>
            <a:spLocks noGrp="1"/>
          </p:cNvSpPr>
          <p:nvPr>
            <p:custDataLst>
              <p:tags r:id="rId8"/>
            </p:custDataLst>
          </p:nvPr>
        </p:nvSpPr>
        <p:spPr bwMode="auto">
          <a:xfrm>
            <a:off x="8597140" y="3350794"/>
            <a:ext cx="6080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sz="800"/>
              <a:t>Michigan Non-Metro</a:t>
            </a:r>
          </a:p>
        </p:txBody>
      </p:sp>
      <p:sp>
        <p:nvSpPr>
          <p:cNvPr id="67" name="Text Placeholder 2">
            <a:extLst>
              <a:ext uri="{FF2B5EF4-FFF2-40B4-BE49-F238E27FC236}">
                <a16:creationId xmlns:a16="http://schemas.microsoft.com/office/drawing/2014/main" id="{0AD72505-F14D-0B58-F06A-2847BAEF660E}"/>
              </a:ext>
            </a:extLst>
          </p:cNvPr>
          <p:cNvSpPr>
            <a:spLocks noGrp="1"/>
          </p:cNvSpPr>
          <p:nvPr>
            <p:custDataLst>
              <p:tags r:id="rId9"/>
            </p:custDataLst>
          </p:nvPr>
        </p:nvSpPr>
        <p:spPr bwMode="auto">
          <a:xfrm>
            <a:off x="8969075" y="2614682"/>
            <a:ext cx="6080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sz="800"/>
              <a:t>Grand Rapids Metro</a:t>
            </a:r>
          </a:p>
        </p:txBody>
      </p:sp>
      <p:sp>
        <p:nvSpPr>
          <p:cNvPr id="72" name="Text Placeholder 2">
            <a:extLst>
              <a:ext uri="{FF2B5EF4-FFF2-40B4-BE49-F238E27FC236}">
                <a16:creationId xmlns:a16="http://schemas.microsoft.com/office/drawing/2014/main" id="{40878FA8-E530-DD1D-A0BB-FCDE5468820F}"/>
              </a:ext>
            </a:extLst>
          </p:cNvPr>
          <p:cNvSpPr>
            <a:spLocks noGrp="1"/>
          </p:cNvSpPr>
          <p:nvPr>
            <p:custDataLst>
              <p:tags r:id="rId10"/>
            </p:custDataLst>
          </p:nvPr>
        </p:nvSpPr>
        <p:spPr bwMode="auto">
          <a:xfrm>
            <a:off x="9979173" y="2333048"/>
            <a:ext cx="60801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sz="800"/>
              <a:t>Toledo Metro</a:t>
            </a:r>
          </a:p>
        </p:txBody>
      </p:sp>
      <p:cxnSp>
        <p:nvCxnSpPr>
          <p:cNvPr id="73" name="Straight Connector 72">
            <a:extLst>
              <a:ext uri="{FF2B5EF4-FFF2-40B4-BE49-F238E27FC236}">
                <a16:creationId xmlns:a16="http://schemas.microsoft.com/office/drawing/2014/main" id="{FA51F909-C0AC-5726-50B2-42A7C192AC2D}"/>
              </a:ext>
            </a:extLst>
          </p:cNvPr>
          <p:cNvCxnSpPr>
            <a:cxnSpLocks/>
          </p:cNvCxnSpPr>
          <p:nvPr/>
        </p:nvCxnSpPr>
        <p:spPr>
          <a:xfrm>
            <a:off x="11170493" y="21414"/>
            <a:ext cx="1021507" cy="4262"/>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208892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5A302F-C318-B8EB-6A46-E9C45A5F30E0}"/>
            </a:ext>
          </a:extLst>
        </p:cNvPr>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id="{443C2243-F0B4-7C86-EA04-EF915C1F6D0F}"/>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16" imgH="416" progId="TCLayout.ActiveDocument.1">
                  <p:embed/>
                </p:oleObj>
              </mc:Choice>
              <mc:Fallback>
                <p:oleObj name="think-cell Slide" r:id="rId4" imgW="416" imgH="416" progId="TCLayout.ActiveDocument.1">
                  <p:embed/>
                  <p:pic>
                    <p:nvPicPr>
                      <p:cNvPr id="5" name="think-cell data - do not delete" hidden="1">
                        <a:extLst>
                          <a:ext uri="{FF2B5EF4-FFF2-40B4-BE49-F238E27FC236}">
                            <a16:creationId xmlns:a16="http://schemas.microsoft.com/office/drawing/2014/main" id="{443C2243-F0B4-7C86-EA04-EF915C1F6D0F}"/>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9" name="Text Placeholder 8">
            <a:extLst>
              <a:ext uri="{FF2B5EF4-FFF2-40B4-BE49-F238E27FC236}">
                <a16:creationId xmlns:a16="http://schemas.microsoft.com/office/drawing/2014/main" id="{597A538E-9241-27D3-1BAA-0FA35190D4E0}"/>
              </a:ext>
            </a:extLst>
          </p:cNvPr>
          <p:cNvSpPr>
            <a:spLocks noGrp="1"/>
          </p:cNvSpPr>
          <p:nvPr>
            <p:ph type="body" sz="quarter" idx="20"/>
          </p:nvPr>
        </p:nvSpPr>
        <p:spPr/>
        <p:txBody>
          <a:bodyPr/>
          <a:lstStyle/>
          <a:p>
            <a:r>
              <a:rPr lang="en-US" dirty="0"/>
              <a:t>Broadband Risks and challenges</a:t>
            </a:r>
          </a:p>
        </p:txBody>
      </p:sp>
      <p:sp>
        <p:nvSpPr>
          <p:cNvPr id="8" name="Title 7">
            <a:extLst>
              <a:ext uri="{FF2B5EF4-FFF2-40B4-BE49-F238E27FC236}">
                <a16:creationId xmlns:a16="http://schemas.microsoft.com/office/drawing/2014/main" id="{E1132BE2-157E-BA48-51CB-2A283D79771F}"/>
              </a:ext>
            </a:extLst>
          </p:cNvPr>
          <p:cNvSpPr>
            <a:spLocks noGrp="1"/>
          </p:cNvSpPr>
          <p:nvPr>
            <p:ph type="title"/>
          </p:nvPr>
        </p:nvSpPr>
        <p:spPr>
          <a:xfrm>
            <a:off x="501520" y="441590"/>
            <a:ext cx="11192256" cy="581771"/>
          </a:xfrm>
        </p:spPr>
        <p:txBody>
          <a:bodyPr vert="horz">
            <a:noAutofit/>
          </a:bodyPr>
          <a:lstStyle/>
          <a:p>
            <a:r>
              <a:rPr lang="en-US" sz="2800" b="1" dirty="0">
                <a:solidFill>
                  <a:srgbClr val="3A5479"/>
                </a:solidFill>
                <a:latin typeface="Calibri" panose="020F0502020204030204" pitchFamily="34" charset="0"/>
                <a:cs typeface="Calibri" panose="020F0502020204030204" pitchFamily="34" charset="0"/>
              </a:rPr>
              <a:t>Four Interconnected Risks Threaten Project Timelines and Budgets Rationale</a:t>
            </a:r>
            <a:endParaRPr lang="en-US" sz="2800" dirty="0">
              <a:solidFill>
                <a:srgbClr val="3A5479"/>
              </a:solidFill>
              <a:latin typeface="Calibri" panose="020F0502020204030204" pitchFamily="34" charset="0"/>
              <a:cs typeface="Calibri" panose="020F0502020204030204" pitchFamily="34" charset="0"/>
            </a:endParaRPr>
          </a:p>
        </p:txBody>
      </p:sp>
      <p:sp>
        <p:nvSpPr>
          <p:cNvPr id="3" name="Shape 587">
            <a:extLst>
              <a:ext uri="{FF2B5EF4-FFF2-40B4-BE49-F238E27FC236}">
                <a16:creationId xmlns:a16="http://schemas.microsoft.com/office/drawing/2014/main" id="{9D228027-ADA9-A57F-FF40-76C9D55BF47B}"/>
              </a:ext>
            </a:extLst>
          </p:cNvPr>
          <p:cNvSpPr>
            <a:spLocks noChangeArrowheads="1"/>
          </p:cNvSpPr>
          <p:nvPr/>
        </p:nvSpPr>
        <p:spPr bwMode="auto">
          <a:xfrm>
            <a:off x="8764401" y="1600326"/>
            <a:ext cx="2926080" cy="731520"/>
          </a:xfrm>
          <a:prstGeom prst="rect">
            <a:avLst/>
          </a:prstGeom>
          <a:solidFill>
            <a:sysClr val="window" lastClr="FFFFFF">
              <a:lumMod val="95000"/>
            </a:sysClr>
          </a:solidFill>
          <a:ln>
            <a:solidFill>
              <a:srgbClr val="00338D"/>
            </a:solidFill>
          </a:ln>
        </p:spPr>
        <p:txBody>
          <a:bodyPr lIns="50800" tIns="50800" rIns="50800" bIns="50800" anchor="ct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000" b="1"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Helvetica Light"/>
            </a:endParaRPr>
          </a:p>
        </p:txBody>
      </p:sp>
      <p:sp>
        <p:nvSpPr>
          <p:cNvPr id="6" name="Shape 598">
            <a:extLst>
              <a:ext uri="{FF2B5EF4-FFF2-40B4-BE49-F238E27FC236}">
                <a16:creationId xmlns:a16="http://schemas.microsoft.com/office/drawing/2014/main" id="{D5D766F1-0713-CFB8-52D4-AEB4872816E7}"/>
              </a:ext>
            </a:extLst>
          </p:cNvPr>
          <p:cNvSpPr>
            <a:spLocks noChangeArrowheads="1"/>
          </p:cNvSpPr>
          <p:nvPr/>
        </p:nvSpPr>
        <p:spPr bwMode="auto">
          <a:xfrm>
            <a:off x="8793996" y="1590456"/>
            <a:ext cx="2859686" cy="7309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50800" tIns="50800" rIns="50800" bIns="50800" anchor="ctr">
            <a:spAutoFit/>
          </a:bodyP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1714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altLang="en-US" sz="1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Roboto Medium" pitchFamily="2" charset="0"/>
              </a:rPr>
              <a:t>Project delays and inability to meet federally mandated BEAD deployment schedules.</a:t>
            </a:r>
          </a:p>
          <a:p>
            <a:pPr marL="1714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altLang="en-US" sz="1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Roboto Medium" pitchFamily="2" charset="0"/>
              </a:rPr>
              <a:t>Potential project cost increase due to contractor bidding wars</a:t>
            </a:r>
          </a:p>
        </p:txBody>
      </p:sp>
      <p:sp>
        <p:nvSpPr>
          <p:cNvPr id="7" name="Shape 587">
            <a:extLst>
              <a:ext uri="{FF2B5EF4-FFF2-40B4-BE49-F238E27FC236}">
                <a16:creationId xmlns:a16="http://schemas.microsoft.com/office/drawing/2014/main" id="{4EFEE5C2-6589-827C-37E0-1556D1D547CD}"/>
              </a:ext>
            </a:extLst>
          </p:cNvPr>
          <p:cNvSpPr>
            <a:spLocks noChangeArrowheads="1"/>
          </p:cNvSpPr>
          <p:nvPr/>
        </p:nvSpPr>
        <p:spPr bwMode="auto">
          <a:xfrm>
            <a:off x="2023206" y="1615290"/>
            <a:ext cx="6441745" cy="731520"/>
          </a:xfrm>
          <a:prstGeom prst="rect">
            <a:avLst/>
          </a:prstGeom>
          <a:solidFill>
            <a:sysClr val="window" lastClr="FFFFFF">
              <a:lumMod val="95000"/>
            </a:sysClr>
          </a:solidFill>
          <a:ln>
            <a:solidFill>
              <a:srgbClr val="00338D"/>
            </a:solidFill>
          </a:ln>
        </p:spPr>
        <p:txBody>
          <a:bodyPr lIns="50800" tIns="50800" rIns="50800" bIns="50800" anchor="ct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Helvetica Light"/>
            </a:endParaRPr>
          </a:p>
        </p:txBody>
      </p:sp>
      <p:sp>
        <p:nvSpPr>
          <p:cNvPr id="10" name="Shape 598">
            <a:extLst>
              <a:ext uri="{FF2B5EF4-FFF2-40B4-BE49-F238E27FC236}">
                <a16:creationId xmlns:a16="http://schemas.microsoft.com/office/drawing/2014/main" id="{B35BB4CE-BF88-46B5-6C2B-873C5CD86320}"/>
              </a:ext>
            </a:extLst>
          </p:cNvPr>
          <p:cNvSpPr>
            <a:spLocks noChangeArrowheads="1"/>
          </p:cNvSpPr>
          <p:nvPr/>
        </p:nvSpPr>
        <p:spPr bwMode="auto">
          <a:xfrm>
            <a:off x="2148601" y="1687940"/>
            <a:ext cx="6325644"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50800" tIns="50800" rIns="50800" bIns="50800" anchor="ctr">
            <a:spAutoFit/>
          </a:bodyP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000000"/>
                </a:solidFill>
                <a:effectLst/>
                <a:uLnTx/>
                <a:uFillTx/>
                <a:latin typeface="Arial"/>
                <a:sym typeface="Helvetica Light"/>
              </a:rPr>
              <a:t>Gao exists between labor supply and the 1,750 new broadband jobs created annually. This is amplified by an aging workforce, with national data showing 60% of technicians are nearing retirement, and direct competition for talent in Michigan from the energy sector.</a:t>
            </a:r>
          </a:p>
        </p:txBody>
      </p:sp>
      <p:sp>
        <p:nvSpPr>
          <p:cNvPr id="11" name="Rectangle 10">
            <a:extLst>
              <a:ext uri="{FF2B5EF4-FFF2-40B4-BE49-F238E27FC236}">
                <a16:creationId xmlns:a16="http://schemas.microsoft.com/office/drawing/2014/main" id="{F9F89FEC-91E1-8CE9-BA58-6BA8F1BBFC43}"/>
              </a:ext>
            </a:extLst>
          </p:cNvPr>
          <p:cNvSpPr/>
          <p:nvPr/>
        </p:nvSpPr>
        <p:spPr>
          <a:xfrm>
            <a:off x="577059" y="1604309"/>
            <a:ext cx="1213045" cy="731520"/>
          </a:xfrm>
          <a:prstGeom prst="rect">
            <a:avLst/>
          </a:prstGeom>
          <a:solidFill>
            <a:srgbClr val="6F8DB9"/>
          </a:solidFill>
          <a:ln w="12700" cap="flat" cmpd="sng" algn="ctr">
            <a:noFill/>
            <a:prstDash val="solid"/>
            <a:miter lim="800000"/>
          </a:ln>
          <a:effectLst/>
        </p:spPr>
        <p:txBody>
          <a:bodyPr lIns="180000" tIns="180000" rIns="180000" bIns="180000" rtlCol="0" anchor="ctr" anchorCtr="0"/>
          <a:lstStyle/>
          <a:p>
            <a:pPr marL="0" marR="0" lvl="0" indent="0" algn="ctr" defTabSz="914400" rtl="0" eaLnBrk="1" fontAlgn="auto" latinLnBrk="0" hangingPunct="1">
              <a:lnSpc>
                <a:spcPct val="70000"/>
              </a:lnSpc>
              <a:spcBef>
                <a:spcPts val="0"/>
              </a:spcBef>
              <a:spcAft>
                <a:spcPts val="6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Critical Shortage of Skilled Labor</a:t>
            </a:r>
            <a:endParaRPr kumimoji="0" lang="en-GB" sz="12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13" name="Shape 587">
            <a:extLst>
              <a:ext uri="{FF2B5EF4-FFF2-40B4-BE49-F238E27FC236}">
                <a16:creationId xmlns:a16="http://schemas.microsoft.com/office/drawing/2014/main" id="{96D651EE-760D-ED3E-0FB1-788E26D1E0A0}"/>
              </a:ext>
            </a:extLst>
          </p:cNvPr>
          <p:cNvSpPr>
            <a:spLocks noChangeArrowheads="1"/>
          </p:cNvSpPr>
          <p:nvPr/>
        </p:nvSpPr>
        <p:spPr bwMode="auto">
          <a:xfrm>
            <a:off x="8759512" y="2420792"/>
            <a:ext cx="2926080" cy="731520"/>
          </a:xfrm>
          <a:prstGeom prst="rect">
            <a:avLst/>
          </a:prstGeom>
          <a:solidFill>
            <a:sysClr val="window" lastClr="FFFFFF">
              <a:lumMod val="95000"/>
            </a:sysClr>
          </a:solidFill>
          <a:ln>
            <a:solidFill>
              <a:srgbClr val="00338D"/>
            </a:solidFill>
          </a:ln>
        </p:spPr>
        <p:txBody>
          <a:bodyPr lIns="50800" tIns="50800" rIns="50800" bIns="50800" anchor="ct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0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Helvetica Light"/>
            </a:endParaRPr>
          </a:p>
        </p:txBody>
      </p:sp>
      <p:sp>
        <p:nvSpPr>
          <p:cNvPr id="14" name="Shape 598">
            <a:extLst>
              <a:ext uri="{FF2B5EF4-FFF2-40B4-BE49-F238E27FC236}">
                <a16:creationId xmlns:a16="http://schemas.microsoft.com/office/drawing/2014/main" id="{D50EB4A1-DA5D-A747-DFF6-88B356E369C5}"/>
              </a:ext>
            </a:extLst>
          </p:cNvPr>
          <p:cNvSpPr>
            <a:spLocks noChangeArrowheads="1"/>
          </p:cNvSpPr>
          <p:nvPr/>
        </p:nvSpPr>
        <p:spPr bwMode="auto">
          <a:xfrm>
            <a:off x="8819892" y="2469226"/>
            <a:ext cx="2794233" cy="718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50800" tIns="50800" rIns="50800" bIns="50800" anchor="ctr">
            <a:spAutoFit/>
          </a:bodyP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1714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altLang="en-US" sz="1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Roboto Medium" pitchFamily="2" charset="0"/>
              </a:rPr>
              <a:t>Poses a significant risk to the 4-year BEAD project completion timeline, as a delay of even a few weeks can push work into the next year</a:t>
            </a:r>
            <a:endParaRPr kumimoji="0" lang="en-US" altLang="en-US" sz="1000" i="0" u="none" strike="noStrike" kern="1200" cap="none" spc="0" normalizeH="0" baseline="0" noProof="0" dirty="0">
              <a:ln>
                <a:noFill/>
              </a:ln>
              <a:solidFill>
                <a:srgbClr val="000000"/>
              </a:solidFill>
              <a:effectLst/>
              <a:uLnTx/>
              <a:uFillTx/>
              <a:latin typeface="Arial"/>
              <a:cs typeface="Arial" panose="020B0604020202020204" pitchFamily="34" charset="0"/>
              <a:sym typeface="Roboto Medium" pitchFamily="2" charset="0"/>
            </a:endParaRPr>
          </a:p>
        </p:txBody>
      </p:sp>
      <p:sp>
        <p:nvSpPr>
          <p:cNvPr id="15" name="Shape 587">
            <a:extLst>
              <a:ext uri="{FF2B5EF4-FFF2-40B4-BE49-F238E27FC236}">
                <a16:creationId xmlns:a16="http://schemas.microsoft.com/office/drawing/2014/main" id="{C366B93F-7FF4-8777-9018-5762AB066CE7}"/>
              </a:ext>
            </a:extLst>
          </p:cNvPr>
          <p:cNvSpPr>
            <a:spLocks noChangeArrowheads="1"/>
          </p:cNvSpPr>
          <p:nvPr/>
        </p:nvSpPr>
        <p:spPr bwMode="auto">
          <a:xfrm>
            <a:off x="2031462" y="2442543"/>
            <a:ext cx="6433488" cy="731520"/>
          </a:xfrm>
          <a:prstGeom prst="rect">
            <a:avLst/>
          </a:prstGeom>
          <a:solidFill>
            <a:sysClr val="window" lastClr="FFFFFF">
              <a:lumMod val="95000"/>
            </a:sysClr>
          </a:solidFill>
          <a:ln>
            <a:solidFill>
              <a:srgbClr val="00338D"/>
            </a:solidFill>
          </a:ln>
        </p:spPr>
        <p:txBody>
          <a:bodyPr lIns="50800" tIns="50800" rIns="50800" bIns="50800" anchor="ct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Helvetica Light"/>
            </a:endParaRPr>
          </a:p>
        </p:txBody>
      </p:sp>
      <p:sp>
        <p:nvSpPr>
          <p:cNvPr id="16" name="Shape 598">
            <a:extLst>
              <a:ext uri="{FF2B5EF4-FFF2-40B4-BE49-F238E27FC236}">
                <a16:creationId xmlns:a16="http://schemas.microsoft.com/office/drawing/2014/main" id="{A97821EF-5D2B-EB8B-CD41-F80782D1FDE2}"/>
              </a:ext>
            </a:extLst>
          </p:cNvPr>
          <p:cNvSpPr>
            <a:spLocks noChangeArrowheads="1"/>
          </p:cNvSpPr>
          <p:nvPr/>
        </p:nvSpPr>
        <p:spPr bwMode="auto">
          <a:xfrm>
            <a:off x="2143186" y="2615257"/>
            <a:ext cx="6306882" cy="41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50800" tIns="50800" rIns="50800" bIns="50800" anchor="ctr">
            <a:spAutoFit/>
          </a:bodyP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lang="en-US" altLang="en-US" sz="1000" b="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Roboto Medium" pitchFamily="2" charset="0"/>
              </a:rPr>
              <a:t>Michigan’s climate restricts outdoor construction to a 6–7-month season, creating a "winter layoff" risk where skilled crews migrate, leading to a costly re-staffing challenge each spring, particularly in the Upper Peninsula.</a:t>
            </a:r>
          </a:p>
        </p:txBody>
      </p:sp>
      <p:sp>
        <p:nvSpPr>
          <p:cNvPr id="17" name="Rectangle 16">
            <a:extLst>
              <a:ext uri="{FF2B5EF4-FFF2-40B4-BE49-F238E27FC236}">
                <a16:creationId xmlns:a16="http://schemas.microsoft.com/office/drawing/2014/main" id="{91CDD7D5-BDBE-1F8A-F598-B76F24B36755}"/>
              </a:ext>
            </a:extLst>
          </p:cNvPr>
          <p:cNvSpPr/>
          <p:nvPr/>
        </p:nvSpPr>
        <p:spPr>
          <a:xfrm>
            <a:off x="577059" y="2434098"/>
            <a:ext cx="1216152" cy="731520"/>
          </a:xfrm>
          <a:prstGeom prst="rect">
            <a:avLst/>
          </a:prstGeom>
          <a:solidFill>
            <a:srgbClr val="6F8DB9"/>
          </a:solidFill>
          <a:ln w="12700" cap="flat" cmpd="sng" algn="ctr">
            <a:noFill/>
            <a:prstDash val="solid"/>
            <a:miter lim="800000"/>
          </a:ln>
          <a:effectLst/>
        </p:spPr>
        <p:txBody>
          <a:bodyPr lIns="180000" tIns="180000" rIns="180000" bIns="180000" rtlCol="0" anchor="ctr" anchorCtr="0"/>
          <a:lstStyle/>
          <a:p>
            <a:pPr marL="0" marR="0" lvl="0" indent="0" algn="ctr" defTabSz="914400" rtl="0" eaLnBrk="1" fontAlgn="auto" latinLnBrk="0" hangingPunct="1">
              <a:lnSpc>
                <a:spcPct val="70000"/>
              </a:lnSpc>
              <a:spcBef>
                <a:spcPts val="0"/>
              </a:spcBef>
              <a:spcAft>
                <a:spcPts val="6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Seasonal Workforce Instability</a:t>
            </a:r>
            <a:endParaRPr kumimoji="0" lang="en-GB" sz="12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19" name="Shape 587">
            <a:extLst>
              <a:ext uri="{FF2B5EF4-FFF2-40B4-BE49-F238E27FC236}">
                <a16:creationId xmlns:a16="http://schemas.microsoft.com/office/drawing/2014/main" id="{2DBC1AAF-76C4-FF11-8EE1-804B40538338}"/>
              </a:ext>
            </a:extLst>
          </p:cNvPr>
          <p:cNvSpPr>
            <a:spLocks noChangeArrowheads="1"/>
          </p:cNvSpPr>
          <p:nvPr/>
        </p:nvSpPr>
        <p:spPr bwMode="auto">
          <a:xfrm>
            <a:off x="8773336" y="3290869"/>
            <a:ext cx="2926080" cy="731520"/>
          </a:xfrm>
          <a:prstGeom prst="rect">
            <a:avLst/>
          </a:prstGeom>
          <a:solidFill>
            <a:sysClr val="window" lastClr="FFFFFF">
              <a:lumMod val="95000"/>
            </a:sysClr>
          </a:solidFill>
          <a:ln>
            <a:solidFill>
              <a:srgbClr val="00338D"/>
            </a:solidFill>
          </a:ln>
        </p:spPr>
        <p:txBody>
          <a:bodyPr lIns="50800" tIns="50800" rIns="50800" bIns="50800" anchor="ct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00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Helvetica Light"/>
            </a:endParaRPr>
          </a:p>
        </p:txBody>
      </p:sp>
      <p:sp>
        <p:nvSpPr>
          <p:cNvPr id="20" name="Shape 598">
            <a:extLst>
              <a:ext uri="{FF2B5EF4-FFF2-40B4-BE49-F238E27FC236}">
                <a16:creationId xmlns:a16="http://schemas.microsoft.com/office/drawing/2014/main" id="{C310C4C8-8881-A5F5-CB91-BC63F5B38410}"/>
              </a:ext>
            </a:extLst>
          </p:cNvPr>
          <p:cNvSpPr>
            <a:spLocks noChangeArrowheads="1"/>
          </p:cNvSpPr>
          <p:nvPr/>
        </p:nvSpPr>
        <p:spPr bwMode="auto">
          <a:xfrm>
            <a:off x="8836849" y="3360065"/>
            <a:ext cx="2733853" cy="564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50800" tIns="50800" rIns="50800" bIns="50800" anchor="ctr">
            <a:spAutoFit/>
          </a:bodyP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en-US" sz="100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Roboto Medium" pitchFamily="2" charset="0"/>
              </a:rPr>
              <a:t>Creates a critical path dependency that idles labor and prevents the efficient use of limited construction window.</a:t>
            </a:r>
          </a:p>
        </p:txBody>
      </p:sp>
      <p:sp>
        <p:nvSpPr>
          <p:cNvPr id="21" name="Shape 587">
            <a:extLst>
              <a:ext uri="{FF2B5EF4-FFF2-40B4-BE49-F238E27FC236}">
                <a16:creationId xmlns:a16="http://schemas.microsoft.com/office/drawing/2014/main" id="{786CB279-1B5B-7EB1-498B-29AE3DEA60B8}"/>
              </a:ext>
            </a:extLst>
          </p:cNvPr>
          <p:cNvSpPr>
            <a:spLocks noChangeArrowheads="1"/>
          </p:cNvSpPr>
          <p:nvPr/>
        </p:nvSpPr>
        <p:spPr bwMode="auto">
          <a:xfrm>
            <a:off x="2048420" y="3279958"/>
            <a:ext cx="6416530" cy="731520"/>
          </a:xfrm>
          <a:prstGeom prst="rect">
            <a:avLst/>
          </a:prstGeom>
          <a:solidFill>
            <a:sysClr val="window" lastClr="FFFFFF">
              <a:lumMod val="95000"/>
            </a:sysClr>
          </a:solidFill>
          <a:ln>
            <a:solidFill>
              <a:srgbClr val="00338D"/>
            </a:solidFill>
          </a:ln>
        </p:spPr>
        <p:txBody>
          <a:bodyPr lIns="50800" tIns="50800" rIns="50800" bIns="50800" anchor="ct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Helvetica Light"/>
            </a:endParaRPr>
          </a:p>
        </p:txBody>
      </p:sp>
      <p:sp>
        <p:nvSpPr>
          <p:cNvPr id="22" name="Shape 598">
            <a:extLst>
              <a:ext uri="{FF2B5EF4-FFF2-40B4-BE49-F238E27FC236}">
                <a16:creationId xmlns:a16="http://schemas.microsoft.com/office/drawing/2014/main" id="{3072E538-2EDE-6BAA-19B4-C060BBBD219B}"/>
              </a:ext>
            </a:extLst>
          </p:cNvPr>
          <p:cNvSpPr>
            <a:spLocks noChangeArrowheads="1"/>
          </p:cNvSpPr>
          <p:nvPr/>
        </p:nvSpPr>
        <p:spPr bwMode="auto">
          <a:xfrm>
            <a:off x="2160144" y="3276841"/>
            <a:ext cx="6306882" cy="718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50800" tIns="50800" rIns="50800" bIns="50800" anchor="ctr">
            <a:spAutoFit/>
          </a:bodyP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l" defTabSz="914400" rtl="0" eaLnBrk="1" fontAlgn="auto" latinLnBrk="0" hangingPunct="1">
              <a:lnSpc>
                <a:spcPct val="100000"/>
              </a:lnSpc>
              <a:spcBef>
                <a:spcPts val="100"/>
              </a:spcBef>
              <a:spcAft>
                <a:spcPts val="0"/>
              </a:spcAft>
              <a:buClrTx/>
              <a:buSzTx/>
              <a:buFontTx/>
              <a:buNone/>
              <a:tabLst/>
              <a:defRPr/>
            </a:pPr>
            <a:r>
              <a:rPr kumimoji="0" lang="en-US" sz="1000" b="0" i="0" u="none" strike="noStrike" kern="0" cap="none" spc="0" normalizeH="0" baseline="0" noProof="0">
                <a:ln>
                  <a:noFill/>
                </a:ln>
                <a:solidFill>
                  <a:srgbClr val="000000"/>
                </a:solidFill>
                <a:effectLst/>
                <a:uLnTx/>
                <a:uFillTx/>
                <a:latin typeface="Arial"/>
                <a:sym typeface="Helvetica Light"/>
              </a:rPr>
              <a:t>Because aerial construction is the only viable option in most rural areas, ISPs must gain access to existing utility poles. This involves a complex "make-ready" process to move existing wires and create space—all at the new ISP's expense. Disputes over costs and timelines (between ISPs and utility pole owners) are common and fall under the MPSC*'s jurisdiction, where a formal complaint can initiate a 180-day resolution timeline</a:t>
            </a:r>
            <a:endParaRPr kumimoji="0" lang="en-GB" sz="1000" b="0" i="0" u="none" strike="noStrike" kern="0" cap="none" spc="0" normalizeH="0" baseline="0" noProof="0">
              <a:ln>
                <a:noFill/>
              </a:ln>
              <a:solidFill>
                <a:srgbClr val="000000"/>
              </a:solidFill>
              <a:effectLst/>
              <a:uLnTx/>
              <a:uFillTx/>
              <a:latin typeface="Arial"/>
              <a:sym typeface="Helvetica Light"/>
            </a:endParaRPr>
          </a:p>
        </p:txBody>
      </p:sp>
      <p:sp>
        <p:nvSpPr>
          <p:cNvPr id="23" name="Rectangle 22">
            <a:extLst>
              <a:ext uri="{FF2B5EF4-FFF2-40B4-BE49-F238E27FC236}">
                <a16:creationId xmlns:a16="http://schemas.microsoft.com/office/drawing/2014/main" id="{7BB0EDAE-3CDD-2640-CCB0-8E99629EC28A}"/>
              </a:ext>
            </a:extLst>
          </p:cNvPr>
          <p:cNvSpPr/>
          <p:nvPr/>
        </p:nvSpPr>
        <p:spPr>
          <a:xfrm>
            <a:off x="573952" y="3248199"/>
            <a:ext cx="1216152" cy="731520"/>
          </a:xfrm>
          <a:prstGeom prst="rect">
            <a:avLst/>
          </a:prstGeom>
          <a:solidFill>
            <a:srgbClr val="6F8DB9"/>
          </a:solidFill>
          <a:ln w="12700" cap="flat" cmpd="sng" algn="ctr">
            <a:noFill/>
            <a:prstDash val="solid"/>
            <a:miter lim="800000"/>
          </a:ln>
          <a:effectLst/>
        </p:spPr>
        <p:txBody>
          <a:bodyPr lIns="180000" tIns="180000" rIns="180000" bIns="180000" rtlCol="0" anchor="ctr" anchorCtr="0"/>
          <a:lstStyle/>
          <a:p>
            <a:pPr marL="0" marR="0" lvl="0" indent="0" algn="ctr" defTabSz="914400" rtl="0" eaLnBrk="1" fontAlgn="auto" latinLnBrk="0" hangingPunct="1">
              <a:lnSpc>
                <a:spcPct val="70000"/>
              </a:lnSpc>
              <a:spcBef>
                <a:spcPts val="0"/>
              </a:spcBef>
              <a:spcAft>
                <a:spcPts val="600"/>
              </a:spcAft>
              <a:buClrTx/>
              <a:buSzTx/>
              <a:buFontTx/>
              <a:buNone/>
              <a:tabLst/>
              <a:defRPr/>
            </a:pPr>
            <a:r>
              <a:rPr kumimoji="0" lang="en-GB" sz="12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Regulatory Delays: Pole Attachments</a:t>
            </a:r>
          </a:p>
        </p:txBody>
      </p:sp>
      <p:sp>
        <p:nvSpPr>
          <p:cNvPr id="25" name="Shape 587">
            <a:extLst>
              <a:ext uri="{FF2B5EF4-FFF2-40B4-BE49-F238E27FC236}">
                <a16:creationId xmlns:a16="http://schemas.microsoft.com/office/drawing/2014/main" id="{F8B2E9BC-DFB8-41F7-DDCF-33E570802592}"/>
              </a:ext>
            </a:extLst>
          </p:cNvPr>
          <p:cNvSpPr>
            <a:spLocks noChangeArrowheads="1"/>
          </p:cNvSpPr>
          <p:nvPr/>
        </p:nvSpPr>
        <p:spPr bwMode="auto">
          <a:xfrm>
            <a:off x="8776575" y="4138485"/>
            <a:ext cx="2917200" cy="707204"/>
          </a:xfrm>
          <a:prstGeom prst="rect">
            <a:avLst/>
          </a:prstGeom>
          <a:solidFill>
            <a:sysClr val="window" lastClr="FFFFFF">
              <a:lumMod val="95000"/>
            </a:sysClr>
          </a:solidFill>
          <a:ln>
            <a:solidFill>
              <a:srgbClr val="00338D"/>
            </a:solidFill>
          </a:ln>
        </p:spPr>
        <p:txBody>
          <a:bodyPr lIns="50800" tIns="50800" rIns="50800" bIns="50800" anchor="ct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2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Helvetica Light"/>
            </a:endParaRPr>
          </a:p>
        </p:txBody>
      </p:sp>
      <p:sp>
        <p:nvSpPr>
          <p:cNvPr id="26" name="Shape 598">
            <a:extLst>
              <a:ext uri="{FF2B5EF4-FFF2-40B4-BE49-F238E27FC236}">
                <a16:creationId xmlns:a16="http://schemas.microsoft.com/office/drawing/2014/main" id="{7B45BB56-C534-623C-B2F2-941EDE25EEDF}"/>
              </a:ext>
            </a:extLst>
          </p:cNvPr>
          <p:cNvSpPr>
            <a:spLocks noChangeArrowheads="1"/>
          </p:cNvSpPr>
          <p:nvPr/>
        </p:nvSpPr>
        <p:spPr bwMode="auto">
          <a:xfrm>
            <a:off x="8872455" y="4128505"/>
            <a:ext cx="2725440" cy="7181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50800" tIns="50800" rIns="50800" bIns="50800" anchor="ctr">
            <a:spAutoFit/>
          </a:bodyP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171450" marR="0" lvl="0" indent="-171450" algn="l" defTabSz="914400" rtl="0" eaLnBrk="1" fontAlgn="auto" latinLnBrk="0" hangingPunct="1">
              <a:lnSpc>
                <a:spcPct val="100000"/>
              </a:lnSpc>
              <a:spcBef>
                <a:spcPts val="100"/>
              </a:spcBef>
              <a:spcAft>
                <a:spcPts val="0"/>
              </a:spcAft>
              <a:buClrTx/>
              <a:buSzTx/>
              <a:buFont typeface="Arial" panose="020B0604020202020204" pitchFamily="34" charset="0"/>
              <a:buChar char="•"/>
              <a:tabLst/>
              <a:defRPr/>
            </a:pPr>
            <a:r>
              <a:rPr kumimoji="0" lang="en-US" altLang="en-US" sz="1000" i="0" u="none" strike="noStrike" kern="1200" cap="none" spc="0" normalizeH="0" baseline="0" noProof="0" dirty="0">
                <a:ln>
                  <a:noFill/>
                </a:ln>
                <a:solidFill>
                  <a:srgbClr val="000000"/>
                </a:solidFill>
                <a:effectLst/>
                <a:uLnTx/>
                <a:uFillTx/>
                <a:latin typeface="Arial" panose="020B0604020202020204" pitchFamily="34" charset="0"/>
                <a:cs typeface="Arial" panose="020B0604020202020204" pitchFamily="34" charset="0"/>
                <a:sym typeface="Roboto Medium" pitchFamily="2" charset="0"/>
              </a:rPr>
              <a:t>Poses a direct risk to the  $1.56 billion in federal BEAD funding through potential non-compliance penalties or fund claw backs</a:t>
            </a:r>
          </a:p>
        </p:txBody>
      </p:sp>
      <p:sp>
        <p:nvSpPr>
          <p:cNvPr id="27" name="Shape 587">
            <a:extLst>
              <a:ext uri="{FF2B5EF4-FFF2-40B4-BE49-F238E27FC236}">
                <a16:creationId xmlns:a16="http://schemas.microsoft.com/office/drawing/2014/main" id="{B8383F41-098F-7B34-ADA7-FEB7C4350C1A}"/>
              </a:ext>
            </a:extLst>
          </p:cNvPr>
          <p:cNvSpPr>
            <a:spLocks noChangeArrowheads="1"/>
          </p:cNvSpPr>
          <p:nvPr/>
        </p:nvSpPr>
        <p:spPr bwMode="auto">
          <a:xfrm>
            <a:off x="2056513" y="4138485"/>
            <a:ext cx="6408437" cy="731520"/>
          </a:xfrm>
          <a:prstGeom prst="rect">
            <a:avLst/>
          </a:prstGeom>
          <a:solidFill>
            <a:sysClr val="window" lastClr="FFFFFF">
              <a:lumMod val="95000"/>
            </a:sysClr>
          </a:solidFill>
          <a:ln>
            <a:solidFill>
              <a:srgbClr val="00338D"/>
            </a:solidFill>
          </a:ln>
        </p:spPr>
        <p:txBody>
          <a:bodyPr lIns="50800" tIns="50800" rIns="50800" bIns="50800" anchor="ct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en-US" sz="1000" b="0" i="0" u="none" strike="noStrike" kern="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Helvetica Light"/>
            </a:endParaRPr>
          </a:p>
        </p:txBody>
      </p:sp>
      <p:sp>
        <p:nvSpPr>
          <p:cNvPr id="29" name="Shape 598">
            <a:extLst>
              <a:ext uri="{FF2B5EF4-FFF2-40B4-BE49-F238E27FC236}">
                <a16:creationId xmlns:a16="http://schemas.microsoft.com/office/drawing/2014/main" id="{7AAAD363-5C69-C5DC-303A-4923DA8BE06C}"/>
              </a:ext>
            </a:extLst>
          </p:cNvPr>
          <p:cNvSpPr>
            <a:spLocks noChangeArrowheads="1"/>
          </p:cNvSpPr>
          <p:nvPr/>
        </p:nvSpPr>
        <p:spPr bwMode="auto">
          <a:xfrm>
            <a:off x="2191036" y="4257819"/>
            <a:ext cx="6181687" cy="4103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400000"/>
                <a:headEnd/>
                <a:tailEnd/>
              </a14:hiddenLine>
            </a:ext>
          </a:extLst>
        </p:spPr>
        <p:txBody>
          <a:bodyPr wrap="square" lIns="50800" tIns="50800" rIns="50800" bIns="50800" anchor="ctr">
            <a:spAutoFit/>
          </a:bodyPr>
          <a:lstStyle>
            <a:lvl1pPr algn="ctr">
              <a:defRPr sz="5000">
                <a:solidFill>
                  <a:schemeClr val="tx1"/>
                </a:solidFill>
                <a:latin typeface="Helvetica Light"/>
                <a:ea typeface="Helvetica Light"/>
                <a:cs typeface="Helvetica Light"/>
                <a:sym typeface="Helvetica Light"/>
              </a:defRPr>
            </a:lvl1pPr>
            <a:lvl2pPr marL="742950" indent="-285750" algn="ctr">
              <a:defRPr sz="5000">
                <a:solidFill>
                  <a:schemeClr val="tx1"/>
                </a:solidFill>
                <a:latin typeface="Helvetica Light"/>
                <a:ea typeface="Helvetica Light"/>
                <a:cs typeface="Helvetica Light"/>
                <a:sym typeface="Helvetica Light"/>
              </a:defRPr>
            </a:lvl2pPr>
            <a:lvl3pPr marL="1143000" indent="-228600" algn="ctr">
              <a:defRPr sz="5000">
                <a:solidFill>
                  <a:schemeClr val="tx1"/>
                </a:solidFill>
                <a:latin typeface="Helvetica Light"/>
                <a:ea typeface="Helvetica Light"/>
                <a:cs typeface="Helvetica Light"/>
                <a:sym typeface="Helvetica Light"/>
              </a:defRPr>
            </a:lvl3pPr>
            <a:lvl4pPr marL="1600200" indent="-228600" algn="ctr">
              <a:defRPr sz="5000">
                <a:solidFill>
                  <a:schemeClr val="tx1"/>
                </a:solidFill>
                <a:latin typeface="Helvetica Light"/>
                <a:ea typeface="Helvetica Light"/>
                <a:cs typeface="Helvetica Light"/>
                <a:sym typeface="Helvetica Light"/>
              </a:defRPr>
            </a:lvl4pPr>
            <a:lvl5pPr marL="2057400" indent="-228600" algn="ctr">
              <a:defRPr sz="5000">
                <a:solidFill>
                  <a:schemeClr val="tx1"/>
                </a:solidFill>
                <a:latin typeface="Helvetica Light"/>
                <a:ea typeface="Helvetica Light"/>
                <a:cs typeface="Helvetica Light"/>
                <a:sym typeface="Helvetica Light"/>
              </a:defRPr>
            </a:lvl5pPr>
            <a:lvl6pPr marL="25146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6pPr>
            <a:lvl7pPr marL="29718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7pPr>
            <a:lvl8pPr marL="34290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8pPr>
            <a:lvl9pPr marL="3886200" indent="-228600" algn="ctr" defTabSz="825500" eaLnBrk="0" fontAlgn="base" hangingPunct="0">
              <a:spcBef>
                <a:spcPct val="0"/>
              </a:spcBef>
              <a:spcAft>
                <a:spcPct val="0"/>
              </a:spcAft>
              <a:defRPr sz="5000">
                <a:solidFill>
                  <a:schemeClr val="tx1"/>
                </a:solidFill>
                <a:latin typeface="Helvetica Light"/>
                <a:ea typeface="Helvetica Light"/>
                <a:cs typeface="Helvetica Light"/>
                <a:sym typeface="Helvetica Light"/>
              </a:defRPr>
            </a:lvl9pPr>
          </a:lstStyle>
          <a:p>
            <a:pPr marL="0" marR="0" lvl="0" indent="0" algn="just" defTabSz="914400" rtl="0" eaLnBrk="1" fontAlgn="auto" latinLnBrk="0" hangingPunct="1">
              <a:lnSpc>
                <a:spcPct val="100000"/>
              </a:lnSpc>
              <a:spcBef>
                <a:spcPts val="100"/>
              </a:spcBef>
              <a:spcAft>
                <a:spcPts val="0"/>
              </a:spcAft>
              <a:buClrTx/>
              <a:buSzTx/>
              <a:buFontTx/>
              <a:buNone/>
              <a:tabLst/>
              <a:defRPr/>
            </a:pPr>
            <a:r>
              <a:rPr kumimoji="0" lang="en-US" altLang="en-US" sz="10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sym typeface="Roboto Medium" pitchFamily="2" charset="0"/>
              </a:rPr>
              <a:t>The administrative overhead of BABA (restricting the material supply chain) poses a compliance risk, especially for the smaller, rural providers essential to Michigan's goals.</a:t>
            </a:r>
          </a:p>
        </p:txBody>
      </p:sp>
      <p:sp>
        <p:nvSpPr>
          <p:cNvPr id="30" name="Rectangle 29">
            <a:extLst>
              <a:ext uri="{FF2B5EF4-FFF2-40B4-BE49-F238E27FC236}">
                <a16:creationId xmlns:a16="http://schemas.microsoft.com/office/drawing/2014/main" id="{E9E27DF6-D4E7-009B-A891-9EE4878D5A24}"/>
              </a:ext>
            </a:extLst>
          </p:cNvPr>
          <p:cNvSpPr/>
          <p:nvPr/>
        </p:nvSpPr>
        <p:spPr>
          <a:xfrm>
            <a:off x="573952" y="4121817"/>
            <a:ext cx="1216152" cy="731520"/>
          </a:xfrm>
          <a:prstGeom prst="rect">
            <a:avLst/>
          </a:prstGeom>
          <a:solidFill>
            <a:srgbClr val="6F8DB9"/>
          </a:solidFill>
          <a:ln w="12700" cap="flat" cmpd="sng" algn="ctr">
            <a:noFill/>
            <a:prstDash val="solid"/>
            <a:miter lim="800000"/>
          </a:ln>
          <a:effectLst/>
        </p:spPr>
        <p:txBody>
          <a:bodyPr lIns="180000" tIns="180000" rIns="180000" bIns="180000" rtlCol="0" anchor="ctr" anchorCtr="0"/>
          <a:lstStyle/>
          <a:p>
            <a:pPr marL="0" marR="0" lvl="0" indent="0" algn="ctr" defTabSz="914400" rtl="0" eaLnBrk="1" fontAlgn="auto" latinLnBrk="0" hangingPunct="1">
              <a:lnSpc>
                <a:spcPct val="70000"/>
              </a:lnSpc>
              <a:spcBef>
                <a:spcPts val="0"/>
              </a:spcBef>
              <a:spcAft>
                <a:spcPts val="600"/>
              </a:spcAft>
              <a:buClrTx/>
              <a:buSzTx/>
              <a:buFontTx/>
              <a:buNone/>
              <a:tabLst/>
              <a:defRPr/>
            </a:pPr>
            <a:r>
              <a:rPr kumimoji="0" lang="en-US" sz="12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rPr>
              <a:t>Regulatory Risk to Supply Chain and Labor</a:t>
            </a:r>
            <a:endParaRPr kumimoji="0" lang="en-GB" sz="1200" b="0" i="0" u="none" strike="noStrike" kern="0" cap="none" spc="0" normalizeH="0" baseline="0" noProof="0" dirty="0">
              <a:ln>
                <a:noFill/>
              </a:ln>
              <a:solidFill>
                <a:srgbClr val="FFFFFF"/>
              </a:solidFill>
              <a:effectLst/>
              <a:uLnTx/>
              <a:uFillTx/>
              <a:latin typeface="Calibri" panose="020F0502020204030204" pitchFamily="34" charset="0"/>
              <a:cs typeface="Calibri" panose="020F0502020204030204" pitchFamily="34" charset="0"/>
            </a:endParaRPr>
          </a:p>
        </p:txBody>
      </p:sp>
      <p:sp>
        <p:nvSpPr>
          <p:cNvPr id="37" name="TextBox 36">
            <a:extLst>
              <a:ext uri="{FF2B5EF4-FFF2-40B4-BE49-F238E27FC236}">
                <a16:creationId xmlns:a16="http://schemas.microsoft.com/office/drawing/2014/main" id="{213EF0A2-D71C-EF3E-E5F1-3491A7B0A835}"/>
              </a:ext>
            </a:extLst>
          </p:cNvPr>
          <p:cNvSpPr txBox="1"/>
          <p:nvPr/>
        </p:nvSpPr>
        <p:spPr>
          <a:xfrm>
            <a:off x="573952" y="1281466"/>
            <a:ext cx="1216152" cy="274320"/>
          </a:xfrm>
          <a:prstGeom prst="rect">
            <a:avLst/>
          </a:prstGeom>
          <a:solidFill>
            <a:srgbClr val="002060"/>
          </a:solid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a:ea typeface="+mn-ea"/>
                <a:cs typeface="+mn-cs"/>
              </a:rPr>
              <a:t>Potential Risks</a:t>
            </a:r>
          </a:p>
        </p:txBody>
      </p:sp>
      <p:sp>
        <p:nvSpPr>
          <p:cNvPr id="38" name="TextBox 37">
            <a:extLst>
              <a:ext uri="{FF2B5EF4-FFF2-40B4-BE49-F238E27FC236}">
                <a16:creationId xmlns:a16="http://schemas.microsoft.com/office/drawing/2014/main" id="{22B1B9BE-6282-6793-537D-508901B0A3B6}"/>
              </a:ext>
            </a:extLst>
          </p:cNvPr>
          <p:cNvSpPr txBox="1"/>
          <p:nvPr/>
        </p:nvSpPr>
        <p:spPr>
          <a:xfrm>
            <a:off x="2023206" y="1281466"/>
            <a:ext cx="6441744" cy="274320"/>
          </a:xfrm>
          <a:prstGeom prst="rect">
            <a:avLst/>
          </a:prstGeom>
          <a:solidFill>
            <a:srgbClr val="002060"/>
          </a:solid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a:ln>
                  <a:noFill/>
                </a:ln>
                <a:solidFill>
                  <a:srgbClr val="FFFFFF"/>
                </a:solidFill>
                <a:effectLst/>
                <a:uLnTx/>
                <a:uFillTx/>
                <a:latin typeface="Arial"/>
                <a:ea typeface="+mn-ea"/>
                <a:cs typeface="+mn-cs"/>
              </a:rPr>
              <a:t>Description</a:t>
            </a:r>
          </a:p>
        </p:txBody>
      </p:sp>
      <p:sp>
        <p:nvSpPr>
          <p:cNvPr id="39" name="TextBox 38">
            <a:extLst>
              <a:ext uri="{FF2B5EF4-FFF2-40B4-BE49-F238E27FC236}">
                <a16:creationId xmlns:a16="http://schemas.microsoft.com/office/drawing/2014/main" id="{F46124CE-7373-968A-ECC7-E520A91B7D47}"/>
              </a:ext>
            </a:extLst>
          </p:cNvPr>
          <p:cNvSpPr txBox="1"/>
          <p:nvPr/>
        </p:nvSpPr>
        <p:spPr>
          <a:xfrm>
            <a:off x="8764401" y="1286423"/>
            <a:ext cx="2925274" cy="274320"/>
          </a:xfrm>
          <a:prstGeom prst="rect">
            <a:avLst/>
          </a:prstGeom>
          <a:solidFill>
            <a:srgbClr val="002060"/>
          </a:solidFill>
        </p:spPr>
        <p:txBody>
          <a:bodyPr vert="horz" wrap="square" lIns="0" tIns="0" rIns="0" bIns="0" rtlCol="0" anchor="ctr" anchorCtr="0">
            <a:noAutofit/>
          </a:bodyPr>
          <a:lstStyle/>
          <a:p>
            <a:pPr marL="0" marR="0" lvl="0" indent="0" algn="ctr" defTabSz="914400" rtl="0" eaLnBrk="1" fontAlgn="auto" latinLnBrk="0" hangingPunct="1">
              <a:lnSpc>
                <a:spcPct val="100000"/>
              </a:lnSpc>
              <a:spcBef>
                <a:spcPts val="0"/>
              </a:spcBef>
              <a:spcAft>
                <a:spcPts val="60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rial"/>
                <a:ea typeface="+mn-ea"/>
                <a:cs typeface="+mn-cs"/>
              </a:rPr>
              <a:t>Impact</a:t>
            </a:r>
          </a:p>
        </p:txBody>
      </p:sp>
      <p:sp>
        <p:nvSpPr>
          <p:cNvPr id="41" name="Rectangle 40">
            <a:extLst>
              <a:ext uri="{FF2B5EF4-FFF2-40B4-BE49-F238E27FC236}">
                <a16:creationId xmlns:a16="http://schemas.microsoft.com/office/drawing/2014/main" id="{AD662A85-B645-E445-052D-27B273DBC71C}"/>
              </a:ext>
            </a:extLst>
          </p:cNvPr>
          <p:cNvSpPr/>
          <p:nvPr/>
        </p:nvSpPr>
        <p:spPr>
          <a:xfrm>
            <a:off x="573953" y="5303043"/>
            <a:ext cx="11119822" cy="589319"/>
          </a:xfrm>
          <a:prstGeom prst="rec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1200" cap="none" spc="0" normalizeH="0" baseline="0" noProof="0" dirty="0">
                <a:ln>
                  <a:noFill/>
                </a:ln>
                <a:solidFill>
                  <a:srgbClr val="000000"/>
                </a:solidFill>
                <a:effectLst/>
                <a:uLnTx/>
                <a:uFillTx/>
                <a:latin typeface="Arial"/>
                <a:ea typeface="+mn-ea"/>
                <a:cs typeface="+mn-cs"/>
              </a:rPr>
              <a:t>Key Takeaway: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dirty="0">
                <a:solidFill>
                  <a:schemeClr val="tx1"/>
                </a:solidFill>
                <a:effectLst/>
              </a:rPr>
              <a:t>These risks are not independent; they are interconnected. A regulatory delay consumes the short construction season, while a labor shortage makes every delay more expensive, creating a compounding threat to project viability</a:t>
            </a:r>
            <a:endParaRPr kumimoji="0" lang="en-US" sz="1000" b="0" i="0" u="none" strike="noStrike" kern="1200" cap="none" spc="0" normalizeH="0" baseline="0" noProof="0" dirty="0">
              <a:ln>
                <a:noFill/>
              </a:ln>
              <a:solidFill>
                <a:schemeClr val="tx1"/>
              </a:solidFill>
              <a:effectLst/>
              <a:uLnTx/>
              <a:uFillTx/>
              <a:ea typeface="+mn-ea"/>
              <a:cs typeface="+mn-cs"/>
            </a:endParaRPr>
          </a:p>
        </p:txBody>
      </p:sp>
      <p:sp>
        <p:nvSpPr>
          <p:cNvPr id="2" name="TextBox 1">
            <a:extLst>
              <a:ext uri="{FF2B5EF4-FFF2-40B4-BE49-F238E27FC236}">
                <a16:creationId xmlns:a16="http://schemas.microsoft.com/office/drawing/2014/main" id="{754794E7-A3CF-2866-8B06-4F39C289B8EA}"/>
              </a:ext>
            </a:extLst>
          </p:cNvPr>
          <p:cNvSpPr txBox="1"/>
          <p:nvPr/>
        </p:nvSpPr>
        <p:spPr>
          <a:xfrm>
            <a:off x="573952" y="6377746"/>
            <a:ext cx="10579509" cy="149455"/>
          </a:xfrm>
          <a:prstGeom prst="rect">
            <a:avLst/>
          </a:prstGeom>
        </p:spPr>
        <p:txBody>
          <a:bodyPr vert="horz" wrap="square" lIns="0" tIns="0" rIns="0" bIns="0" rtlCol="0" anchor="ctr" anchorCtr="0">
            <a:noAutofit/>
          </a:bodyPr>
          <a:lstStyle/>
          <a:p>
            <a:pPr>
              <a:defRPr/>
            </a:pPr>
            <a:r>
              <a:rPr kumimoji="0" lang="en-US" sz="600" b="0" i="1" u="none" strike="noStrike" kern="1200" cap="none" spc="0" normalizeH="0" baseline="0" noProof="0">
                <a:ln>
                  <a:noFill/>
                </a:ln>
                <a:solidFill>
                  <a:schemeClr val="tx1">
                    <a:lumMod val="100000"/>
                  </a:schemeClr>
                </a:solidFill>
                <a:effectLst/>
                <a:uLnTx/>
                <a:uFillTx/>
                <a:latin typeface="Arial"/>
                <a:ea typeface="+mn-ea"/>
                <a:cs typeface="+mn-cs"/>
              </a:rPr>
              <a:t>Source: Synthesized from U.S. Bureau of Labor Statistics, Fiber Broadband Association, Michigan High-Speed Internet Office, and Michigan Dept. of Labor &amp; Economic Opportunity; accessed Jan ’26.</a:t>
            </a:r>
            <a:endParaRPr kumimoji="0" lang="en-US" sz="600" b="0" i="1" u="none" strike="noStrike" kern="1200" cap="none" spc="0" normalizeH="0" baseline="0" noProof="0">
              <a:ln>
                <a:noFill/>
              </a:ln>
              <a:solidFill>
                <a:srgbClr val="00338D"/>
              </a:solidFill>
              <a:effectLst/>
              <a:uLnTx/>
              <a:uFillTx/>
              <a:latin typeface="Arial"/>
              <a:ea typeface="+mn-ea"/>
              <a:cs typeface="+mn-cs"/>
            </a:endParaRPr>
          </a:p>
        </p:txBody>
      </p:sp>
      <p:cxnSp>
        <p:nvCxnSpPr>
          <p:cNvPr id="12" name="Straight Connector 11">
            <a:extLst>
              <a:ext uri="{FF2B5EF4-FFF2-40B4-BE49-F238E27FC236}">
                <a16:creationId xmlns:a16="http://schemas.microsoft.com/office/drawing/2014/main" id="{4E0A805F-7C67-E84B-D584-D1BA6A31A763}"/>
              </a:ext>
            </a:extLst>
          </p:cNvPr>
          <p:cNvCxnSpPr>
            <a:cxnSpLocks/>
          </p:cNvCxnSpPr>
          <p:nvPr/>
        </p:nvCxnSpPr>
        <p:spPr>
          <a:xfrm>
            <a:off x="9981192" y="12405"/>
            <a:ext cx="1067012"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442CBA69-F25F-82C0-AC59-0853456D2BA4}"/>
              </a:ext>
            </a:extLst>
          </p:cNvPr>
          <p:cNvCxnSpPr/>
          <p:nvPr/>
        </p:nvCxnSpPr>
        <p:spPr>
          <a:xfrm>
            <a:off x="11077575" y="12405"/>
            <a:ext cx="1114425" cy="0"/>
          </a:xfrm>
          <a:prstGeom prst="line">
            <a:avLst/>
          </a:prstGeom>
          <a:ln w="76200" cap="flat" cmpd="sng" algn="ctr">
            <a:solidFill>
              <a:srgbClr val="6F8DB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AACD3DC-F830-808A-2C70-0D205DFF9C1A}"/>
              </a:ext>
            </a:extLst>
          </p:cNvPr>
          <p:cNvCxnSpPr>
            <a:cxnSpLocks/>
          </p:cNvCxnSpPr>
          <p:nvPr/>
        </p:nvCxnSpPr>
        <p:spPr>
          <a:xfrm>
            <a:off x="8799732" y="12405"/>
            <a:ext cx="1134047" cy="0"/>
          </a:xfrm>
          <a:prstGeom prst="line">
            <a:avLst/>
          </a:prstGeom>
          <a:ln w="38100">
            <a:solidFill>
              <a:srgbClr val="3B5479"/>
            </a:solidFill>
          </a:ln>
        </p:spPr>
        <p:style>
          <a:lnRef idx="1">
            <a:schemeClr val="accent1"/>
          </a:lnRef>
          <a:fillRef idx="0">
            <a:schemeClr val="accent1"/>
          </a:fillRef>
          <a:effectRef idx="0">
            <a:schemeClr val="accent1"/>
          </a:effectRef>
          <a:fontRef idx="minor">
            <a:schemeClr val="tx1"/>
          </a:fontRef>
        </p:style>
      </p:cxnSp>
      <p:sp>
        <p:nvSpPr>
          <p:cNvPr id="28" name="Rectangle 27">
            <a:extLst>
              <a:ext uri="{FF2B5EF4-FFF2-40B4-BE49-F238E27FC236}">
                <a16:creationId xmlns:a16="http://schemas.microsoft.com/office/drawing/2014/main" id="{B684613D-0020-06B0-34C3-ED67CE8F8626}"/>
              </a:ext>
            </a:extLst>
          </p:cNvPr>
          <p:cNvSpPr/>
          <p:nvPr/>
        </p:nvSpPr>
        <p:spPr>
          <a:xfrm>
            <a:off x="11048204" y="82525"/>
            <a:ext cx="1114425" cy="179659"/>
          </a:xfrm>
          <a:prstGeom prst="rect">
            <a:avLst/>
          </a:prstGeom>
          <a:solidFill>
            <a:schemeClr val="bg1">
              <a:lumMod val="100000"/>
            </a:schemeClr>
          </a:solidFill>
          <a:ln>
            <a:solidFill>
              <a:srgbClr val="4472C4"/>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r>
              <a:rPr lang="en-US" sz="800">
                <a:solidFill>
                  <a:srgbClr val="6F8DB9"/>
                </a:solidFill>
              </a:rPr>
              <a:t>Implementation Risks</a:t>
            </a:r>
            <a:endParaRPr lang="en-US" sz="800">
              <a:solidFill>
                <a:srgbClr val="6F8DB9"/>
              </a:solidFill>
              <a:cs typeface="Arial"/>
            </a:endParaRPr>
          </a:p>
        </p:txBody>
      </p:sp>
      <p:cxnSp>
        <p:nvCxnSpPr>
          <p:cNvPr id="31" name="Straight Connector 30">
            <a:extLst>
              <a:ext uri="{FF2B5EF4-FFF2-40B4-BE49-F238E27FC236}">
                <a16:creationId xmlns:a16="http://schemas.microsoft.com/office/drawing/2014/main" id="{DC4D463A-F023-5D54-6D80-095671CB1655}"/>
              </a:ext>
            </a:extLst>
          </p:cNvPr>
          <p:cNvCxnSpPr>
            <a:cxnSpLocks/>
          </p:cNvCxnSpPr>
          <p:nvPr/>
        </p:nvCxnSpPr>
        <p:spPr>
          <a:xfrm>
            <a:off x="7706324" y="12405"/>
            <a:ext cx="1067012" cy="0"/>
          </a:xfrm>
          <a:prstGeom prst="line">
            <a:avLst/>
          </a:prstGeom>
          <a:ln w="38100" cap="flat" cmpd="sng" algn="ctr">
            <a:solidFill>
              <a:srgbClr val="3B5479"/>
            </a:solidFill>
            <a:prstDash val="solid"/>
            <a:miter lim="800000"/>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A9014AAA-22DE-3E43-2C9F-EC0E1A2B1DD4}"/>
              </a:ext>
            </a:extLst>
          </p:cNvPr>
          <p:cNvSpPr txBox="1"/>
          <p:nvPr/>
        </p:nvSpPr>
        <p:spPr>
          <a:xfrm>
            <a:off x="6772275" y="4893020"/>
            <a:ext cx="2001061" cy="103992"/>
          </a:xfrm>
          <a:prstGeom prst="rect">
            <a:avLst/>
          </a:prstGeom>
        </p:spPr>
        <p:txBody>
          <a:bodyPr vert="horz" wrap="square" lIns="0" tIns="0" rIns="0" bIns="0" rtlCol="0" anchor="ctr" anchorCtr="0">
            <a:noAutofit/>
          </a:bodyPr>
          <a:lstStyle/>
          <a:p>
            <a:pPr>
              <a:defRPr/>
            </a:pPr>
            <a:r>
              <a:rPr kumimoji="0" lang="en-US" sz="800" b="0" i="1" u="none" strike="noStrike" kern="1200" cap="none" spc="0" normalizeH="0" baseline="0" noProof="0">
                <a:ln>
                  <a:noFill/>
                </a:ln>
                <a:solidFill>
                  <a:schemeClr val="tx1">
                    <a:lumMod val="100000"/>
                  </a:schemeClr>
                </a:solidFill>
                <a:effectLst/>
                <a:uLnTx/>
                <a:uFillTx/>
                <a:latin typeface="Arial"/>
                <a:ea typeface="+mn-ea"/>
                <a:cs typeface="+mn-cs"/>
              </a:rPr>
              <a:t>*Michigan Public Service Commission</a:t>
            </a:r>
            <a:endParaRPr kumimoji="0" lang="en-US" sz="800" b="0" i="1" u="none" strike="noStrike" kern="1200" cap="none" spc="0" normalizeH="0" baseline="0" noProof="0">
              <a:ln>
                <a:noFill/>
              </a:ln>
              <a:solidFill>
                <a:srgbClr val="00338D"/>
              </a:solidFill>
              <a:effectLst/>
              <a:uLnTx/>
              <a:uFillTx/>
              <a:latin typeface="Arial"/>
              <a:ea typeface="+mn-ea"/>
              <a:cs typeface="+mn-cs"/>
            </a:endParaRPr>
          </a:p>
        </p:txBody>
      </p:sp>
    </p:spTree>
    <p:extLst>
      <p:ext uri="{BB962C8B-B14F-4D97-AF65-F5344CB8AC3E}">
        <p14:creationId xmlns:p14="http://schemas.microsoft.com/office/powerpoint/2010/main" val="40876983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hink-cell data - do not delete" hidden="1">
            <a:extLst>
              <a:ext uri="{FF2B5EF4-FFF2-40B4-BE49-F238E27FC236}">
                <a16:creationId xmlns:a16="http://schemas.microsoft.com/office/drawing/2014/main" id="{D9C2E2F3-7FD1-7801-6602-914641F0FF93}"/>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2" imgW="405" imgH="405" progId="TCLayout.ActiveDocument.1">
                  <p:embed/>
                </p:oleObj>
              </mc:Choice>
              <mc:Fallback>
                <p:oleObj name="think-cell Slide" r:id="rId12" imgW="405" imgH="405" progId="TCLayout.ActiveDocument.1">
                  <p:embed/>
                  <p:pic>
                    <p:nvPicPr>
                      <p:cNvPr id="11" name="think-cell data - do not delete" hidden="1">
                        <a:extLst>
                          <a:ext uri="{FF2B5EF4-FFF2-40B4-BE49-F238E27FC236}">
                            <a16:creationId xmlns:a16="http://schemas.microsoft.com/office/drawing/2014/main" id="{D9C2E2F3-7FD1-7801-6602-914641F0FF93}"/>
                          </a:ext>
                        </a:extLst>
                      </p:cNvPr>
                      <p:cNvPicPr/>
                      <p:nvPr/>
                    </p:nvPicPr>
                    <p:blipFill>
                      <a:blip r:embed="rId13"/>
                      <a:stretch>
                        <a:fillRect/>
                      </a:stretch>
                    </p:blipFill>
                    <p:spPr>
                      <a:xfrm>
                        <a:off x="1588" y="1588"/>
                        <a:ext cx="1588" cy="1588"/>
                      </a:xfrm>
                      <a:prstGeom prst="rect">
                        <a:avLst/>
                      </a:prstGeom>
                    </p:spPr>
                  </p:pic>
                </p:oleObj>
              </mc:Fallback>
            </mc:AlternateContent>
          </a:graphicData>
        </a:graphic>
      </p:graphicFrame>
      <p:sp>
        <p:nvSpPr>
          <p:cNvPr id="2" name="Text Placeholder 1">
            <a:extLst>
              <a:ext uri="{FF2B5EF4-FFF2-40B4-BE49-F238E27FC236}">
                <a16:creationId xmlns:a16="http://schemas.microsoft.com/office/drawing/2014/main" id="{8B11855E-84B9-5295-CFAC-4E2B64B060E9}"/>
              </a:ext>
            </a:extLst>
          </p:cNvPr>
          <p:cNvSpPr>
            <a:spLocks noGrp="1"/>
          </p:cNvSpPr>
          <p:nvPr>
            <p:ph type="body" sz="quarter" idx="20"/>
          </p:nvPr>
        </p:nvSpPr>
        <p:spPr/>
        <p:txBody>
          <a:bodyPr/>
          <a:lstStyle/>
          <a:p>
            <a:r>
              <a:rPr lang="en-US"/>
              <a:t>Product Portfolio</a:t>
            </a:r>
          </a:p>
        </p:txBody>
      </p:sp>
      <p:sp>
        <p:nvSpPr>
          <p:cNvPr id="13" name="Title 12">
            <a:extLst>
              <a:ext uri="{FF2B5EF4-FFF2-40B4-BE49-F238E27FC236}">
                <a16:creationId xmlns:a16="http://schemas.microsoft.com/office/drawing/2014/main" id="{E208908B-799A-420E-2B37-3AF5FD8C34B1}"/>
              </a:ext>
            </a:extLst>
          </p:cNvPr>
          <p:cNvSpPr>
            <a:spLocks noGrp="1"/>
          </p:cNvSpPr>
          <p:nvPr>
            <p:ph type="title"/>
          </p:nvPr>
        </p:nvSpPr>
        <p:spPr>
          <a:xfrm>
            <a:off x="501520" y="441590"/>
            <a:ext cx="11192256" cy="308293"/>
          </a:xfrm>
        </p:spPr>
        <p:txBody>
          <a:bodyPr vert="horz">
            <a:noAutofit/>
          </a:bodyPr>
          <a:lstStyle/>
          <a:p>
            <a:r>
              <a:rPr lang="en-US" sz="2800" b="1" dirty="0">
                <a:solidFill>
                  <a:srgbClr val="3A5479"/>
                </a:solidFill>
                <a:latin typeface="Calibri" panose="020F0502020204030204" pitchFamily="34" charset="0"/>
                <a:cs typeface="Calibri" panose="020F0502020204030204" pitchFamily="34" charset="0"/>
              </a:rPr>
              <a:t>Michigan's Broadband Product Portfolio for BEAD Deployment</a:t>
            </a:r>
            <a:endParaRPr lang="en-US" sz="2800" dirty="0">
              <a:solidFill>
                <a:srgbClr val="3A5479"/>
              </a:solidFill>
              <a:latin typeface="Calibri" panose="020F0502020204030204" pitchFamily="34" charset="0"/>
              <a:cs typeface="Calibri" panose="020F0502020204030204" pitchFamily="34" charset="0"/>
            </a:endParaRPr>
          </a:p>
        </p:txBody>
      </p:sp>
      <p:graphicFrame>
        <p:nvGraphicFramePr>
          <p:cNvPr id="8" name="Table 7">
            <a:extLst>
              <a:ext uri="{FF2B5EF4-FFF2-40B4-BE49-F238E27FC236}">
                <a16:creationId xmlns:a16="http://schemas.microsoft.com/office/drawing/2014/main" id="{DE2DDB8B-8ACB-52FF-7140-CDC6F7B23AEB}"/>
              </a:ext>
            </a:extLst>
          </p:cNvPr>
          <p:cNvGraphicFramePr>
            <a:graphicFrameLocks noGrp="1"/>
          </p:cNvGraphicFramePr>
          <p:nvPr/>
        </p:nvGraphicFramePr>
        <p:xfrm>
          <a:off x="502857" y="1313638"/>
          <a:ext cx="5378878" cy="3455285"/>
        </p:xfrm>
        <a:graphic>
          <a:graphicData uri="http://schemas.openxmlformats.org/drawingml/2006/table">
            <a:tbl>
              <a:tblPr/>
              <a:tblGrid>
                <a:gridCol w="1836095">
                  <a:extLst>
                    <a:ext uri="{9D8B030D-6E8A-4147-A177-3AD203B41FA5}">
                      <a16:colId xmlns:a16="http://schemas.microsoft.com/office/drawing/2014/main" val="1737261126"/>
                    </a:ext>
                  </a:extLst>
                </a:gridCol>
                <a:gridCol w="2503902">
                  <a:extLst>
                    <a:ext uri="{9D8B030D-6E8A-4147-A177-3AD203B41FA5}">
                      <a16:colId xmlns:a16="http://schemas.microsoft.com/office/drawing/2014/main" val="2159437042"/>
                    </a:ext>
                  </a:extLst>
                </a:gridCol>
                <a:gridCol w="1038881">
                  <a:extLst>
                    <a:ext uri="{9D8B030D-6E8A-4147-A177-3AD203B41FA5}">
                      <a16:colId xmlns:a16="http://schemas.microsoft.com/office/drawing/2014/main" val="2480158214"/>
                    </a:ext>
                  </a:extLst>
                </a:gridCol>
              </a:tblGrid>
              <a:tr h="322553">
                <a:tc>
                  <a:txBody>
                    <a:bodyPr/>
                    <a:lstStyle/>
                    <a:p>
                      <a:pPr>
                        <a:buNone/>
                      </a:pPr>
                      <a:r>
                        <a:rPr lang="en-US" sz="1000" b="1">
                          <a:effectLst/>
                        </a:rPr>
                        <a:t>Product Category</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5F5F5"/>
                    </a:solidFill>
                  </a:tcPr>
                </a:tc>
                <a:tc>
                  <a:txBody>
                    <a:bodyPr/>
                    <a:lstStyle/>
                    <a:p>
                      <a:pPr>
                        <a:buNone/>
                      </a:pPr>
                      <a:r>
                        <a:rPr lang="en-US" sz="1000" b="1">
                          <a:effectLst/>
                        </a:rPr>
                        <a:t>Key BABA-Compliant Suppliers</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5F5F5"/>
                    </a:solidFill>
                  </a:tcPr>
                </a:tc>
                <a:tc>
                  <a:txBody>
                    <a:bodyPr/>
                    <a:lstStyle/>
                    <a:p>
                      <a:pPr>
                        <a:buNone/>
                      </a:pPr>
                      <a:r>
                        <a:rPr lang="en-US" sz="1000" b="1">
                          <a:effectLst/>
                        </a:rPr>
                        <a:t>Risk Level</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solidFill>
                      <a:srgbClr val="F5F5F5"/>
                    </a:solidFill>
                  </a:tcPr>
                </a:tc>
                <a:extLst>
                  <a:ext uri="{0D108BD9-81ED-4DB2-BD59-A6C34878D82A}">
                    <a16:rowId xmlns:a16="http://schemas.microsoft.com/office/drawing/2014/main" val="3516103495"/>
                  </a:ext>
                </a:extLst>
              </a:tr>
              <a:tr h="664896">
                <a:tc>
                  <a:txBody>
                    <a:bodyPr/>
                    <a:lstStyle/>
                    <a:p>
                      <a:pPr>
                        <a:buNone/>
                      </a:pPr>
                      <a:r>
                        <a:rPr lang="en-US" sz="1000" b="1">
                          <a:effectLst/>
                        </a:rPr>
                        <a:t>Fiber Optic Cable</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effectLst/>
                        </a:rPr>
                        <a:t>Corning (NY),</a:t>
                      </a:r>
                    </a:p>
                    <a:p>
                      <a:pPr marL="171450" indent="-171450">
                        <a:buFont typeface="Arial" panose="020B0604020202020204" pitchFamily="34" charset="0"/>
                        <a:buChar char="•"/>
                      </a:pPr>
                      <a:r>
                        <a:rPr lang="en-US" sz="1000">
                          <a:effectLst/>
                        </a:rPr>
                        <a:t>CommScope (NC),</a:t>
                      </a:r>
                    </a:p>
                    <a:p>
                      <a:pPr marL="171450" indent="-171450">
                        <a:buFont typeface="Arial" panose="020B0604020202020204" pitchFamily="34" charset="0"/>
                        <a:buChar char="•"/>
                      </a:pPr>
                      <a:r>
                        <a:rPr lang="en-US" sz="1000">
                          <a:effectLst/>
                        </a:rPr>
                        <a:t>Prysmian Group (SC),</a:t>
                      </a:r>
                    </a:p>
                    <a:p>
                      <a:pPr marL="171450" indent="-171450">
                        <a:buFont typeface="Arial" panose="020B0604020202020204" pitchFamily="34" charset="0"/>
                        <a:buChar char="•"/>
                      </a:pPr>
                      <a:r>
                        <a:rPr lang="en-US" sz="1000">
                          <a:effectLst/>
                        </a:rPr>
                        <a:t>OFS/Furukawa (GA)</a:t>
                      </a: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a:buNone/>
                      </a:pPr>
                      <a:r>
                        <a:rPr lang="en-US" sz="1000" b="1">
                          <a:effectLst/>
                        </a:rPr>
                        <a:t>High Risk</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4051436039"/>
                  </a:ext>
                </a:extLst>
              </a:tr>
              <a:tr h="809439">
                <a:tc>
                  <a:txBody>
                    <a:bodyPr/>
                    <a:lstStyle/>
                    <a:p>
                      <a:pPr>
                        <a:buNone/>
                      </a:pPr>
                      <a:r>
                        <a:rPr lang="en-US" sz="1000" b="1">
                          <a:effectLst/>
                        </a:rPr>
                        <a:t>Passive Optical Components </a:t>
                      </a:r>
                      <a:r>
                        <a:rPr lang="en-US" sz="1000" b="0">
                          <a:effectLst/>
                        </a:rPr>
                        <a:t>(e.g., splitters, connectors, and distribution terminals)</a:t>
                      </a: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effectLst/>
                        </a:rPr>
                        <a:t>CommScope &amp; Corning (Terminals/Splitters)</a:t>
                      </a:r>
                    </a:p>
                    <a:p>
                      <a:pPr marL="171450" indent="-171450">
                        <a:buFont typeface="Arial" panose="020B0604020202020204" pitchFamily="34" charset="0"/>
                        <a:buChar char="•"/>
                      </a:pPr>
                      <a:r>
                        <a:rPr lang="en-US" sz="1000">
                          <a:effectLst/>
                        </a:rPr>
                        <a:t>Clearfield (MN)</a:t>
                      </a:r>
                    </a:p>
                    <a:p>
                      <a:pPr marL="171450" indent="-171450">
                        <a:buFont typeface="Arial" panose="020B0604020202020204" pitchFamily="34" charset="0"/>
                        <a:buChar char="•"/>
                      </a:pPr>
                      <a:r>
                        <a:rPr lang="en-US" sz="1000">
                          <a:effectLst/>
                        </a:rPr>
                        <a:t>Various overseas suppliers (Connectors)</a:t>
                      </a: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a:buNone/>
                      </a:pPr>
                      <a:r>
                        <a:rPr lang="en-US" sz="1000" b="1">
                          <a:effectLst/>
                        </a:rPr>
                        <a:t>Medium Risk</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2165889135"/>
                  </a:ext>
                </a:extLst>
              </a:tr>
              <a:tr h="664896">
                <a:tc>
                  <a:txBody>
                    <a:bodyPr/>
                    <a:lstStyle/>
                    <a:p>
                      <a:pPr>
                        <a:buNone/>
                      </a:pPr>
                      <a:r>
                        <a:rPr lang="en-US" sz="1000" b="1">
                          <a:effectLst/>
                        </a:rPr>
                        <a:t>Network Electronics (OLTs, ONUs)</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it-IT" sz="1000">
                          <a:effectLst/>
                        </a:rPr>
                        <a:t>Adtran (AL)</a:t>
                      </a:r>
                    </a:p>
                    <a:p>
                      <a:pPr marL="171450" indent="-171450">
                        <a:buFont typeface="Arial" panose="020B0604020202020204" pitchFamily="34" charset="0"/>
                        <a:buChar char="•"/>
                      </a:pPr>
                      <a:r>
                        <a:rPr lang="it-IT" sz="1000">
                          <a:effectLst/>
                        </a:rPr>
                        <a:t>Calix (MI)</a:t>
                      </a:r>
                    </a:p>
                    <a:p>
                      <a:pPr marL="171450" indent="-171450">
                        <a:buFont typeface="Arial" panose="020B0604020202020204" pitchFamily="34" charset="0"/>
                        <a:buChar char="•"/>
                      </a:pPr>
                      <a:r>
                        <a:rPr lang="it-IT" sz="1000">
                          <a:effectLst/>
                        </a:rPr>
                        <a:t>Nokia (U.S. assembly)</a:t>
                      </a:r>
                    </a:p>
                    <a:p>
                      <a:pPr marL="171450" indent="-171450">
                        <a:buFont typeface="Arial" panose="020B0604020202020204" pitchFamily="34" charset="0"/>
                        <a:buChar char="•"/>
                      </a:pPr>
                      <a:r>
                        <a:rPr lang="it-IT" sz="1000">
                          <a:effectLst/>
                        </a:rPr>
                        <a:t>Cisco (CA)</a:t>
                      </a: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a:buNone/>
                      </a:pPr>
                      <a:r>
                        <a:rPr lang="en-US" sz="1000" b="1">
                          <a:effectLst/>
                        </a:rPr>
                        <a:t>High Risk</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894532909"/>
                  </a:ext>
                </a:extLst>
              </a:tr>
              <a:tr h="877212">
                <a:tc>
                  <a:txBody>
                    <a:bodyPr/>
                    <a:lstStyle/>
                    <a:p>
                      <a:pPr>
                        <a:buNone/>
                      </a:pPr>
                      <a:r>
                        <a:rPr lang="en-US" sz="1000" b="1">
                          <a:effectLst/>
                        </a:rPr>
                        <a:t>Conduit and Structural Materials </a:t>
                      </a:r>
                      <a:r>
                        <a:rPr lang="en-US" sz="1000" b="0">
                          <a:effectLst/>
                        </a:rPr>
                        <a:t>(e.g. underground conduit, utility poles,etc.)</a:t>
                      </a:r>
                    </a:p>
                    <a:p>
                      <a:pPr>
                        <a:buNone/>
                      </a:pPr>
                      <a:endParaRPr lang="en-US" sz="1000" b="1">
                        <a:effectLst/>
                      </a:endParaRPr>
                    </a:p>
                    <a:p>
                      <a:pPr>
                        <a:buNone/>
                      </a:pP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marL="171450" indent="-171450">
                        <a:buFont typeface="Arial" panose="020B0604020202020204" pitchFamily="34" charset="0"/>
                        <a:buChar char="•"/>
                      </a:pPr>
                      <a:r>
                        <a:rPr lang="en-US" sz="1000">
                          <a:effectLst/>
                        </a:rPr>
                        <a:t>Dura-Line (TN)</a:t>
                      </a:r>
                    </a:p>
                    <a:p>
                      <a:pPr marL="171450" indent="-171450">
                        <a:buFont typeface="Arial" panose="020B0604020202020204" pitchFamily="34" charset="0"/>
                        <a:buChar char="•"/>
                      </a:pPr>
                      <a:r>
                        <a:rPr lang="en-US" sz="1000">
                          <a:effectLst/>
                        </a:rPr>
                        <a:t>Oldcastle (Vaults)</a:t>
                      </a:r>
                    </a:p>
                    <a:p>
                      <a:pPr marL="171450" indent="-171450">
                        <a:buFont typeface="Arial" panose="020B0604020202020204" pitchFamily="34" charset="0"/>
                        <a:buChar char="•"/>
                      </a:pPr>
                      <a:r>
                        <a:rPr lang="en-US" sz="1000">
                          <a:effectLst/>
                        </a:rPr>
                        <a:t>Stella-Jones (Wood Poles)</a:t>
                      </a: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tc>
                  <a:txBody>
                    <a:bodyPr/>
                    <a:lstStyle/>
                    <a:p>
                      <a:pPr>
                        <a:buNone/>
                      </a:pPr>
                      <a:r>
                        <a:rPr lang="en-US" sz="1000" b="1">
                          <a:effectLst/>
                        </a:rPr>
                        <a:t>Medium Risk</a:t>
                      </a:r>
                      <a:endParaRPr lang="en-US" sz="1000">
                        <a:effectLst/>
                      </a:endParaRPr>
                    </a:p>
                  </a:txBody>
                  <a:tcPr anchor="ctr">
                    <a:lnL w="12700" cap="flat" cmpd="sng" algn="ctr">
                      <a:solidFill>
                        <a:srgbClr val="A3A3A3"/>
                      </a:solidFill>
                      <a:prstDash val="solid"/>
                      <a:round/>
                      <a:headEnd type="none" w="med" len="med"/>
                      <a:tailEnd type="none" w="med" len="med"/>
                    </a:lnL>
                    <a:lnR w="12700" cap="flat" cmpd="sng" algn="ctr">
                      <a:solidFill>
                        <a:srgbClr val="A3A3A3"/>
                      </a:solidFill>
                      <a:prstDash val="solid"/>
                      <a:round/>
                      <a:headEnd type="none" w="med" len="med"/>
                      <a:tailEnd type="none" w="med" len="med"/>
                    </a:lnR>
                    <a:lnT w="12700" cap="flat" cmpd="sng" algn="ctr">
                      <a:solidFill>
                        <a:srgbClr val="A3A3A3"/>
                      </a:solidFill>
                      <a:prstDash val="solid"/>
                      <a:round/>
                      <a:headEnd type="none" w="med" len="med"/>
                      <a:tailEnd type="none" w="med" len="med"/>
                    </a:lnT>
                    <a:lnB w="12700" cap="flat" cmpd="sng" algn="ctr">
                      <a:solidFill>
                        <a:srgbClr val="A3A3A3"/>
                      </a:solidFill>
                      <a:prstDash val="solid"/>
                      <a:round/>
                      <a:headEnd type="none" w="med" len="med"/>
                      <a:tailEnd type="none" w="med" len="med"/>
                    </a:lnB>
                    <a:noFill/>
                  </a:tcPr>
                </a:tc>
                <a:extLst>
                  <a:ext uri="{0D108BD9-81ED-4DB2-BD59-A6C34878D82A}">
                    <a16:rowId xmlns:a16="http://schemas.microsoft.com/office/drawing/2014/main" val="2625333991"/>
                  </a:ext>
                </a:extLst>
              </a:tr>
            </a:tbl>
          </a:graphicData>
        </a:graphic>
      </p:graphicFrame>
      <p:sp>
        <p:nvSpPr>
          <p:cNvPr id="4" name="Text Box 57">
            <a:extLst>
              <a:ext uri="{FF2B5EF4-FFF2-40B4-BE49-F238E27FC236}">
                <a16:creationId xmlns:a16="http://schemas.microsoft.com/office/drawing/2014/main" id="{1C4D6CC8-4948-9D0D-DDC8-8B157082A2FC}"/>
              </a:ext>
            </a:extLst>
          </p:cNvPr>
          <p:cNvSpPr txBox="1">
            <a:spLocks noChangeArrowheads="1"/>
          </p:cNvSpPr>
          <p:nvPr>
            <p:custDataLst>
              <p:tags r:id="rId2"/>
            </p:custDataLst>
          </p:nvPr>
        </p:nvSpPr>
        <p:spPr bwMode="gray">
          <a:xfrm>
            <a:off x="498224" y="820543"/>
            <a:ext cx="11277474"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292929"/>
                </a:solidFill>
                <a:effectLst/>
                <a:uLnTx/>
                <a:uFillTx/>
                <a:latin typeface="Arial" panose="020B0604020202020204" pitchFamily="34" charset="0"/>
                <a:ea typeface="+mn-ea"/>
                <a:cs typeface="+mn-cs"/>
              </a:rPr>
              <a:t>To connect </a:t>
            </a:r>
            <a:r>
              <a:rPr kumimoji="0" lang="en-US" sz="1000" b="1" i="0" u="none" strike="noStrike" kern="1200" cap="none" spc="0" normalizeH="0" baseline="0" noProof="0" dirty="0">
                <a:ln>
                  <a:noFill/>
                </a:ln>
                <a:solidFill>
                  <a:srgbClr val="292929"/>
                </a:solidFill>
                <a:effectLst/>
                <a:uLnTx/>
                <a:uFillTx/>
                <a:latin typeface="Arial" panose="020B0604020202020204" pitchFamily="34" charset="0"/>
                <a:ea typeface="+mn-ea"/>
                <a:cs typeface="+mn-cs"/>
              </a:rPr>
              <a:t>~200,000 locations</a:t>
            </a:r>
            <a:r>
              <a:rPr kumimoji="0" lang="en-US" sz="1000" b="0" i="0" u="none" strike="noStrike" kern="1200" cap="none" spc="0" normalizeH="0" baseline="0" noProof="0" dirty="0">
                <a:ln>
                  <a:noFill/>
                </a:ln>
                <a:solidFill>
                  <a:srgbClr val="292929"/>
                </a:solidFill>
                <a:effectLst/>
                <a:uLnTx/>
                <a:uFillTx/>
                <a:latin typeface="Arial" panose="020B0604020202020204" pitchFamily="34" charset="0"/>
                <a:ea typeface="+mn-ea"/>
                <a:cs typeface="+mn-cs"/>
              </a:rPr>
              <a:t> with </a:t>
            </a:r>
            <a:r>
              <a:rPr kumimoji="0" lang="en-US" sz="1000" b="1" i="0" u="none" strike="noStrike" kern="1200" cap="none" spc="0" normalizeH="0" baseline="0" noProof="0" dirty="0">
                <a:ln>
                  <a:noFill/>
                </a:ln>
                <a:solidFill>
                  <a:srgbClr val="292929"/>
                </a:solidFill>
                <a:effectLst/>
                <a:uLnTx/>
                <a:uFillTx/>
                <a:latin typeface="Arial" panose="020B0604020202020204" pitchFamily="34" charset="0"/>
                <a:ea typeface="+mn-ea"/>
                <a:cs typeface="+mn-cs"/>
              </a:rPr>
              <a:t>~31,000 miles of new fiber</a:t>
            </a:r>
            <a:r>
              <a:rPr kumimoji="0" lang="en-US" sz="1000" b="0" i="0" u="none" strike="noStrike" kern="1200" cap="none" spc="0" normalizeH="0" baseline="0" noProof="0" dirty="0">
                <a:ln>
                  <a:noFill/>
                </a:ln>
                <a:solidFill>
                  <a:srgbClr val="292929"/>
                </a:solidFill>
                <a:effectLst/>
                <a:uLnTx/>
                <a:uFillTx/>
                <a:latin typeface="Arial" panose="020B0604020202020204" pitchFamily="34" charset="0"/>
                <a:ea typeface="+mn-ea"/>
                <a:cs typeface="+mn-cs"/>
              </a:rPr>
              <a:t>, Michigan's BEAD program requires a specific portfolio of BABA-compliant products. The table below details these components, their key domestic suppliers, and the primary risks associated with their supply chains.</a:t>
            </a:r>
            <a:endParaRPr kumimoji="0" lang="en-US" sz="1000" b="0" i="0" u="none" strike="noStrike" kern="1200" cap="none" spc="0" normalizeH="0" baseline="0" noProof="0" dirty="0">
              <a:ln>
                <a:noFill/>
              </a:ln>
              <a:solidFill>
                <a:srgbClr val="000000"/>
              </a:solidFill>
              <a:effectLst/>
              <a:uLnTx/>
              <a:uFillTx/>
              <a:latin typeface="Arial" panose="020B0604020202020204" pitchFamily="34" charset="0"/>
              <a:ea typeface="+mn-ea"/>
              <a:cs typeface="Arial" panose="020B0604020202020204" pitchFamily="34" charset="0"/>
            </a:endParaRPr>
          </a:p>
        </p:txBody>
      </p:sp>
      <p:sp>
        <p:nvSpPr>
          <p:cNvPr id="3" name="Rectangle 2">
            <a:extLst>
              <a:ext uri="{FF2B5EF4-FFF2-40B4-BE49-F238E27FC236}">
                <a16:creationId xmlns:a16="http://schemas.microsoft.com/office/drawing/2014/main" id="{0CB314F9-E4E3-D93F-8646-332AB4773B31}"/>
              </a:ext>
            </a:extLst>
          </p:cNvPr>
          <p:cNvSpPr/>
          <p:nvPr/>
        </p:nvSpPr>
        <p:spPr>
          <a:xfrm>
            <a:off x="498224" y="4921296"/>
            <a:ext cx="11277474" cy="1373558"/>
          </a:xfrm>
          <a:prstGeom prst="rect">
            <a:avLst/>
          </a:prstGeom>
          <a:solidFill>
            <a:schemeClr val="bg1"/>
          </a:solidFill>
          <a:ln>
            <a:solidFill>
              <a:schemeClr val="tx1"/>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i="0" u="none" strike="noStrike" kern="1200" cap="none" spc="0" normalizeH="0" baseline="0" noProof="0" dirty="0">
                <a:ln>
                  <a:noFill/>
                </a:ln>
                <a:solidFill>
                  <a:srgbClr val="000000"/>
                </a:solidFill>
                <a:effectLst/>
                <a:uLnTx/>
                <a:uFillTx/>
                <a:latin typeface="Arial"/>
                <a:ea typeface="+mn-ea"/>
                <a:cs typeface="+mn-cs"/>
              </a:rPr>
              <a:t>The broadband product portfolio reveals a challenging operational environment where unstable lead times, high supplier concentration, and rigid federal procurement rules create significant risks to the BEAD deployment timeline and budget.</a:t>
            </a:r>
            <a:endParaRPr kumimoji="0" lang="en-US" sz="1000" b="0" i="0" u="none" strike="noStrike" kern="1200" cap="none" spc="0" normalizeH="0" baseline="0" noProof="0" dirty="0">
              <a:ln>
                <a:noFill/>
              </a:ln>
              <a:solidFill>
                <a:srgbClr val="000000"/>
              </a:solidFill>
              <a:effectLst/>
              <a:uLnTx/>
              <a:uFillTx/>
              <a:latin typeface="Arial"/>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Arial"/>
                <a:ea typeface="+mn-ea"/>
                <a:cs typeface="+mn-cs"/>
              </a:rPr>
              <a:t>Fiber Optic Cable: </a:t>
            </a:r>
            <a:r>
              <a:rPr kumimoji="0" lang="en-US" sz="1000" b="0" i="0" u="none" strike="noStrike" kern="1200" cap="none" spc="0" normalizeH="0" baseline="0" noProof="0" dirty="0">
                <a:ln>
                  <a:noFill/>
                </a:ln>
                <a:solidFill>
                  <a:srgbClr val="000000"/>
                </a:solidFill>
                <a:effectLst/>
                <a:uLnTx/>
                <a:uFillTx/>
                <a:latin typeface="Arial"/>
                <a:ea typeface="+mn-ea"/>
                <a:cs typeface="+mn-cs"/>
              </a:rPr>
              <a:t>Highly volatile, with lead times swinging from a peak of 52-60 weeks to 4-10 weeks and projected to surge again. Strict BABA rules force reliance on a concentrated market of only ~5 domestic OEMs, creating a primary supply bottleneck.</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Arial"/>
                <a:ea typeface="+mn-ea"/>
                <a:cs typeface="+mn-cs"/>
              </a:rPr>
              <a:t>Network Electronics: </a:t>
            </a:r>
            <a:r>
              <a:rPr kumimoji="0" lang="en-US" sz="1000" b="0" i="0" u="none" strike="noStrike" kern="1200" cap="none" spc="0" normalizeH="0" baseline="0" noProof="0" dirty="0">
                <a:ln>
                  <a:noFill/>
                </a:ln>
                <a:solidFill>
                  <a:srgbClr val="000000"/>
                </a:solidFill>
                <a:effectLst/>
                <a:uLnTx/>
                <a:uFillTx/>
                <a:latin typeface="Arial"/>
                <a:ea typeface="+mn-ea"/>
                <a:cs typeface="+mn-cs"/>
              </a:rPr>
              <a:t>Vulnerable to global dependencies, with lead times exceeding 6+ months due to persistent chip shortages. BABA's U.S. assembly requirement does not mitigate risks from foreign components or potential ~5% cost increases from tariffs.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1000" b="1" i="0" u="none" strike="noStrike" kern="1200" cap="none" spc="0" normalizeH="0" baseline="0" noProof="0" dirty="0">
                <a:ln>
                  <a:noFill/>
                </a:ln>
                <a:solidFill>
                  <a:srgbClr val="000000"/>
                </a:solidFill>
                <a:effectLst/>
                <a:uLnTx/>
                <a:uFillTx/>
                <a:latin typeface="Arial"/>
                <a:ea typeface="+mn-ea"/>
                <a:cs typeface="+mn-cs"/>
              </a:rPr>
              <a:t>Passive Components: </a:t>
            </a:r>
            <a:r>
              <a:rPr kumimoji="0" lang="en-US" sz="1000" b="0" i="0" u="none" strike="noStrike" kern="1200" cap="none" spc="0" normalizeH="0" baseline="0" noProof="0" dirty="0">
                <a:ln>
                  <a:noFill/>
                </a:ln>
                <a:solidFill>
                  <a:srgbClr val="000000"/>
                </a:solidFill>
                <a:effectLst/>
                <a:uLnTx/>
                <a:uFillTx/>
                <a:latin typeface="Arial"/>
                <a:ea typeface="+mn-ea"/>
                <a:cs typeface="+mn-cs"/>
              </a:rPr>
              <a:t>These are "almost exclusively" made abroad. Despite a BABA waiver, this import reliance makes projects highly vulnerable to international shipping and logistical delays that can halt construction.</a:t>
            </a:r>
            <a:endParaRPr lang="en-US" sz="1000" dirty="0">
              <a:solidFill>
                <a:srgbClr val="000000"/>
              </a:solidFill>
              <a:latin typeface="Arial"/>
            </a:endParaRPr>
          </a:p>
        </p:txBody>
      </p:sp>
      <p:graphicFrame>
        <p:nvGraphicFramePr>
          <p:cNvPr id="14" name="Chart 13">
            <a:extLst>
              <a:ext uri="{FF2B5EF4-FFF2-40B4-BE49-F238E27FC236}">
                <a16:creationId xmlns:a16="http://schemas.microsoft.com/office/drawing/2014/main" id="{8206D821-6F9D-36BC-0E44-CA799BEA9A50}"/>
              </a:ext>
            </a:extLst>
          </p:cNvPr>
          <p:cNvGraphicFramePr/>
          <p:nvPr>
            <p:custDataLst>
              <p:tags r:id="rId3"/>
            </p:custDataLst>
          </p:nvPr>
        </p:nvGraphicFramePr>
        <p:xfrm>
          <a:off x="7004866" y="1883063"/>
          <a:ext cx="4960266" cy="3038233"/>
        </p:xfrm>
        <a:graphic>
          <a:graphicData uri="http://schemas.openxmlformats.org/drawingml/2006/chart">
            <c:chart xmlns:c="http://schemas.openxmlformats.org/drawingml/2006/chart" xmlns:r="http://schemas.openxmlformats.org/officeDocument/2006/relationships" r:id="rId14"/>
          </a:graphicData>
        </a:graphic>
      </p:graphicFrame>
      <p:sp>
        <p:nvSpPr>
          <p:cNvPr id="15" name="Text Placeholder 2">
            <a:extLst>
              <a:ext uri="{FF2B5EF4-FFF2-40B4-BE49-F238E27FC236}">
                <a16:creationId xmlns:a16="http://schemas.microsoft.com/office/drawing/2014/main" id="{D56D1BE9-EF82-5D14-687A-32BB2E1E5FFA}"/>
              </a:ext>
            </a:extLst>
          </p:cNvPr>
          <p:cNvSpPr>
            <a:spLocks noGrp="1"/>
          </p:cNvSpPr>
          <p:nvPr>
            <p:custDataLst>
              <p:tags r:id="rId4"/>
            </p:custDataLst>
          </p:nvPr>
        </p:nvSpPr>
        <p:spPr bwMode="auto">
          <a:xfrm>
            <a:off x="6000592" y="2179303"/>
            <a:ext cx="1071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altLang="en-US" sz="800"/>
              <a:t>Fiber Optic Cable</a:t>
            </a:r>
            <a:endParaRPr lang="en-US" sz="800"/>
          </a:p>
        </p:txBody>
      </p:sp>
      <p:sp>
        <p:nvSpPr>
          <p:cNvPr id="16" name="Text Placeholder 2">
            <a:extLst>
              <a:ext uri="{FF2B5EF4-FFF2-40B4-BE49-F238E27FC236}">
                <a16:creationId xmlns:a16="http://schemas.microsoft.com/office/drawing/2014/main" id="{252659C9-7247-D02D-6DED-071D104E2015}"/>
              </a:ext>
            </a:extLst>
          </p:cNvPr>
          <p:cNvSpPr>
            <a:spLocks noGrp="1"/>
          </p:cNvSpPr>
          <p:nvPr>
            <p:custDataLst>
              <p:tags r:id="rId5"/>
            </p:custDataLst>
          </p:nvPr>
        </p:nvSpPr>
        <p:spPr bwMode="auto">
          <a:xfrm>
            <a:off x="6000593" y="2919043"/>
            <a:ext cx="1071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altLang="en-US" sz="800"/>
              <a:t>Passive Components</a:t>
            </a:r>
            <a:endParaRPr lang="en-US" sz="800"/>
          </a:p>
        </p:txBody>
      </p:sp>
      <p:sp>
        <p:nvSpPr>
          <p:cNvPr id="18" name="Text Placeholder 2">
            <a:extLst>
              <a:ext uri="{FF2B5EF4-FFF2-40B4-BE49-F238E27FC236}">
                <a16:creationId xmlns:a16="http://schemas.microsoft.com/office/drawing/2014/main" id="{272BA775-8300-7CEC-67A8-A9B297E247F8}"/>
              </a:ext>
            </a:extLst>
          </p:cNvPr>
          <p:cNvSpPr>
            <a:spLocks noGrp="1"/>
          </p:cNvSpPr>
          <p:nvPr>
            <p:custDataLst>
              <p:tags r:id="rId6"/>
            </p:custDataLst>
          </p:nvPr>
        </p:nvSpPr>
        <p:spPr bwMode="auto">
          <a:xfrm>
            <a:off x="5966948" y="3489590"/>
            <a:ext cx="1071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altLang="en-US" sz="800"/>
              <a:t>Network Electronics</a:t>
            </a:r>
            <a:endParaRPr lang="en-US" sz="800"/>
          </a:p>
        </p:txBody>
      </p:sp>
      <p:sp>
        <p:nvSpPr>
          <p:cNvPr id="19" name="Text Placeholder 2">
            <a:extLst>
              <a:ext uri="{FF2B5EF4-FFF2-40B4-BE49-F238E27FC236}">
                <a16:creationId xmlns:a16="http://schemas.microsoft.com/office/drawing/2014/main" id="{C896B1E9-7391-CEAB-9629-EA88EB169D4A}"/>
              </a:ext>
            </a:extLst>
          </p:cNvPr>
          <p:cNvSpPr>
            <a:spLocks noGrp="1"/>
          </p:cNvSpPr>
          <p:nvPr>
            <p:custDataLst>
              <p:tags r:id="rId7"/>
            </p:custDataLst>
          </p:nvPr>
        </p:nvSpPr>
        <p:spPr bwMode="auto">
          <a:xfrm>
            <a:off x="5966948" y="4086475"/>
            <a:ext cx="1071563" cy="122238"/>
          </a:xfrm>
          <a:prstGeom prst="rect">
            <a:avLst/>
          </a:prstGeom>
          <a:noFill/>
          <a:ln>
            <a:noFill/>
          </a:ln>
          <a:effectLst/>
          <a:extLst>
            <a:ext uri="{909E8E84-426E-40DD-AFC4-6F175D3DCCD1}">
              <a14:hiddenFill xmlns:a14="http://schemas.microsoft.com/office/drawing/2010/main">
                <a:solidFill>
                  <a:schemeClr val="accent1"/>
                </a:solidFill>
              </a14:hiddenFill>
            </a:ext>
          </a:extLst>
        </p:spPr>
        <p:txBody>
          <a:bodyPr vert="horz" wrap="none" lIns="0" tIns="0" rIns="0" bIns="0" rtlCol="0" anchor="ctr" anchorCtr="0">
            <a:noAutofit/>
          </a:bodyPr>
          <a:lstStyle>
            <a:lvl1pPr marL="0" indent="0" algn="l" defTabSz="914400" rtl="0" eaLnBrk="1" latinLnBrk="0" hangingPunct="1">
              <a:lnSpc>
                <a:spcPct val="100000"/>
              </a:lnSpc>
              <a:spcBef>
                <a:spcPts val="0"/>
              </a:spcBef>
              <a:spcAft>
                <a:spcPts val="600"/>
              </a:spcAft>
              <a:buFont typeface="Arial" panose="020B0604020202020204" pitchFamily="34" charset="0"/>
              <a:buNone/>
              <a:defRPr sz="1200" b="1" kern="1200">
                <a:solidFill>
                  <a:srgbClr val="00338D"/>
                </a:solidFill>
                <a:latin typeface="+mn-lt"/>
                <a:ea typeface="+mn-ea"/>
                <a:cs typeface="+mn-cs"/>
              </a:defRPr>
            </a:lvl1pPr>
            <a:lvl2pPr marL="0" indent="0" algn="l" defTabSz="914400" rtl="0" eaLnBrk="1" latinLnBrk="0" hangingPunct="1">
              <a:lnSpc>
                <a:spcPct val="100000"/>
              </a:lnSpc>
              <a:spcBef>
                <a:spcPts val="0"/>
              </a:spcBef>
              <a:spcAft>
                <a:spcPts val="600"/>
              </a:spcAft>
              <a:buFontTx/>
              <a:buNone/>
              <a:defRPr sz="1200" b="0" kern="1200">
                <a:solidFill>
                  <a:schemeClr val="tx1"/>
                </a:solidFill>
                <a:latin typeface="+mn-lt"/>
                <a:ea typeface="+mn-ea"/>
                <a:cs typeface="+mn-cs"/>
              </a:defRPr>
            </a:lvl2pPr>
            <a:lvl3pPr marL="28575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3pPr>
            <a:lvl4pPr marL="466725"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a:solidFill>
                  <a:schemeClr val="tx1"/>
                </a:solidFill>
                <a:latin typeface="+mn-lt"/>
                <a:ea typeface="+mn-ea"/>
                <a:cs typeface="+mn-cs"/>
              </a:defRPr>
            </a:lvl4pPr>
            <a:lvl5pPr marL="647700" indent="-285750" algn="l" defTabSz="914400" rtl="0" eaLnBrk="1" latinLnBrk="0" hangingPunct="1">
              <a:lnSpc>
                <a:spcPct val="100000"/>
              </a:lnSpc>
              <a:spcBef>
                <a:spcPts val="0"/>
              </a:spcBef>
              <a:spcAft>
                <a:spcPts val="600"/>
              </a:spcAft>
              <a:buClrTx/>
              <a:buFont typeface="Arial" panose="020B0604020202020204" pitchFamily="34" charset="0"/>
              <a:buChar char="•"/>
              <a:defRPr sz="1200" b="0" kern="1200" baseline="0">
                <a:solidFill>
                  <a:schemeClr val="tx1"/>
                </a:solidFill>
                <a:latin typeface="+mn-lt"/>
                <a:ea typeface="+mn-ea"/>
                <a:cs typeface="+mn-cs"/>
              </a:defRPr>
            </a:lvl5pPr>
            <a:lvl6pPr marL="719138" indent="-180975"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6pPr>
            <a:lvl7pPr marL="8969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7pPr>
            <a:lvl8pPr marL="1074738" indent="-177800" algn="l" defTabSz="914400" rtl="0" eaLnBrk="1" latinLnBrk="0" hangingPunct="1">
              <a:lnSpc>
                <a:spcPct val="100000"/>
              </a:lnSpc>
              <a:spcBef>
                <a:spcPts val="0"/>
              </a:spcBef>
              <a:spcAft>
                <a:spcPts val="600"/>
              </a:spcAft>
              <a:buClr>
                <a:schemeClr val="tx2"/>
              </a:buClr>
              <a:buFont typeface="Arial" panose="020B0604020202020204" pitchFamily="34" charset="0"/>
              <a:buChar char="-"/>
              <a:defRPr sz="1500" kern="1200">
                <a:solidFill>
                  <a:schemeClr val="tx2"/>
                </a:solidFill>
                <a:latin typeface="+mn-lt"/>
                <a:ea typeface="+mn-ea"/>
                <a:cs typeface="+mn-cs"/>
              </a:defRPr>
            </a:lvl8pPr>
            <a:lvl9pPr marL="1257300" indent="-182563" algn="l" defTabSz="914400" rtl="0" eaLnBrk="1" latinLnBrk="0" hangingPunct="1">
              <a:lnSpc>
                <a:spcPct val="90000"/>
              </a:lnSpc>
              <a:spcBef>
                <a:spcPts val="500"/>
              </a:spcBef>
              <a:buFont typeface="Arial" panose="020B0604020202020204" pitchFamily="34" charset="0"/>
              <a:buChar char="•"/>
              <a:defRPr sz="1500" kern="1200">
                <a:solidFill>
                  <a:schemeClr val="tx2"/>
                </a:solidFill>
                <a:latin typeface="+mn-lt"/>
                <a:ea typeface="+mn-ea"/>
                <a:cs typeface="+mn-cs"/>
              </a:defRPr>
            </a:lvl9pPr>
          </a:lstStyle>
          <a:p>
            <a:pPr lvl="1" algn="r">
              <a:spcBef>
                <a:spcPct val="0"/>
              </a:spcBef>
              <a:spcAft>
                <a:spcPct val="0"/>
              </a:spcAft>
            </a:pPr>
            <a:r>
              <a:rPr lang="en-US" sz="800">
                <a:latin typeface="Arial (Body)"/>
              </a:rPr>
              <a:t>Conduit and Materials</a:t>
            </a:r>
          </a:p>
        </p:txBody>
      </p:sp>
      <p:sp>
        <p:nvSpPr>
          <p:cNvPr id="20" name="Rectangle: Top Corners Rounded 19">
            <a:extLst>
              <a:ext uri="{FF2B5EF4-FFF2-40B4-BE49-F238E27FC236}">
                <a16:creationId xmlns:a16="http://schemas.microsoft.com/office/drawing/2014/main" id="{D66A186D-7BA5-61A0-EACA-EE4655FCB50A}"/>
              </a:ext>
            </a:extLst>
          </p:cNvPr>
          <p:cNvSpPr/>
          <p:nvPr/>
        </p:nvSpPr>
        <p:spPr>
          <a:xfrm rot="10800000">
            <a:off x="6096000" y="1408415"/>
            <a:ext cx="5514876" cy="313928"/>
          </a:xfrm>
          <a:prstGeom prst="round2SameRect">
            <a:avLst>
              <a:gd name="adj1" fmla="val 26619"/>
              <a:gd name="adj2" fmla="val 0"/>
            </a:avLst>
          </a:prstGeom>
          <a:solidFill>
            <a:schemeClr val="tx2"/>
          </a:solidFill>
          <a:ln w="9525" cap="flat" cmpd="sng" algn="ctr">
            <a:no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p>
            <a:pPr algn="ctr"/>
            <a:endParaRPr lang="en-US" sz="1000" b="1">
              <a:solidFill>
                <a:schemeClr val="bg1"/>
              </a:solidFill>
            </a:endParaRPr>
          </a:p>
        </p:txBody>
      </p:sp>
      <p:sp>
        <p:nvSpPr>
          <p:cNvPr id="23" name="Line 56">
            <a:extLst>
              <a:ext uri="{FF2B5EF4-FFF2-40B4-BE49-F238E27FC236}">
                <a16:creationId xmlns:a16="http://schemas.microsoft.com/office/drawing/2014/main" id="{2E5816F1-CF2D-887F-A4CB-E451358E5A2E}"/>
              </a:ext>
            </a:extLst>
          </p:cNvPr>
          <p:cNvSpPr>
            <a:spLocks noChangeShapeType="1"/>
          </p:cNvSpPr>
          <p:nvPr>
            <p:custDataLst>
              <p:tags r:id="rId8"/>
            </p:custDataLst>
          </p:nvPr>
        </p:nvSpPr>
        <p:spPr bwMode="gray">
          <a:xfrm>
            <a:off x="6181215" y="1787383"/>
            <a:ext cx="5429661" cy="30642"/>
          </a:xfrm>
          <a:prstGeom prst="line">
            <a:avLst/>
          </a:prstGeom>
          <a:noFill/>
          <a:ln w="9525" cap="flat" cmpd="sng" algn="ctr">
            <a:solidFill>
              <a:srgbClr val="00338D"/>
            </a:solidFill>
            <a:prstDash val="solid"/>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spAutoFit/>
          </a:bodyPr>
          <a:lstStyle/>
          <a:p>
            <a:endParaRPr lang="en-US">
              <a:solidFill>
                <a:srgbClr val="00338D"/>
              </a:solidFill>
              <a:latin typeface="Arial" panose="020B0604020202020204" pitchFamily="34" charset="0"/>
              <a:cs typeface="Arial" panose="020B0604020202020204" pitchFamily="34" charset="0"/>
            </a:endParaRPr>
          </a:p>
        </p:txBody>
      </p:sp>
      <p:sp>
        <p:nvSpPr>
          <p:cNvPr id="24" name="Text Box 57">
            <a:extLst>
              <a:ext uri="{FF2B5EF4-FFF2-40B4-BE49-F238E27FC236}">
                <a16:creationId xmlns:a16="http://schemas.microsoft.com/office/drawing/2014/main" id="{65FE1A7F-C3CF-CBA6-89A0-42D031F5B17E}"/>
              </a:ext>
            </a:extLst>
          </p:cNvPr>
          <p:cNvSpPr txBox="1">
            <a:spLocks noChangeArrowheads="1"/>
          </p:cNvSpPr>
          <p:nvPr>
            <p:custDataLst>
              <p:tags r:id="rId9"/>
            </p:custDataLst>
          </p:nvPr>
        </p:nvSpPr>
        <p:spPr bwMode="gray">
          <a:xfrm>
            <a:off x="6181215" y="1481122"/>
            <a:ext cx="5514876" cy="1538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D6D49C"/>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0" tIns="0" rIns="0" bIns="0" anchor="b">
            <a:spAutoFit/>
          </a:bodyPr>
          <a:lstStyle>
            <a:lvl1pPr>
              <a:defRPr sz="1000">
                <a:solidFill>
                  <a:srgbClr val="292929"/>
                </a:solidFill>
                <a:latin typeface="Arial" panose="020B0604020202020204" pitchFamily="34" charset="0"/>
              </a:defRPr>
            </a:lvl1pPr>
            <a:lvl2pPr marL="742950" indent="-285750">
              <a:defRPr sz="1000">
                <a:solidFill>
                  <a:srgbClr val="292929"/>
                </a:solidFill>
                <a:latin typeface="Arial" panose="020B0604020202020204" pitchFamily="34" charset="0"/>
              </a:defRPr>
            </a:lvl2pPr>
            <a:lvl3pPr marL="1143000" indent="-228600">
              <a:defRPr sz="1000">
                <a:solidFill>
                  <a:srgbClr val="292929"/>
                </a:solidFill>
                <a:latin typeface="Arial" panose="020B0604020202020204" pitchFamily="34" charset="0"/>
              </a:defRPr>
            </a:lvl3pPr>
            <a:lvl4pPr marL="1600200" indent="-228600">
              <a:defRPr sz="1000">
                <a:solidFill>
                  <a:srgbClr val="292929"/>
                </a:solidFill>
                <a:latin typeface="Arial" panose="020B0604020202020204" pitchFamily="34" charset="0"/>
              </a:defRPr>
            </a:lvl4pPr>
            <a:lvl5pPr marL="2057400" indent="-228600">
              <a:defRPr sz="1000">
                <a:solidFill>
                  <a:srgbClr val="292929"/>
                </a:solidFill>
                <a:latin typeface="Arial" panose="020B0604020202020204" pitchFamily="34" charset="0"/>
              </a:defRPr>
            </a:lvl5pPr>
            <a:lvl6pPr marL="2514600" indent="-228600" eaLnBrk="0" fontAlgn="base" hangingPunct="0">
              <a:spcBef>
                <a:spcPct val="0"/>
              </a:spcBef>
              <a:spcAft>
                <a:spcPct val="0"/>
              </a:spcAft>
              <a:defRPr sz="1000">
                <a:solidFill>
                  <a:srgbClr val="292929"/>
                </a:solidFill>
                <a:latin typeface="Arial" panose="020B0604020202020204" pitchFamily="34" charset="0"/>
              </a:defRPr>
            </a:lvl6pPr>
            <a:lvl7pPr marL="2971800" indent="-228600" eaLnBrk="0" fontAlgn="base" hangingPunct="0">
              <a:spcBef>
                <a:spcPct val="0"/>
              </a:spcBef>
              <a:spcAft>
                <a:spcPct val="0"/>
              </a:spcAft>
              <a:defRPr sz="1000">
                <a:solidFill>
                  <a:srgbClr val="292929"/>
                </a:solidFill>
                <a:latin typeface="Arial" panose="020B0604020202020204" pitchFamily="34" charset="0"/>
              </a:defRPr>
            </a:lvl7pPr>
            <a:lvl8pPr marL="3429000" indent="-228600" eaLnBrk="0" fontAlgn="base" hangingPunct="0">
              <a:spcBef>
                <a:spcPct val="0"/>
              </a:spcBef>
              <a:spcAft>
                <a:spcPct val="0"/>
              </a:spcAft>
              <a:defRPr sz="1000">
                <a:solidFill>
                  <a:srgbClr val="292929"/>
                </a:solidFill>
                <a:latin typeface="Arial" panose="020B0604020202020204" pitchFamily="34" charset="0"/>
              </a:defRPr>
            </a:lvl8pPr>
            <a:lvl9pPr marL="3886200" indent="-228600" eaLnBrk="0" fontAlgn="base" hangingPunct="0">
              <a:spcBef>
                <a:spcPct val="0"/>
              </a:spcBef>
              <a:spcAft>
                <a:spcPct val="0"/>
              </a:spcAft>
              <a:defRPr sz="1000">
                <a:solidFill>
                  <a:srgbClr val="292929"/>
                </a:solidFill>
                <a:latin typeface="Arial" panose="020B0604020202020204" pitchFamily="34" charset="0"/>
              </a:defRPr>
            </a:lvl9pPr>
          </a:lstStyle>
          <a:p>
            <a:pPr rtl="0"/>
            <a:r>
              <a:rPr lang="en-US" b="1" i="0" u="none" strike="noStrike" kern="1200" baseline="0" dirty="0">
                <a:solidFill>
                  <a:schemeClr val="bg1"/>
                </a:solidFill>
                <a:latin typeface="Arial" panose="020B0604020202020204" pitchFamily="34" charset="0"/>
              </a:rPr>
              <a:t>Product Lead Time Estimates </a:t>
            </a:r>
            <a:r>
              <a:rPr lang="en-US" b="1" dirty="0">
                <a:solidFill>
                  <a:schemeClr val="bg1"/>
                </a:solidFill>
              </a:rPr>
              <a:t>in Weeks </a:t>
            </a:r>
            <a:r>
              <a:rPr lang="en-US" b="1" i="0" u="none" strike="noStrike" kern="1200" baseline="0" dirty="0">
                <a:solidFill>
                  <a:schemeClr val="bg1"/>
                </a:solidFill>
                <a:latin typeface="Arial" panose="020B0604020202020204" pitchFamily="34" charset="0"/>
              </a:rPr>
              <a:t>(2022-2025)</a:t>
            </a:r>
          </a:p>
        </p:txBody>
      </p:sp>
      <p:sp>
        <p:nvSpPr>
          <p:cNvPr id="5" name="TextBox 4">
            <a:extLst>
              <a:ext uri="{FF2B5EF4-FFF2-40B4-BE49-F238E27FC236}">
                <a16:creationId xmlns:a16="http://schemas.microsoft.com/office/drawing/2014/main" id="{A5EF2711-7FDF-6AF8-37ED-652311175425}"/>
              </a:ext>
            </a:extLst>
          </p:cNvPr>
          <p:cNvSpPr txBox="1"/>
          <p:nvPr/>
        </p:nvSpPr>
        <p:spPr>
          <a:xfrm>
            <a:off x="573951" y="6289186"/>
            <a:ext cx="10579509" cy="149455"/>
          </a:xfrm>
          <a:prstGeom prst="rect">
            <a:avLst/>
          </a:prstGeom>
        </p:spPr>
        <p:txBody>
          <a:bodyPr vert="horz" wrap="square" lIns="0" tIns="0" rIns="0" bIns="0" rtlCol="0" anchor="ctr" anchorCtr="0">
            <a:noAutofit/>
          </a:bodyPr>
          <a:lstStyle/>
          <a:p>
            <a:pPr>
              <a:defRPr/>
            </a:pPr>
            <a:r>
              <a:rPr kumimoji="0" lang="en-US" sz="800" b="0" i="1" u="none" strike="noStrike" kern="1200" cap="none" spc="0" normalizeH="0" baseline="0" noProof="0">
                <a:ln>
                  <a:noFill/>
                </a:ln>
                <a:solidFill>
                  <a:schemeClr val="tx1">
                    <a:lumMod val="100000"/>
                  </a:schemeClr>
                </a:solidFill>
                <a:effectLst/>
                <a:uLnTx/>
                <a:uFillTx/>
                <a:latin typeface="Arial"/>
                <a:ea typeface="+mn-ea"/>
                <a:cs typeface="+mn-cs"/>
              </a:rPr>
              <a:t>Source: Research compiled from Michigan High-Speed Internet Office (MIHI), NTIA, The Pew Charitable Trusts, and Telecom </a:t>
            </a:r>
            <a:r>
              <a:rPr lang="en-US" sz="800" i="1">
                <a:solidFill>
                  <a:schemeClr val="tx1">
                    <a:lumMod val="100000"/>
                  </a:schemeClr>
                </a:solidFill>
                <a:latin typeface="Arial"/>
              </a:rPr>
              <a:t>industry </a:t>
            </a:r>
            <a:r>
              <a:rPr kumimoji="0" lang="en-US" sz="800" b="0" i="1" u="none" strike="noStrike" kern="1200" cap="none" spc="0" normalizeH="0" baseline="0" noProof="0">
                <a:ln>
                  <a:noFill/>
                </a:ln>
                <a:solidFill>
                  <a:schemeClr val="tx1">
                    <a:lumMod val="100000"/>
                  </a:schemeClr>
                </a:solidFill>
                <a:effectLst/>
                <a:uLnTx/>
                <a:uFillTx/>
                <a:latin typeface="Arial"/>
                <a:ea typeface="+mn-ea"/>
                <a:cs typeface="+mn-cs"/>
              </a:rPr>
              <a:t>reports. accessed Jan ’26.</a:t>
            </a:r>
            <a:endParaRPr kumimoji="0" lang="en-US" sz="800" b="0" i="1" u="none" strike="noStrike" kern="1200" cap="none" spc="0" normalizeH="0" baseline="0" noProof="0">
              <a:ln>
                <a:noFill/>
              </a:ln>
              <a:solidFill>
                <a:srgbClr val="00338D"/>
              </a:solidFill>
              <a:effectLst/>
              <a:uLnTx/>
              <a:uFillTx/>
              <a:latin typeface="Arial"/>
              <a:ea typeface="+mn-ea"/>
              <a:cs typeface="+mn-cs"/>
            </a:endParaRPr>
          </a:p>
        </p:txBody>
      </p:sp>
    </p:spTree>
    <p:extLst>
      <p:ext uri="{BB962C8B-B14F-4D97-AF65-F5344CB8AC3E}">
        <p14:creationId xmlns:p14="http://schemas.microsoft.com/office/powerpoint/2010/main" val="10825760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1F5C13-3BE5-807E-5D08-7B14B9DD4E6D}"/>
            </a:ext>
          </a:extLst>
        </p:cNvPr>
        <p:cNvGrpSpPr/>
        <p:nvPr/>
      </p:nvGrpSpPr>
      <p:grpSpPr>
        <a:xfrm>
          <a:off x="0" y="0"/>
          <a:ext cx="0" cy="0"/>
          <a:chOff x="0" y="0"/>
          <a:chExt cx="0" cy="0"/>
        </a:xfrm>
      </p:grpSpPr>
      <p:graphicFrame>
        <p:nvGraphicFramePr>
          <p:cNvPr id="21" name="think-cell data - do not delete" hidden="1">
            <a:extLst>
              <a:ext uri="{FF2B5EF4-FFF2-40B4-BE49-F238E27FC236}">
                <a16:creationId xmlns:a16="http://schemas.microsoft.com/office/drawing/2014/main" id="{02720D98-F234-1406-FCBF-D8AD25940CBD}"/>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21" name="think-cell data - do not delete" hidden="1">
                        <a:extLst>
                          <a:ext uri="{FF2B5EF4-FFF2-40B4-BE49-F238E27FC236}">
                            <a16:creationId xmlns:a16="http://schemas.microsoft.com/office/drawing/2014/main" id="{02720D98-F234-1406-FCBF-D8AD25940CB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Text Placeholder 2">
            <a:extLst>
              <a:ext uri="{FF2B5EF4-FFF2-40B4-BE49-F238E27FC236}">
                <a16:creationId xmlns:a16="http://schemas.microsoft.com/office/drawing/2014/main" id="{060ABB41-031A-E738-F926-2F69C2FE3701}"/>
              </a:ext>
            </a:extLst>
          </p:cNvPr>
          <p:cNvSpPr>
            <a:spLocks noGrp="1"/>
          </p:cNvSpPr>
          <p:nvPr>
            <p:ph type="body" sz="quarter" idx="20"/>
          </p:nvPr>
        </p:nvSpPr>
        <p:spPr/>
        <p:txBody>
          <a:bodyPr/>
          <a:lstStyle/>
          <a:p>
            <a:r>
              <a:rPr lang="en-US" dirty="0"/>
              <a:t>Appendix: methodology</a:t>
            </a:r>
          </a:p>
        </p:txBody>
      </p:sp>
      <p:sp>
        <p:nvSpPr>
          <p:cNvPr id="19" name="Title 18">
            <a:extLst>
              <a:ext uri="{FF2B5EF4-FFF2-40B4-BE49-F238E27FC236}">
                <a16:creationId xmlns:a16="http://schemas.microsoft.com/office/drawing/2014/main" id="{5F6EE9BE-D569-8585-9F8B-105BE7E1AA23}"/>
              </a:ext>
            </a:extLst>
          </p:cNvPr>
          <p:cNvSpPr>
            <a:spLocks noGrp="1"/>
          </p:cNvSpPr>
          <p:nvPr>
            <p:ph type="title" idx="4294967295"/>
          </p:nvPr>
        </p:nvSpPr>
        <p:spPr>
          <a:xfrm>
            <a:off x="501520" y="441590"/>
            <a:ext cx="11192256" cy="701410"/>
          </a:xfrm>
        </p:spPr>
        <p:txBody>
          <a:bodyPr vert="horz"/>
          <a:lstStyle/>
          <a:p>
            <a:r>
              <a:rPr lang="en-US"/>
              <a:t>Methodology, Assumption, and Accuracy</a:t>
            </a:r>
          </a:p>
        </p:txBody>
      </p:sp>
      <p:sp>
        <p:nvSpPr>
          <p:cNvPr id="5" name="Rectangle 4">
            <a:extLst>
              <a:ext uri="{FF2B5EF4-FFF2-40B4-BE49-F238E27FC236}">
                <a16:creationId xmlns:a16="http://schemas.microsoft.com/office/drawing/2014/main" id="{2FC302C4-DD5E-F142-BB31-EDD5CA9C0EC8}"/>
              </a:ext>
            </a:extLst>
          </p:cNvPr>
          <p:cNvSpPr/>
          <p:nvPr/>
        </p:nvSpPr>
        <p:spPr>
          <a:xfrm>
            <a:off x="499873" y="1300156"/>
            <a:ext cx="11192256" cy="182880"/>
          </a:xfrm>
          <a:prstGeom prst="rect">
            <a:avLst/>
          </a:prstGeom>
          <a:solidFill>
            <a:schemeClr val="bg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54610" tIns="54610" rIns="54610" bIns="54610"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Arial"/>
                <a:ea typeface="+mn-ea"/>
                <a:cs typeface="+mn-cs"/>
              </a:rPr>
              <a:t>Methodology</a:t>
            </a:r>
          </a:p>
        </p:txBody>
      </p:sp>
      <p:sp>
        <p:nvSpPr>
          <p:cNvPr id="7" name="TextBox 34">
            <a:extLst>
              <a:ext uri="{FF2B5EF4-FFF2-40B4-BE49-F238E27FC236}">
                <a16:creationId xmlns:a16="http://schemas.microsoft.com/office/drawing/2014/main" id="{B5A25FF7-5A8C-9339-7E50-A6465177431D}"/>
              </a:ext>
            </a:extLst>
          </p:cNvPr>
          <p:cNvSpPr txBox="1"/>
          <p:nvPr/>
        </p:nvSpPr>
        <p:spPr>
          <a:xfrm>
            <a:off x="499872" y="1487545"/>
            <a:ext cx="11192256" cy="3058209"/>
          </a:xfrm>
          <a:prstGeom prst="rect">
            <a:avLst/>
          </a:prstGeom>
          <a:solidFill>
            <a:schemeClr val="bg1"/>
          </a:solidFill>
          <a:ln>
            <a:solidFill>
              <a:schemeClr val="bg1">
                <a:lumMod val="50000"/>
              </a:schemeClr>
            </a:solidFill>
          </a:ln>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342900" marR="64306" lvl="0" indent="-342900" algn="l" defTabSz="914400" rtl="0" eaLnBrk="1" fontAlgn="auto" latinLnBrk="0" hangingPunct="1">
              <a:lnSpc>
                <a:spcPct val="110000"/>
              </a:lnSpc>
              <a:spcBef>
                <a:spcPts val="300"/>
              </a:spcBef>
              <a:spcAft>
                <a:spcPts val="300"/>
              </a:spcAft>
              <a:buClrTx/>
              <a:buSzTx/>
              <a:buFont typeface="Arial" panose="020B0604020202020204" pitchFamily="34" charset="0"/>
              <a:buChar char="•"/>
              <a:tabLst/>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"Cost-to-Effort" Allocation Model: The core of the methodology is a "Cost-to-Effort" allocation model. The fundamental principle is that in a large-scale infrastructure project, the allocation of the budget is the most accurate proxy for the allocation of labor effort and complexity.</a:t>
            </a:r>
          </a:p>
          <a:p>
            <a:pPr marL="800100" marR="64306" lvl="1"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Establish the Universe of Roles: We began with the comprehensive list of 30+ relevant occupations obtained (from O*NET/BLS). This forms the complete "talent universe" required for a BEAD project.</a:t>
            </a:r>
          </a:p>
          <a:p>
            <a:pPr marL="800100" marR="64306" lvl="1"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Analyze a Typical Project Budget Breakdown: We applied a best-practice budget allocation model for a rural Fiber-to-the-Home (FTTH) project. While every project varies, a typical breakdown looks something like this:</a:t>
            </a:r>
          </a:p>
          <a:p>
            <a:pPr marL="1257300" marR="64306" lvl="2"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Civil Works &amp; Physical Construction (50-60%): This is the largest cost center, covering trenching, boring, pole attachments, and labor for placing conduit and fiber. This directly corresponds to the Skilled Field &amp; Deployment category.</a:t>
            </a:r>
          </a:p>
          <a:p>
            <a:pPr marL="1257300" marR="64306" lvl="2"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Materials &amp; Equipment (20-25%): The cost of fiber, electronics, cabinets, etc. The labor associated with managing this falls under Supply Chain &amp; Logistics and Project Management.</a:t>
            </a:r>
          </a:p>
          <a:p>
            <a:pPr marL="1257300" marR="64306" lvl="2"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Engineering &amp; "Soft Costs" (15-20%): This includes network design, surveying, permitting, project management, legal, and administrative overhead. This corresponds directly to the Engineering &amp; Design and Project Management &amp; Support categories.</a:t>
            </a:r>
          </a:p>
          <a:p>
            <a:pPr marL="800100" marR="64306" lvl="1"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Map Roles to Budget Categories: We then mapped each of the 30+ job roles to these primary cost/effort centers. For example:</a:t>
            </a:r>
          </a:p>
          <a:p>
            <a:pPr marL="1257300" marR="64306" lvl="2"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The wages for Line Installers, Equipment Operators, and Laborers fall directly under "Civil Works &amp; Physical Construction.“</a:t>
            </a:r>
          </a:p>
          <a:p>
            <a:pPr marL="1257300" marR="64306" lvl="2"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The salaries for Project Managers, Compliance Officers, and Purchasing Agents fall under "Engineering &amp; Soft Costs.“</a:t>
            </a:r>
          </a:p>
          <a:p>
            <a:pPr marL="800100" marR="64306" lvl="1" indent="-342900">
              <a:lnSpc>
                <a:spcPct val="110000"/>
              </a:lnSpc>
              <a:spcBef>
                <a:spcPts val="300"/>
              </a:spcBef>
              <a:spcAft>
                <a:spcPts val="300"/>
              </a:spcAft>
              <a:buFont typeface="Arial" panose="020B0604020202020204" pitchFamily="34" charset="0"/>
              <a:buChar char="•"/>
              <a:defRPr/>
            </a:pPr>
            <a:r>
              <a:rPr kumimoji="0" lang="en-US" sz="900" b="0" i="0" u="none" strike="noStrike" kern="1200" cap="none" spc="0" normalizeH="0" baseline="0" noProof="0">
                <a:ln>
                  <a:noFill/>
                </a:ln>
                <a:solidFill>
                  <a:srgbClr val="000000">
                    <a:lumMod val="65000"/>
                    <a:lumOff val="35000"/>
                  </a:srgbClr>
                </a:solidFill>
                <a:effectLst/>
                <a:uLnTx/>
                <a:uFillTx/>
                <a:latin typeface="Arial"/>
                <a:ea typeface="+mn-ea"/>
                <a:cs typeface="Arial"/>
              </a:rPr>
              <a:t>Synthesize into Strategic Categories: The final step is to aggregate these detailed mappings into the four high-level, strategic categories for the pie chart. The percentages are the direct output of this budget-to-effort allocation model. This provides a far more accurate picture of project effort than simply summing total statewide employment for each role.</a:t>
            </a:r>
          </a:p>
        </p:txBody>
      </p:sp>
    </p:spTree>
    <p:extLst>
      <p:ext uri="{BB962C8B-B14F-4D97-AF65-F5344CB8AC3E}">
        <p14:creationId xmlns:p14="http://schemas.microsoft.com/office/powerpoint/2010/main" val="240856021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pQ6mXF_zAChFUpcvh6ZwHQ"/>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GrrYGiRolrJj_OZpOylzQg"/>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b9IKBZR7.dlwe6Iwp.FAeg"/>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_MmM3q2jaIvcFinC1ECdvA"/>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ACKnoMtw684Pgsv4m._i.Q"/>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1c5WRvOrkgnq1yQGRz6jcQ"/>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cPdB4IYSFXf5yXWcsOCb2w"/>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ri_yrDK17MoptvJfOGAVCg"/>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4dqGdS.bt27gDJT364oRAg"/>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jxmU.tNYtGy4Kaa0siwOQ"/>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3CAJK4nNhLmaL6ghR3wHLg"/>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_otcqK0lmgCMORFKXNxxCA"/>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wFeTwpmadpeyD2oUrAUprg"/>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WBuQ7_Q5f5Crq16Ggpcq5g"/>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wNoGTCvgSaau6Xv_19R0Zw"/>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DmYCwuMJekoLNJ8gIFnZKA"/>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0lj4msIJiHIfikNxPPYJeQ"/>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3XW7ibY24.XSOMkOFrkbqQ"/>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qLXk4GjKMUZc9sjhO67Pg"/>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Ro3i82WqgLN39xPyn.Vzqw"/>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o.vL30EmYYY.d656T9rOw"/>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Ro3i82WqgLN39xPyn.Vzqw"/>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o.vL30EmYYY.d656T9rOw"/>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wNoGTCvgSaau6Xv_19R0Zw"/>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qLXk4GjKMUZc9sjhO67Pg"/>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qLXk4GjKMUZc9sjhO67Pg"/>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qLXk4GjKMUZc9sjhO67Pg"/>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qLXk4GjKMUZc9sjhO67Pg"/>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pQ6mXF_zAChFUpcvh6ZwHQ"/>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GrrYGiRolrJj_OZpOylzQg"/>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GrrYGiRolrJj_OZpOylzQ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GrrYGiRolrJj_OZpOylzQg"/>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GrrYGiRolrJj_OZpOylzQg"/>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pVSPE2ZHYGEmSY8NBjqZrbA"/>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pGJ_jXMTUqEmS8NensrZt6Q"/>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TotalTime>
  <Words>2924</Words>
  <Application>Microsoft Macintosh PowerPoint</Application>
  <PresentationFormat>Widescreen</PresentationFormat>
  <Paragraphs>295</Paragraphs>
  <Slides>10</Slides>
  <Notes>8</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10</vt:i4>
      </vt:variant>
    </vt:vector>
  </HeadingPairs>
  <TitlesOfParts>
    <vt:vector size="18" baseType="lpstr">
      <vt:lpstr>Aptos</vt:lpstr>
      <vt:lpstr>Aptos Display</vt:lpstr>
      <vt:lpstr>Arial</vt:lpstr>
      <vt:lpstr>Arial (Body)</vt:lpstr>
      <vt:lpstr>Calibri</vt:lpstr>
      <vt:lpstr>KPMG Bold</vt:lpstr>
      <vt:lpstr>Office Theme</vt:lpstr>
      <vt:lpstr>think-cell Slide</vt:lpstr>
      <vt:lpstr>PowerPoint Presentation</vt:lpstr>
      <vt:lpstr>Understanding Core Challenges to Effectively Administer Michigan’s BEAD Deployment</vt:lpstr>
      <vt:lpstr>Michigan's $1.56B Mission: Connecting 500,000 Unserved Locations  </vt:lpstr>
      <vt:lpstr>A Concentrated National Supply Chain Creates High Risk for Small ISPs</vt:lpstr>
      <vt:lpstr>The Flow of Broadband Materials is Governed by Two Realities: A National Capacity Limit for Fiber and the Local Priority System for Distribution.</vt:lpstr>
      <vt:lpstr>A Few Specialized "Outside Plant" Roles Create a Critical Workforce Bottleneck</vt:lpstr>
      <vt:lpstr>Scaling the broadband workforce requires filling both high-volume operational roles and critical engineering gaps</vt:lpstr>
      <vt:lpstr>Four Interconnected Risks Threaten Project Timelines and Budgets Rationale</vt:lpstr>
      <vt:lpstr>Michigan's Broadband Product Portfolio for BEAD Deployment</vt:lpstr>
      <vt:lpstr>Methodology, Assumption, and Accuracy</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Samin Bahizad</dc:creator>
  <cp:lastModifiedBy>Samin Bahizad</cp:lastModifiedBy>
  <cp:revision>1</cp:revision>
  <dcterms:created xsi:type="dcterms:W3CDTF">2026-05-11T16:26:24Z</dcterms:created>
  <dcterms:modified xsi:type="dcterms:W3CDTF">2026-05-11T16:37:32Z</dcterms:modified>
</cp:coreProperties>
</file>