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2.xml" ContentType="application/vnd.openxmlformats-officedocument.presentationml.notesSlide+xml"/>
  <Override PartName="/ppt/charts/chart4.xml" ContentType="application/vnd.openxmlformats-officedocument.drawingml.chart+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3.xml" ContentType="application/vnd.openxmlformats-officedocument.presentationml.notesSlide+xml"/>
  <Override PartName="/ppt/charts/chart5.xml" ContentType="application/vnd.openxmlformats-officedocument.drawingml.chart+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4.xml" ContentType="application/vnd.openxmlformats-officedocument.presentationml.notesSlide+xml"/>
  <Override PartName="/ppt/charts/chart6.xml" ContentType="application/vnd.openxmlformats-officedocument.drawingml.chart+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5.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6.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7.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notesSlides/notesSlide8.xml" ContentType="application/vnd.openxmlformats-officedocument.presentationml.notesSlide+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147483556" r:id="rId3"/>
    <p:sldId id="2147483290" r:id="rId4"/>
    <p:sldId id="2147483288" r:id="rId5"/>
    <p:sldId id="2147483443" r:id="rId6"/>
    <p:sldId id="2147483557" r:id="rId7"/>
    <p:sldId id="2147483558" r:id="rId8"/>
    <p:sldId id="2147483560" r:id="rId9"/>
    <p:sldId id="2147483561" r:id="rId10"/>
    <p:sldId id="2147483562" r:id="rId11"/>
    <p:sldId id="2147483563" r:id="rId12"/>
    <p:sldId id="2147483564" r:id="rId13"/>
    <p:sldId id="2147483567" r:id="rId14"/>
    <p:sldId id="21474835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5479"/>
    <a:srgbClr val="7668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53"/>
  </p:normalViewPr>
  <p:slideViewPr>
    <p:cSldViewPr snapToGrid="0">
      <p:cViewPr varScale="1">
        <p:scale>
          <a:sx n="118" d="100"/>
          <a:sy n="118" d="100"/>
        </p:scale>
        <p:origin x="48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5739570164348921E-2"/>
          <c:y val="6.5739570164348921E-2"/>
          <c:w val="0.8685208596713021"/>
          <c:h val="0.8685208596713021"/>
        </c:manualLayout>
      </c:layout>
      <c:doughnutChart>
        <c:varyColors val="0"/>
        <c:ser>
          <c:idx val="0"/>
          <c:order val="0"/>
          <c:dPt>
            <c:idx val="0"/>
            <c:bubble3D val="0"/>
            <c:spPr>
              <a:solidFill>
                <a:srgbClr val="4066AA"/>
              </a:solidFill>
              <a:ln>
                <a:noFill/>
              </a:ln>
            </c:spPr>
            <c:extLst>
              <c:ext xmlns:c16="http://schemas.microsoft.com/office/drawing/2014/chart" uri="{C3380CC4-5D6E-409C-BE32-E72D297353CC}">
                <c16:uniqueId val="{00000000-9E7B-4FD7-BCEE-9FCB90F7163A}"/>
              </c:ext>
            </c:extLst>
          </c:dPt>
          <c:dPt>
            <c:idx val="1"/>
            <c:bubble3D val="0"/>
            <c:spPr>
              <a:solidFill>
                <a:srgbClr val="BFCCE2"/>
              </a:solidFill>
              <a:ln>
                <a:noFill/>
              </a:ln>
            </c:spPr>
            <c:extLst>
              <c:ext xmlns:c16="http://schemas.microsoft.com/office/drawing/2014/chart" uri="{C3380CC4-5D6E-409C-BE32-E72D297353CC}">
                <c16:uniqueId val="{00000001-9E7B-4FD7-BCEE-9FCB90F7163A}"/>
              </c:ext>
            </c:extLst>
          </c:dPt>
          <c:val>
            <c:numRef>
              <c:f>Sheet1!$A$1:$A$2</c:f>
              <c:numCache>
                <c:formatCode>General</c:formatCode>
                <c:ptCount val="2"/>
                <c:pt idx="0">
                  <c:v>28.999999999999996</c:v>
                </c:pt>
                <c:pt idx="1">
                  <c:v>71</c:v>
                </c:pt>
              </c:numCache>
            </c:numRef>
          </c:val>
          <c:extLst>
            <c:ext xmlns:c16="http://schemas.microsoft.com/office/drawing/2014/chart" uri="{C3380CC4-5D6E-409C-BE32-E72D297353CC}">
              <c16:uniqueId val="{00000002-9E7B-4FD7-BCEE-9FCB90F7163A}"/>
            </c:ext>
          </c:extLst>
        </c:ser>
        <c:dLbls>
          <c:showLegendKey val="0"/>
          <c:showVal val="0"/>
          <c:showCatName val="0"/>
          <c:showSerName val="0"/>
          <c:showPercent val="0"/>
          <c:showBubbleSize val="0"/>
          <c:showLeaderLines val="0"/>
        </c:dLbls>
        <c:firstSliceAng val="0"/>
        <c:holeSize val="50"/>
      </c:doughnutChart>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6886792452830188"/>
          <c:y val="0.16487804878048781"/>
          <c:w val="0.46293800539083557"/>
          <c:h val="0.67024390243902443"/>
        </c:manualLayout>
      </c:layout>
      <c:doughnutChart>
        <c:varyColors val="0"/>
        <c:ser>
          <c:idx val="0"/>
          <c:order val="0"/>
          <c:dPt>
            <c:idx val="0"/>
            <c:bubble3D val="0"/>
            <c:spPr>
              <a:solidFill>
                <a:srgbClr val="7768B2"/>
              </a:solidFill>
              <a:ln>
                <a:noFill/>
              </a:ln>
            </c:spPr>
            <c:extLst>
              <c:ext xmlns:c16="http://schemas.microsoft.com/office/drawing/2014/chart" uri="{C3380CC4-5D6E-409C-BE32-E72D297353CC}">
                <c16:uniqueId val="{00000000-23CE-4CD0-A85F-7D2A5815EA30}"/>
              </c:ext>
            </c:extLst>
          </c:dPt>
          <c:dPt>
            <c:idx val="1"/>
            <c:bubble3D val="0"/>
            <c:spPr>
              <a:solidFill>
                <a:srgbClr val="A384B3"/>
              </a:solidFill>
              <a:ln>
                <a:noFill/>
              </a:ln>
            </c:spPr>
            <c:extLst>
              <c:ext xmlns:c16="http://schemas.microsoft.com/office/drawing/2014/chart" uri="{C3380CC4-5D6E-409C-BE32-E72D297353CC}">
                <c16:uniqueId val="{00000001-23CE-4CD0-A85F-7D2A5815EA30}"/>
              </c:ext>
            </c:extLst>
          </c:dPt>
          <c:dPt>
            <c:idx val="2"/>
            <c:bubble3D val="0"/>
            <c:spPr>
              <a:solidFill>
                <a:srgbClr val="D1CDE5"/>
              </a:solidFill>
              <a:ln>
                <a:noFill/>
              </a:ln>
            </c:spPr>
            <c:extLst>
              <c:ext xmlns:c16="http://schemas.microsoft.com/office/drawing/2014/chart" uri="{C3380CC4-5D6E-409C-BE32-E72D297353CC}">
                <c16:uniqueId val="{00000002-23CE-4CD0-A85F-7D2A5815EA30}"/>
              </c:ext>
            </c:extLst>
          </c:dPt>
          <c:dPt>
            <c:idx val="3"/>
            <c:bubble3D val="0"/>
            <c:spPr>
              <a:solidFill>
                <a:srgbClr val="DAC7DD"/>
              </a:solidFill>
              <a:ln>
                <a:noFill/>
              </a:ln>
            </c:spPr>
            <c:extLst>
              <c:ext xmlns:c16="http://schemas.microsoft.com/office/drawing/2014/chart" uri="{C3380CC4-5D6E-409C-BE32-E72D297353CC}">
                <c16:uniqueId val="{00000003-23CE-4CD0-A85F-7D2A5815EA30}"/>
              </c:ext>
            </c:extLst>
          </c:dPt>
          <c:dLbls>
            <c:dLbl>
              <c:idx val="2"/>
              <c:layout>
                <c:manualLayout>
                  <c:x val="1.3477088948787063E-3"/>
                  <c:y val="5.8536585365853658E-3"/>
                </c:manualLayout>
              </c:layout>
              <c:numFmt formatCode="#,##0.0&quot;%&quot;;&quot;-&quot;#,##0.0&quot;%&quot;" sourceLinked="0"/>
              <c:spPr>
                <a:noFill/>
                <a:ln>
                  <a:noFill/>
                </a:ln>
              </c:spPr>
              <c:txPr>
                <a:bodyPr wrap="none"/>
                <a:lstStyle/>
                <a:p>
                  <a:pPr>
                    <a:defRPr sz="800" kern="1200">
                      <a:solidFill>
                        <a:srgbClr val="7668B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3CE-4CD0-A85F-7D2A5815EA30}"/>
                </c:ext>
              </c:extLst>
            </c:dLbl>
            <c:spPr>
              <a:noFill/>
              <a:ln>
                <a:noFill/>
              </a:ln>
              <a:effectLst/>
            </c:spPr>
            <c:txPr>
              <a:bodyPr wrap="square" lIns="38100" tIns="19050" rIns="38100" bIns="19050" anchor="ctr">
                <a:spAutoFit/>
              </a:bodyPr>
              <a:lstStyle/>
              <a:p>
                <a:pPr>
                  <a:defRPr>
                    <a:solidFill>
                      <a:srgbClr val="7668B2"/>
                    </a:solidFill>
                  </a:defRPr>
                </a:pPr>
                <a:endParaRPr lang="en-US"/>
              </a:p>
            </c:txPr>
            <c:showLegendKey val="0"/>
            <c:showVal val="0"/>
            <c:showCatName val="0"/>
            <c:showSerName val="0"/>
            <c:showPercent val="0"/>
            <c:showBubbleSize val="0"/>
            <c:extLst>
              <c:ext xmlns:c15="http://schemas.microsoft.com/office/drawing/2012/chart" uri="{CE6537A1-D6FC-4f65-9D91-7224C49458BB}"/>
            </c:extLst>
          </c:dLbls>
          <c:val>
            <c:numRef>
              <c:f>Sheet1!$A$1:$A$4</c:f>
              <c:numCache>
                <c:formatCode>General</c:formatCode>
                <c:ptCount val="4"/>
                <c:pt idx="0">
                  <c:v>42.380952380952372</c:v>
                </c:pt>
                <c:pt idx="1">
                  <c:v>39.470899470899468</c:v>
                </c:pt>
                <c:pt idx="2">
                  <c:v>17.671957671957671</c:v>
                </c:pt>
                <c:pt idx="3">
                  <c:v>0.47619047619047616</c:v>
                </c:pt>
              </c:numCache>
            </c:numRef>
          </c:val>
          <c:extLst>
            <c:ext xmlns:c16="http://schemas.microsoft.com/office/drawing/2014/chart" uri="{C3380CC4-5D6E-409C-BE32-E72D297353CC}">
              <c16:uniqueId val="{00000004-23CE-4CD0-A85F-7D2A5815EA30}"/>
            </c:ext>
          </c:extLst>
        </c:ser>
        <c:dLbls>
          <c:showLegendKey val="0"/>
          <c:showVal val="0"/>
          <c:showCatName val="0"/>
          <c:showSerName val="0"/>
          <c:showPercent val="0"/>
          <c:showBubbleSize val="0"/>
          <c:showLeaderLines val="1"/>
        </c:dLbls>
        <c:firstSliceAng val="2"/>
        <c:holeSize val="50"/>
      </c:doughnutChart>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1655901350557839E-2"/>
          <c:y val="7.3931829092654819E-2"/>
          <c:w val="0.87140340575455077"/>
          <c:h val="0.86989918386941911"/>
        </c:manualLayout>
      </c:layout>
      <c:barChart>
        <c:barDir val="col"/>
        <c:grouping val="stacked"/>
        <c:varyColors val="0"/>
        <c:ser>
          <c:idx val="0"/>
          <c:order val="0"/>
          <c:spPr>
            <a:solidFill>
              <a:srgbClr val="C3CFE1"/>
            </a:solidFill>
            <a:ln w="3175" cmpd="sng" algn="ctr">
              <a:solidFill>
                <a:schemeClr val="bg1"/>
              </a:solidFill>
              <a:prstDash val="solid"/>
            </a:ln>
          </c:spPr>
          <c:invertIfNegative val="0"/>
          <c:dPt>
            <c:idx val="0"/>
            <c:invertIfNegative val="0"/>
            <c:bubble3D val="0"/>
            <c:spPr>
              <a:solidFill>
                <a:srgbClr val="6F8DB9"/>
              </a:solidFill>
              <a:ln w="3175" cmpd="sng" algn="ctr">
                <a:solidFill>
                  <a:schemeClr val="bg1"/>
                </a:solidFill>
                <a:prstDash val="solid"/>
              </a:ln>
            </c:spPr>
            <c:extLst>
              <c:ext xmlns:c16="http://schemas.microsoft.com/office/drawing/2014/chart" uri="{C3380CC4-5D6E-409C-BE32-E72D297353CC}">
                <c16:uniqueId val="{00000000-1C87-4A2B-B198-BC19734DC24F}"/>
              </c:ext>
            </c:extLst>
          </c:dPt>
          <c:dPt>
            <c:idx val="1"/>
            <c:invertIfNegative val="0"/>
            <c:bubble3D val="0"/>
            <c:spPr>
              <a:solidFill>
                <a:srgbClr val="6F8DB9"/>
              </a:solidFill>
              <a:ln w="3175" cmpd="sng" algn="ctr">
                <a:solidFill>
                  <a:schemeClr val="bg1"/>
                </a:solidFill>
                <a:prstDash val="solid"/>
              </a:ln>
            </c:spPr>
            <c:extLst>
              <c:ext xmlns:c16="http://schemas.microsoft.com/office/drawing/2014/chart" uri="{C3380CC4-5D6E-409C-BE32-E72D297353CC}">
                <c16:uniqueId val="{00000001-1C87-4A2B-B198-BC19734DC24F}"/>
              </c:ext>
            </c:extLst>
          </c:dPt>
          <c:dLbls>
            <c:dLbl>
              <c:idx val="0"/>
              <c:layout>
                <c:manualLayout>
                  <c:x val="0"/>
                  <c:y val="-0.23571771483437351"/>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C87-4A2B-B198-BC19734DC24F}"/>
                </c:ext>
              </c:extLst>
            </c:dLbl>
            <c:dLbl>
              <c:idx val="1"/>
              <c:layout>
                <c:manualLayout>
                  <c:x val="0"/>
                  <c:y val="-0.25780124819971195"/>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C87-4A2B-B198-BC19734DC24F}"/>
                </c:ext>
              </c:extLst>
            </c:dLbl>
            <c:dLbl>
              <c:idx val="2"/>
              <c:layout>
                <c:manualLayout>
                  <c:x val="0"/>
                  <c:y val="-0.28324531925108015"/>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C87-4A2B-B198-BC19734DC24F}"/>
                </c:ext>
              </c:extLst>
            </c:dLbl>
            <c:dLbl>
              <c:idx val="3"/>
              <c:layout>
                <c:manualLayout>
                  <c:x val="0"/>
                  <c:y val="-0.31156985117618818"/>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C87-4A2B-B198-BC19734DC24F}"/>
                </c:ext>
              </c:extLst>
            </c:dLbl>
            <c:dLbl>
              <c:idx val="4"/>
              <c:layout>
                <c:manualLayout>
                  <c:x val="0"/>
                  <c:y val="-0.34277484397503599"/>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C87-4A2B-B198-BC19734DC24F}"/>
                </c:ext>
              </c:extLst>
            </c:dLbl>
            <c:dLbl>
              <c:idx val="5"/>
              <c:layout>
                <c:manualLayout>
                  <c:x val="0"/>
                  <c:y val="-0.3787806048967835"/>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C87-4A2B-B198-BC19734DC24F}"/>
                </c:ext>
              </c:extLst>
            </c:dLbl>
            <c:dLbl>
              <c:idx val="6"/>
              <c:layout>
                <c:manualLayout>
                  <c:x val="0"/>
                  <c:y val="-0.41622659625540087"/>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C87-4A2B-B198-BC19734DC24F}"/>
                </c:ext>
              </c:extLst>
            </c:dLbl>
            <c:dLbl>
              <c:idx val="7"/>
              <c:layout>
                <c:manualLayout>
                  <c:x val="0"/>
                  <c:y val="-0.45703312530004803"/>
                </c:manualLayout>
              </c:layout>
              <c:numFmt formatCode="#,##0;&quot;-&quot;#,##0" sourceLinked="0"/>
              <c:spPr>
                <a:noFill/>
                <a:ln>
                  <a:noFill/>
                </a:ln>
              </c:spPr>
              <c:txPr>
                <a:bodyPr/>
                <a:lstStyle/>
                <a:p>
                  <a:pPr>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C87-4A2B-B198-BC19734DC24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Sheet1!$A$1:$H$1</c:f>
              <c:numCache>
                <c:formatCode>General</c:formatCode>
                <c:ptCount val="8"/>
                <c:pt idx="0">
                  <c:v>154</c:v>
                </c:pt>
                <c:pt idx="1">
                  <c:v>170</c:v>
                </c:pt>
                <c:pt idx="2">
                  <c:v>189</c:v>
                </c:pt>
                <c:pt idx="3">
                  <c:v>210</c:v>
                </c:pt>
                <c:pt idx="4">
                  <c:v>233</c:v>
                </c:pt>
                <c:pt idx="5">
                  <c:v>259</c:v>
                </c:pt>
                <c:pt idx="6">
                  <c:v>287</c:v>
                </c:pt>
                <c:pt idx="7">
                  <c:v>317</c:v>
                </c:pt>
              </c:numCache>
            </c:numRef>
          </c:val>
          <c:extLst>
            <c:ext xmlns:c16="http://schemas.microsoft.com/office/drawing/2014/chart" uri="{C3380CC4-5D6E-409C-BE32-E72D297353CC}">
              <c16:uniqueId val="{00000008-1C87-4A2B-B198-BC19734DC24F}"/>
            </c:ext>
          </c:extLst>
        </c:ser>
        <c:dLbls>
          <c:showLegendKey val="0"/>
          <c:showVal val="0"/>
          <c:showCatName val="0"/>
          <c:showSerName val="0"/>
          <c:showPercent val="0"/>
          <c:showBubbleSize val="0"/>
        </c:dLbls>
        <c:gapWidth val="0"/>
        <c:overlap val="100"/>
        <c:axId val="575617584"/>
        <c:axId val="1"/>
      </c:barChart>
      <c:barChart>
        <c:barDir val="col"/>
        <c:grouping val="clustered"/>
        <c:varyColors val="0"/>
        <c:ser>
          <c:idx val="1"/>
          <c:order val="1"/>
          <c:invertIfNegative val="0"/>
          <c:extLst>
            <c:ext xmlns:c16="http://schemas.microsoft.com/office/drawing/2014/chart" uri="{C3380CC4-5D6E-409C-BE32-E72D297353CC}">
              <c16:uniqueId val="{00000009-1C87-4A2B-B198-BC19734DC24F}"/>
            </c:ext>
          </c:extLst>
        </c:ser>
        <c:dLbls>
          <c:showLegendKey val="0"/>
          <c:showVal val="0"/>
          <c:showCatName val="0"/>
          <c:showSerName val="0"/>
          <c:showPercent val="0"/>
          <c:showBubbleSize val="0"/>
        </c:dLbls>
        <c:gapWidth val="150"/>
        <c:axId val="2"/>
        <c:axId val="3"/>
      </c:barChart>
      <c:catAx>
        <c:axId val="575617584"/>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20"/>
          <c:min val="0"/>
        </c:scaling>
        <c:delete val="0"/>
        <c:axPos val="r"/>
        <c:majorGridlines>
          <c:spPr>
            <a:ln>
              <a:noFill/>
            </a:ln>
          </c:spPr>
        </c:majorGridlines>
        <c:numFmt formatCode="#,##0;&quot;-&quot;#,##0" sourceLinked="0"/>
        <c:majorTickMark val="out"/>
        <c:minorTickMark val="none"/>
        <c:tickLblPos val="nextTo"/>
        <c:spPr>
          <a:ln w="9525" cmpd="sng" algn="ctr">
            <a:solidFill>
              <a:schemeClr val="tx1"/>
            </a:solidFill>
            <a:prstDash val="solid"/>
          </a:ln>
        </c:spPr>
        <c:crossAx val="575617584"/>
        <c:crosses val="max"/>
        <c:crossBetween val="between"/>
        <c:majorUnit val="20"/>
      </c:valAx>
      <c:catAx>
        <c:axId val="2"/>
        <c:scaling>
          <c:orientation val="minMax"/>
        </c:scaling>
        <c:delete val="1"/>
        <c:axPos val="b"/>
        <c:majorGridlines>
          <c:spPr>
            <a:ln>
              <a:noFill/>
            </a:ln>
          </c:spPr>
        </c:majorGridlines>
        <c:majorTickMark val="none"/>
        <c:minorTickMark val="none"/>
        <c:tickLblPos val="none"/>
        <c:crossAx val="3"/>
        <c:crosses val="min"/>
        <c:auto val="0"/>
        <c:lblAlgn val="ctr"/>
        <c:lblOffset val="100"/>
        <c:noMultiLvlLbl val="0"/>
      </c:catAx>
      <c:valAx>
        <c:axId val="3"/>
        <c:scaling>
          <c:orientation val="minMax"/>
          <c:max val="1"/>
          <c:min val="0"/>
        </c:scaling>
        <c:delete val="0"/>
        <c:axPos val="l"/>
        <c:majorGridlines>
          <c:spPr>
            <a:ln>
              <a:noFill/>
            </a:ln>
          </c:spPr>
        </c:majorGridlines>
        <c:numFmt formatCode="#,##0.0;&quot;-&quot;#,##0.0" sourceLinked="0"/>
        <c:majorTickMark val="out"/>
        <c:minorTickMark val="none"/>
        <c:tickLblPos val="nextTo"/>
        <c:spPr>
          <a:ln w="9525" cmpd="sng" algn="ctr">
            <a:solidFill>
              <a:schemeClr val="tx1"/>
            </a:solidFill>
            <a:prstDash val="solid"/>
          </a:ln>
        </c:spPr>
        <c:crossAx val="2"/>
        <c:crosses val="min"/>
        <c:crossBetween val="between"/>
        <c:majorUnit val="0.1"/>
      </c:valAx>
    </c:plotArea>
    <c:plotVisOnly val="0"/>
    <c:dispBlanksAs val="gap"/>
    <c:showDLblsOverMax val="1"/>
  </c:chart>
  <c:txPr>
    <a:bodyPr/>
    <a:lstStyle/>
    <a:p>
      <a:pPr>
        <a:defRPr>
          <a:solidFill>
            <a:srgbClr val="3A5479"/>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4968684759916491E-2"/>
          <c:y val="7.9156908665105385E-2"/>
          <c:w val="0.93789144050104389"/>
          <c:h val="0.84168618266978923"/>
        </c:manualLayout>
      </c:layout>
      <c:doughnutChart>
        <c:varyColors val="0"/>
        <c:ser>
          <c:idx val="0"/>
          <c:order val="0"/>
          <c:dPt>
            <c:idx val="0"/>
            <c:bubble3D val="0"/>
            <c:spPr>
              <a:solidFill>
                <a:srgbClr val="DFE5EF"/>
              </a:solidFill>
              <a:ln w="9525" cmpd="sng" algn="ctr">
                <a:solidFill>
                  <a:schemeClr val="tx1"/>
                </a:solidFill>
                <a:prstDash val="solid"/>
              </a:ln>
            </c:spPr>
            <c:extLst>
              <c:ext xmlns:c16="http://schemas.microsoft.com/office/drawing/2014/chart" uri="{C3380CC4-5D6E-409C-BE32-E72D297353CC}">
                <c16:uniqueId val="{00000000-7772-419C-8D00-4302D59FE0A7}"/>
              </c:ext>
            </c:extLst>
          </c:dPt>
          <c:dPt>
            <c:idx val="1"/>
            <c:bubble3D val="0"/>
            <c:spPr>
              <a:solidFill>
                <a:srgbClr val="C3CFE1"/>
              </a:solidFill>
              <a:ln w="9525" cmpd="sng" algn="ctr">
                <a:solidFill>
                  <a:schemeClr val="tx1"/>
                </a:solidFill>
                <a:prstDash val="solid"/>
              </a:ln>
            </c:spPr>
            <c:extLst>
              <c:ext xmlns:c16="http://schemas.microsoft.com/office/drawing/2014/chart" uri="{C3380CC4-5D6E-409C-BE32-E72D297353CC}">
                <c16:uniqueId val="{00000001-7772-419C-8D00-4302D59FE0A7}"/>
              </c:ext>
            </c:extLst>
          </c:dPt>
          <c:dPt>
            <c:idx val="2"/>
            <c:bubble3D val="0"/>
            <c:spPr>
              <a:solidFill>
                <a:srgbClr val="9DB1CF"/>
              </a:solidFill>
              <a:ln w="9525" cmpd="sng" algn="ctr">
                <a:solidFill>
                  <a:schemeClr val="tx1"/>
                </a:solidFill>
                <a:prstDash val="solid"/>
              </a:ln>
            </c:spPr>
            <c:extLst>
              <c:ext xmlns:c16="http://schemas.microsoft.com/office/drawing/2014/chart" uri="{C3380CC4-5D6E-409C-BE32-E72D297353CC}">
                <c16:uniqueId val="{00000002-7772-419C-8D00-4302D59FE0A7}"/>
              </c:ext>
            </c:extLst>
          </c:dPt>
          <c:dPt>
            <c:idx val="3"/>
            <c:bubble3D val="0"/>
            <c:spPr>
              <a:solidFill>
                <a:srgbClr val="6F8DB9"/>
              </a:solidFill>
              <a:ln w="9525" cmpd="sng" algn="ctr">
                <a:solidFill>
                  <a:schemeClr val="tx1"/>
                </a:solidFill>
                <a:prstDash val="solid"/>
              </a:ln>
            </c:spPr>
            <c:extLst>
              <c:ext xmlns:c16="http://schemas.microsoft.com/office/drawing/2014/chart" uri="{C3380CC4-5D6E-409C-BE32-E72D297353CC}">
                <c16:uniqueId val="{00000003-7772-419C-8D00-4302D59FE0A7}"/>
              </c:ext>
            </c:extLst>
          </c:dPt>
          <c:dPt>
            <c:idx val="4"/>
            <c:bubble3D val="0"/>
            <c:spPr>
              <a:solidFill>
                <a:srgbClr val="4C6C9C"/>
              </a:solidFill>
              <a:ln w="9525" cmpd="sng" algn="ctr">
                <a:solidFill>
                  <a:schemeClr val="tx1"/>
                </a:solidFill>
                <a:prstDash val="solid"/>
              </a:ln>
            </c:spPr>
            <c:extLst>
              <c:ext xmlns:c16="http://schemas.microsoft.com/office/drawing/2014/chart" uri="{C3380CC4-5D6E-409C-BE32-E72D297353CC}">
                <c16:uniqueId val="{00000004-7772-419C-8D00-4302D59FE0A7}"/>
              </c:ext>
            </c:extLst>
          </c:dPt>
          <c:dLbls>
            <c:dLbl>
              <c:idx val="0"/>
              <c:layout>
                <c:manualLayout>
                  <c:x val="4.1231732776617951E-2"/>
                  <c:y val="-4.5433255269320842E-2"/>
                </c:manualLayout>
              </c:layout>
              <c:numFmt formatCode="#,##0.0&quot;%&quot;;&quot;-&quot;#,##0.0&quot;%&quot;" sourceLinked="0"/>
              <c:spPr>
                <a:noFill/>
                <a:ln>
                  <a:noFill/>
                </a:ln>
              </c:spPr>
              <c:txPr>
                <a:bodyPr wrap="none"/>
                <a:lstStyle/>
                <a:p>
                  <a:pPr>
                    <a:defRPr sz="800" kern="1200">
                      <a:solidFill>
                        <a:schemeClr val="accent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772-419C-8D00-4302D59FE0A7}"/>
                </c:ext>
              </c:extLst>
            </c:dLbl>
            <c:dLbl>
              <c:idx val="1"/>
              <c:layout>
                <c:manualLayout>
                  <c:x val="2.8705636743215031E-2"/>
                  <c:y val="5.9484777517564404E-2"/>
                </c:manualLayout>
              </c:layout>
              <c:numFmt formatCode="#,##0.0&quot;%&quot;;&quot;-&quot;#,##0.0&quot;%&quot;" sourceLinked="0"/>
              <c:spPr>
                <a:noFill/>
                <a:ln>
                  <a:noFill/>
                </a:ln>
              </c:spPr>
              <c:txPr>
                <a:bodyPr wrap="none"/>
                <a:lstStyle/>
                <a:p>
                  <a:pPr>
                    <a:defRPr sz="800" kern="1200">
                      <a:solidFill>
                        <a:schemeClr val="accent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772-419C-8D00-4302D59FE0A7}"/>
                </c:ext>
              </c:extLst>
            </c:dLbl>
            <c:dLbl>
              <c:idx val="2"/>
              <c:layout>
                <c:manualLayout>
                  <c:x val="-6.2630480167014613E-2"/>
                  <c:y val="3.7470725995316159E-3"/>
                </c:manualLayout>
              </c:layout>
              <c:numFmt formatCode="#,##0.0&quot;%&quot;;&quot;-&quot;#,##0.0&quot;%&quot;" sourceLinked="0"/>
              <c:spPr>
                <a:noFill/>
                <a:ln>
                  <a:noFill/>
                </a:ln>
              </c:spPr>
              <c:txPr>
                <a:bodyPr wrap="none"/>
                <a:lstStyle/>
                <a:p>
                  <a:pPr>
                    <a:defRPr sz="800" kern="1200">
                      <a:solidFill>
                        <a:schemeClr val="accent2"/>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772-419C-8D00-4302D59FE0A7}"/>
                </c:ext>
              </c:extLst>
            </c:dLbl>
            <c:dLbl>
              <c:idx val="3"/>
              <c:layout>
                <c:manualLayout>
                  <c:x val="-4.4363256784968684E-2"/>
                  <c:y val="-4.2154566744730677E-2"/>
                </c:manualLayout>
              </c:layout>
              <c:numFmt formatCode="#,##0.0&quot;%&quot;;&quot;-&quot;#,##0.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772-419C-8D00-4302D59FE0A7}"/>
                </c:ext>
              </c:extLst>
            </c:dLbl>
            <c:dLbl>
              <c:idx val="4"/>
              <c:layout>
                <c:manualLayout>
                  <c:x val="-1.8267223382045929E-2"/>
                  <c:y val="-7.2599531615925056E-2"/>
                </c:manualLayout>
              </c:layout>
              <c:numFmt formatCode="#,##0.0&quot;%&quot;;&quot;-&quot;#,##0.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772-419C-8D00-4302D59FE0A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Sheet1!$A$1:$A$5</c:f>
              <c:numCache>
                <c:formatCode>General</c:formatCode>
                <c:ptCount val="5"/>
                <c:pt idx="0">
                  <c:v>22</c:v>
                </c:pt>
                <c:pt idx="1">
                  <c:v>43</c:v>
                </c:pt>
                <c:pt idx="2">
                  <c:v>18</c:v>
                </c:pt>
                <c:pt idx="3">
                  <c:v>10</c:v>
                </c:pt>
                <c:pt idx="4">
                  <c:v>7.0000000000000009</c:v>
                </c:pt>
              </c:numCache>
            </c:numRef>
          </c:val>
          <c:extLst>
            <c:ext xmlns:c16="http://schemas.microsoft.com/office/drawing/2014/chart" uri="{C3380CC4-5D6E-409C-BE32-E72D297353CC}">
              <c16:uniqueId val="{00000005-7772-419C-8D00-4302D59FE0A7}"/>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92806822395254E-2"/>
          <c:y val="2.5883524141363863E-2"/>
          <c:w val="0.96143863552094921"/>
          <c:h val="0.94823295171727229"/>
        </c:manualLayout>
      </c:layout>
      <c:barChart>
        <c:barDir val="bar"/>
        <c:grouping val="stacked"/>
        <c:varyColors val="0"/>
        <c:ser>
          <c:idx val="0"/>
          <c:order val="0"/>
          <c:spPr>
            <a:noFill/>
            <a:ln>
              <a:noFill/>
            </a:ln>
          </c:spPr>
          <c:invertIfNegative val="0"/>
          <c:val>
            <c:numRef>
              <c:f>Sheet1!$A$1:$D$1</c:f>
              <c:numCache>
                <c:formatCode>General</c:formatCode>
                <c:ptCount val="4"/>
                <c:pt idx="0">
                  <c:v>72</c:v>
                </c:pt>
                <c:pt idx="1">
                  <c:v>68.181818181818187</c:v>
                </c:pt>
                <c:pt idx="2">
                  <c:v>65</c:v>
                </c:pt>
                <c:pt idx="3">
                  <c:v>72.727272727272734</c:v>
                </c:pt>
              </c:numCache>
            </c:numRef>
          </c:val>
          <c:extLst>
            <c:ext xmlns:c16="http://schemas.microsoft.com/office/drawing/2014/chart" uri="{C3380CC4-5D6E-409C-BE32-E72D297353CC}">
              <c16:uniqueId val="{00000000-2B33-4D42-9D3C-7747C9381638}"/>
            </c:ext>
          </c:extLst>
        </c:ser>
        <c:ser>
          <c:idx val="1"/>
          <c:order val="1"/>
          <c:spPr>
            <a:pattFill prst="pct50">
              <a:fgClr>
                <a:schemeClr val="tx1"/>
              </a:fgClr>
              <a:bgClr>
                <a:schemeClr val="bg1"/>
              </a:bgClr>
            </a:pattFill>
            <a:ln>
              <a:noFill/>
            </a:ln>
          </c:spPr>
          <c:invertIfNegative val="0"/>
          <c:val>
            <c:numRef>
              <c:f>Sheet1!$A$2:$D$2</c:f>
              <c:numCache>
                <c:formatCode>General</c:formatCode>
                <c:ptCount val="4"/>
                <c:pt idx="0">
                  <c:v>28.000000000000004</c:v>
                </c:pt>
                <c:pt idx="1">
                  <c:v>31.818181818181813</c:v>
                </c:pt>
                <c:pt idx="2">
                  <c:v>35</c:v>
                </c:pt>
                <c:pt idx="3">
                  <c:v>27.27272727272727</c:v>
                </c:pt>
              </c:numCache>
            </c:numRef>
          </c:val>
          <c:extLst>
            <c:ext xmlns:c16="http://schemas.microsoft.com/office/drawing/2014/chart" uri="{C3380CC4-5D6E-409C-BE32-E72D297353CC}">
              <c16:uniqueId val="{00000001-2B33-4D42-9D3C-7747C9381638}"/>
            </c:ext>
          </c:extLst>
        </c:ser>
        <c:dLbls>
          <c:showLegendKey val="0"/>
          <c:showVal val="0"/>
          <c:showCatName val="0"/>
          <c:showSerName val="0"/>
          <c:showPercent val="0"/>
          <c:showBubbleSize val="0"/>
        </c:dLbls>
        <c:gapWidth val="80"/>
        <c:overlap val="100"/>
        <c:axId val="446096256"/>
        <c:axId val="1"/>
      </c:barChart>
      <c:catAx>
        <c:axId val="44609625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446096256"/>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85860889395667E-2"/>
          <c:y val="7.5197889182058053E-2"/>
          <c:w val="0.97628278221208664"/>
          <c:h val="0.87335092348284959"/>
        </c:manualLayout>
      </c:layout>
      <c:barChart>
        <c:barDir val="col"/>
        <c:grouping val="stacked"/>
        <c:varyColors val="0"/>
        <c:ser>
          <c:idx val="0"/>
          <c:order val="0"/>
          <c:spPr>
            <a:solidFill>
              <a:srgbClr val="7F99C6"/>
            </a:solidFill>
            <a:ln w="9525" cmpd="sng" algn="ctr">
              <a:solidFill>
                <a:schemeClr val="tx1"/>
              </a:solidFill>
              <a:prstDash val="solid"/>
            </a:ln>
          </c:spPr>
          <c:invertIfNegative val="0"/>
          <c:dLbls>
            <c:dLbl>
              <c:idx val="0"/>
              <c:layout>
                <c:manualLayout>
                  <c:x val="0"/>
                  <c:y val="-0.46086191732629728"/>
                </c:manualLayout>
              </c:layout>
              <c:numFmt formatCode="&quot;$&quot;#,##0.00;&quot;-&quot;&quot;$&quot;#,##0.00"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39A-4828-BA1A-F6C1F46DD73A}"/>
                </c:ext>
              </c:extLst>
            </c:dLbl>
            <c:dLbl>
              <c:idx val="1"/>
              <c:layout>
                <c:manualLayout>
                  <c:x val="0"/>
                  <c:y val="-0.43095866314863679"/>
                </c:manualLayout>
              </c:layout>
              <c:numFmt formatCode="&quot;$&quot;#,##0.00;&quot;-&quot;&quot;$&quot;#,##0.00"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39A-4828-BA1A-F6C1F46DD73A}"/>
                </c:ext>
              </c:extLst>
            </c:dLbl>
            <c:dLbl>
              <c:idx val="2"/>
              <c:layout>
                <c:manualLayout>
                  <c:x val="0"/>
                  <c:y val="-0.20624450307827616"/>
                </c:manualLayout>
              </c:layout>
              <c:numFmt formatCode="&quot;$&quot;#,##0.00;&quot;-&quot;&quot;$&quot;#,##0.00"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239A-4828-BA1A-F6C1F46DD73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80.099999999999994</c:v>
                </c:pt>
                <c:pt idx="1">
                  <c:v>74.599999999999994</c:v>
                </c:pt>
                <c:pt idx="2">
                  <c:v>33.4</c:v>
                </c:pt>
              </c:numCache>
            </c:numRef>
          </c:val>
          <c:extLst>
            <c:ext xmlns:c16="http://schemas.microsoft.com/office/drawing/2014/chart" uri="{C3380CC4-5D6E-409C-BE32-E72D297353CC}">
              <c16:uniqueId val="{00000003-239A-4828-BA1A-F6C1F46DD73A}"/>
            </c:ext>
          </c:extLst>
        </c:ser>
        <c:dLbls>
          <c:showLegendKey val="0"/>
          <c:showVal val="0"/>
          <c:showCatName val="0"/>
          <c:showSerName val="0"/>
          <c:showPercent val="0"/>
          <c:showBubbleSize val="0"/>
        </c:dLbls>
        <c:gapWidth val="80"/>
        <c:overlap val="100"/>
        <c:axId val="1741209552"/>
        <c:axId val="1"/>
      </c:barChart>
      <c:catAx>
        <c:axId val="17412095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80.099999999999994"/>
          <c:min val="0"/>
        </c:scaling>
        <c:delete val="1"/>
        <c:axPos val="l"/>
        <c:numFmt formatCode="General" sourceLinked="1"/>
        <c:majorTickMark val="out"/>
        <c:minorTickMark val="none"/>
        <c:tickLblPos val="nextTo"/>
        <c:crossAx val="1741209552"/>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457788347205707E-2"/>
          <c:y val="0.18546637744034708"/>
          <c:w val="0.96908442330558864"/>
          <c:h val="0.68763557483731019"/>
        </c:manualLayout>
      </c:layout>
      <c:barChart>
        <c:barDir val="col"/>
        <c:grouping val="clustered"/>
        <c:varyColors val="0"/>
        <c:ser>
          <c:idx val="0"/>
          <c:order val="0"/>
          <c:spPr>
            <a:solidFill>
              <a:srgbClr val="364D6E"/>
            </a:solidFill>
            <a:ln w="3175" cmpd="sng" algn="ctr">
              <a:solidFill>
                <a:schemeClr val="bg1"/>
              </a:solidFill>
              <a:prstDash val="solid"/>
            </a:ln>
          </c:spPr>
          <c:invertIfNegative val="0"/>
          <c:dLbls>
            <c:dLbl>
              <c:idx val="0"/>
              <c:layout>
                <c:manualLayout>
                  <c:x val="0"/>
                  <c:y val="-0.3232104121475054"/>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AD84-4949-A834-C7A4BA5BDC1B}"/>
                </c:ext>
              </c:extLst>
            </c:dLbl>
            <c:dLbl>
              <c:idx val="1"/>
              <c:layout>
                <c:manualLayout>
                  <c:x val="0"/>
                  <c:y val="-0.29392624728850325"/>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AD84-4949-A834-C7A4BA5BDC1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13.8</c:v>
                </c:pt>
                <c:pt idx="1">
                  <c:v>12.3</c:v>
                </c:pt>
              </c:numCache>
            </c:numRef>
          </c:val>
          <c:extLst>
            <c:ext xmlns:c16="http://schemas.microsoft.com/office/drawing/2014/chart" uri="{C3380CC4-5D6E-409C-BE32-E72D297353CC}">
              <c16:uniqueId val="{00000002-AD84-4949-A834-C7A4BA5BDC1B}"/>
            </c:ext>
          </c:extLst>
        </c:ser>
        <c:ser>
          <c:idx val="1"/>
          <c:order val="1"/>
          <c:spPr>
            <a:solidFill>
              <a:srgbClr val="6F8DB9"/>
            </a:solidFill>
            <a:ln w="3175" cmpd="sng" algn="ctr">
              <a:solidFill>
                <a:schemeClr val="bg1"/>
              </a:solidFill>
              <a:prstDash val="solid"/>
            </a:ln>
          </c:spPr>
          <c:invertIfNegative val="0"/>
          <c:dLbls>
            <c:dLbl>
              <c:idx val="0"/>
              <c:layout>
                <c:manualLayout>
                  <c:x val="0"/>
                  <c:y val="-0.39696312364425163"/>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AD84-4949-A834-C7A4BA5BDC1B}"/>
                </c:ext>
              </c:extLst>
            </c:dLbl>
            <c:dLbl>
              <c:idx val="1"/>
              <c:layout>
                <c:manualLayout>
                  <c:x val="0"/>
                  <c:y val="-0.40347071583514099"/>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AD84-4949-A834-C7A4BA5BDC1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17.7</c:v>
                </c:pt>
                <c:pt idx="1">
                  <c:v>18</c:v>
                </c:pt>
              </c:numCache>
            </c:numRef>
          </c:val>
          <c:extLst>
            <c:ext xmlns:c16="http://schemas.microsoft.com/office/drawing/2014/chart" uri="{C3380CC4-5D6E-409C-BE32-E72D297353CC}">
              <c16:uniqueId val="{00000005-AD84-4949-A834-C7A4BA5BDC1B}"/>
            </c:ext>
          </c:extLst>
        </c:ser>
        <c:dLbls>
          <c:showLegendKey val="0"/>
          <c:showVal val="0"/>
          <c:showCatName val="0"/>
          <c:showSerName val="0"/>
          <c:showPercent val="0"/>
          <c:showBubbleSize val="0"/>
        </c:dLbls>
        <c:gapWidth val="40"/>
        <c:axId val="181131328"/>
        <c:axId val="1"/>
      </c:barChart>
      <c:catAx>
        <c:axId val="18113132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8"/>
          <c:min val="0"/>
        </c:scaling>
        <c:delete val="1"/>
        <c:axPos val="l"/>
        <c:numFmt formatCode="General" sourceLinked="1"/>
        <c:majorTickMark val="out"/>
        <c:minorTickMark val="none"/>
        <c:tickLblPos val="nextTo"/>
        <c:crossAx val="181131328"/>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457788347205707E-2"/>
          <c:y val="0.18466522678185746"/>
          <c:w val="0.96908442330558864"/>
          <c:h val="0.68898488120950319"/>
        </c:manualLayout>
      </c:layout>
      <c:barChart>
        <c:barDir val="col"/>
        <c:grouping val="clustered"/>
        <c:varyColors val="0"/>
        <c:ser>
          <c:idx val="0"/>
          <c:order val="0"/>
          <c:spPr>
            <a:solidFill>
              <a:srgbClr val="364D6E"/>
            </a:solidFill>
            <a:ln w="3175" cmpd="sng" algn="ctr">
              <a:solidFill>
                <a:schemeClr val="bg1"/>
              </a:solidFill>
              <a:prstDash val="solid"/>
            </a:ln>
          </c:spPr>
          <c:invertIfNegative val="0"/>
          <c:dLbls>
            <c:dLbl>
              <c:idx val="0"/>
              <c:layout>
                <c:manualLayout>
                  <c:x val="0"/>
                  <c:y val="-0.31857451403887688"/>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ADF-4A0D-895E-D0EFB1610A86}"/>
                </c:ext>
              </c:extLst>
            </c:dLbl>
            <c:dLbl>
              <c:idx val="1"/>
              <c:layout>
                <c:manualLayout>
                  <c:x val="0"/>
                  <c:y val="-0.38660907127429806"/>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6ADF-4A0D-895E-D0EFB1610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44.7</c:v>
                </c:pt>
                <c:pt idx="1">
                  <c:v>56.399999999999991</c:v>
                </c:pt>
              </c:numCache>
            </c:numRef>
          </c:val>
          <c:extLst>
            <c:ext xmlns:c16="http://schemas.microsoft.com/office/drawing/2014/chart" uri="{C3380CC4-5D6E-409C-BE32-E72D297353CC}">
              <c16:uniqueId val="{00000002-6ADF-4A0D-895E-D0EFB1610A86}"/>
            </c:ext>
          </c:extLst>
        </c:ser>
        <c:ser>
          <c:idx val="1"/>
          <c:order val="1"/>
          <c:spPr>
            <a:solidFill>
              <a:srgbClr val="6F8DB9"/>
            </a:solidFill>
            <a:ln w="3175" cmpd="sng" algn="ctr">
              <a:solidFill>
                <a:schemeClr val="bg1"/>
              </a:solidFill>
              <a:prstDash val="solid"/>
            </a:ln>
          </c:spPr>
          <c:invertIfNegative val="0"/>
          <c:dLbls>
            <c:dLbl>
              <c:idx val="0"/>
              <c:layout>
                <c:manualLayout>
                  <c:x val="0"/>
                  <c:y val="-0.3282937365010799"/>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6ADF-4A0D-895E-D0EFB1610A86}"/>
                </c:ext>
              </c:extLst>
            </c:dLbl>
            <c:dLbl>
              <c:idx val="1"/>
              <c:layout>
                <c:manualLayout>
                  <c:x val="0"/>
                  <c:y val="-0.4038876889848812"/>
                </c:manualLayout>
              </c:layout>
              <c:numFmt formatCode="#,##0.0&quot;%&quot;;&quot;-&quot;#,##0.0&quot;%&quot;" sourceLinked="0"/>
              <c:spPr>
                <a:noFill/>
                <a:ln>
                  <a:noFill/>
                </a:ln>
              </c:spPr>
              <c:txPr>
                <a:bodyPr wrap="none"/>
                <a:lstStyle/>
                <a:p>
                  <a:pPr>
                    <a:defRPr sz="8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6ADF-4A0D-895E-D0EFB1610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46.4</c:v>
                </c:pt>
                <c:pt idx="1">
                  <c:v>59.4</c:v>
                </c:pt>
              </c:numCache>
            </c:numRef>
          </c:val>
          <c:extLst>
            <c:ext xmlns:c16="http://schemas.microsoft.com/office/drawing/2014/chart" uri="{C3380CC4-5D6E-409C-BE32-E72D297353CC}">
              <c16:uniqueId val="{00000005-6ADF-4A0D-895E-D0EFB1610A86}"/>
            </c:ext>
          </c:extLst>
        </c:ser>
        <c:dLbls>
          <c:showLegendKey val="0"/>
          <c:showVal val="0"/>
          <c:showCatName val="0"/>
          <c:showSerName val="0"/>
          <c:showPercent val="0"/>
          <c:showBubbleSize val="0"/>
        </c:dLbls>
        <c:gapWidth val="40"/>
        <c:axId val="657324288"/>
        <c:axId val="1"/>
      </c:barChart>
      <c:catAx>
        <c:axId val="657324288"/>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59.4"/>
          <c:min val="0"/>
        </c:scaling>
        <c:delete val="1"/>
        <c:axPos val="l"/>
        <c:numFmt formatCode="General" sourceLinked="1"/>
        <c:majorTickMark val="out"/>
        <c:minorTickMark val="none"/>
        <c:tickLblPos val="nextTo"/>
        <c:crossAx val="657324288"/>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3552254365389628E-2"/>
          <c:y val="7.2519083969465645E-2"/>
          <c:w val="0.9728954912692207"/>
          <c:h val="0.87786259541984735"/>
        </c:manualLayout>
      </c:layout>
      <c:barChart>
        <c:barDir val="col"/>
        <c:grouping val="stacked"/>
        <c:varyColors val="0"/>
        <c:ser>
          <c:idx val="0"/>
          <c:order val="0"/>
          <c:spPr>
            <a:solidFill>
              <a:srgbClr val="4066AA"/>
            </a:solidFill>
            <a:ln w="9525" cmpd="sng" algn="ctr">
              <a:solidFill>
                <a:schemeClr val="tx1"/>
              </a:solidFill>
              <a:prstDash val="solid"/>
            </a:ln>
          </c:spPr>
          <c:invertIfNegative val="0"/>
          <c:dLbls>
            <c:dLbl>
              <c:idx val="0"/>
              <c:layout>
                <c:manualLayout>
                  <c:x val="0"/>
                  <c:y val="-0.46225614927905007"/>
                </c:manualLayout>
              </c:layout>
              <c:numFmt formatCode="#,##0&quot;%&quot;;&quot;-&quot;#,##0&quot;%&quot;"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7C8-4A7A-A5FA-331D0D013C28}"/>
                </c:ext>
              </c:extLst>
            </c:dLbl>
            <c:dLbl>
              <c:idx val="1"/>
              <c:layout>
                <c:manualLayout>
                  <c:x val="0"/>
                  <c:y val="-0.19635284139100934"/>
                </c:manualLayout>
              </c:layout>
              <c:numFmt formatCode="#,##0&quot;%&quot;;&quot;-&quot;#,##0&quot;%&quot;"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7C8-4A7A-A5FA-331D0D013C28}"/>
                </c:ext>
              </c:extLst>
            </c:dLbl>
            <c:dLbl>
              <c:idx val="2"/>
              <c:layout>
                <c:manualLayout>
                  <c:x val="0"/>
                  <c:y val="-0.16793893129770993"/>
                </c:manualLayout>
              </c:layout>
              <c:numFmt formatCode="#,##0&quot;%&quot;;&quot;-&quot;#,##0&quot;%&quot;"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7C8-4A7A-A5FA-331D0D013C2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76</c:v>
                </c:pt>
                <c:pt idx="1">
                  <c:v>30</c:v>
                </c:pt>
                <c:pt idx="2">
                  <c:v>25</c:v>
                </c:pt>
              </c:numCache>
            </c:numRef>
          </c:val>
          <c:extLst>
            <c:ext xmlns:c16="http://schemas.microsoft.com/office/drawing/2014/chart" uri="{C3380CC4-5D6E-409C-BE32-E72D297353CC}">
              <c16:uniqueId val="{00000003-B7C8-4A7A-A5FA-331D0D013C28}"/>
            </c:ext>
          </c:extLst>
        </c:ser>
        <c:dLbls>
          <c:showLegendKey val="0"/>
          <c:showVal val="0"/>
          <c:showCatName val="0"/>
          <c:showSerName val="0"/>
          <c:showPercent val="0"/>
          <c:showBubbleSize val="0"/>
        </c:dLbls>
        <c:gapWidth val="80"/>
        <c:overlap val="100"/>
        <c:axId val="643548159"/>
        <c:axId val="1"/>
      </c:barChart>
      <c:catAx>
        <c:axId val="643548159"/>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
          <c:min val="0"/>
        </c:scaling>
        <c:delete val="1"/>
        <c:axPos val="l"/>
        <c:numFmt formatCode="General" sourceLinked="1"/>
        <c:majorTickMark val="out"/>
        <c:minorTickMark val="none"/>
        <c:tickLblPos val="nextTo"/>
        <c:crossAx val="643548159"/>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7426273458445041E-2"/>
          <c:y val="0.11018041237113402"/>
          <c:w val="0.9651474530831099"/>
          <c:h val="0.81443298969072164"/>
        </c:manualLayout>
      </c:layout>
      <c:barChart>
        <c:barDir val="col"/>
        <c:grouping val="stacked"/>
        <c:varyColors val="0"/>
        <c:ser>
          <c:idx val="0"/>
          <c:order val="0"/>
          <c:spPr>
            <a:solidFill>
              <a:srgbClr val="9DB1CF"/>
            </a:solidFill>
            <a:ln>
              <a:noFill/>
            </a:ln>
          </c:spPr>
          <c:invertIfNegative val="0"/>
          <c:dLbls>
            <c:dLbl>
              <c:idx val="0"/>
              <c:layout>
                <c:manualLayout>
                  <c:x val="0"/>
                  <c:y val="-0.30541237113402064"/>
                </c:manualLayout>
              </c:layout>
              <c:numFmt formatCode="#,##0&quot;%&quot;;&quot;-&quot;#,##0&quot;%&quot;"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D2D-4BD4-B90C-A27152EB7658}"/>
                </c:ext>
              </c:extLst>
            </c:dLbl>
            <c:dLbl>
              <c:idx val="1"/>
              <c:layout>
                <c:manualLayout>
                  <c:x val="0"/>
                  <c:y val="-0.44265463917525771"/>
                </c:manualLayout>
              </c:layout>
              <c:numFmt formatCode="#,##0&quot;%&quot;;&quot;-&quot;#,##0&quot;%&quot;" sourceLinked="0"/>
              <c:spPr>
                <a:noFill/>
                <a:ln>
                  <a:noFill/>
                </a:ln>
              </c:spPr>
              <c:txPr>
                <a:bodyPr wrap="none"/>
                <a:lstStyle/>
                <a:p>
                  <a:pPr>
                    <a:defRPr sz="800" kern="1200">
                      <a:solidFill>
                        <a:schemeClr val="accent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D2D-4BD4-B90C-A27152EB765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47</c:v>
                </c:pt>
                <c:pt idx="1">
                  <c:v>71</c:v>
                </c:pt>
              </c:numCache>
            </c:numRef>
          </c:val>
          <c:extLst>
            <c:ext xmlns:c16="http://schemas.microsoft.com/office/drawing/2014/chart" uri="{C3380CC4-5D6E-409C-BE32-E72D297353CC}">
              <c16:uniqueId val="{00000002-9D2D-4BD4-B90C-A27152EB7658}"/>
            </c:ext>
          </c:extLst>
        </c:ser>
        <c:dLbls>
          <c:showLegendKey val="0"/>
          <c:showVal val="0"/>
          <c:showCatName val="0"/>
          <c:showSerName val="0"/>
          <c:showPercent val="0"/>
          <c:showBubbleSize val="0"/>
        </c:dLbls>
        <c:gapWidth val="80"/>
        <c:overlap val="100"/>
        <c:axId val="440928752"/>
        <c:axId val="1"/>
      </c:barChart>
      <c:catAx>
        <c:axId val="44092875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1"/>
          <c:min val="0"/>
        </c:scaling>
        <c:delete val="1"/>
        <c:axPos val="l"/>
        <c:numFmt formatCode="General" sourceLinked="1"/>
        <c:majorTickMark val="out"/>
        <c:minorTickMark val="none"/>
        <c:tickLblPos val="nextTo"/>
        <c:crossAx val="440928752"/>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6CD95-054F-8147-9993-2E4CCAD70B08}"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350E10-7A9B-6F4D-BBB8-899E2E2A2DC4}" type="slidenum">
              <a:rPr lang="en-US" smtClean="0"/>
              <a:t>‹#›</a:t>
            </a:fld>
            <a:endParaRPr lang="en-US"/>
          </a:p>
        </p:txBody>
      </p:sp>
    </p:spTree>
    <p:extLst>
      <p:ext uri="{BB962C8B-B14F-4D97-AF65-F5344CB8AC3E}">
        <p14:creationId xmlns:p14="http://schemas.microsoft.com/office/powerpoint/2010/main" val="1092255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4</a:t>
            </a:fld>
            <a:endParaRPr lang="en-GB"/>
          </a:p>
        </p:txBody>
      </p:sp>
    </p:spTree>
    <p:extLst>
      <p:ext uri="{BB962C8B-B14F-4D97-AF65-F5344CB8AC3E}">
        <p14:creationId xmlns:p14="http://schemas.microsoft.com/office/powerpoint/2010/main" val="3027758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8206E-0A2F-B3CE-5311-50A7995F0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653CE-D678-AC5B-8A17-BD0625859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EE164-FA16-318E-E26C-433DB99B715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D1E848-331C-C79E-23FA-2DCD0287C781}"/>
              </a:ext>
            </a:extLst>
          </p:cNvPr>
          <p:cNvSpPr>
            <a:spLocks noGrp="1"/>
          </p:cNvSpPr>
          <p:nvPr>
            <p:ph type="sldNum" sz="quarter" idx="5"/>
          </p:nvPr>
        </p:nvSpPr>
        <p:spPr/>
        <p:txBody>
          <a:bodyPr/>
          <a:lstStyle/>
          <a:p>
            <a:fld id="{9B5D948F-A673-4DC7-A0E9-FA274EAF3634}" type="slidenum">
              <a:rPr lang="en-GB" smtClean="0"/>
              <a:pPr/>
              <a:t>5</a:t>
            </a:fld>
            <a:endParaRPr lang="en-GB"/>
          </a:p>
        </p:txBody>
      </p:sp>
    </p:spTree>
    <p:extLst>
      <p:ext uri="{BB962C8B-B14F-4D97-AF65-F5344CB8AC3E}">
        <p14:creationId xmlns:p14="http://schemas.microsoft.com/office/powerpoint/2010/main" val="2747818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44F76-AE6C-B020-A359-20133F13E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8B355E-C412-0182-2C04-2338F0E7A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F2281-C433-4454-E02D-6911834B8E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572EDA-1F86-D56A-AE2A-DC184DD6BCE9}"/>
              </a:ext>
            </a:extLst>
          </p:cNvPr>
          <p:cNvSpPr>
            <a:spLocks noGrp="1"/>
          </p:cNvSpPr>
          <p:nvPr>
            <p:ph type="sldNum" sz="quarter" idx="5"/>
          </p:nvPr>
        </p:nvSpPr>
        <p:spPr/>
        <p:txBody>
          <a:bodyPr/>
          <a:lstStyle/>
          <a:p>
            <a:fld id="{9B5D948F-A673-4DC7-A0E9-FA274EAF3634}" type="slidenum">
              <a:rPr lang="en-GB" smtClean="0"/>
              <a:pPr/>
              <a:t>6</a:t>
            </a:fld>
            <a:endParaRPr lang="en-GB"/>
          </a:p>
        </p:txBody>
      </p:sp>
    </p:spTree>
    <p:extLst>
      <p:ext uri="{BB962C8B-B14F-4D97-AF65-F5344CB8AC3E}">
        <p14:creationId xmlns:p14="http://schemas.microsoft.com/office/powerpoint/2010/main" val="3955016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73BDC-442B-E04D-C766-754C121C1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23010-3427-CEBB-143D-065177964B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E9330-F6C4-C7EC-4C4C-F69BE20CCB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DF97FF-5469-FDB3-F44F-B82E576C4466}"/>
              </a:ext>
            </a:extLst>
          </p:cNvPr>
          <p:cNvSpPr>
            <a:spLocks noGrp="1"/>
          </p:cNvSpPr>
          <p:nvPr>
            <p:ph type="sldNum" sz="quarter" idx="5"/>
          </p:nvPr>
        </p:nvSpPr>
        <p:spPr/>
        <p:txBody>
          <a:bodyPr/>
          <a:lstStyle/>
          <a:p>
            <a:fld id="{9B5D948F-A673-4DC7-A0E9-FA274EAF3634}" type="slidenum">
              <a:rPr lang="en-GB" smtClean="0"/>
              <a:pPr/>
              <a:t>7</a:t>
            </a:fld>
            <a:endParaRPr lang="en-GB"/>
          </a:p>
        </p:txBody>
      </p:sp>
    </p:spTree>
    <p:extLst>
      <p:ext uri="{BB962C8B-B14F-4D97-AF65-F5344CB8AC3E}">
        <p14:creationId xmlns:p14="http://schemas.microsoft.com/office/powerpoint/2010/main" val="4142103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F58ED-B6F6-0209-BAC2-A67F2CB13C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22529-3D18-B68F-4414-A815A485C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69683-3EC4-0F46-AFDC-2C5F80D2A4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0368EE-DE45-1459-D784-83DA63D3EC31}"/>
              </a:ext>
            </a:extLst>
          </p:cNvPr>
          <p:cNvSpPr>
            <a:spLocks noGrp="1"/>
          </p:cNvSpPr>
          <p:nvPr>
            <p:ph type="sldNum" sz="quarter" idx="5"/>
          </p:nvPr>
        </p:nvSpPr>
        <p:spPr/>
        <p:txBody>
          <a:bodyPr/>
          <a:lstStyle/>
          <a:p>
            <a:fld id="{9B5D948F-A673-4DC7-A0E9-FA274EAF3634}" type="slidenum">
              <a:rPr lang="en-GB" smtClean="0"/>
              <a:pPr/>
              <a:t>8</a:t>
            </a:fld>
            <a:endParaRPr lang="en-GB"/>
          </a:p>
        </p:txBody>
      </p:sp>
    </p:spTree>
    <p:extLst>
      <p:ext uri="{BB962C8B-B14F-4D97-AF65-F5344CB8AC3E}">
        <p14:creationId xmlns:p14="http://schemas.microsoft.com/office/powerpoint/2010/main" val="1087968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CF549-1D6F-BDE9-DF8F-FF3118CD4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5D5FD-7EDC-36C3-3262-E891042E28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C01C8-5CC6-FE7C-5C25-82D02208B7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D54DD0-D94B-724D-AE59-3056A7F220BE}"/>
              </a:ext>
            </a:extLst>
          </p:cNvPr>
          <p:cNvSpPr>
            <a:spLocks noGrp="1"/>
          </p:cNvSpPr>
          <p:nvPr>
            <p:ph type="sldNum" sz="quarter" idx="5"/>
          </p:nvPr>
        </p:nvSpPr>
        <p:spPr/>
        <p:txBody>
          <a:bodyPr/>
          <a:lstStyle/>
          <a:p>
            <a:fld id="{9B5D948F-A673-4DC7-A0E9-FA274EAF3634}" type="slidenum">
              <a:rPr lang="en-GB" smtClean="0"/>
              <a:pPr/>
              <a:t>9</a:t>
            </a:fld>
            <a:endParaRPr lang="en-GB"/>
          </a:p>
        </p:txBody>
      </p:sp>
    </p:spTree>
    <p:extLst>
      <p:ext uri="{BB962C8B-B14F-4D97-AF65-F5344CB8AC3E}">
        <p14:creationId xmlns:p14="http://schemas.microsoft.com/office/powerpoint/2010/main" val="1791533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59289-2A85-7FA1-4D7D-6723DFFCFB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3D9D3-FF0F-594A-1F4D-D2489F2AAC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FABE7-9E39-DD0A-E6A0-5048CF0FB3E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EE5CD3-B117-1178-CCF6-EAB5CBB04091}"/>
              </a:ext>
            </a:extLst>
          </p:cNvPr>
          <p:cNvSpPr>
            <a:spLocks noGrp="1"/>
          </p:cNvSpPr>
          <p:nvPr>
            <p:ph type="sldNum" sz="quarter" idx="5"/>
          </p:nvPr>
        </p:nvSpPr>
        <p:spPr/>
        <p:txBody>
          <a:bodyPr/>
          <a:lstStyle/>
          <a:p>
            <a:fld id="{9B5D948F-A673-4DC7-A0E9-FA274EAF3634}" type="slidenum">
              <a:rPr lang="en-GB" smtClean="0"/>
              <a:pPr/>
              <a:t>10</a:t>
            </a:fld>
            <a:endParaRPr lang="en-GB"/>
          </a:p>
        </p:txBody>
      </p:sp>
    </p:spTree>
    <p:extLst>
      <p:ext uri="{BB962C8B-B14F-4D97-AF65-F5344CB8AC3E}">
        <p14:creationId xmlns:p14="http://schemas.microsoft.com/office/powerpoint/2010/main" val="923172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12984-5318-F36D-1B6D-9BD20FF28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832C2E-FF69-5FCA-399D-DC5AFFC40F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22280-818A-EFD9-2D81-265F02C07B0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AFE5F7-38E3-6BE8-7BF7-B450490EFB21}"/>
              </a:ext>
            </a:extLst>
          </p:cNvPr>
          <p:cNvSpPr>
            <a:spLocks noGrp="1"/>
          </p:cNvSpPr>
          <p:nvPr>
            <p:ph type="sldNum" sz="quarter" idx="5"/>
          </p:nvPr>
        </p:nvSpPr>
        <p:spPr/>
        <p:txBody>
          <a:bodyPr/>
          <a:lstStyle/>
          <a:p>
            <a:fld id="{9B5D948F-A673-4DC7-A0E9-FA274EAF3634}" type="slidenum">
              <a:rPr lang="en-GB" smtClean="0"/>
              <a:pPr/>
              <a:t>11</a:t>
            </a:fld>
            <a:endParaRPr lang="en-GB"/>
          </a:p>
        </p:txBody>
      </p:sp>
    </p:spTree>
    <p:extLst>
      <p:ext uri="{BB962C8B-B14F-4D97-AF65-F5344CB8AC3E}">
        <p14:creationId xmlns:p14="http://schemas.microsoft.com/office/powerpoint/2010/main" val="18995110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6BD7-613A-EB33-E11F-4AB273862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E63E5-678F-9D7D-E4CB-C6160658F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3B1BA-E233-D04C-BB30-0E8A1BB0F0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CCE46B-C4EC-F836-3173-A5AC820F3E7A}"/>
              </a:ext>
            </a:extLst>
          </p:cNvPr>
          <p:cNvSpPr>
            <a:spLocks noGrp="1"/>
          </p:cNvSpPr>
          <p:nvPr>
            <p:ph type="sldNum" sz="quarter" idx="5"/>
          </p:nvPr>
        </p:nvSpPr>
        <p:spPr/>
        <p:txBody>
          <a:bodyPr/>
          <a:lstStyle/>
          <a:p>
            <a:fld id="{9B5D948F-A673-4DC7-A0E9-FA274EAF3634}" type="slidenum">
              <a:rPr lang="en-GB" smtClean="0"/>
              <a:pPr/>
              <a:t>12</a:t>
            </a:fld>
            <a:endParaRPr lang="en-GB"/>
          </a:p>
        </p:txBody>
      </p:sp>
    </p:spTree>
    <p:extLst>
      <p:ext uri="{BB962C8B-B14F-4D97-AF65-F5344CB8AC3E}">
        <p14:creationId xmlns:p14="http://schemas.microsoft.com/office/powerpoint/2010/main" val="2390115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BB338-4236-0CB7-EB84-F18FEB831D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89722A-877C-E595-C5C9-AF0A9DAB0C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5246BF-0503-8BE4-76EF-298F1D677E5C}"/>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D775FC16-0501-EDB3-4186-B354C6EAE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46C067-E917-E28D-DAF6-5C12C92A0AC8}"/>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3405216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9816-C9C0-6903-4B1F-AF0184E8E1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D6ADBB-C532-DDCF-DB05-6A9344ADBA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09B4F-2B4E-DD9E-02F0-CFB4EAC74163}"/>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F6F8DA03-5D51-11DA-2105-308CBB5B0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CFF4D-F6E7-6DB7-C376-79A3C5480F35}"/>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4020272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7E761-B180-D34E-6FED-1E6F9390A0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202416-6C21-E253-FC58-8218A185A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9A0D7-03BC-A50E-28CB-2C93FCC7DCD1}"/>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D1250348-9990-6ABC-CAD2-C1DA477262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3C4FF-A4C4-DD02-34FD-E02E0DDA28C9}"/>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78170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432B6-61A2-242C-6598-82EF4059A6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CC8B9B-2003-5E54-4C84-F3AF52F93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DA7BDE-F30C-D603-AEB8-D734CAF7B5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CF8507-0C63-3EA1-3FC1-DB1A32C8AEBA}"/>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6" name="Footer Placeholder 5">
            <a:extLst>
              <a:ext uri="{FF2B5EF4-FFF2-40B4-BE49-F238E27FC236}">
                <a16:creationId xmlns:a16="http://schemas.microsoft.com/office/drawing/2014/main" id="{817FFE67-53B4-6092-E429-6FC9A98118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15A67F-54C2-60A5-B63C-844FFA656B63}"/>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221203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6ABF6-3500-198D-6B9E-C73145FCB4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18C1D6-5518-342B-3E2D-1500327DFA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029EFE0-AB74-5429-7202-7F14112482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3F2165-69D8-072D-8CFD-095EE2AC24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8C142F-9D91-4DAA-C2ED-C064CD0BD0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C21199-5115-76B0-1401-91934033B10D}"/>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8" name="Footer Placeholder 7">
            <a:extLst>
              <a:ext uri="{FF2B5EF4-FFF2-40B4-BE49-F238E27FC236}">
                <a16:creationId xmlns:a16="http://schemas.microsoft.com/office/drawing/2014/main" id="{D6779D3B-E9BC-2115-D4CB-1EBA23B8E64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3DA4B7-7AD7-AE3C-C20F-E5724F793354}"/>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796360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80D91-F955-C21E-57D2-717D8FAA3B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65F8CD-90E4-A179-227C-46DCE519A0E1}"/>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4" name="Footer Placeholder 3">
            <a:extLst>
              <a:ext uri="{FF2B5EF4-FFF2-40B4-BE49-F238E27FC236}">
                <a16:creationId xmlns:a16="http://schemas.microsoft.com/office/drawing/2014/main" id="{CAE3E477-411F-F319-3297-DE49C9CE22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54DA11-4254-E0E1-6C32-C84241E92611}"/>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968198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27127B-D415-56B7-634F-D8DCA0D58FB6}"/>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3" name="Footer Placeholder 2">
            <a:extLst>
              <a:ext uri="{FF2B5EF4-FFF2-40B4-BE49-F238E27FC236}">
                <a16:creationId xmlns:a16="http://schemas.microsoft.com/office/drawing/2014/main" id="{789A485A-6484-6FD3-3440-39B86B0F22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EAB2EE-FE74-941E-1A82-EA314601A7F0}"/>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4209184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8361B-E9A2-1288-7938-8E2835F66F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790EDC0-D46B-DAE2-3EEB-B1779A367E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8B256E-872D-72B4-3605-750BCBFFDD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8E094-4A44-B8F6-8954-581940237BE3}"/>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6" name="Footer Placeholder 5">
            <a:extLst>
              <a:ext uri="{FF2B5EF4-FFF2-40B4-BE49-F238E27FC236}">
                <a16:creationId xmlns:a16="http://schemas.microsoft.com/office/drawing/2014/main" id="{02FEAAD9-3C11-3F07-4D31-6DE432AC2E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85F1CE-17D6-28D3-68B5-C397CED1C1FF}"/>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3293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1260-1843-7CEB-2F4D-CBD03DCD0A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0EC4B1-AE8E-EFCA-E429-B1DB25D019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0BB298-D11B-8755-A17E-9474E1C5D9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6EE0AE-325F-99EA-D7C1-9C6D674F48FC}"/>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6" name="Footer Placeholder 5">
            <a:extLst>
              <a:ext uri="{FF2B5EF4-FFF2-40B4-BE49-F238E27FC236}">
                <a16:creationId xmlns:a16="http://schemas.microsoft.com/office/drawing/2014/main" id="{495F4115-73AC-AFD4-32B5-69DFD1DADF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8DD3D1-A1F6-385A-045E-B7DCF4E93CF2}"/>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1693102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B64FF-994D-E667-F181-4B290D0664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5C9C754-3230-0E57-15DA-C7C973D183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6008BD-8656-E360-170A-1579872C2C39}"/>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FA5B5781-5478-2A10-0CEA-DAAADD79A2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2122A0-98D1-0E20-1245-EE0605A39670}"/>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2606543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F83803-ADD7-C2FA-68AE-29F14498C8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82EA1C3-8542-8DF2-7208-ED13AF3A13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0B8EFF-00BD-69CF-05C2-B1485E635B08}"/>
              </a:ext>
            </a:extLst>
          </p:cNvPr>
          <p:cNvSpPr>
            <a:spLocks noGrp="1"/>
          </p:cNvSpPr>
          <p:nvPr>
            <p:ph type="dt" sz="half" idx="10"/>
          </p:nvPr>
        </p:nvSpPr>
        <p:spPr/>
        <p:txBody>
          <a:body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C21E2CE9-08C0-5DBE-D860-B6DA5E5857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525B1-45A9-4417-74B3-AB4AC8555B5D}"/>
              </a:ext>
            </a:extLst>
          </p:cNvPr>
          <p:cNvSpPr>
            <a:spLocks noGrp="1"/>
          </p:cNvSpPr>
          <p:nvPr>
            <p:ph type="sldNum" sz="quarter" idx="12"/>
          </p:nvPr>
        </p:nvSpPr>
        <p:spPr/>
        <p:txBody>
          <a:bodyPr/>
          <a:lstStyle/>
          <a:p>
            <a:fld id="{53BB1A74-6FC0-6342-8896-B9B9236A0DDC}" type="slidenum">
              <a:rPr lang="en-US" smtClean="0"/>
              <a:t>‹#›</a:t>
            </a:fld>
            <a:endParaRPr lang="en-US"/>
          </a:p>
        </p:txBody>
      </p:sp>
    </p:spTree>
    <p:extLst>
      <p:ext uri="{BB962C8B-B14F-4D97-AF65-F5344CB8AC3E}">
        <p14:creationId xmlns:p14="http://schemas.microsoft.com/office/powerpoint/2010/main" val="1116069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2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1813" y="1442"/>
          <a:ext cx="1811" cy="1441"/>
        </p:xfrm>
        <a:graphic>
          <a:graphicData uri="http://schemas.openxmlformats.org/presentationml/2006/ole">
            <mc:AlternateContent xmlns:mc="http://schemas.openxmlformats.org/markup-compatibility/2006">
              <mc:Choice xmlns:v="urn:schemas-microsoft-com:vml" Requires="v">
                <p:oleObj name="think-cell Slide" r:id="rId5" imgW="360" imgH="360" progId="TCLayout.ActiveDocument.1">
                  <p:embed/>
                </p:oleObj>
              </mc:Choice>
              <mc:Fallback>
                <p:oleObj name="think-cell Slide" r:id="rId5" imgW="360" imgH="360" progId="TCLayout.ActiveDocument.1">
                  <p:embed/>
                  <p:pic>
                    <p:nvPicPr>
                      <p:cNvPr id="3" name="Object 2" hidden="1"/>
                      <p:cNvPicPr/>
                      <p:nvPr/>
                    </p:nvPicPr>
                    <p:blipFill>
                      <a:blip r:embed="rId6"/>
                      <a:stretch>
                        <a:fillRect/>
                      </a:stretch>
                    </p:blipFill>
                    <p:spPr>
                      <a:xfrm>
                        <a:off x="1813" y="1442"/>
                        <a:ext cx="1811" cy="1441"/>
                      </a:xfrm>
                      <a:prstGeom prst="rect">
                        <a:avLst/>
                      </a:prstGeom>
                    </p:spPr>
                  </p:pic>
                </p:oleObj>
              </mc:Fallback>
            </mc:AlternateContent>
          </a:graphicData>
        </a:graphic>
      </p:graphicFrame>
      <p:sp>
        <p:nvSpPr>
          <p:cNvPr id="2" name="Rectangle 1" hidden="1"/>
          <p:cNvSpPr/>
          <p:nvPr>
            <p:custDataLst>
              <p:tags r:id="rId2"/>
            </p:custDataLst>
          </p:nvPr>
        </p:nvSpPr>
        <p:spPr>
          <a:xfrm>
            <a:off x="2" y="2"/>
            <a:ext cx="181025" cy="144015"/>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ctr" eaLnBrk="1">
              <a:lnSpc>
                <a:spcPts val="4255"/>
              </a:lnSpc>
              <a:spcBef>
                <a:spcPct val="0"/>
              </a:spcBef>
              <a:spcAft>
                <a:spcPct val="0"/>
              </a:spcAft>
            </a:pPr>
            <a:endParaRPr lang="en-GB" sz="3200" b="0" i="0" baseline="0">
              <a:latin typeface="Arial Regular"/>
              <a:ea typeface="+mj-ea"/>
              <a:sym typeface="Univers for KPMG Cond" panose="020B0606020202020204" pitchFamily="34" charset="0"/>
            </a:endParaRPr>
          </a:p>
        </p:txBody>
      </p:sp>
      <p:sp>
        <p:nvSpPr>
          <p:cNvPr id="11" name="Textplatzhalter 14">
            <a:extLst>
              <a:ext uri="{FF2B5EF4-FFF2-40B4-BE49-F238E27FC236}">
                <a16:creationId xmlns:a16="http://schemas.microsoft.com/office/drawing/2014/main" id="{FDB33D78-C180-4D58-909F-890F65F4C874}"/>
              </a:ext>
            </a:extLst>
          </p:cNvPr>
          <p:cNvSpPr>
            <a:spLocks noGrp="1"/>
          </p:cNvSpPr>
          <p:nvPr>
            <p:ph type="body" sz="quarter" idx="19" hasCustomPrompt="1"/>
          </p:nvPr>
        </p:nvSpPr>
        <p:spPr>
          <a:xfrm>
            <a:off x="502273" y="271040"/>
            <a:ext cx="9144000" cy="121990"/>
          </a:xfrm>
          <a:prstGeom prst="rect">
            <a:avLst/>
          </a:prstGeom>
        </p:spPr>
        <p:txBody>
          <a:bodyPr vert="horz" lIns="0" tIns="0" rIns="0" bIns="7200" anchor="b" anchorCtr="0"/>
          <a:lstStyle>
            <a:lvl1pPr>
              <a:lnSpc>
                <a:spcPts val="769"/>
              </a:lnSpc>
              <a:tabLst>
                <a:tab pos="105205" algn="l"/>
              </a:tabLst>
              <a:defRPr sz="700" b="0" i="0" cap="all" spc="47" baseline="0">
                <a:solidFill>
                  <a:srgbClr val="00338D"/>
                </a:solidFill>
                <a:latin typeface="+mn-lt"/>
              </a:defRPr>
            </a:lvl1pPr>
            <a:lvl2pPr>
              <a:defRPr sz="414">
                <a:solidFill>
                  <a:srgbClr val="FF00FF"/>
                </a:solidFill>
              </a:defRPr>
            </a:lvl2pPr>
            <a:lvl3pPr>
              <a:defRPr sz="414">
                <a:solidFill>
                  <a:srgbClr val="FF00FF"/>
                </a:solidFill>
              </a:defRPr>
            </a:lvl3pPr>
            <a:lvl4pPr>
              <a:defRPr sz="414">
                <a:solidFill>
                  <a:srgbClr val="FF00FF"/>
                </a:solidFill>
              </a:defRPr>
            </a:lvl4pPr>
            <a:lvl5pPr>
              <a:defRPr sz="414">
                <a:solidFill>
                  <a:srgbClr val="FF00FF"/>
                </a:solidFill>
              </a:defRPr>
            </a:lvl5pPr>
          </a:lstStyle>
          <a:p>
            <a:pPr lvl="0"/>
            <a:r>
              <a:rPr lang="en-GB" noProof="0"/>
              <a:t>Commercial Assessment</a:t>
            </a:r>
          </a:p>
        </p:txBody>
      </p:sp>
      <p:sp>
        <p:nvSpPr>
          <p:cNvPr id="4" name="Rectangle 3">
            <a:extLst>
              <a:ext uri="{FF2B5EF4-FFF2-40B4-BE49-F238E27FC236}">
                <a16:creationId xmlns:a16="http://schemas.microsoft.com/office/drawing/2014/main" id="{012FC2F3-3702-9B48-8E3B-1B296465E738}"/>
              </a:ext>
            </a:extLst>
          </p:cNvPr>
          <p:cNvSpPr/>
          <p:nvPr/>
        </p:nvSpPr>
        <p:spPr>
          <a:xfrm>
            <a:off x="0" y="1714502"/>
            <a:ext cx="0" cy="704609"/>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a:p>
        </p:txBody>
      </p:sp>
      <p:sp>
        <p:nvSpPr>
          <p:cNvPr id="15" name="Titel 1">
            <a:extLst>
              <a:ext uri="{FF2B5EF4-FFF2-40B4-BE49-F238E27FC236}">
                <a16:creationId xmlns:a16="http://schemas.microsoft.com/office/drawing/2014/main" id="{37B03833-B794-D749-89F9-29AF4FF762A2}"/>
              </a:ext>
            </a:extLst>
          </p:cNvPr>
          <p:cNvSpPr>
            <a:spLocks noGrp="1"/>
          </p:cNvSpPr>
          <p:nvPr>
            <p:ph type="title" hasCustomPrompt="1"/>
          </p:nvPr>
        </p:nvSpPr>
        <p:spPr>
          <a:xfrm>
            <a:off x="502273" y="541489"/>
            <a:ext cx="11194427" cy="639611"/>
          </a:xfrm>
          <a:prstGeom prst="rect">
            <a:avLst/>
          </a:prstGeom>
        </p:spPr>
        <p:txBody>
          <a:bodyPr vert="horz" lIns="0" tIns="0" rIns="0" bIns="0" anchor="t"/>
          <a:lstStyle>
            <a:lvl1pPr>
              <a:lnSpc>
                <a:spcPct val="100000"/>
              </a:lnSpc>
              <a:defRPr sz="2000" b="0" i="0">
                <a:solidFill>
                  <a:srgbClr val="00338D"/>
                </a:solidFill>
                <a:latin typeface="+mn-lt"/>
                <a:cs typeface="Arial Regular"/>
              </a:defRPr>
            </a:lvl1pPr>
          </a:lstStyle>
          <a:p>
            <a:pPr lvl="0"/>
            <a:r>
              <a:rPr lang="en-GB" noProof="0"/>
              <a:t>Master title format</a:t>
            </a:r>
          </a:p>
        </p:txBody>
      </p:sp>
      <p:cxnSp>
        <p:nvCxnSpPr>
          <p:cNvPr id="17" name="Gerade Verbindung 3">
            <a:extLst>
              <a:ext uri="{FF2B5EF4-FFF2-40B4-BE49-F238E27FC236}">
                <a16:creationId xmlns:a16="http://schemas.microsoft.com/office/drawing/2014/main" id="{AD853333-7E21-E146-A3AE-DB2E8A4D71F5}"/>
              </a:ext>
            </a:extLst>
          </p:cNvPr>
          <p:cNvCxnSpPr>
            <a:cxnSpLocks/>
          </p:cNvCxnSpPr>
          <p:nvPr/>
        </p:nvCxnSpPr>
        <p:spPr>
          <a:xfrm>
            <a:off x="521590" y="461502"/>
            <a:ext cx="11164172" cy="0"/>
          </a:xfrm>
          <a:prstGeom prst="line">
            <a:avLst/>
          </a:prstGeom>
          <a:ln w="38100" cap="sq" cmpd="sng">
            <a:solidFill>
              <a:srgbClr val="00338D"/>
            </a:solidFill>
          </a:ln>
        </p:spPr>
        <p:style>
          <a:lnRef idx="1">
            <a:schemeClr val="accent1"/>
          </a:lnRef>
          <a:fillRef idx="0">
            <a:schemeClr val="accent1"/>
          </a:fillRef>
          <a:effectRef idx="0">
            <a:schemeClr val="accent1"/>
          </a:effectRef>
          <a:fontRef idx="minor">
            <a:schemeClr val="tx1"/>
          </a:fontRef>
        </p:style>
      </p:cxnSp>
      <p:sp>
        <p:nvSpPr>
          <p:cNvPr id="12" name="Rectangle 11" hidden="1">
            <a:extLst>
              <a:ext uri="{FF2B5EF4-FFF2-40B4-BE49-F238E27FC236}">
                <a16:creationId xmlns:a16="http://schemas.microsoft.com/office/drawing/2014/main" id="{992EEA1C-8956-1548-9D62-92C7FF6D69DB}"/>
              </a:ext>
            </a:extLst>
          </p:cNvPr>
          <p:cNvSpPr/>
          <p:nvPr userDrawn="1">
            <p:custDataLst>
              <p:tags r:id="rId3"/>
            </p:custDataLst>
          </p:nvPr>
        </p:nvSpPr>
        <p:spPr>
          <a:xfrm>
            <a:off x="2" y="2"/>
            <a:ext cx="181025" cy="144015"/>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ctr" eaLnBrk="1">
              <a:lnSpc>
                <a:spcPts val="4255"/>
              </a:lnSpc>
              <a:spcBef>
                <a:spcPct val="0"/>
              </a:spcBef>
              <a:spcAft>
                <a:spcPct val="0"/>
              </a:spcAft>
            </a:pPr>
            <a:endParaRPr lang="en-GB" sz="3200" b="0" i="0" baseline="0">
              <a:latin typeface="Arial Regular"/>
              <a:ea typeface="+mj-ea"/>
              <a:sym typeface="Univers for KPMG Cond" panose="020B0606020202020204" pitchFamily="34" charset="0"/>
            </a:endParaRPr>
          </a:p>
        </p:txBody>
      </p:sp>
      <p:sp>
        <p:nvSpPr>
          <p:cNvPr id="16" name="Rectangle 15">
            <a:extLst>
              <a:ext uri="{FF2B5EF4-FFF2-40B4-BE49-F238E27FC236}">
                <a16:creationId xmlns:a16="http://schemas.microsoft.com/office/drawing/2014/main" id="{A2F64474-84F0-184F-B533-C52F33371082}"/>
              </a:ext>
            </a:extLst>
          </p:cNvPr>
          <p:cNvSpPr/>
          <p:nvPr userDrawn="1"/>
        </p:nvSpPr>
        <p:spPr>
          <a:xfrm>
            <a:off x="0" y="1714502"/>
            <a:ext cx="0" cy="704609"/>
          </a:xfrm>
          <a:prstGeom prst="rect">
            <a:avLst/>
          </a:prstGeom>
          <a:solidFill>
            <a:srgbClr val="F68D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900"/>
          </a:p>
        </p:txBody>
      </p:sp>
      <p:cxnSp>
        <p:nvCxnSpPr>
          <p:cNvPr id="20" name="Gerade Verbindung 3">
            <a:extLst>
              <a:ext uri="{FF2B5EF4-FFF2-40B4-BE49-F238E27FC236}">
                <a16:creationId xmlns:a16="http://schemas.microsoft.com/office/drawing/2014/main" id="{9B44DDD1-3354-0747-B5FF-AC6EFB96DBED}"/>
              </a:ext>
            </a:extLst>
          </p:cNvPr>
          <p:cNvCxnSpPr>
            <a:cxnSpLocks/>
          </p:cNvCxnSpPr>
          <p:nvPr userDrawn="1"/>
        </p:nvCxnSpPr>
        <p:spPr>
          <a:xfrm>
            <a:off x="521590" y="461502"/>
            <a:ext cx="11164172" cy="0"/>
          </a:xfrm>
          <a:prstGeom prst="line">
            <a:avLst/>
          </a:prstGeom>
          <a:ln w="38100" cap="sq" cmpd="sng">
            <a:solidFill>
              <a:srgbClr val="00338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7035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0CA83A-E214-678D-AF69-E7AFC4CC09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6BDBCE-7A20-D500-E6D9-35D8DF8EEC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691B81-B6E8-797D-2294-75400E3291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FE8A5-CCD0-1140-A4CA-AD1618E84D26}" type="datetimeFigureOut">
              <a:rPr lang="en-US" smtClean="0"/>
              <a:t>5/11/26</a:t>
            </a:fld>
            <a:endParaRPr lang="en-US"/>
          </a:p>
        </p:txBody>
      </p:sp>
      <p:sp>
        <p:nvSpPr>
          <p:cNvPr id="5" name="Footer Placeholder 4">
            <a:extLst>
              <a:ext uri="{FF2B5EF4-FFF2-40B4-BE49-F238E27FC236}">
                <a16:creationId xmlns:a16="http://schemas.microsoft.com/office/drawing/2014/main" id="{EF72646A-7B8D-9259-BD30-6E1CC4F0E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D6A29AE-7F25-6E0C-40F9-71C5268558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3BB1A74-6FC0-6342-8896-B9B9236A0DDC}" type="slidenum">
              <a:rPr lang="en-US" smtClean="0"/>
              <a:t>‹#›</a:t>
            </a:fld>
            <a:endParaRPr lang="en-US"/>
          </a:p>
        </p:txBody>
      </p:sp>
    </p:spTree>
    <p:extLst>
      <p:ext uri="{BB962C8B-B14F-4D97-AF65-F5344CB8AC3E}">
        <p14:creationId xmlns:p14="http://schemas.microsoft.com/office/powerpoint/2010/main" val="422959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tags" Target="../tags/tag6.xml"/><Relationship Id="rId7" Type="http://schemas.openxmlformats.org/officeDocument/2006/relationships/image" Target="../media/image2.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emf"/><Relationship Id="rId5" Type="http://schemas.openxmlformats.org/officeDocument/2006/relationships/oleObject" Target="../embeddings/oleObject2.bin"/><Relationship Id="rId10" Type="http://schemas.openxmlformats.org/officeDocument/2006/relationships/image" Target="../media/image5.svg"/><Relationship Id="rId4" Type="http://schemas.openxmlformats.org/officeDocument/2006/relationships/slideLayout" Target="../slideLayouts/slideLayout12.xml"/><Relationship Id="rId9"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3" Type="http://schemas.openxmlformats.org/officeDocument/2006/relationships/tags" Target="../tags/tag22.xml"/><Relationship Id="rId18" Type="http://schemas.openxmlformats.org/officeDocument/2006/relationships/tags" Target="../tags/tag27.xml"/><Relationship Id="rId26" Type="http://schemas.openxmlformats.org/officeDocument/2006/relationships/tags" Target="../tags/tag35.xml"/><Relationship Id="rId39" Type="http://schemas.openxmlformats.org/officeDocument/2006/relationships/slideLayout" Target="../slideLayouts/slideLayout12.xml"/><Relationship Id="rId21" Type="http://schemas.openxmlformats.org/officeDocument/2006/relationships/tags" Target="../tags/tag30.xml"/><Relationship Id="rId34" Type="http://schemas.openxmlformats.org/officeDocument/2006/relationships/tags" Target="../tags/tag43.xml"/><Relationship Id="rId42" Type="http://schemas.openxmlformats.org/officeDocument/2006/relationships/image" Target="../media/image6.emf"/><Relationship Id="rId7" Type="http://schemas.openxmlformats.org/officeDocument/2006/relationships/tags" Target="../tags/tag16.xml"/><Relationship Id="rId2" Type="http://schemas.openxmlformats.org/officeDocument/2006/relationships/tags" Target="../tags/tag11.xml"/><Relationship Id="rId16" Type="http://schemas.openxmlformats.org/officeDocument/2006/relationships/tags" Target="../tags/tag25.xml"/><Relationship Id="rId29" Type="http://schemas.openxmlformats.org/officeDocument/2006/relationships/tags" Target="../tags/tag38.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24" Type="http://schemas.openxmlformats.org/officeDocument/2006/relationships/tags" Target="../tags/tag33.xml"/><Relationship Id="rId32" Type="http://schemas.openxmlformats.org/officeDocument/2006/relationships/tags" Target="../tags/tag41.xml"/><Relationship Id="rId37" Type="http://schemas.openxmlformats.org/officeDocument/2006/relationships/tags" Target="../tags/tag46.xml"/><Relationship Id="rId40" Type="http://schemas.openxmlformats.org/officeDocument/2006/relationships/notesSlide" Target="../notesSlides/notesSlide1.xml"/><Relationship Id="rId45" Type="http://schemas.openxmlformats.org/officeDocument/2006/relationships/chart" Target="../charts/chart3.xml"/><Relationship Id="rId5" Type="http://schemas.openxmlformats.org/officeDocument/2006/relationships/tags" Target="../tags/tag14.xml"/><Relationship Id="rId15" Type="http://schemas.openxmlformats.org/officeDocument/2006/relationships/tags" Target="../tags/tag24.xml"/><Relationship Id="rId23" Type="http://schemas.openxmlformats.org/officeDocument/2006/relationships/tags" Target="../tags/tag32.xml"/><Relationship Id="rId28" Type="http://schemas.openxmlformats.org/officeDocument/2006/relationships/tags" Target="../tags/tag37.xml"/><Relationship Id="rId36" Type="http://schemas.openxmlformats.org/officeDocument/2006/relationships/tags" Target="../tags/tag45.xml"/><Relationship Id="rId10" Type="http://schemas.openxmlformats.org/officeDocument/2006/relationships/tags" Target="../tags/tag19.xml"/><Relationship Id="rId19" Type="http://schemas.openxmlformats.org/officeDocument/2006/relationships/tags" Target="../tags/tag28.xml"/><Relationship Id="rId31" Type="http://schemas.openxmlformats.org/officeDocument/2006/relationships/tags" Target="../tags/tag40.xml"/><Relationship Id="rId44" Type="http://schemas.openxmlformats.org/officeDocument/2006/relationships/chart" Target="../charts/chart2.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 Id="rId22" Type="http://schemas.openxmlformats.org/officeDocument/2006/relationships/tags" Target="../tags/tag31.xml"/><Relationship Id="rId27" Type="http://schemas.openxmlformats.org/officeDocument/2006/relationships/tags" Target="../tags/tag36.xml"/><Relationship Id="rId30" Type="http://schemas.openxmlformats.org/officeDocument/2006/relationships/tags" Target="../tags/tag39.xml"/><Relationship Id="rId35" Type="http://schemas.openxmlformats.org/officeDocument/2006/relationships/tags" Target="../tags/tag44.xml"/><Relationship Id="rId43" Type="http://schemas.openxmlformats.org/officeDocument/2006/relationships/chart" Target="../charts/chart1.xml"/><Relationship Id="rId8" Type="http://schemas.openxmlformats.org/officeDocument/2006/relationships/tags" Target="../tags/tag17.xml"/><Relationship Id="rId3" Type="http://schemas.openxmlformats.org/officeDocument/2006/relationships/tags" Target="../tags/tag12.xml"/><Relationship Id="rId12" Type="http://schemas.openxmlformats.org/officeDocument/2006/relationships/tags" Target="../tags/tag21.xml"/><Relationship Id="rId17" Type="http://schemas.openxmlformats.org/officeDocument/2006/relationships/tags" Target="../tags/tag26.xml"/><Relationship Id="rId25" Type="http://schemas.openxmlformats.org/officeDocument/2006/relationships/tags" Target="../tags/tag34.xml"/><Relationship Id="rId33" Type="http://schemas.openxmlformats.org/officeDocument/2006/relationships/tags" Target="../tags/tag42.xml"/><Relationship Id="rId38" Type="http://schemas.openxmlformats.org/officeDocument/2006/relationships/tags" Target="../tags/tag47.xml"/><Relationship Id="rId20" Type="http://schemas.openxmlformats.org/officeDocument/2006/relationships/tags" Target="../tags/tag29.xml"/><Relationship Id="rId41"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tags" Target="../tags/tag60.xml"/><Relationship Id="rId18" Type="http://schemas.openxmlformats.org/officeDocument/2006/relationships/tags" Target="../tags/tag65.xml"/><Relationship Id="rId26" Type="http://schemas.openxmlformats.org/officeDocument/2006/relationships/slideLayout" Target="../slideLayouts/slideLayout12.xml"/><Relationship Id="rId3" Type="http://schemas.openxmlformats.org/officeDocument/2006/relationships/tags" Target="../tags/tag50.xml"/><Relationship Id="rId21" Type="http://schemas.openxmlformats.org/officeDocument/2006/relationships/tags" Target="../tags/tag68.xml"/><Relationship Id="rId7" Type="http://schemas.openxmlformats.org/officeDocument/2006/relationships/tags" Target="../tags/tag54.xml"/><Relationship Id="rId12" Type="http://schemas.openxmlformats.org/officeDocument/2006/relationships/tags" Target="../tags/tag59.xml"/><Relationship Id="rId17" Type="http://schemas.openxmlformats.org/officeDocument/2006/relationships/tags" Target="../tags/tag64.xml"/><Relationship Id="rId25" Type="http://schemas.openxmlformats.org/officeDocument/2006/relationships/tags" Target="../tags/tag72.xml"/><Relationship Id="rId2" Type="http://schemas.openxmlformats.org/officeDocument/2006/relationships/tags" Target="../tags/tag49.xml"/><Relationship Id="rId16" Type="http://schemas.openxmlformats.org/officeDocument/2006/relationships/tags" Target="../tags/tag63.xml"/><Relationship Id="rId20" Type="http://schemas.openxmlformats.org/officeDocument/2006/relationships/tags" Target="../tags/tag67.xml"/><Relationship Id="rId29" Type="http://schemas.openxmlformats.org/officeDocument/2006/relationships/image" Target="../media/image6.emf"/><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24" Type="http://schemas.openxmlformats.org/officeDocument/2006/relationships/tags" Target="../tags/tag71.xml"/><Relationship Id="rId5" Type="http://schemas.openxmlformats.org/officeDocument/2006/relationships/tags" Target="../tags/tag52.xml"/><Relationship Id="rId15" Type="http://schemas.openxmlformats.org/officeDocument/2006/relationships/tags" Target="../tags/tag62.xml"/><Relationship Id="rId23" Type="http://schemas.openxmlformats.org/officeDocument/2006/relationships/tags" Target="../tags/tag70.xml"/><Relationship Id="rId28" Type="http://schemas.openxmlformats.org/officeDocument/2006/relationships/oleObject" Target="../embeddings/oleObject5.bin"/><Relationship Id="rId10" Type="http://schemas.openxmlformats.org/officeDocument/2006/relationships/tags" Target="../tags/tag57.xml"/><Relationship Id="rId19" Type="http://schemas.openxmlformats.org/officeDocument/2006/relationships/tags" Target="../tags/tag66.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tags" Target="../tags/tag61.xml"/><Relationship Id="rId22" Type="http://schemas.openxmlformats.org/officeDocument/2006/relationships/tags" Target="../tags/tag69.xml"/><Relationship Id="rId27" Type="http://schemas.openxmlformats.org/officeDocument/2006/relationships/notesSlide" Target="../notesSlides/notesSlide2.xml"/><Relationship Id="rId30" Type="http://schemas.openxmlformats.org/officeDocument/2006/relationships/chart" Target="../charts/chart4.xml"/></Relationships>
</file>

<file path=ppt/slides/_rels/slide6.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26" Type="http://schemas.openxmlformats.org/officeDocument/2006/relationships/notesSlide" Target="../notesSlides/notesSlide3.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Layout" Target="../slideLayouts/slideLayout12.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29" Type="http://schemas.openxmlformats.org/officeDocument/2006/relationships/chart" Target="../charts/chart5.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28" Type="http://schemas.openxmlformats.org/officeDocument/2006/relationships/image" Target="../media/image6.emf"/><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 Id="rId27"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image" Target="../media/image6.emf"/><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oleObject" Target="../embeddings/oleObject7.bin"/><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notesSlide" Target="../notesSlides/notesSlide4.xml"/><Relationship Id="rId5" Type="http://schemas.openxmlformats.org/officeDocument/2006/relationships/tags" Target="../tags/tag101.xml"/><Relationship Id="rId10" Type="http://schemas.openxmlformats.org/officeDocument/2006/relationships/slideLayout" Target="../slideLayouts/slideLayout12.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chart" Target="../charts/chart6.xml"/></Relationships>
</file>

<file path=ppt/slides/_rels/slide8.xml.rels><?xml version="1.0" encoding="UTF-8" standalone="yes"?>
<Relationships xmlns="http://schemas.openxmlformats.org/package/2006/relationships"><Relationship Id="rId8" Type="http://schemas.openxmlformats.org/officeDocument/2006/relationships/tags" Target="../tags/tag113.xml"/><Relationship Id="rId13" Type="http://schemas.openxmlformats.org/officeDocument/2006/relationships/tags" Target="../tags/tag118.xml"/><Relationship Id="rId18" Type="http://schemas.openxmlformats.org/officeDocument/2006/relationships/slideLayout" Target="../slideLayouts/slideLayout12.xml"/><Relationship Id="rId3" Type="http://schemas.openxmlformats.org/officeDocument/2006/relationships/tags" Target="../tags/tag108.xml"/><Relationship Id="rId21" Type="http://schemas.openxmlformats.org/officeDocument/2006/relationships/image" Target="../media/image6.emf"/><Relationship Id="rId7" Type="http://schemas.openxmlformats.org/officeDocument/2006/relationships/tags" Target="../tags/tag112.xml"/><Relationship Id="rId12" Type="http://schemas.openxmlformats.org/officeDocument/2006/relationships/tags" Target="../tags/tag117.xml"/><Relationship Id="rId17" Type="http://schemas.openxmlformats.org/officeDocument/2006/relationships/tags" Target="../tags/tag122.xml"/><Relationship Id="rId2" Type="http://schemas.openxmlformats.org/officeDocument/2006/relationships/tags" Target="../tags/tag107.xml"/><Relationship Id="rId16" Type="http://schemas.openxmlformats.org/officeDocument/2006/relationships/tags" Target="../tags/tag121.xml"/><Relationship Id="rId20" Type="http://schemas.openxmlformats.org/officeDocument/2006/relationships/oleObject" Target="../embeddings/oleObject8.bin"/><Relationship Id="rId1" Type="http://schemas.openxmlformats.org/officeDocument/2006/relationships/tags" Target="../tags/tag106.xml"/><Relationship Id="rId6" Type="http://schemas.openxmlformats.org/officeDocument/2006/relationships/tags" Target="../tags/tag111.xml"/><Relationship Id="rId11" Type="http://schemas.openxmlformats.org/officeDocument/2006/relationships/tags" Target="../tags/tag116.xml"/><Relationship Id="rId5" Type="http://schemas.openxmlformats.org/officeDocument/2006/relationships/tags" Target="../tags/tag110.xml"/><Relationship Id="rId15" Type="http://schemas.openxmlformats.org/officeDocument/2006/relationships/tags" Target="../tags/tag120.xml"/><Relationship Id="rId23" Type="http://schemas.openxmlformats.org/officeDocument/2006/relationships/chart" Target="../charts/chart8.xml"/><Relationship Id="rId10" Type="http://schemas.openxmlformats.org/officeDocument/2006/relationships/tags" Target="../tags/tag115.xml"/><Relationship Id="rId19" Type="http://schemas.openxmlformats.org/officeDocument/2006/relationships/notesSlide" Target="../notesSlides/notesSlide5.xml"/><Relationship Id="rId4" Type="http://schemas.openxmlformats.org/officeDocument/2006/relationships/tags" Target="../tags/tag109.xml"/><Relationship Id="rId9" Type="http://schemas.openxmlformats.org/officeDocument/2006/relationships/tags" Target="../tags/tag114.xml"/><Relationship Id="rId14" Type="http://schemas.openxmlformats.org/officeDocument/2006/relationships/tags" Target="../tags/tag119.xml"/><Relationship Id="rId22" Type="http://schemas.openxmlformats.org/officeDocument/2006/relationships/chart" Target="../charts/chart7.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125.xml"/><Relationship Id="rId7" Type="http://schemas.openxmlformats.org/officeDocument/2006/relationships/notesSlide" Target="../notesSlides/notesSlide6.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slideLayout" Target="../slideLayouts/slideLayout12.xml"/><Relationship Id="rId5" Type="http://schemas.openxmlformats.org/officeDocument/2006/relationships/tags" Target="../tags/tag127.xml"/><Relationship Id="rId4" Type="http://schemas.openxmlformats.org/officeDocument/2006/relationships/tags" Target="../tags/tag126.xml"/><Relationship Id="rId9" Type="http://schemas.openxmlformats.org/officeDocument/2006/relationships/image" Target="../media/image6.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130.xml"/><Relationship Id="rId7" Type="http://schemas.openxmlformats.org/officeDocument/2006/relationships/notesSlide" Target="../notesSlides/notesSlide7.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slideLayout" Target="../slideLayouts/slideLayout12.xml"/><Relationship Id="rId5" Type="http://schemas.openxmlformats.org/officeDocument/2006/relationships/tags" Target="../tags/tag132.xml"/><Relationship Id="rId4" Type="http://schemas.openxmlformats.org/officeDocument/2006/relationships/tags" Target="../tags/tag131.xml"/><Relationship Id="rId9" Type="http://schemas.openxmlformats.org/officeDocument/2006/relationships/image" Target="../media/image6.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tags" Target="../tags/tag135.xml"/><Relationship Id="rId7" Type="http://schemas.openxmlformats.org/officeDocument/2006/relationships/notesSlide" Target="../notesSlides/notesSlide8.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slideLayout" Target="../slideLayouts/slideLayout12.xml"/><Relationship Id="rId5" Type="http://schemas.openxmlformats.org/officeDocument/2006/relationships/tags" Target="../tags/tag137.xml"/><Relationship Id="rId4" Type="http://schemas.openxmlformats.org/officeDocument/2006/relationships/tags" Target="../tags/tag136.xml"/><Relationship Id="rId9" Type="http://schemas.openxmlformats.org/officeDocument/2006/relationships/image" Target="../media/image6.emf"/></Relationships>
</file>

<file path=ppt/slides/_rels/slide12.xml.rels><?xml version="1.0" encoding="UTF-8" standalone="yes"?>
<Relationships xmlns="http://schemas.openxmlformats.org/package/2006/relationships"><Relationship Id="rId8" Type="http://schemas.openxmlformats.org/officeDocument/2006/relationships/tags" Target="../tags/tag145.xml"/><Relationship Id="rId13" Type="http://schemas.openxmlformats.org/officeDocument/2006/relationships/tags" Target="../tags/tag150.xml"/><Relationship Id="rId18" Type="http://schemas.openxmlformats.org/officeDocument/2006/relationships/oleObject" Target="../embeddings/oleObject12.bin"/><Relationship Id="rId3" Type="http://schemas.openxmlformats.org/officeDocument/2006/relationships/tags" Target="../tags/tag140.xml"/><Relationship Id="rId21" Type="http://schemas.openxmlformats.org/officeDocument/2006/relationships/chart" Target="../charts/chart10.xml"/><Relationship Id="rId7" Type="http://schemas.openxmlformats.org/officeDocument/2006/relationships/tags" Target="../tags/tag144.xml"/><Relationship Id="rId12" Type="http://schemas.openxmlformats.org/officeDocument/2006/relationships/tags" Target="../tags/tag149.xml"/><Relationship Id="rId17" Type="http://schemas.openxmlformats.org/officeDocument/2006/relationships/notesSlide" Target="../notesSlides/notesSlide9.xml"/><Relationship Id="rId2" Type="http://schemas.openxmlformats.org/officeDocument/2006/relationships/tags" Target="../tags/tag139.xml"/><Relationship Id="rId16" Type="http://schemas.openxmlformats.org/officeDocument/2006/relationships/slideLayout" Target="../slideLayouts/slideLayout12.xml"/><Relationship Id="rId20" Type="http://schemas.openxmlformats.org/officeDocument/2006/relationships/chart" Target="../charts/chart9.xml"/><Relationship Id="rId1" Type="http://schemas.openxmlformats.org/officeDocument/2006/relationships/tags" Target="../tags/tag138.xml"/><Relationship Id="rId6" Type="http://schemas.openxmlformats.org/officeDocument/2006/relationships/tags" Target="../tags/tag143.xml"/><Relationship Id="rId11" Type="http://schemas.openxmlformats.org/officeDocument/2006/relationships/tags" Target="../tags/tag148.xml"/><Relationship Id="rId5" Type="http://schemas.openxmlformats.org/officeDocument/2006/relationships/tags" Target="../tags/tag142.xml"/><Relationship Id="rId15" Type="http://schemas.openxmlformats.org/officeDocument/2006/relationships/tags" Target="../tags/tag152.xml"/><Relationship Id="rId10" Type="http://schemas.openxmlformats.org/officeDocument/2006/relationships/tags" Target="../tags/tag147.xml"/><Relationship Id="rId19" Type="http://schemas.openxmlformats.org/officeDocument/2006/relationships/image" Target="../media/image6.emf"/><Relationship Id="rId4" Type="http://schemas.openxmlformats.org/officeDocument/2006/relationships/tags" Target="../tags/tag141.xml"/><Relationship Id="rId9" Type="http://schemas.openxmlformats.org/officeDocument/2006/relationships/tags" Target="../tags/tag146.xml"/><Relationship Id="rId14" Type="http://schemas.openxmlformats.org/officeDocument/2006/relationships/tags" Target="../tags/tag1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A5479"/>
        </a:solidFill>
        <a:effectLst/>
      </p:bgPr>
    </p:bg>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859CD88A-41A6-F95E-2693-29D60FC7D7E9}"/>
              </a:ext>
            </a:extLst>
          </p:cNvPr>
          <p:cNvSpPr>
            <a:spLocks noGrp="1"/>
          </p:cNvSpPr>
          <p:nvPr>
            <p:ph type="ctrTitle"/>
          </p:nvPr>
        </p:nvSpPr>
        <p:spPr>
          <a:xfrm>
            <a:off x="3070984" y="1574880"/>
            <a:ext cx="5765982" cy="2903488"/>
          </a:xfrm>
        </p:spPr>
        <p:txBody>
          <a:bodyPr vert="horz">
            <a:normAutofit fontScale="90000"/>
          </a:bodyPr>
          <a:lstStyle/>
          <a:p>
            <a:r>
              <a:rPr lang="en-GB" sz="8000" noProof="0" dirty="0">
                <a:solidFill>
                  <a:schemeClr val="bg1"/>
                </a:solidFill>
                <a:latin typeface="Calibri" panose="020F0502020204030204" pitchFamily="34" charset="0"/>
                <a:cs typeface="Calibri" panose="020F0502020204030204" pitchFamily="34" charset="0"/>
              </a:rPr>
              <a:t>Walmart Spark Driver Research</a:t>
            </a:r>
            <a:endParaRPr lang="en-GB" sz="8000" dirty="0">
              <a:solidFill>
                <a:schemeClr val="bg1"/>
              </a:solidFill>
              <a:latin typeface="Calibri" panose="020F0502020204030204" pitchFamily="34" charset="0"/>
              <a:cs typeface="Calibri" panose="020F0502020204030204" pitchFamily="34" charset="0"/>
            </a:endParaRPr>
          </a:p>
        </p:txBody>
      </p:sp>
      <p:sp>
        <p:nvSpPr>
          <p:cNvPr id="7" name="Subtitle 4">
            <a:extLst>
              <a:ext uri="{FF2B5EF4-FFF2-40B4-BE49-F238E27FC236}">
                <a16:creationId xmlns:a16="http://schemas.microsoft.com/office/drawing/2014/main" id="{1990E0D5-BCC5-F30A-F24F-A378BB277C8D}"/>
              </a:ext>
            </a:extLst>
          </p:cNvPr>
          <p:cNvSpPr txBox="1">
            <a:spLocks/>
          </p:cNvSpPr>
          <p:nvPr/>
        </p:nvSpPr>
        <p:spPr>
          <a:xfrm>
            <a:off x="4616756" y="4338496"/>
            <a:ext cx="5765982" cy="816606"/>
          </a:xfrm>
          <a:prstGeom prst="rect">
            <a:avLst/>
          </a:prstGeom>
          <a:ln>
            <a:noFill/>
          </a:ln>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n-GB" dirty="0">
                <a:solidFill>
                  <a:schemeClr val="bg2">
                    <a:lumMod val="90000"/>
                  </a:schemeClr>
                </a:solidFill>
              </a:rPr>
              <a:t>October 2025</a:t>
            </a:r>
          </a:p>
        </p:txBody>
      </p:sp>
    </p:spTree>
    <p:extLst>
      <p:ext uri="{BB962C8B-B14F-4D97-AF65-F5344CB8AC3E}">
        <p14:creationId xmlns:p14="http://schemas.microsoft.com/office/powerpoint/2010/main" val="1785443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B797-B0FF-4121-BA90-8EB928E07766}"/>
            </a:ext>
          </a:extLst>
        </p:cNvPr>
        <p:cNvGrpSpPr/>
        <p:nvPr/>
      </p:nvGrpSpPr>
      <p:grpSpPr>
        <a:xfrm>
          <a:off x="0" y="0"/>
          <a:ext cx="0" cy="0"/>
          <a:chOff x="0" y="0"/>
          <a:chExt cx="0" cy="0"/>
        </a:xfrm>
      </p:grpSpPr>
      <p:graphicFrame>
        <p:nvGraphicFramePr>
          <p:cNvPr id="38" name="think-cell data - do not delete" hidden="1">
            <a:extLst>
              <a:ext uri="{FF2B5EF4-FFF2-40B4-BE49-F238E27FC236}">
                <a16:creationId xmlns:a16="http://schemas.microsoft.com/office/drawing/2014/main" id="{F741D0A3-3692-2D59-C248-D6194AA13FC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38" name="think-cell data - do not delete" hidden="1">
                        <a:extLst>
                          <a:ext uri="{FF2B5EF4-FFF2-40B4-BE49-F238E27FC236}">
                            <a16:creationId xmlns:a16="http://schemas.microsoft.com/office/drawing/2014/main" id="{F741D0A3-3692-2D59-C248-D6194AA13FC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F738EEF-07B2-2425-3175-020D2B9DDAFB}"/>
              </a:ext>
            </a:extLst>
          </p:cNvPr>
          <p:cNvSpPr>
            <a:spLocks noGrp="1"/>
          </p:cNvSpPr>
          <p:nvPr>
            <p:ph type="title"/>
          </p:nvPr>
        </p:nvSpPr>
        <p:spPr>
          <a:xfrm>
            <a:off x="498786" y="529568"/>
            <a:ext cx="11194427" cy="639611"/>
          </a:xfrm>
        </p:spPr>
        <p:txBody>
          <a:bodyPr vert="horz">
            <a:noAutofit/>
          </a:bodyPr>
          <a:lstStyle/>
          <a:p>
            <a:r>
              <a:rPr lang="en-US" sz="2800" dirty="0">
                <a:latin typeface="Calibri" panose="020F0502020204030204" pitchFamily="34" charset="0"/>
                <a:cs typeface="Calibri" panose="020F0502020204030204" pitchFamily="34" charset="0"/>
              </a:rPr>
              <a:t>Winning the Last Mile: Leveraging Walmart's Scale for a Defensible Market Position</a:t>
            </a:r>
          </a:p>
        </p:txBody>
      </p:sp>
      <p:sp>
        <p:nvSpPr>
          <p:cNvPr id="12" name="TextBox 27">
            <a:extLst>
              <a:ext uri="{FF2B5EF4-FFF2-40B4-BE49-F238E27FC236}">
                <a16:creationId xmlns:a16="http://schemas.microsoft.com/office/drawing/2014/main" id="{9BD2D004-716B-F62B-E151-7C39314EE01E}"/>
              </a:ext>
            </a:extLst>
          </p:cNvPr>
          <p:cNvSpPr txBox="1"/>
          <p:nvPr/>
        </p:nvSpPr>
        <p:spPr>
          <a:xfrm>
            <a:off x="1392621" y="2256415"/>
            <a:ext cx="10315673" cy="50783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2"/>
                </a:solidFill>
                <a:latin typeface="Arial"/>
              </a:rPr>
              <a:t>The Gig Workforce is Large but Unstable, Making Driver Retention a Key Battleground: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00000">
                    <a:lumMod val="100000"/>
                  </a:srgbClr>
                </a:solidFill>
                <a:latin typeface="Arial"/>
              </a:rPr>
              <a:t>The U.S. gig workforce is massive (~60M+) but defined by a core tension: drivers demand flexibility but suffer from financial instability and high churn, creating a constant need for platforms to attract and retain talent.</a:t>
            </a:r>
          </a:p>
        </p:txBody>
      </p:sp>
      <p:sp>
        <p:nvSpPr>
          <p:cNvPr id="18" name="Rectangle 17">
            <a:extLst>
              <a:ext uri="{FF2B5EF4-FFF2-40B4-BE49-F238E27FC236}">
                <a16:creationId xmlns:a16="http://schemas.microsoft.com/office/drawing/2014/main" id="{59916D4D-DF01-1B6D-99BC-036B78B3DB25}"/>
              </a:ext>
            </a:extLst>
          </p:cNvPr>
          <p:cNvSpPr/>
          <p:nvPr/>
        </p:nvSpPr>
        <p:spPr>
          <a:xfrm>
            <a:off x="546801" y="3278241"/>
            <a:ext cx="758952" cy="756000"/>
          </a:xfrm>
          <a:prstGeom prst="rect">
            <a:avLst/>
          </a:prstGeom>
          <a:solidFill>
            <a:srgbClr val="3A5479"/>
          </a:solidFill>
          <a:ln w="12700"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GB" sz="1500">
              <a:solidFill>
                <a:schemeClr val="bg1"/>
              </a:solidFill>
            </a:endParaRPr>
          </a:p>
        </p:txBody>
      </p:sp>
      <p:grpSp>
        <p:nvGrpSpPr>
          <p:cNvPr id="31" name="Subtitle [Placeholder]">
            <a:extLst>
              <a:ext uri="{FF2B5EF4-FFF2-40B4-BE49-F238E27FC236}">
                <a16:creationId xmlns:a16="http://schemas.microsoft.com/office/drawing/2014/main" id="{CAC616BB-254D-D299-ED74-0F93B4A03FE7}"/>
              </a:ext>
            </a:extLst>
          </p:cNvPr>
          <p:cNvGrpSpPr>
            <a:grpSpLocks/>
          </p:cNvGrpSpPr>
          <p:nvPr/>
        </p:nvGrpSpPr>
        <p:grpSpPr bwMode="auto">
          <a:xfrm>
            <a:off x="527097" y="1246669"/>
            <a:ext cx="11166116" cy="785903"/>
            <a:chOff x="902" y="-574162"/>
            <a:chExt cx="4815" cy="575911"/>
          </a:xfrm>
        </p:grpSpPr>
        <p:sp>
          <p:nvSpPr>
            <p:cNvPr id="32" name="Line 56">
              <a:extLst>
                <a:ext uri="{FF2B5EF4-FFF2-40B4-BE49-F238E27FC236}">
                  <a16:creationId xmlns:a16="http://schemas.microsoft.com/office/drawing/2014/main" id="{D252AD87-7B85-9BD0-10B9-F16BA2B7DDC8}"/>
                </a:ext>
              </a:extLst>
            </p:cNvPr>
            <p:cNvSpPr>
              <a:spLocks noChangeShapeType="1"/>
            </p:cNvSpPr>
            <p:nvPr>
              <p:custDataLst>
                <p:tags r:id="rId2"/>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33" name="Text Box 57">
              <a:extLst>
                <a:ext uri="{FF2B5EF4-FFF2-40B4-BE49-F238E27FC236}">
                  <a16:creationId xmlns:a16="http://schemas.microsoft.com/office/drawing/2014/main" id="{A1E02FAA-AF6B-0E27-69AA-BA276E30D529}"/>
                </a:ext>
              </a:extLst>
            </p:cNvPr>
            <p:cNvSpPr txBox="1">
              <a:spLocks noChangeArrowheads="1"/>
            </p:cNvSpPr>
            <p:nvPr>
              <p:custDataLst>
                <p:tags r:id="rId3"/>
              </p:custDataLst>
            </p:nvPr>
          </p:nvSpPr>
          <p:spPr bwMode="gray">
            <a:xfrm>
              <a:off x="907" y="-574162"/>
              <a:ext cx="481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0000"/>
                  </a:solidFill>
                  <a:cs typeface="Arial" panose="020B0604020202020204" pitchFamily="34" charset="0"/>
                </a:rPr>
                <a:t>The last-mile delivery market is projected to surpass $300B within five years, driven by e-commerce growth and consumer demand for speed. For Walmart Spark Driver, the strategic imperative is to leverage Walmart’s retail footprint and operational scale to build a sustainable, defensible position in a highly competitive and regulated environment.</a:t>
              </a:r>
            </a:p>
          </p:txBody>
        </p:sp>
      </p:grpSp>
      <p:grpSp>
        <p:nvGrpSpPr>
          <p:cNvPr id="8" name="Group 7">
            <a:extLst>
              <a:ext uri="{FF2B5EF4-FFF2-40B4-BE49-F238E27FC236}">
                <a16:creationId xmlns:a16="http://schemas.microsoft.com/office/drawing/2014/main" id="{97A7F2A8-B389-3587-29A8-06D9C6EA03FC}"/>
              </a:ext>
            </a:extLst>
          </p:cNvPr>
          <p:cNvGrpSpPr/>
          <p:nvPr/>
        </p:nvGrpSpPr>
        <p:grpSpPr>
          <a:xfrm>
            <a:off x="550281" y="5560511"/>
            <a:ext cx="758952" cy="756000"/>
            <a:chOff x="535206" y="1884223"/>
            <a:chExt cx="758952" cy="756000"/>
          </a:xfrm>
        </p:grpSpPr>
        <p:sp>
          <p:nvSpPr>
            <p:cNvPr id="20" name="Rectangle 19">
              <a:extLst>
                <a:ext uri="{FF2B5EF4-FFF2-40B4-BE49-F238E27FC236}">
                  <a16:creationId xmlns:a16="http://schemas.microsoft.com/office/drawing/2014/main" id="{FEABC698-7A6B-AA9C-AF55-0E839060F77A}"/>
                </a:ext>
              </a:extLst>
            </p:cNvPr>
            <p:cNvSpPr/>
            <p:nvPr/>
          </p:nvSpPr>
          <p:spPr>
            <a:xfrm>
              <a:off x="535206" y="1884223"/>
              <a:ext cx="758952" cy="756000"/>
            </a:xfrm>
            <a:prstGeom prst="rect">
              <a:avLst/>
            </a:prstGeom>
            <a:solidFill>
              <a:srgbClr val="3A5479"/>
            </a:solidFill>
            <a:ln w="12700"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GB" sz="1500">
                <a:solidFill>
                  <a:schemeClr val="bg1"/>
                </a:solidFill>
              </a:endParaRPr>
            </a:p>
          </p:txBody>
        </p:sp>
        <p:pic>
          <p:nvPicPr>
            <p:cNvPr id="35" name="Graphic 34" descr="Radar Chart outline">
              <a:extLst>
                <a:ext uri="{FF2B5EF4-FFF2-40B4-BE49-F238E27FC236}">
                  <a16:creationId xmlns:a16="http://schemas.microsoft.com/office/drawing/2014/main" id="{AB55A9E4-4453-5029-BCBD-6312421EAC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2074" y="1992484"/>
              <a:ext cx="585216" cy="585216"/>
            </a:xfrm>
            <a:prstGeom prst="rect">
              <a:avLst/>
            </a:prstGeom>
          </p:spPr>
        </p:pic>
      </p:grpSp>
      <p:sp>
        <p:nvSpPr>
          <p:cNvPr id="16" name="Rectangle 15">
            <a:extLst>
              <a:ext uri="{FF2B5EF4-FFF2-40B4-BE49-F238E27FC236}">
                <a16:creationId xmlns:a16="http://schemas.microsoft.com/office/drawing/2014/main" id="{88F7B375-C804-6C29-C2A3-B36EC892D33C}"/>
              </a:ext>
            </a:extLst>
          </p:cNvPr>
          <p:cNvSpPr/>
          <p:nvPr/>
        </p:nvSpPr>
        <p:spPr>
          <a:xfrm>
            <a:off x="535206" y="4398971"/>
            <a:ext cx="758952" cy="756000"/>
          </a:xfrm>
          <a:prstGeom prst="rect">
            <a:avLst/>
          </a:prstGeom>
          <a:solidFill>
            <a:srgbClr val="3A5479"/>
          </a:solidFill>
          <a:ln w="12700"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GB" sz="1500">
              <a:solidFill>
                <a:schemeClr val="bg1"/>
              </a:solidFill>
            </a:endParaRPr>
          </a:p>
        </p:txBody>
      </p:sp>
      <p:sp>
        <p:nvSpPr>
          <p:cNvPr id="2" name="Text Placeholder 1">
            <a:extLst>
              <a:ext uri="{FF2B5EF4-FFF2-40B4-BE49-F238E27FC236}">
                <a16:creationId xmlns:a16="http://schemas.microsoft.com/office/drawing/2014/main" id="{FC92635A-D4EB-D031-4D19-60480953D277}"/>
              </a:ext>
            </a:extLst>
          </p:cNvPr>
          <p:cNvSpPr txBox="1">
            <a:spLocks/>
          </p:cNvSpPr>
          <p:nvPr/>
        </p:nvSpPr>
        <p:spPr>
          <a:xfrm>
            <a:off x="502857" y="162444"/>
            <a:ext cx="11192256" cy="12199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700" b="0" dirty="0">
                <a:solidFill>
                  <a:srgbClr val="3A5479"/>
                </a:solidFill>
              </a:rPr>
              <a:t>EXECUTIVE SUMMARY</a:t>
            </a:r>
          </a:p>
        </p:txBody>
      </p:sp>
      <p:sp>
        <p:nvSpPr>
          <p:cNvPr id="19" name="TextBox 27">
            <a:extLst>
              <a:ext uri="{FF2B5EF4-FFF2-40B4-BE49-F238E27FC236}">
                <a16:creationId xmlns:a16="http://schemas.microsoft.com/office/drawing/2014/main" id="{1FFAFC70-93A6-D2DD-FE2A-499FBC5C670E}"/>
              </a:ext>
            </a:extLst>
          </p:cNvPr>
          <p:cNvSpPr txBox="1"/>
          <p:nvPr/>
        </p:nvSpPr>
        <p:spPr>
          <a:xfrm>
            <a:off x="1392621" y="3362712"/>
            <a:ext cx="10315673" cy="677108"/>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2"/>
                </a:solidFill>
                <a:latin typeface="Arial"/>
              </a:rPr>
              <a:t>Competitors Are Built for Scale, Not Loyalty, Exposing Brand Vulnerabilities: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00000">
                    <a:lumMod val="100000"/>
                  </a:srgbClr>
                </a:solidFill>
                <a:latin typeface="Arial"/>
              </a:rPr>
              <a:t>Market leaders like DoorDash and Uber have achieved immense scale ($75B+ in gross bookings) but operate on razor-thin margins (&lt;4% Adj. EBITDA), limiting their ability to invest in the driver experience.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00000">
                    <a:lumMod val="100000"/>
                  </a:srgbClr>
                </a:solidFill>
                <a:latin typeface="Arial"/>
              </a:rPr>
              <a:t>This underinvestment creates a brand risk; for example, high driver dissatisfaction on DoorDash correlates with 71% of its customers being brand detractors.</a:t>
            </a:r>
          </a:p>
        </p:txBody>
      </p:sp>
      <p:sp>
        <p:nvSpPr>
          <p:cNvPr id="21" name="TextBox 27">
            <a:extLst>
              <a:ext uri="{FF2B5EF4-FFF2-40B4-BE49-F238E27FC236}">
                <a16:creationId xmlns:a16="http://schemas.microsoft.com/office/drawing/2014/main" id="{B653D534-475C-239E-9E96-902FF5B34083}"/>
              </a:ext>
            </a:extLst>
          </p:cNvPr>
          <p:cNvSpPr txBox="1"/>
          <p:nvPr/>
        </p:nvSpPr>
        <p:spPr>
          <a:xfrm>
            <a:off x="1392621" y="4497137"/>
            <a:ext cx="10315673" cy="50783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2"/>
                </a:solidFill>
                <a:latin typeface="Arial"/>
              </a:rPr>
              <a:t>Driver Operating Model Benchmarks: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00000">
                    <a:lumMod val="100000"/>
                  </a:srgbClr>
                </a:solidFill>
                <a:latin typeface="Arial"/>
              </a:rPr>
              <a:t>A direct link exists between driver and customer satisfaction, with leading platforms differentiating their operating models through rapid driver onboarding, transparent compensation structures, and robust support</a:t>
            </a:r>
          </a:p>
        </p:txBody>
      </p:sp>
      <p:sp>
        <p:nvSpPr>
          <p:cNvPr id="25" name="TextBox 27">
            <a:extLst>
              <a:ext uri="{FF2B5EF4-FFF2-40B4-BE49-F238E27FC236}">
                <a16:creationId xmlns:a16="http://schemas.microsoft.com/office/drawing/2014/main" id="{FAF4E16B-BDFF-82F2-C788-6BC0F01D3B1B}"/>
              </a:ext>
            </a:extLst>
          </p:cNvPr>
          <p:cNvSpPr txBox="1"/>
          <p:nvPr/>
        </p:nvSpPr>
        <p:spPr>
          <a:xfrm>
            <a:off x="1392621" y="5668772"/>
            <a:ext cx="10315673" cy="507831"/>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a:solidFill>
                  <a:schemeClr val="tx2"/>
                </a:solidFill>
                <a:latin typeface="Arial"/>
              </a:rPr>
              <a:t>Brand &amp; Customer Sentiment: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00000">
                    <a:lumMod val="100000"/>
                  </a:srgbClr>
                </a:solidFill>
                <a:latin typeface="Arial"/>
              </a:rPr>
              <a:t>High levels of customer dissatisfaction on leading platforms—with 71% of DoorDash and 47% of Uber customers being detractors—are rooted in recurring operational failures related to delivery reliability, customer service, and app functionality</a:t>
            </a:r>
          </a:p>
        </p:txBody>
      </p:sp>
      <p:grpSp>
        <p:nvGrpSpPr>
          <p:cNvPr id="28" name="Group 27">
            <a:extLst>
              <a:ext uri="{FF2B5EF4-FFF2-40B4-BE49-F238E27FC236}">
                <a16:creationId xmlns:a16="http://schemas.microsoft.com/office/drawing/2014/main" id="{FC141103-99E9-C774-E1E9-25019A6A01A8}"/>
              </a:ext>
            </a:extLst>
          </p:cNvPr>
          <p:cNvGrpSpPr/>
          <p:nvPr/>
        </p:nvGrpSpPr>
        <p:grpSpPr>
          <a:xfrm>
            <a:off x="546801" y="2157511"/>
            <a:ext cx="758952" cy="756000"/>
            <a:chOff x="551881" y="5241780"/>
            <a:chExt cx="758952" cy="756000"/>
          </a:xfrm>
          <a:solidFill>
            <a:srgbClr val="3A5479"/>
          </a:solidFill>
        </p:grpSpPr>
        <p:sp>
          <p:nvSpPr>
            <p:cNvPr id="15" name="Rectangle 14">
              <a:extLst>
                <a:ext uri="{FF2B5EF4-FFF2-40B4-BE49-F238E27FC236}">
                  <a16:creationId xmlns:a16="http://schemas.microsoft.com/office/drawing/2014/main" id="{CCAA7E1C-82BA-D93E-B665-339C6F907C8C}"/>
                </a:ext>
              </a:extLst>
            </p:cNvPr>
            <p:cNvSpPr/>
            <p:nvPr/>
          </p:nvSpPr>
          <p:spPr>
            <a:xfrm>
              <a:off x="551881" y="5241780"/>
              <a:ext cx="758952" cy="756000"/>
            </a:xfrm>
            <a:prstGeom prst="rect">
              <a:avLst/>
            </a:prstGeom>
            <a:grpFill/>
            <a:ln w="12700"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endParaRPr lang="en-GB" sz="1500">
                <a:solidFill>
                  <a:schemeClr val="bg1"/>
                </a:solidFill>
              </a:endParaRPr>
            </a:p>
          </p:txBody>
        </p:sp>
        <p:pic>
          <p:nvPicPr>
            <p:cNvPr id="27" name="Graphic 26" descr="Formal Shirt outline">
              <a:extLst>
                <a:ext uri="{FF2B5EF4-FFF2-40B4-BE49-F238E27FC236}">
                  <a16:creationId xmlns:a16="http://schemas.microsoft.com/office/drawing/2014/main" id="{62B4EE46-D025-2E14-C180-D999E85B1C9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38749" y="5345500"/>
              <a:ext cx="585216" cy="585216"/>
            </a:xfrm>
            <a:prstGeom prst="rect">
              <a:avLst/>
            </a:prstGeom>
          </p:spPr>
        </p:pic>
      </p:grpSp>
      <p:pic>
        <p:nvPicPr>
          <p:cNvPr id="30" name="Graphic 29" descr="Scatterplot outline">
            <a:extLst>
              <a:ext uri="{FF2B5EF4-FFF2-40B4-BE49-F238E27FC236}">
                <a16:creationId xmlns:a16="http://schemas.microsoft.com/office/drawing/2014/main" id="{91196246-437A-909D-5373-EBAEC671C6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2074" y="4484363"/>
            <a:ext cx="585216" cy="585216"/>
          </a:xfrm>
          <a:prstGeom prst="rect">
            <a:avLst/>
          </a:prstGeom>
        </p:spPr>
      </p:pic>
      <p:pic>
        <p:nvPicPr>
          <p:cNvPr id="36" name="Graphic 35" descr="Competition outline">
            <a:extLst>
              <a:ext uri="{FF2B5EF4-FFF2-40B4-BE49-F238E27FC236}">
                <a16:creationId xmlns:a16="http://schemas.microsoft.com/office/drawing/2014/main" id="{80E79C7C-CD65-130A-8259-7A0A1F812C1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84940" y="3348596"/>
            <a:ext cx="585216" cy="585216"/>
          </a:xfrm>
          <a:prstGeom prst="rect">
            <a:avLst/>
          </a:prstGeom>
        </p:spPr>
      </p:pic>
    </p:spTree>
    <p:extLst>
      <p:ext uri="{BB962C8B-B14F-4D97-AF65-F5344CB8AC3E}">
        <p14:creationId xmlns:p14="http://schemas.microsoft.com/office/powerpoint/2010/main" val="114977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855E138-9168-1240-84C2-CC3C381C833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73" imgH="473" progId="TCLayout.ActiveDocument.1">
                  <p:embed/>
                </p:oleObj>
              </mc:Choice>
              <mc:Fallback>
                <p:oleObj name="think-cell Slide" r:id="rId5" imgW="473" imgH="473" progId="TCLayout.ActiveDocument.1">
                  <p:embed/>
                  <p:pic>
                    <p:nvPicPr>
                      <p:cNvPr id="5" name="think-cell data - do not delete" hidden="1">
                        <a:extLst>
                          <a:ext uri="{FF2B5EF4-FFF2-40B4-BE49-F238E27FC236}">
                            <a16:creationId xmlns:a16="http://schemas.microsoft.com/office/drawing/2014/main" id="{7855E138-9168-1240-84C2-CC3C381C8335}"/>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DFD638B-F8A2-1E52-54E7-C8C4912D353D}"/>
              </a:ext>
            </a:extLst>
          </p:cNvPr>
          <p:cNvSpPr>
            <a:spLocks noGrp="1"/>
          </p:cNvSpPr>
          <p:nvPr>
            <p:ph type="body" sz="quarter" idx="19"/>
          </p:nvPr>
        </p:nvSpPr>
        <p:spPr/>
        <p:txBody>
          <a:bodyPr/>
          <a:lstStyle/>
          <a:p>
            <a:pPr marL="0" indent="0">
              <a:buNone/>
            </a:pPr>
            <a:r>
              <a:rPr lang="en-US" dirty="0"/>
              <a:t>Industry trends</a:t>
            </a:r>
          </a:p>
        </p:txBody>
      </p:sp>
      <p:sp>
        <p:nvSpPr>
          <p:cNvPr id="3" name="Title 2">
            <a:extLst>
              <a:ext uri="{FF2B5EF4-FFF2-40B4-BE49-F238E27FC236}">
                <a16:creationId xmlns:a16="http://schemas.microsoft.com/office/drawing/2014/main" id="{E4B8C86F-9BD3-7454-8683-A4B06B903443}"/>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Key Trends Driving the Last-Mile Delivery Industry </a:t>
            </a:r>
          </a:p>
        </p:txBody>
      </p:sp>
      <p:sp>
        <p:nvSpPr>
          <p:cNvPr id="11" name="TextBox 10">
            <a:extLst>
              <a:ext uri="{FF2B5EF4-FFF2-40B4-BE49-F238E27FC236}">
                <a16:creationId xmlns:a16="http://schemas.microsoft.com/office/drawing/2014/main" id="{F045B2B0-BB85-9F74-138B-18A3401789B4}"/>
              </a:ext>
            </a:extLst>
          </p:cNvPr>
          <p:cNvSpPr txBox="1"/>
          <p:nvPr/>
        </p:nvSpPr>
        <p:spPr>
          <a:xfrm>
            <a:off x="432450" y="5990619"/>
            <a:ext cx="10567337" cy="306505"/>
          </a:xfrm>
          <a:prstGeom prst="rect">
            <a:avLst/>
          </a:prstGeom>
        </p:spPr>
        <p:txBody>
          <a:bodyPr vert="horz" wrap="square" lIns="0" tIns="0" rIns="0" bIns="0" rtlCol="0" anchor="ctr" anchorCtr="0">
            <a:noAutofit/>
          </a:bodyPr>
          <a:lstStyle/>
          <a:p>
            <a:r>
              <a:rPr lang="en-US" sz="800" i="1">
                <a:solidFill>
                  <a:schemeClr val="tx2"/>
                </a:solidFill>
                <a:ea typeface="+mj-ea"/>
                <a:cs typeface="+mj-cs"/>
              </a:rPr>
              <a:t>Source: </a:t>
            </a:r>
            <a:r>
              <a:rPr kumimoji="0" lang="en-US" sz="800" b="0" i="1" u="none" strike="noStrike" kern="1200" cap="none" spc="0" normalizeH="0" baseline="0" noProof="0">
                <a:ln>
                  <a:noFill/>
                </a:ln>
                <a:solidFill>
                  <a:srgbClr val="00338D"/>
                </a:solidFill>
                <a:effectLst/>
                <a:uLnTx/>
                <a:uFillTx/>
                <a:ea typeface="+mn-ea"/>
                <a:cs typeface="+mn-cs"/>
              </a:rPr>
              <a:t>Secondary research; all accessed in October 2025.</a:t>
            </a:r>
            <a:endParaRPr lang="en-US" sz="800" i="1">
              <a:solidFill>
                <a:schemeClr val="tx2"/>
              </a:solidFill>
              <a:ea typeface="+mj-ea"/>
              <a:cs typeface="+mj-cs"/>
            </a:endParaRPr>
          </a:p>
        </p:txBody>
      </p:sp>
      <p:grpSp>
        <p:nvGrpSpPr>
          <p:cNvPr id="4" name="Group 3">
            <a:extLst>
              <a:ext uri="{FF2B5EF4-FFF2-40B4-BE49-F238E27FC236}">
                <a16:creationId xmlns:a16="http://schemas.microsoft.com/office/drawing/2014/main" id="{0514D94D-56E3-A8AB-9DC5-C1080A1F7ABE}"/>
              </a:ext>
            </a:extLst>
          </p:cNvPr>
          <p:cNvGrpSpPr/>
          <p:nvPr/>
        </p:nvGrpSpPr>
        <p:grpSpPr>
          <a:xfrm>
            <a:off x="630737" y="1621363"/>
            <a:ext cx="10168393" cy="796825"/>
            <a:chOff x="1029937" y="3014189"/>
            <a:chExt cx="7687557" cy="1433510"/>
          </a:xfrm>
        </p:grpSpPr>
        <p:sp>
          <p:nvSpPr>
            <p:cNvPr id="14" name="Rectangle 13">
              <a:extLst>
                <a:ext uri="{FF2B5EF4-FFF2-40B4-BE49-F238E27FC236}">
                  <a16:creationId xmlns:a16="http://schemas.microsoft.com/office/drawing/2014/main" id="{8F62B7A7-CC4C-3229-87F5-26E885478874}"/>
                </a:ext>
              </a:extLst>
            </p:cNvPr>
            <p:cNvSpPr/>
            <p:nvPr/>
          </p:nvSpPr>
          <p:spPr>
            <a:xfrm>
              <a:off x="1029937" y="3021920"/>
              <a:ext cx="1206567" cy="1425778"/>
            </a:xfrm>
            <a:prstGeom prst="rect">
              <a:avLst/>
            </a:prstGeom>
            <a:solidFill>
              <a:srgbClr val="005EB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grpSp>
          <p:nvGrpSpPr>
            <p:cNvPr id="15" name="Group 14">
              <a:extLst>
                <a:ext uri="{FF2B5EF4-FFF2-40B4-BE49-F238E27FC236}">
                  <a16:creationId xmlns:a16="http://schemas.microsoft.com/office/drawing/2014/main" id="{3C65AE26-2C0B-135A-54DC-04485E440108}"/>
                </a:ext>
              </a:extLst>
            </p:cNvPr>
            <p:cNvGrpSpPr/>
            <p:nvPr/>
          </p:nvGrpSpPr>
          <p:grpSpPr>
            <a:xfrm>
              <a:off x="1031730" y="3014189"/>
              <a:ext cx="7685764" cy="1433510"/>
              <a:chOff x="1000333" y="3119042"/>
              <a:chExt cx="7685764" cy="1433510"/>
            </a:xfrm>
          </p:grpSpPr>
          <p:sp>
            <p:nvSpPr>
              <p:cNvPr id="16" name="Rectangle 15">
                <a:extLst>
                  <a:ext uri="{FF2B5EF4-FFF2-40B4-BE49-F238E27FC236}">
                    <a16:creationId xmlns:a16="http://schemas.microsoft.com/office/drawing/2014/main" id="{5AF11A9C-6639-638C-087F-48FB6A32414C}"/>
                  </a:ext>
                </a:extLst>
              </p:cNvPr>
              <p:cNvSpPr/>
              <p:nvPr/>
            </p:nvSpPr>
            <p:spPr>
              <a:xfrm>
                <a:off x="1000333" y="3119042"/>
                <a:ext cx="7685764" cy="1433510"/>
              </a:xfrm>
              <a:prstGeom prst="rect">
                <a:avLst/>
              </a:prstGeom>
              <a:no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sp>
            <p:nvSpPr>
              <p:cNvPr id="17" name="TextBox 16">
                <a:extLst>
                  <a:ext uri="{FF2B5EF4-FFF2-40B4-BE49-F238E27FC236}">
                    <a16:creationId xmlns:a16="http://schemas.microsoft.com/office/drawing/2014/main" id="{66D9908F-5CE1-2549-2857-705945498428}"/>
                  </a:ext>
                </a:extLst>
              </p:cNvPr>
              <p:cNvSpPr txBox="1"/>
              <p:nvPr/>
            </p:nvSpPr>
            <p:spPr>
              <a:xfrm>
                <a:off x="1043829" y="3482129"/>
                <a:ext cx="1115988" cy="314402"/>
              </a:xfrm>
              <a:prstGeom prst="rect">
                <a:avLst/>
              </a:prstGeom>
              <a:noFill/>
            </p:spPr>
            <p:txBody>
              <a:bodyPr wrap="square" lIns="54610" tIns="54610" rIns="54610" bIns="5461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0" b="1" dirty="0">
                    <a:solidFill>
                      <a:prstClr val="white"/>
                    </a:solidFill>
                    <a:latin typeface="Arial"/>
                  </a:rPr>
                  <a:t>Increasing Competition</a:t>
                </a:r>
                <a:endParaRPr kumimoji="0" lang="en-US" sz="1000" b="1" i="0" u="none" strike="noStrike" kern="1200" cap="none" spc="0" normalizeH="0" baseline="0" noProof="0" dirty="0">
                  <a:ln>
                    <a:noFill/>
                  </a:ln>
                  <a:solidFill>
                    <a:prstClr val="white"/>
                  </a:solidFill>
                  <a:effectLst/>
                  <a:uLnTx/>
                  <a:uFillTx/>
                  <a:latin typeface="Arial"/>
                  <a:ea typeface="+mn-ea"/>
                  <a:cs typeface="+mn-cs"/>
                </a:endParaRPr>
              </a:p>
            </p:txBody>
          </p:sp>
        </p:grpSp>
      </p:grpSp>
      <p:sp>
        <p:nvSpPr>
          <p:cNvPr id="21" name="TextBox 20">
            <a:extLst>
              <a:ext uri="{FF2B5EF4-FFF2-40B4-BE49-F238E27FC236}">
                <a16:creationId xmlns:a16="http://schemas.microsoft.com/office/drawing/2014/main" id="{6191FE57-7B06-E66C-63B6-6DF843CC9BC6}"/>
              </a:ext>
            </a:extLst>
          </p:cNvPr>
          <p:cNvSpPr txBox="1"/>
          <p:nvPr/>
        </p:nvSpPr>
        <p:spPr>
          <a:xfrm>
            <a:off x="2256608" y="1928574"/>
            <a:ext cx="8556010" cy="400110"/>
          </a:xfrm>
          <a:prstGeom prst="rect">
            <a:avLst/>
          </a:prstGeom>
          <a:noFill/>
        </p:spPr>
        <p:txBody>
          <a:bodyPr wrap="square">
            <a:spAutoFit/>
          </a:bodyPr>
          <a:lstStyle/>
          <a:p>
            <a:pPr marL="171450" lvl="0" indent="-171450">
              <a:spcAft>
                <a:spcPts val="400"/>
              </a:spcAft>
              <a:buFont typeface="Arial" panose="020B0604020202020204" pitchFamily="34" charset="0"/>
              <a:buChar char="•"/>
              <a:defRPr/>
            </a:pPr>
            <a:r>
              <a:rPr lang="en-US" sz="1000">
                <a:solidFill>
                  <a:srgbClr val="00338D"/>
                </a:solidFill>
                <a:latin typeface="Arial"/>
              </a:rPr>
              <a:t>Competition in last-mile delivery is accelerating as major players like DoorDash and Uber scale aggressively despite razor-thin margins (&lt;4% Adjusted EBITDA). Walmart Spark Driver must differentiate through operational efficiency and superior driver experience.</a:t>
            </a:r>
          </a:p>
        </p:txBody>
      </p:sp>
      <p:grpSp>
        <p:nvGrpSpPr>
          <p:cNvPr id="22" name="Group 21">
            <a:extLst>
              <a:ext uri="{FF2B5EF4-FFF2-40B4-BE49-F238E27FC236}">
                <a16:creationId xmlns:a16="http://schemas.microsoft.com/office/drawing/2014/main" id="{0112399A-A15D-8D8E-422B-5D3E8ABB2BBB}"/>
              </a:ext>
            </a:extLst>
          </p:cNvPr>
          <p:cNvGrpSpPr/>
          <p:nvPr/>
        </p:nvGrpSpPr>
        <p:grpSpPr>
          <a:xfrm>
            <a:off x="630737" y="2609152"/>
            <a:ext cx="10168393" cy="796825"/>
            <a:chOff x="1029937" y="3014189"/>
            <a:chExt cx="7687557" cy="1433510"/>
          </a:xfrm>
        </p:grpSpPr>
        <p:sp>
          <p:nvSpPr>
            <p:cNvPr id="23" name="Rectangle 22">
              <a:extLst>
                <a:ext uri="{FF2B5EF4-FFF2-40B4-BE49-F238E27FC236}">
                  <a16:creationId xmlns:a16="http://schemas.microsoft.com/office/drawing/2014/main" id="{779B1A96-0595-938C-7F9D-AFCEAAFE562C}"/>
                </a:ext>
              </a:extLst>
            </p:cNvPr>
            <p:cNvSpPr/>
            <p:nvPr/>
          </p:nvSpPr>
          <p:spPr>
            <a:xfrm>
              <a:off x="1029937" y="3021920"/>
              <a:ext cx="1206567" cy="1425778"/>
            </a:xfrm>
            <a:prstGeom prst="rect">
              <a:avLst/>
            </a:prstGeom>
            <a:solidFill>
              <a:srgbClr val="005EB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grpSp>
          <p:nvGrpSpPr>
            <p:cNvPr id="24" name="Group 23">
              <a:extLst>
                <a:ext uri="{FF2B5EF4-FFF2-40B4-BE49-F238E27FC236}">
                  <a16:creationId xmlns:a16="http://schemas.microsoft.com/office/drawing/2014/main" id="{4622B957-8D40-6DEB-9CB1-114AFF758D3C}"/>
                </a:ext>
              </a:extLst>
            </p:cNvPr>
            <p:cNvGrpSpPr/>
            <p:nvPr/>
          </p:nvGrpSpPr>
          <p:grpSpPr>
            <a:xfrm>
              <a:off x="1031730" y="3014189"/>
              <a:ext cx="7685764" cy="1433510"/>
              <a:chOff x="1000333" y="3119042"/>
              <a:chExt cx="7685764" cy="1433510"/>
            </a:xfrm>
          </p:grpSpPr>
          <p:sp>
            <p:nvSpPr>
              <p:cNvPr id="25" name="Rectangle 24">
                <a:extLst>
                  <a:ext uri="{FF2B5EF4-FFF2-40B4-BE49-F238E27FC236}">
                    <a16:creationId xmlns:a16="http://schemas.microsoft.com/office/drawing/2014/main" id="{EC514AD0-3ED1-6A9A-E57C-26DB51BBEC5D}"/>
                  </a:ext>
                </a:extLst>
              </p:cNvPr>
              <p:cNvSpPr/>
              <p:nvPr/>
            </p:nvSpPr>
            <p:spPr>
              <a:xfrm>
                <a:off x="1000333" y="3119042"/>
                <a:ext cx="7685764" cy="1433510"/>
              </a:xfrm>
              <a:prstGeom prst="rect">
                <a:avLst/>
              </a:prstGeom>
              <a:no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sp>
            <p:nvSpPr>
              <p:cNvPr id="26" name="TextBox 25">
                <a:extLst>
                  <a:ext uri="{FF2B5EF4-FFF2-40B4-BE49-F238E27FC236}">
                    <a16:creationId xmlns:a16="http://schemas.microsoft.com/office/drawing/2014/main" id="{619A7401-F308-4E48-7461-B7388AD8E0DD}"/>
                  </a:ext>
                </a:extLst>
              </p:cNvPr>
              <p:cNvSpPr txBox="1"/>
              <p:nvPr/>
            </p:nvSpPr>
            <p:spPr>
              <a:xfrm>
                <a:off x="1057167" y="3341294"/>
                <a:ext cx="1115988" cy="314402"/>
              </a:xfrm>
              <a:prstGeom prst="rect">
                <a:avLst/>
              </a:prstGeom>
              <a:noFill/>
            </p:spPr>
            <p:txBody>
              <a:bodyPr wrap="square" lIns="54610" tIns="54610" rIns="54610" bIns="5461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0" b="1">
                    <a:solidFill>
                      <a:prstClr val="white"/>
                    </a:solidFill>
                    <a:latin typeface="Arial"/>
                  </a:rPr>
                  <a:t>Rising Regulatory Pressure</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grpSp>
      </p:grpSp>
      <p:sp>
        <p:nvSpPr>
          <p:cNvPr id="27" name="TextBox 26">
            <a:extLst>
              <a:ext uri="{FF2B5EF4-FFF2-40B4-BE49-F238E27FC236}">
                <a16:creationId xmlns:a16="http://schemas.microsoft.com/office/drawing/2014/main" id="{1CE6F46F-71C9-4672-DA71-9BCF28CF5D9C}"/>
              </a:ext>
            </a:extLst>
          </p:cNvPr>
          <p:cNvSpPr txBox="1"/>
          <p:nvPr/>
        </p:nvSpPr>
        <p:spPr>
          <a:xfrm>
            <a:off x="2259585" y="2792555"/>
            <a:ext cx="8631185" cy="400110"/>
          </a:xfrm>
          <a:prstGeom prst="rect">
            <a:avLst/>
          </a:prstGeom>
          <a:noFill/>
        </p:spPr>
        <p:txBody>
          <a:bodyPr wrap="square">
            <a:spAutoFit/>
          </a:bodyPr>
          <a:lstStyle/>
          <a:p>
            <a:pPr marL="171450" lvl="0" indent="-171450">
              <a:spcAft>
                <a:spcPts val="400"/>
              </a:spcAft>
              <a:buFont typeface="Arial" panose="020B0604020202020204" pitchFamily="34" charset="0"/>
              <a:buChar char="•"/>
              <a:defRPr/>
            </a:pPr>
            <a:r>
              <a:rPr lang="en-US" sz="1000">
                <a:solidFill>
                  <a:srgbClr val="00338D"/>
                </a:solidFill>
                <a:latin typeface="Arial"/>
              </a:rPr>
              <a:t>The U.S. Department of Labor’s 2024 rule makes independent contractor classification more challenging, while the EU Platform Work Directive (effective 2026) introduces stricter employment presumptions. Non-compliance risks include nine-figure settlements, as seen with FedEx.</a:t>
            </a:r>
          </a:p>
        </p:txBody>
      </p:sp>
      <p:grpSp>
        <p:nvGrpSpPr>
          <p:cNvPr id="28" name="Group 27">
            <a:extLst>
              <a:ext uri="{FF2B5EF4-FFF2-40B4-BE49-F238E27FC236}">
                <a16:creationId xmlns:a16="http://schemas.microsoft.com/office/drawing/2014/main" id="{8B17B296-16DC-B81B-946E-1FCF9564ED9C}"/>
              </a:ext>
            </a:extLst>
          </p:cNvPr>
          <p:cNvGrpSpPr/>
          <p:nvPr/>
        </p:nvGrpSpPr>
        <p:grpSpPr>
          <a:xfrm>
            <a:off x="631922" y="3553642"/>
            <a:ext cx="10168393" cy="796825"/>
            <a:chOff x="1029937" y="3014189"/>
            <a:chExt cx="7687557" cy="1433510"/>
          </a:xfrm>
        </p:grpSpPr>
        <p:sp>
          <p:nvSpPr>
            <p:cNvPr id="29" name="Rectangle 28">
              <a:extLst>
                <a:ext uri="{FF2B5EF4-FFF2-40B4-BE49-F238E27FC236}">
                  <a16:creationId xmlns:a16="http://schemas.microsoft.com/office/drawing/2014/main" id="{53CD15EB-B9BF-0BB8-D6FF-05922FDC196B}"/>
                </a:ext>
              </a:extLst>
            </p:cNvPr>
            <p:cNvSpPr/>
            <p:nvPr/>
          </p:nvSpPr>
          <p:spPr>
            <a:xfrm>
              <a:off x="1029937" y="3021920"/>
              <a:ext cx="1206567" cy="1425778"/>
            </a:xfrm>
            <a:prstGeom prst="rect">
              <a:avLst/>
            </a:prstGeom>
            <a:solidFill>
              <a:srgbClr val="005EB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grpSp>
          <p:nvGrpSpPr>
            <p:cNvPr id="30" name="Group 29">
              <a:extLst>
                <a:ext uri="{FF2B5EF4-FFF2-40B4-BE49-F238E27FC236}">
                  <a16:creationId xmlns:a16="http://schemas.microsoft.com/office/drawing/2014/main" id="{859C4F93-7FF6-DCB7-13AD-5CBA6C4D46CE}"/>
                </a:ext>
              </a:extLst>
            </p:cNvPr>
            <p:cNvGrpSpPr/>
            <p:nvPr/>
          </p:nvGrpSpPr>
          <p:grpSpPr>
            <a:xfrm>
              <a:off x="1031730" y="3014189"/>
              <a:ext cx="7685764" cy="1433510"/>
              <a:chOff x="1000333" y="3119042"/>
              <a:chExt cx="7685764" cy="1433510"/>
            </a:xfrm>
          </p:grpSpPr>
          <p:sp>
            <p:nvSpPr>
              <p:cNvPr id="31" name="Rectangle 30">
                <a:extLst>
                  <a:ext uri="{FF2B5EF4-FFF2-40B4-BE49-F238E27FC236}">
                    <a16:creationId xmlns:a16="http://schemas.microsoft.com/office/drawing/2014/main" id="{589A693D-B58D-05DB-3FA9-3790B40FA219}"/>
                  </a:ext>
                </a:extLst>
              </p:cNvPr>
              <p:cNvSpPr/>
              <p:nvPr/>
            </p:nvSpPr>
            <p:spPr>
              <a:xfrm>
                <a:off x="1000333" y="3119042"/>
                <a:ext cx="7685764" cy="1433510"/>
              </a:xfrm>
              <a:prstGeom prst="rect">
                <a:avLst/>
              </a:prstGeom>
              <a:no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sp>
            <p:nvSpPr>
              <p:cNvPr id="32" name="TextBox 31">
                <a:extLst>
                  <a:ext uri="{FF2B5EF4-FFF2-40B4-BE49-F238E27FC236}">
                    <a16:creationId xmlns:a16="http://schemas.microsoft.com/office/drawing/2014/main" id="{7C067492-85BE-9474-5EF1-53D90EA2853D}"/>
                  </a:ext>
                </a:extLst>
              </p:cNvPr>
              <p:cNvSpPr txBox="1"/>
              <p:nvPr/>
            </p:nvSpPr>
            <p:spPr>
              <a:xfrm>
                <a:off x="1057167" y="3511824"/>
                <a:ext cx="1115988" cy="314402"/>
              </a:xfrm>
              <a:prstGeom prst="rect">
                <a:avLst/>
              </a:prstGeom>
              <a:noFill/>
            </p:spPr>
            <p:txBody>
              <a:bodyPr wrap="square" lIns="54610" tIns="54610" rIns="54610" bIns="5461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0" b="1">
                    <a:solidFill>
                      <a:prstClr val="white"/>
                    </a:solidFill>
                    <a:latin typeface="Arial"/>
                  </a:rPr>
                  <a:t>Labor Model Tension</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grpSp>
      </p:grpSp>
      <p:sp>
        <p:nvSpPr>
          <p:cNvPr id="33" name="TextBox 32">
            <a:extLst>
              <a:ext uri="{FF2B5EF4-FFF2-40B4-BE49-F238E27FC236}">
                <a16:creationId xmlns:a16="http://schemas.microsoft.com/office/drawing/2014/main" id="{1B72D09D-8C12-1D10-8986-35CA2F6EC414}"/>
              </a:ext>
            </a:extLst>
          </p:cNvPr>
          <p:cNvSpPr txBox="1"/>
          <p:nvPr/>
        </p:nvSpPr>
        <p:spPr>
          <a:xfrm>
            <a:off x="2259585" y="3803626"/>
            <a:ext cx="8631185" cy="400110"/>
          </a:xfrm>
          <a:prstGeom prst="rect">
            <a:avLst/>
          </a:prstGeom>
          <a:noFill/>
        </p:spPr>
        <p:txBody>
          <a:bodyPr wrap="square">
            <a:spAutoFit/>
          </a:bodyPr>
          <a:lstStyle/>
          <a:p>
            <a:pPr marL="171450" lvl="0" indent="-171450">
              <a:spcAft>
                <a:spcPts val="400"/>
              </a:spcAft>
              <a:buFont typeface="Arial" panose="020B0604020202020204" pitchFamily="34" charset="0"/>
              <a:buChar char="•"/>
              <a:defRPr/>
            </a:pPr>
            <a:r>
              <a:rPr lang="en-US" sz="1000">
                <a:solidFill>
                  <a:srgbClr val="00338D"/>
                </a:solidFill>
                <a:latin typeface="Arial"/>
              </a:rPr>
              <a:t>The gig economy, valued at $500B and growing at 16% annually, attracts 59M U.S. workers seeking flexibility. However, increasing demand for benefits and stability creates structural tension, exposing platforms to legal and reputational risks.</a:t>
            </a:r>
          </a:p>
        </p:txBody>
      </p:sp>
      <p:grpSp>
        <p:nvGrpSpPr>
          <p:cNvPr id="34" name="Group 33">
            <a:extLst>
              <a:ext uri="{FF2B5EF4-FFF2-40B4-BE49-F238E27FC236}">
                <a16:creationId xmlns:a16="http://schemas.microsoft.com/office/drawing/2014/main" id="{EA277A3E-94AC-D108-6CC9-962A65CE995C}"/>
              </a:ext>
            </a:extLst>
          </p:cNvPr>
          <p:cNvGrpSpPr/>
          <p:nvPr/>
        </p:nvGrpSpPr>
        <p:grpSpPr>
          <a:xfrm>
            <a:off x="630737" y="4491080"/>
            <a:ext cx="10168393" cy="796825"/>
            <a:chOff x="1029937" y="3014189"/>
            <a:chExt cx="7687557" cy="1433510"/>
          </a:xfrm>
        </p:grpSpPr>
        <p:sp>
          <p:nvSpPr>
            <p:cNvPr id="35" name="Rectangle 34">
              <a:extLst>
                <a:ext uri="{FF2B5EF4-FFF2-40B4-BE49-F238E27FC236}">
                  <a16:creationId xmlns:a16="http://schemas.microsoft.com/office/drawing/2014/main" id="{4DA6DCAB-27BE-41D9-2BF7-49541259C3AC}"/>
                </a:ext>
              </a:extLst>
            </p:cNvPr>
            <p:cNvSpPr/>
            <p:nvPr/>
          </p:nvSpPr>
          <p:spPr>
            <a:xfrm>
              <a:off x="1029937" y="3021920"/>
              <a:ext cx="1206567" cy="1425778"/>
            </a:xfrm>
            <a:prstGeom prst="rect">
              <a:avLst/>
            </a:prstGeom>
            <a:solidFill>
              <a:srgbClr val="005EB8"/>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grpSp>
          <p:nvGrpSpPr>
            <p:cNvPr id="36" name="Group 35">
              <a:extLst>
                <a:ext uri="{FF2B5EF4-FFF2-40B4-BE49-F238E27FC236}">
                  <a16:creationId xmlns:a16="http://schemas.microsoft.com/office/drawing/2014/main" id="{08DD2FB4-B19A-DF14-2BAF-38F567BF7EAA}"/>
                </a:ext>
              </a:extLst>
            </p:cNvPr>
            <p:cNvGrpSpPr/>
            <p:nvPr/>
          </p:nvGrpSpPr>
          <p:grpSpPr>
            <a:xfrm>
              <a:off x="1031730" y="3014189"/>
              <a:ext cx="7685764" cy="1433510"/>
              <a:chOff x="1000333" y="3119042"/>
              <a:chExt cx="7685764" cy="1433510"/>
            </a:xfrm>
          </p:grpSpPr>
          <p:sp>
            <p:nvSpPr>
              <p:cNvPr id="37" name="Rectangle 36">
                <a:extLst>
                  <a:ext uri="{FF2B5EF4-FFF2-40B4-BE49-F238E27FC236}">
                    <a16:creationId xmlns:a16="http://schemas.microsoft.com/office/drawing/2014/main" id="{6B5D37BB-481E-6EDA-B80C-6F1628578C21}"/>
                  </a:ext>
                </a:extLst>
              </p:cNvPr>
              <p:cNvSpPr/>
              <p:nvPr/>
            </p:nvSpPr>
            <p:spPr>
              <a:xfrm>
                <a:off x="1000333" y="3119042"/>
                <a:ext cx="7685764" cy="1433510"/>
              </a:xfrm>
              <a:prstGeom prst="rect">
                <a:avLst/>
              </a:prstGeom>
              <a:noFill/>
              <a:ln>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Arial"/>
                  <a:ea typeface="+mn-ea"/>
                  <a:cs typeface="+mn-cs"/>
                </a:endParaRPr>
              </a:p>
            </p:txBody>
          </p:sp>
          <p:sp>
            <p:nvSpPr>
              <p:cNvPr id="38" name="TextBox 37">
                <a:extLst>
                  <a:ext uri="{FF2B5EF4-FFF2-40B4-BE49-F238E27FC236}">
                    <a16:creationId xmlns:a16="http://schemas.microsoft.com/office/drawing/2014/main" id="{3E17C1DB-7762-D670-FB26-B0680BFDE3E0}"/>
                  </a:ext>
                </a:extLst>
              </p:cNvPr>
              <p:cNvSpPr txBox="1"/>
              <p:nvPr/>
            </p:nvSpPr>
            <p:spPr>
              <a:xfrm>
                <a:off x="1057167" y="3511824"/>
                <a:ext cx="1115988" cy="314402"/>
              </a:xfrm>
              <a:prstGeom prst="rect">
                <a:avLst/>
              </a:prstGeom>
              <a:noFill/>
            </p:spPr>
            <p:txBody>
              <a:bodyPr wrap="square" lIns="54610" tIns="54610" rIns="54610" bIns="5461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000" b="1">
                    <a:solidFill>
                      <a:prstClr val="white"/>
                    </a:solidFill>
                    <a:latin typeface="Arial"/>
                  </a:rPr>
                  <a:t>Customer Experience Gap</a:t>
                </a:r>
                <a:endParaRPr kumimoji="0" lang="en-US" sz="1000" b="1" i="0" u="none" strike="noStrike" kern="1200" cap="none" spc="0" normalizeH="0" baseline="0" noProof="0">
                  <a:ln>
                    <a:noFill/>
                  </a:ln>
                  <a:solidFill>
                    <a:prstClr val="white"/>
                  </a:solidFill>
                  <a:effectLst/>
                  <a:uLnTx/>
                  <a:uFillTx/>
                  <a:latin typeface="Arial"/>
                  <a:ea typeface="+mn-ea"/>
                  <a:cs typeface="+mn-cs"/>
                </a:endParaRPr>
              </a:p>
            </p:txBody>
          </p:sp>
        </p:grpSp>
      </p:grpSp>
      <p:sp>
        <p:nvSpPr>
          <p:cNvPr id="39" name="TextBox 38">
            <a:extLst>
              <a:ext uri="{FF2B5EF4-FFF2-40B4-BE49-F238E27FC236}">
                <a16:creationId xmlns:a16="http://schemas.microsoft.com/office/drawing/2014/main" id="{7F4EC106-4151-B6B2-BC30-4328EE0032BE}"/>
              </a:ext>
            </a:extLst>
          </p:cNvPr>
          <p:cNvSpPr txBox="1"/>
          <p:nvPr/>
        </p:nvSpPr>
        <p:spPr>
          <a:xfrm>
            <a:off x="2259584" y="4613671"/>
            <a:ext cx="8631185" cy="605294"/>
          </a:xfrm>
          <a:prstGeom prst="rect">
            <a:avLst/>
          </a:prstGeom>
          <a:noFill/>
        </p:spPr>
        <p:txBody>
          <a:bodyPr wrap="square">
            <a:spAutoFit/>
          </a:bodyPr>
          <a:lstStyle/>
          <a:p>
            <a:pPr marL="171450" lvl="0" indent="-171450">
              <a:spcAft>
                <a:spcPts val="400"/>
              </a:spcAft>
              <a:buFont typeface="Arial" panose="020B0604020202020204" pitchFamily="34" charset="0"/>
              <a:buChar char="•"/>
              <a:defRPr/>
            </a:pPr>
            <a:r>
              <a:rPr lang="en-US" sz="1000">
                <a:solidFill>
                  <a:srgbClr val="00338D"/>
                </a:solidFill>
                <a:latin typeface="Arial"/>
              </a:rPr>
              <a:t>Competitors suffer deeply negative Net Promoter Scores (NPS), signaling systemic service quality issues. Research confirms a direct link between driver experience and customer satisfaction, making driver support a critical lever for Spark’s competitive advantage.</a:t>
            </a:r>
          </a:p>
          <a:p>
            <a:pPr marL="171450" lvl="0" indent="-171450">
              <a:spcAft>
                <a:spcPts val="400"/>
              </a:spcAft>
              <a:buFont typeface="Arial" panose="020B0604020202020204" pitchFamily="34" charset="0"/>
              <a:buChar char="•"/>
              <a:defRPr/>
            </a:pPr>
            <a:r>
              <a:rPr lang="en-US" sz="1000">
                <a:solidFill>
                  <a:srgbClr val="00338D"/>
                </a:solidFill>
                <a:latin typeface="Arial"/>
              </a:rPr>
              <a:t>Consumers increasingly expect same-day delivery, real-time tracking, and sustainability—areas where Spark can lead.</a:t>
            </a:r>
          </a:p>
        </p:txBody>
      </p:sp>
      <p:grpSp>
        <p:nvGrpSpPr>
          <p:cNvPr id="13" name="Subtitle [Placeholder]">
            <a:extLst>
              <a:ext uri="{FF2B5EF4-FFF2-40B4-BE49-F238E27FC236}">
                <a16:creationId xmlns:a16="http://schemas.microsoft.com/office/drawing/2014/main" id="{3C4DD503-CE84-2EF1-882A-F42EE23CB7DF}"/>
              </a:ext>
            </a:extLst>
          </p:cNvPr>
          <p:cNvGrpSpPr>
            <a:grpSpLocks/>
          </p:cNvGrpSpPr>
          <p:nvPr/>
        </p:nvGrpSpPr>
        <p:grpSpPr bwMode="auto">
          <a:xfrm>
            <a:off x="502273" y="1004432"/>
            <a:ext cx="11282572" cy="211138"/>
            <a:chOff x="1288" y="1620"/>
            <a:chExt cx="4426" cy="133"/>
          </a:xfrm>
        </p:grpSpPr>
        <p:sp>
          <p:nvSpPr>
            <p:cNvPr id="18" name="Line 56">
              <a:extLst>
                <a:ext uri="{FF2B5EF4-FFF2-40B4-BE49-F238E27FC236}">
                  <a16:creationId xmlns:a16="http://schemas.microsoft.com/office/drawing/2014/main" id="{B0E3C460-B355-DEFF-B3C0-5AFEF8A84A7C}"/>
                </a:ext>
              </a:extLst>
            </p:cNvPr>
            <p:cNvSpPr>
              <a:spLocks noChangeShapeType="1"/>
            </p:cNvSpPr>
            <p:nvPr>
              <p:custDataLst>
                <p:tags r:id="rId2"/>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9" name="Text Box 57">
              <a:extLst>
                <a:ext uri="{FF2B5EF4-FFF2-40B4-BE49-F238E27FC236}">
                  <a16:creationId xmlns:a16="http://schemas.microsoft.com/office/drawing/2014/main" id="{3824EBA0-1E80-C01E-5E85-E5C292DDC168}"/>
                </a:ext>
              </a:extLst>
            </p:cNvPr>
            <p:cNvSpPr txBox="1">
              <a:spLocks noChangeArrowheads="1"/>
            </p:cNvSpPr>
            <p:nvPr>
              <p:custDataLst>
                <p:tags r:id="rId3"/>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While competition and regulatory risks are rising, Walmart Spark Driver can differentiate by focusing on driver experience and leveraging technology to deliver superior customer outcomes.</a:t>
              </a:r>
            </a:p>
          </p:txBody>
        </p:sp>
      </p:grpSp>
    </p:spTree>
    <p:extLst>
      <p:ext uri="{BB962C8B-B14F-4D97-AF65-F5344CB8AC3E}">
        <p14:creationId xmlns:p14="http://schemas.microsoft.com/office/powerpoint/2010/main" val="1749984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855E138-9168-1240-84C2-CC3C381C833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1" imgW="473" imgH="473" progId="TCLayout.ActiveDocument.1">
                  <p:embed/>
                </p:oleObj>
              </mc:Choice>
              <mc:Fallback>
                <p:oleObj name="think-cell Slide" r:id="rId41" imgW="473" imgH="473" progId="TCLayout.ActiveDocument.1">
                  <p:embed/>
                  <p:pic>
                    <p:nvPicPr>
                      <p:cNvPr id="5" name="think-cell data - do not delete" hidden="1">
                        <a:extLst>
                          <a:ext uri="{FF2B5EF4-FFF2-40B4-BE49-F238E27FC236}">
                            <a16:creationId xmlns:a16="http://schemas.microsoft.com/office/drawing/2014/main" id="{7855E138-9168-1240-84C2-CC3C381C8335}"/>
                          </a:ext>
                        </a:extLst>
                      </p:cNvPr>
                      <p:cNvPicPr/>
                      <p:nvPr/>
                    </p:nvPicPr>
                    <p:blipFill>
                      <a:blip r:embed="rId42"/>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DFD638B-F8A2-1E52-54E7-C8C4912D353D}"/>
              </a:ext>
            </a:extLst>
          </p:cNvPr>
          <p:cNvSpPr>
            <a:spLocks noGrp="1"/>
          </p:cNvSpPr>
          <p:nvPr>
            <p:ph type="body" sz="quarter" idx="19"/>
          </p:nvPr>
        </p:nvSpPr>
        <p:spPr/>
        <p:txBody>
          <a:bodyPr/>
          <a:lstStyle/>
          <a:p>
            <a:pPr marL="0" indent="0">
              <a:buNone/>
            </a:pPr>
            <a:r>
              <a:rPr lang="en-US" dirty="0"/>
              <a:t>Gig workforce management: Market Overview</a:t>
            </a:r>
          </a:p>
        </p:txBody>
      </p:sp>
      <p:sp>
        <p:nvSpPr>
          <p:cNvPr id="3" name="Title 2">
            <a:extLst>
              <a:ext uri="{FF2B5EF4-FFF2-40B4-BE49-F238E27FC236}">
                <a16:creationId xmlns:a16="http://schemas.microsoft.com/office/drawing/2014/main" id="{E4B8C86F-9BD3-7454-8683-A4B06B903443}"/>
              </a:ext>
            </a:extLst>
          </p:cNvPr>
          <p:cNvSpPr>
            <a:spLocks noGrp="1"/>
          </p:cNvSpPr>
          <p:nvPr>
            <p:ph type="title"/>
          </p:nvPr>
        </p:nvSpPr>
        <p:spPr>
          <a:xfrm>
            <a:off x="489687" y="488355"/>
            <a:ext cx="11194427" cy="639611"/>
          </a:xfrm>
        </p:spPr>
        <p:txBody>
          <a:bodyPr vert="horz">
            <a:noAutofit/>
          </a:bodyPr>
          <a:lstStyle/>
          <a:p>
            <a:r>
              <a:rPr lang="en-US" sz="2800" dirty="0">
                <a:latin typeface="Calibri" panose="020F0502020204030204" pitchFamily="34" charset="0"/>
                <a:cs typeface="Calibri" panose="020F0502020204030204" pitchFamily="34" charset="0"/>
              </a:rPr>
              <a:t> Last-Mile Delivery Market to Reach $317 Billion by 2030, Growing at a CAGR of ~10.9%</a:t>
            </a:r>
          </a:p>
        </p:txBody>
      </p:sp>
      <p:graphicFrame>
        <p:nvGraphicFramePr>
          <p:cNvPr id="46" name="Chart 45">
            <a:extLst>
              <a:ext uri="{FF2B5EF4-FFF2-40B4-BE49-F238E27FC236}">
                <a16:creationId xmlns:a16="http://schemas.microsoft.com/office/drawing/2014/main" id="{6793747C-3864-FEED-A98B-8D787A828130}"/>
              </a:ext>
            </a:extLst>
          </p:cNvPr>
          <p:cNvGraphicFramePr/>
          <p:nvPr>
            <p:custDataLst>
              <p:tags r:id="rId2"/>
            </p:custDataLst>
            <p:extLst>
              <p:ext uri="{D42A27DB-BD31-4B8C-83A1-F6EECF244321}">
                <p14:modId xmlns:p14="http://schemas.microsoft.com/office/powerpoint/2010/main" val="282541657"/>
              </p:ext>
            </p:extLst>
          </p:nvPr>
        </p:nvGraphicFramePr>
        <p:xfrm>
          <a:off x="6674276" y="2166584"/>
          <a:ext cx="1255713" cy="1255713"/>
        </p:xfrm>
        <a:graphic>
          <a:graphicData uri="http://schemas.openxmlformats.org/drawingml/2006/chart">
            <c:chart xmlns:c="http://schemas.openxmlformats.org/drawingml/2006/chart" xmlns:r="http://schemas.openxmlformats.org/officeDocument/2006/relationships" r:id="rId43"/>
          </a:graphicData>
        </a:graphic>
      </p:graphicFrame>
      <p:sp>
        <p:nvSpPr>
          <p:cNvPr id="37" name="Text Placeholder 2">
            <a:extLst>
              <a:ext uri="{FF2B5EF4-FFF2-40B4-BE49-F238E27FC236}">
                <a16:creationId xmlns:a16="http://schemas.microsoft.com/office/drawing/2014/main" id="{290304C3-D41A-4397-A721-A5BEA211FEA3}"/>
              </a:ext>
            </a:extLst>
          </p:cNvPr>
          <p:cNvSpPr>
            <a:spLocks noGrp="1"/>
          </p:cNvSpPr>
          <p:nvPr>
            <p:custDataLst>
              <p:tags r:id="rId3"/>
            </p:custDataLst>
          </p:nvPr>
        </p:nvSpPr>
        <p:spPr bwMode="gray">
          <a:xfrm>
            <a:off x="7442626" y="2501547"/>
            <a:ext cx="319088" cy="122238"/>
          </a:xfrm>
          <a:prstGeom prst="rect">
            <a:avLst/>
          </a:prstGeom>
          <a:solidFill>
            <a:srgbClr val="4066AA"/>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5CD8BA06-578A-465C-8182-9F496AF44257}" type="datetime'''''''''''2''''''9.''''0''''''''%'''''''''''''''''''''''''''''">
              <a:rPr lang="en-US" altLang="en-US" sz="800" smtClean="0">
                <a:solidFill>
                  <a:schemeClr val="bg1"/>
                </a:solidFill>
                <a:effectLst/>
              </a:rPr>
              <a:pPr lvl="1" algn="ctr">
                <a:spcBef>
                  <a:spcPct val="0"/>
                </a:spcBef>
                <a:spcAft>
                  <a:spcPct val="0"/>
                </a:spcAft>
              </a:pPr>
              <a:t>29.0%</a:t>
            </a:fld>
            <a:endParaRPr lang="en-US" sz="800">
              <a:solidFill>
                <a:schemeClr val="bg1"/>
              </a:solidFill>
            </a:endParaRPr>
          </a:p>
        </p:txBody>
      </p:sp>
      <p:sp>
        <p:nvSpPr>
          <p:cNvPr id="7" name="Text Placeholder 2">
            <a:extLst>
              <a:ext uri="{FF2B5EF4-FFF2-40B4-BE49-F238E27FC236}">
                <a16:creationId xmlns:a16="http://schemas.microsoft.com/office/drawing/2014/main" id="{9C37DBE8-8577-55E7-8842-4D3794911C93}"/>
              </a:ext>
            </a:extLst>
          </p:cNvPr>
          <p:cNvSpPr>
            <a:spLocks noGrp="1"/>
          </p:cNvSpPr>
          <p:nvPr>
            <p:custDataLst>
              <p:tags r:id="rId4"/>
            </p:custDataLst>
          </p:nvPr>
        </p:nvSpPr>
        <p:spPr bwMode="gray">
          <a:xfrm>
            <a:off x="6842551" y="2966684"/>
            <a:ext cx="319088" cy="122238"/>
          </a:xfrm>
          <a:prstGeom prst="rect">
            <a:avLst/>
          </a:prstGeom>
          <a:solidFill>
            <a:srgbClr val="BFCCE2"/>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ctr" defTabSz="914400" rtl="0" eaLnBrk="1" fontAlgn="auto" latinLnBrk="0" hangingPunct="1">
              <a:lnSpc>
                <a:spcPct val="100000"/>
              </a:lnSpc>
              <a:spcBef>
                <a:spcPct val="0"/>
              </a:spcBef>
              <a:spcAft>
                <a:spcPct val="0"/>
              </a:spcAft>
              <a:buClrTx/>
              <a:buSzTx/>
              <a:buFontTx/>
              <a:buNone/>
              <a:tabLst/>
              <a:defRPr/>
            </a:pPr>
            <a:fld id="{24B3E93E-08B2-4980-A27E-D79218E1D607}" type="datetime'''''''''''''''''7''1''''.''0''''%'''''''''''''''''''''''''">
              <a:rPr lang="en-US" altLang="en-US" sz="800" smtClean="0">
                <a:solidFill>
                  <a:srgbClr val="FFFFFF"/>
                </a:solidFill>
                <a:effectLst/>
              </a:rPr>
              <a:pPr marL="0" marR="0" lvl="1" indent="0" algn="ctr" defTabSz="914400" rtl="0" eaLnBrk="1" fontAlgn="auto" latinLnBrk="0" hangingPunct="1">
                <a:lnSpc>
                  <a:spcPct val="100000"/>
                </a:lnSpc>
                <a:spcBef>
                  <a:spcPct val="0"/>
                </a:spcBef>
                <a:spcAft>
                  <a:spcPct val="0"/>
                </a:spcAft>
                <a:buClrTx/>
                <a:buSzTx/>
                <a:buFontTx/>
                <a:buNone/>
                <a:tabLst/>
                <a:defRPr/>
              </a:pPr>
              <a:t>71.0%</a:t>
            </a:fld>
            <a:endParaRPr kumimoji="0" lang="en-US" sz="800" b="0" i="0" strike="noStrike" kern="1200" cap="none" spc="0" normalizeH="0" baseline="0" noProof="0">
              <a:ln>
                <a:noFill/>
              </a:ln>
              <a:solidFill>
                <a:srgbClr val="FFFFFF"/>
              </a:solidFill>
              <a:effectLst/>
              <a:uLnTx/>
              <a:uFillTx/>
              <a:ea typeface="+mn-ea"/>
              <a:cs typeface="+mn-cs"/>
            </a:endParaRPr>
          </a:p>
        </p:txBody>
      </p:sp>
      <p:graphicFrame>
        <p:nvGraphicFramePr>
          <p:cNvPr id="53" name="Chart 52">
            <a:extLst>
              <a:ext uri="{FF2B5EF4-FFF2-40B4-BE49-F238E27FC236}">
                <a16:creationId xmlns:a16="http://schemas.microsoft.com/office/drawing/2014/main" id="{F4C5FA57-C50A-BA4D-AADD-A13DA2BF9A35}"/>
              </a:ext>
            </a:extLst>
          </p:cNvPr>
          <p:cNvGraphicFramePr/>
          <p:nvPr>
            <p:custDataLst>
              <p:tags r:id="rId5"/>
            </p:custDataLst>
            <p:extLst>
              <p:ext uri="{D42A27DB-BD31-4B8C-83A1-F6EECF244321}">
                <p14:modId xmlns:p14="http://schemas.microsoft.com/office/powerpoint/2010/main" val="275429585"/>
              </p:ext>
            </p:extLst>
          </p:nvPr>
        </p:nvGraphicFramePr>
        <p:xfrm>
          <a:off x="8860264" y="1980847"/>
          <a:ext cx="2355850" cy="1627187"/>
        </p:xfrm>
        <a:graphic>
          <a:graphicData uri="http://schemas.openxmlformats.org/drawingml/2006/chart">
            <c:chart xmlns:c="http://schemas.openxmlformats.org/drawingml/2006/chart" xmlns:r="http://schemas.openxmlformats.org/officeDocument/2006/relationships" r:id="rId44"/>
          </a:graphicData>
        </a:graphic>
      </p:graphicFrame>
      <p:sp>
        <p:nvSpPr>
          <p:cNvPr id="74" name="Text Placeholder 2">
            <a:extLst>
              <a:ext uri="{FF2B5EF4-FFF2-40B4-BE49-F238E27FC236}">
                <a16:creationId xmlns:a16="http://schemas.microsoft.com/office/drawing/2014/main" id="{68C361FD-69FE-23C9-A612-D488BB83E544}"/>
              </a:ext>
            </a:extLst>
          </p:cNvPr>
          <p:cNvSpPr>
            <a:spLocks noGrp="1"/>
          </p:cNvSpPr>
          <p:nvPr>
            <p:custDataLst>
              <p:tags r:id="rId6"/>
            </p:custDataLst>
          </p:nvPr>
        </p:nvSpPr>
        <p:spPr bwMode="gray">
          <a:xfrm>
            <a:off x="10247739" y="2655534"/>
            <a:ext cx="319088" cy="122238"/>
          </a:xfrm>
          <a:prstGeom prst="rect">
            <a:avLst/>
          </a:prstGeom>
          <a:solidFill>
            <a:srgbClr val="7768B2"/>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C3AA449C-A94E-4C9F-8927-BAA114A9B1C9}" type="datetime'4''2''.''''''''''''''''''''''''''''''''''''''4''''''''%'''''''">
              <a:rPr lang="en-US" altLang="en-US" sz="800" smtClean="0">
                <a:solidFill>
                  <a:schemeClr val="bg1"/>
                </a:solidFill>
                <a:effectLst/>
              </a:rPr>
              <a:pPr lvl="1" algn="ctr">
                <a:spcBef>
                  <a:spcPct val="0"/>
                </a:spcBef>
                <a:spcAft>
                  <a:spcPct val="0"/>
                </a:spcAft>
              </a:pPr>
              <a:t>42.4%</a:t>
            </a:fld>
            <a:endParaRPr lang="en-US" sz="800">
              <a:solidFill>
                <a:schemeClr val="bg1"/>
              </a:solidFill>
            </a:endParaRPr>
          </a:p>
        </p:txBody>
      </p:sp>
      <p:sp>
        <p:nvSpPr>
          <p:cNvPr id="76" name="Text Placeholder 2">
            <a:extLst>
              <a:ext uri="{FF2B5EF4-FFF2-40B4-BE49-F238E27FC236}">
                <a16:creationId xmlns:a16="http://schemas.microsoft.com/office/drawing/2014/main" id="{18DA7993-474C-4614-8C91-59672D04743C}"/>
              </a:ext>
            </a:extLst>
          </p:cNvPr>
          <p:cNvSpPr>
            <a:spLocks noGrp="1"/>
          </p:cNvSpPr>
          <p:nvPr>
            <p:custDataLst>
              <p:tags r:id="rId7"/>
            </p:custDataLst>
          </p:nvPr>
        </p:nvSpPr>
        <p:spPr bwMode="gray">
          <a:xfrm>
            <a:off x="9606389" y="3003197"/>
            <a:ext cx="319088" cy="122238"/>
          </a:xfrm>
          <a:prstGeom prst="rect">
            <a:avLst/>
          </a:prstGeom>
          <a:solidFill>
            <a:srgbClr val="A384B3"/>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23EA824C-7226-476A-AE18-27B7E96748A8}" type="datetime'''''''''''3''''9.''''''''''''''''''''''''5''%'''''''''''''">
              <a:rPr lang="en-US" altLang="en-US" sz="800" smtClean="0">
                <a:solidFill>
                  <a:schemeClr val="bg1"/>
                </a:solidFill>
                <a:effectLst/>
              </a:rPr>
              <a:pPr lvl="1" algn="ctr">
                <a:spcBef>
                  <a:spcPct val="0"/>
                </a:spcBef>
                <a:spcAft>
                  <a:spcPct val="0"/>
                </a:spcAft>
              </a:pPr>
              <a:t>39.5%</a:t>
            </a:fld>
            <a:endParaRPr lang="en-US" sz="800">
              <a:solidFill>
                <a:schemeClr val="bg1"/>
              </a:solidFill>
            </a:endParaRPr>
          </a:p>
        </p:txBody>
      </p:sp>
      <p:sp>
        <p:nvSpPr>
          <p:cNvPr id="83" name="Text Placeholder 2">
            <a:extLst>
              <a:ext uri="{FF2B5EF4-FFF2-40B4-BE49-F238E27FC236}">
                <a16:creationId xmlns:a16="http://schemas.microsoft.com/office/drawing/2014/main" id="{14AADF8A-5D5A-1D00-4D3D-3A047176BFE6}"/>
              </a:ext>
            </a:extLst>
          </p:cNvPr>
          <p:cNvSpPr>
            <a:spLocks noGrp="1"/>
          </p:cNvSpPr>
          <p:nvPr>
            <p:custDataLst>
              <p:tags r:id="rId8"/>
            </p:custDataLst>
          </p:nvPr>
        </p:nvSpPr>
        <p:spPr bwMode="gray">
          <a:xfrm>
            <a:off x="9911189" y="2517422"/>
            <a:ext cx="261938" cy="122238"/>
          </a:xfrm>
          <a:prstGeom prst="rect">
            <a:avLst/>
          </a:prstGeom>
          <a:solidFill>
            <a:srgbClr val="DAC7DD"/>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53522172-98A9-4265-8D48-E40532B29C95}" type="datetime'''''0.''''''''''''''''''''''''''5''''''''''''%'''''''">
              <a:rPr lang="en-US" altLang="en-US" sz="800" smtClean="0">
                <a:solidFill>
                  <a:srgbClr val="7668B2"/>
                </a:solidFill>
                <a:effectLst/>
              </a:rPr>
              <a:pPr lvl="1" algn="ctr">
                <a:spcBef>
                  <a:spcPct val="0"/>
                </a:spcBef>
                <a:spcAft>
                  <a:spcPct val="0"/>
                </a:spcAft>
              </a:pPr>
              <a:t>0.5%</a:t>
            </a:fld>
            <a:endParaRPr lang="en-US" sz="800" dirty="0">
              <a:solidFill>
                <a:srgbClr val="7668B2"/>
              </a:solidFill>
            </a:endParaRPr>
          </a:p>
        </p:txBody>
      </p:sp>
      <p:sp>
        <p:nvSpPr>
          <p:cNvPr id="18" name="TextBox 17">
            <a:extLst>
              <a:ext uri="{FF2B5EF4-FFF2-40B4-BE49-F238E27FC236}">
                <a16:creationId xmlns:a16="http://schemas.microsoft.com/office/drawing/2014/main" id="{1CD1BF99-1B34-317F-B5FC-B97A284F5F08}"/>
              </a:ext>
            </a:extLst>
          </p:cNvPr>
          <p:cNvSpPr txBox="1"/>
          <p:nvPr/>
        </p:nvSpPr>
        <p:spPr>
          <a:xfrm>
            <a:off x="6086901" y="1974497"/>
            <a:ext cx="2428875" cy="80046"/>
          </a:xfrm>
          <a:prstGeom prst="rect">
            <a:avLst/>
          </a:prstGeom>
        </p:spPr>
        <p:txBody>
          <a:bodyPr vert="horz" wrap="square" lIns="0" tIns="0" rIns="0" bIns="0" rtlCol="0" anchor="t" anchorCtr="0">
            <a:noAutofit/>
          </a:bodyPr>
          <a:lstStyle/>
          <a:p>
            <a:pPr marL="0" marR="0" lvl="0" indent="0" algn="ctr" defTabSz="914400" rtl="0" eaLnBrk="1" fontAlgn="auto" latinLnBrk="0" hangingPunct="1">
              <a:lnSpc>
                <a:spcPct val="75000"/>
              </a:lnSpc>
              <a:spcBef>
                <a:spcPts val="0"/>
              </a:spcBef>
              <a:spcAft>
                <a:spcPts val="300"/>
              </a:spcAft>
              <a:buClrTx/>
              <a:buSzTx/>
              <a:buFontTx/>
              <a:buNone/>
              <a:tabLst/>
              <a:defRPr/>
            </a:pPr>
            <a:r>
              <a:rPr kumimoji="0" lang="en-US" sz="800" b="1" i="0" u="none" strike="noStrike" kern="1200" cap="none" spc="0" normalizeH="0" baseline="0" noProof="0">
                <a:ln>
                  <a:noFill/>
                </a:ln>
                <a:solidFill>
                  <a:srgbClr val="00338D"/>
                </a:solidFill>
                <a:effectLst/>
                <a:uLnTx/>
                <a:uFillTx/>
                <a:latin typeface="Arial"/>
                <a:ea typeface="+mn-ea"/>
                <a:cs typeface="+mn-cs"/>
              </a:rPr>
              <a:t>Overall Market </a:t>
            </a:r>
            <a:r>
              <a:rPr lang="en-US" sz="800" b="1">
                <a:solidFill>
                  <a:srgbClr val="00338D"/>
                </a:solidFill>
                <a:latin typeface="Arial"/>
              </a:rPr>
              <a:t>Size: 2025</a:t>
            </a:r>
            <a:endParaRPr kumimoji="0" lang="en-US" sz="800" b="1" i="0" u="none" strike="noStrike" kern="1200" cap="none" spc="0" normalizeH="0" baseline="0" noProof="0">
              <a:ln>
                <a:noFill/>
              </a:ln>
              <a:solidFill>
                <a:srgbClr val="00338D"/>
              </a:solidFill>
              <a:effectLst/>
              <a:uLnTx/>
              <a:uFillTx/>
              <a:latin typeface="Arial"/>
              <a:ea typeface="+mn-ea"/>
              <a:cs typeface="+mn-cs"/>
            </a:endParaRPr>
          </a:p>
        </p:txBody>
      </p:sp>
      <p:sp>
        <p:nvSpPr>
          <p:cNvPr id="19" name="TextBox 18">
            <a:extLst>
              <a:ext uri="{FF2B5EF4-FFF2-40B4-BE49-F238E27FC236}">
                <a16:creationId xmlns:a16="http://schemas.microsoft.com/office/drawing/2014/main" id="{6F54E276-DFF4-6353-1A2C-B6562EDC74B4}"/>
              </a:ext>
            </a:extLst>
          </p:cNvPr>
          <p:cNvSpPr txBox="1"/>
          <p:nvPr/>
        </p:nvSpPr>
        <p:spPr>
          <a:xfrm>
            <a:off x="8926145" y="1946035"/>
            <a:ext cx="2224088" cy="211139"/>
          </a:xfrm>
          <a:prstGeom prst="rect">
            <a:avLst/>
          </a:prstGeom>
        </p:spPr>
        <p:txBody>
          <a:bodyPr vert="horz" wrap="square" lIns="0" tIns="0" rIns="0" bIns="0" rtlCol="0" anchor="t" anchorCtr="0">
            <a:noAutofit/>
          </a:bodyPr>
          <a:lstStyle/>
          <a:p>
            <a:pPr marL="0" marR="0" lvl="0" indent="0" algn="ctr" defTabSz="914400" rtl="0" eaLnBrk="1" fontAlgn="auto" latinLnBrk="0" hangingPunct="1">
              <a:lnSpc>
                <a:spcPct val="75000"/>
              </a:lnSpc>
              <a:spcBef>
                <a:spcPts val="0"/>
              </a:spcBef>
              <a:spcAft>
                <a:spcPts val="300"/>
              </a:spcAft>
              <a:buClrTx/>
              <a:buSzTx/>
              <a:buFontTx/>
              <a:buNone/>
              <a:tabLst/>
              <a:defRPr/>
            </a:pPr>
            <a:r>
              <a:rPr kumimoji="0" lang="en-US" sz="800" b="1" i="0" u="none" strike="noStrike" kern="1200" cap="none" spc="0" normalizeH="0" baseline="0" noProof="0">
                <a:ln>
                  <a:noFill/>
                </a:ln>
                <a:solidFill>
                  <a:srgbClr val="00338D"/>
                </a:solidFill>
                <a:effectLst/>
                <a:uLnTx/>
                <a:uFillTx/>
                <a:latin typeface="Arial"/>
                <a:ea typeface="+mn-ea"/>
                <a:cs typeface="+mn-cs"/>
              </a:rPr>
              <a:t>Last-Mile Delivery Market Share by Major Platforms (2024–2025)</a:t>
            </a:r>
          </a:p>
        </p:txBody>
      </p:sp>
      <p:sp>
        <p:nvSpPr>
          <p:cNvPr id="20" name="Rectangle 19">
            <a:extLst>
              <a:ext uri="{FF2B5EF4-FFF2-40B4-BE49-F238E27FC236}">
                <a16:creationId xmlns:a16="http://schemas.microsoft.com/office/drawing/2014/main" id="{8A231341-9954-1872-B39C-0FE39CCCF21B}"/>
              </a:ext>
            </a:extLst>
          </p:cNvPr>
          <p:cNvSpPr/>
          <p:nvPr>
            <p:custDataLst>
              <p:tags r:id="rId9"/>
            </p:custDataLst>
          </p:nvPr>
        </p:nvSpPr>
        <p:spPr bwMode="auto">
          <a:xfrm>
            <a:off x="6415514" y="3485797"/>
            <a:ext cx="142875" cy="106363"/>
          </a:xfrm>
          <a:prstGeom prst="rect">
            <a:avLst/>
          </a:prstGeom>
          <a:solidFill>
            <a:srgbClr val="4066A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21" name="Rectangle 20">
            <a:extLst>
              <a:ext uri="{FF2B5EF4-FFF2-40B4-BE49-F238E27FC236}">
                <a16:creationId xmlns:a16="http://schemas.microsoft.com/office/drawing/2014/main" id="{13DE2F17-65F7-5AB6-E237-894E7268C2E1}"/>
              </a:ext>
            </a:extLst>
          </p:cNvPr>
          <p:cNvSpPr/>
          <p:nvPr>
            <p:custDataLst>
              <p:tags r:id="rId10"/>
            </p:custDataLst>
          </p:nvPr>
        </p:nvSpPr>
        <p:spPr bwMode="auto">
          <a:xfrm>
            <a:off x="7518826" y="3485797"/>
            <a:ext cx="142875" cy="106363"/>
          </a:xfrm>
          <a:prstGeom prst="rect">
            <a:avLst/>
          </a:prstGeom>
          <a:solidFill>
            <a:srgbClr val="BFCCE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24" name="Text Placeholder 2">
            <a:extLst>
              <a:ext uri="{FF2B5EF4-FFF2-40B4-BE49-F238E27FC236}">
                <a16:creationId xmlns:a16="http://schemas.microsoft.com/office/drawing/2014/main" id="{B523A9BA-0639-AFE6-5911-70D601788E4A}"/>
              </a:ext>
            </a:extLst>
          </p:cNvPr>
          <p:cNvSpPr>
            <a:spLocks noGrp="1"/>
          </p:cNvSpPr>
          <p:nvPr>
            <p:custDataLst>
              <p:tags r:id="rId11"/>
            </p:custDataLst>
          </p:nvPr>
        </p:nvSpPr>
        <p:spPr bwMode="auto">
          <a:xfrm>
            <a:off x="6609189" y="3481034"/>
            <a:ext cx="8080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7A46E8C2-674D-4E6F-841A-374F510E0E6C}" type="datetime'''L''''ast''-''M''''''''i''''le De''''''''''l''i''ver''y'''''">
              <a:rPr lang="en-US" altLang="en-US" sz="800" smtClean="0">
                <a:solidFill>
                  <a:srgbClr val="00338D"/>
                </a:solidFill>
              </a:rPr>
              <a:pPr lvl="1">
                <a:spcBef>
                  <a:spcPct val="0"/>
                </a:spcBef>
                <a:spcAft>
                  <a:spcPct val="0"/>
                </a:spcAft>
                <a:defRPr/>
              </a:pPr>
              <a:t>Last-Mile Delivery</a:t>
            </a:fld>
            <a:endParaRPr kumimoji="0" lang="en-US" sz="800" b="0" i="0" strike="noStrike" kern="1200" cap="none" spc="0" normalizeH="0" baseline="0" noProof="0">
              <a:ln>
                <a:noFill/>
              </a:ln>
              <a:solidFill>
                <a:srgbClr val="00338D"/>
              </a:solidFill>
              <a:effectLst/>
              <a:uLnTx/>
              <a:uFillTx/>
            </a:endParaRPr>
          </a:p>
        </p:txBody>
      </p:sp>
      <p:sp>
        <p:nvSpPr>
          <p:cNvPr id="25" name="Text Placeholder 2">
            <a:extLst>
              <a:ext uri="{FF2B5EF4-FFF2-40B4-BE49-F238E27FC236}">
                <a16:creationId xmlns:a16="http://schemas.microsoft.com/office/drawing/2014/main" id="{B133E201-28C1-A9C9-11C8-34AC1937FF80}"/>
              </a:ext>
            </a:extLst>
          </p:cNvPr>
          <p:cNvSpPr>
            <a:spLocks noGrp="1"/>
          </p:cNvSpPr>
          <p:nvPr>
            <p:custDataLst>
              <p:tags r:id="rId12"/>
            </p:custDataLst>
          </p:nvPr>
        </p:nvSpPr>
        <p:spPr bwMode="auto">
          <a:xfrm>
            <a:off x="7712501" y="3481034"/>
            <a:ext cx="8969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2D803B03-1259-4110-BB5C-CD5CBF4F73A2}" type="datetime'Othe''''r ''G''''''i''g ''''E''''''''''co''''''''n''o''my'">
              <a:rPr lang="en-US" altLang="en-US" sz="800" smtClean="0">
                <a:solidFill>
                  <a:srgbClr val="00338D"/>
                </a:solidFill>
              </a:rPr>
              <a:pPr lvl="1">
                <a:spcBef>
                  <a:spcPct val="0"/>
                </a:spcBef>
                <a:spcAft>
                  <a:spcPct val="0"/>
                </a:spcAft>
                <a:defRPr/>
              </a:pPr>
              <a:t>Other Gig Economy</a:t>
            </a:fld>
            <a:endParaRPr kumimoji="0" lang="en-US" sz="800" b="0" i="0" strike="noStrike" kern="1200" cap="none" spc="0" normalizeH="0" baseline="0" noProof="0">
              <a:ln>
                <a:noFill/>
              </a:ln>
              <a:solidFill>
                <a:srgbClr val="00338D"/>
              </a:solidFill>
              <a:effectLst/>
              <a:uLnTx/>
              <a:uFillTx/>
            </a:endParaRPr>
          </a:p>
        </p:txBody>
      </p:sp>
      <p:sp>
        <p:nvSpPr>
          <p:cNvPr id="28" name="Rectangle 27">
            <a:extLst>
              <a:ext uri="{FF2B5EF4-FFF2-40B4-BE49-F238E27FC236}">
                <a16:creationId xmlns:a16="http://schemas.microsoft.com/office/drawing/2014/main" id="{629A7DD7-1CC4-78D2-78BE-EC28597709B5}"/>
              </a:ext>
            </a:extLst>
          </p:cNvPr>
          <p:cNvSpPr/>
          <p:nvPr>
            <p:custDataLst>
              <p:tags r:id="rId13"/>
            </p:custDataLst>
          </p:nvPr>
        </p:nvSpPr>
        <p:spPr bwMode="auto">
          <a:xfrm>
            <a:off x="9392076" y="3408009"/>
            <a:ext cx="142875" cy="106363"/>
          </a:xfrm>
          <a:prstGeom prst="rect">
            <a:avLst/>
          </a:prstGeom>
          <a:solidFill>
            <a:srgbClr val="7768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29" name="Rectangle 28">
            <a:extLst>
              <a:ext uri="{FF2B5EF4-FFF2-40B4-BE49-F238E27FC236}">
                <a16:creationId xmlns:a16="http://schemas.microsoft.com/office/drawing/2014/main" id="{D25A6C2D-8E10-0D27-ACF1-E95DEEDD9762}"/>
              </a:ext>
            </a:extLst>
          </p:cNvPr>
          <p:cNvSpPr/>
          <p:nvPr>
            <p:custDataLst>
              <p:tags r:id="rId14"/>
            </p:custDataLst>
          </p:nvPr>
        </p:nvSpPr>
        <p:spPr bwMode="auto">
          <a:xfrm>
            <a:off x="9392076" y="3581047"/>
            <a:ext cx="142875" cy="106363"/>
          </a:xfrm>
          <a:prstGeom prst="rect">
            <a:avLst/>
          </a:prstGeom>
          <a:solidFill>
            <a:srgbClr val="A384B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17C356A7-3BAB-6B98-62BD-645F6EADD029}"/>
              </a:ext>
            </a:extLst>
          </p:cNvPr>
          <p:cNvSpPr/>
          <p:nvPr>
            <p:custDataLst>
              <p:tags r:id="rId15"/>
            </p:custDataLst>
          </p:nvPr>
        </p:nvSpPr>
        <p:spPr bwMode="auto">
          <a:xfrm>
            <a:off x="10146139" y="3408009"/>
            <a:ext cx="142875" cy="106363"/>
          </a:xfrm>
          <a:prstGeom prst="rect">
            <a:avLst/>
          </a:prstGeom>
          <a:solidFill>
            <a:srgbClr val="D1CDE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31" name="Rectangle 30">
            <a:extLst>
              <a:ext uri="{FF2B5EF4-FFF2-40B4-BE49-F238E27FC236}">
                <a16:creationId xmlns:a16="http://schemas.microsoft.com/office/drawing/2014/main" id="{113C66A6-E9F4-C5A7-0C79-F02F7CA917DA}"/>
              </a:ext>
            </a:extLst>
          </p:cNvPr>
          <p:cNvSpPr/>
          <p:nvPr>
            <p:custDataLst>
              <p:tags r:id="rId16"/>
            </p:custDataLst>
          </p:nvPr>
        </p:nvSpPr>
        <p:spPr bwMode="auto">
          <a:xfrm>
            <a:off x="10146139" y="3581047"/>
            <a:ext cx="142875" cy="106363"/>
          </a:xfrm>
          <a:prstGeom prst="rect">
            <a:avLst/>
          </a:prstGeom>
          <a:solidFill>
            <a:srgbClr val="DAC7DD"/>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32" name="Text Placeholder 2">
            <a:extLst>
              <a:ext uri="{FF2B5EF4-FFF2-40B4-BE49-F238E27FC236}">
                <a16:creationId xmlns:a16="http://schemas.microsoft.com/office/drawing/2014/main" id="{429CA212-9D90-7DD6-6170-FA2C95872C48}"/>
              </a:ext>
            </a:extLst>
          </p:cNvPr>
          <p:cNvSpPr>
            <a:spLocks noGrp="1"/>
          </p:cNvSpPr>
          <p:nvPr>
            <p:custDataLst>
              <p:tags r:id="rId17"/>
            </p:custDataLst>
          </p:nvPr>
        </p:nvSpPr>
        <p:spPr bwMode="auto">
          <a:xfrm>
            <a:off x="9585751" y="3403247"/>
            <a:ext cx="4587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2374AB23-EA74-4D72-AB9F-59BBE3DBA07C}" type="datetime'''''''''Do''''''''''''''orDa''''''''s''''''''''''h'''''">
              <a:rPr lang="en-US" altLang="en-US" sz="800" smtClean="0">
                <a:solidFill>
                  <a:srgbClr val="00338D"/>
                </a:solidFill>
              </a:rPr>
              <a:pPr lvl="1">
                <a:spcBef>
                  <a:spcPct val="0"/>
                </a:spcBef>
                <a:spcAft>
                  <a:spcPct val="0"/>
                </a:spcAft>
                <a:defRPr/>
              </a:pPr>
              <a:t>DoorDash</a:t>
            </a:fld>
            <a:endParaRPr kumimoji="0" lang="en-US" sz="800" b="0" i="0" strike="noStrike" kern="1200" cap="none" spc="0" normalizeH="0" baseline="0" noProof="0">
              <a:ln>
                <a:noFill/>
              </a:ln>
              <a:solidFill>
                <a:srgbClr val="00338D"/>
              </a:solidFill>
              <a:effectLst/>
              <a:uLnTx/>
              <a:uFillTx/>
            </a:endParaRPr>
          </a:p>
        </p:txBody>
      </p:sp>
      <p:sp>
        <p:nvSpPr>
          <p:cNvPr id="33" name="Text Placeholder 2">
            <a:extLst>
              <a:ext uri="{FF2B5EF4-FFF2-40B4-BE49-F238E27FC236}">
                <a16:creationId xmlns:a16="http://schemas.microsoft.com/office/drawing/2014/main" id="{6FD7D523-B831-391F-95BE-99226749D4F2}"/>
              </a:ext>
            </a:extLst>
          </p:cNvPr>
          <p:cNvSpPr>
            <a:spLocks noGrp="1"/>
          </p:cNvSpPr>
          <p:nvPr>
            <p:custDataLst>
              <p:tags r:id="rId18"/>
            </p:custDataLst>
          </p:nvPr>
        </p:nvSpPr>
        <p:spPr bwMode="auto">
          <a:xfrm>
            <a:off x="9585751" y="3576284"/>
            <a:ext cx="4540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EFBD1526-D4A0-409C-83E7-E9C93B989FAB}" type="datetime'''''''''''Ube''r'''''''' ''''E''''''''''''''''''at''''s'''''''">
              <a:rPr lang="en-US" altLang="en-US" sz="800" smtClean="0">
                <a:solidFill>
                  <a:srgbClr val="00338D"/>
                </a:solidFill>
              </a:rPr>
              <a:pPr lvl="1">
                <a:spcBef>
                  <a:spcPct val="0"/>
                </a:spcBef>
                <a:spcAft>
                  <a:spcPct val="0"/>
                </a:spcAft>
                <a:defRPr/>
              </a:pPr>
              <a:t>Uber Eats</a:t>
            </a:fld>
            <a:endParaRPr kumimoji="0" lang="en-US" sz="800" b="0" i="0" strike="noStrike" kern="1200" cap="none" spc="0" normalizeH="0" baseline="0" noProof="0">
              <a:ln>
                <a:noFill/>
              </a:ln>
              <a:solidFill>
                <a:srgbClr val="00338D"/>
              </a:solidFill>
              <a:effectLst/>
              <a:uLnTx/>
              <a:uFillTx/>
            </a:endParaRPr>
          </a:p>
        </p:txBody>
      </p:sp>
      <p:sp>
        <p:nvSpPr>
          <p:cNvPr id="34" name="Text Placeholder 2">
            <a:extLst>
              <a:ext uri="{FF2B5EF4-FFF2-40B4-BE49-F238E27FC236}">
                <a16:creationId xmlns:a16="http://schemas.microsoft.com/office/drawing/2014/main" id="{4A1A48BB-AB31-0E76-848B-F14534DEF20C}"/>
              </a:ext>
            </a:extLst>
          </p:cNvPr>
          <p:cNvSpPr>
            <a:spLocks noGrp="1"/>
          </p:cNvSpPr>
          <p:nvPr>
            <p:custDataLst>
              <p:tags r:id="rId19"/>
            </p:custDataLst>
          </p:nvPr>
        </p:nvSpPr>
        <p:spPr bwMode="auto">
          <a:xfrm>
            <a:off x="10339814" y="3403247"/>
            <a:ext cx="3921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0618D084-D92E-4F1B-9643-F8FE90B58D71}" type="datetime'''In''''s''''''''ta''c''a''''''''''''''r''''''''''''''''t'''''">
              <a:rPr lang="en-US" altLang="en-US" sz="800" smtClean="0">
                <a:solidFill>
                  <a:srgbClr val="00338D"/>
                </a:solidFill>
              </a:rPr>
              <a:pPr lvl="1">
                <a:spcBef>
                  <a:spcPct val="0"/>
                </a:spcBef>
                <a:spcAft>
                  <a:spcPct val="0"/>
                </a:spcAft>
                <a:defRPr/>
              </a:pPr>
              <a:t>Instacart</a:t>
            </a:fld>
            <a:endParaRPr kumimoji="0" lang="en-US" sz="800" b="0" i="0" strike="noStrike" kern="1200" cap="none" spc="0" normalizeH="0" baseline="0" noProof="0">
              <a:ln>
                <a:noFill/>
              </a:ln>
              <a:solidFill>
                <a:srgbClr val="00338D"/>
              </a:solidFill>
              <a:effectLst/>
              <a:uLnTx/>
              <a:uFillTx/>
            </a:endParaRPr>
          </a:p>
        </p:txBody>
      </p:sp>
      <p:sp>
        <p:nvSpPr>
          <p:cNvPr id="35" name="Text Placeholder 2">
            <a:extLst>
              <a:ext uri="{FF2B5EF4-FFF2-40B4-BE49-F238E27FC236}">
                <a16:creationId xmlns:a16="http://schemas.microsoft.com/office/drawing/2014/main" id="{3E4A634E-7825-19EF-1B2C-4DF4CCC8C4DB}"/>
              </a:ext>
            </a:extLst>
          </p:cNvPr>
          <p:cNvSpPr>
            <a:spLocks noGrp="1"/>
          </p:cNvSpPr>
          <p:nvPr>
            <p:custDataLst>
              <p:tags r:id="rId20"/>
            </p:custDataLst>
          </p:nvPr>
        </p:nvSpPr>
        <p:spPr bwMode="auto">
          <a:xfrm>
            <a:off x="10339814" y="3576284"/>
            <a:ext cx="2555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3C23AEF2-7C39-41E3-8525-D05F699F3DBC}" type="datetime'''''''Ot''''''''''''h''''''e''r'''''''''''''''''">
              <a:rPr lang="en-US" altLang="en-US" sz="800" smtClean="0">
                <a:solidFill>
                  <a:srgbClr val="00338D"/>
                </a:solidFill>
              </a:rPr>
              <a:pPr lvl="1">
                <a:spcBef>
                  <a:spcPct val="0"/>
                </a:spcBef>
                <a:spcAft>
                  <a:spcPct val="0"/>
                </a:spcAft>
                <a:defRPr/>
              </a:pPr>
              <a:t>Other</a:t>
            </a:fld>
            <a:endParaRPr kumimoji="0" lang="en-US" sz="800" b="0" i="0" strike="noStrike" kern="1200" cap="none" spc="0" normalizeH="0" baseline="0" noProof="0">
              <a:ln>
                <a:noFill/>
              </a:ln>
              <a:solidFill>
                <a:srgbClr val="00338D"/>
              </a:solidFill>
              <a:effectLst/>
              <a:uLnTx/>
              <a:uFillTx/>
            </a:endParaRPr>
          </a:p>
        </p:txBody>
      </p:sp>
      <p:graphicFrame>
        <p:nvGraphicFramePr>
          <p:cNvPr id="39" name="Chart 38">
            <a:extLst>
              <a:ext uri="{FF2B5EF4-FFF2-40B4-BE49-F238E27FC236}">
                <a16:creationId xmlns:a16="http://schemas.microsoft.com/office/drawing/2014/main" id="{110C6A94-FB75-06B3-99DB-BB50CD965F07}"/>
              </a:ext>
            </a:extLst>
          </p:cNvPr>
          <p:cNvGraphicFramePr/>
          <p:nvPr>
            <p:custDataLst>
              <p:tags r:id="rId21"/>
            </p:custDataLst>
            <p:extLst>
              <p:ext uri="{D42A27DB-BD31-4B8C-83A1-F6EECF244321}">
                <p14:modId xmlns:p14="http://schemas.microsoft.com/office/powerpoint/2010/main" val="751717435"/>
              </p:ext>
            </p:extLst>
          </p:nvPr>
        </p:nvGraphicFramePr>
        <p:xfrm>
          <a:off x="749726" y="2867350"/>
          <a:ext cx="5407025" cy="3171147"/>
        </p:xfrm>
        <a:graphic>
          <a:graphicData uri="http://schemas.openxmlformats.org/drawingml/2006/chart">
            <c:chart xmlns:c="http://schemas.openxmlformats.org/drawingml/2006/chart" xmlns:r="http://schemas.openxmlformats.org/officeDocument/2006/relationships" r:id="rId45"/>
          </a:graphicData>
        </a:graphic>
      </p:graphicFrame>
      <p:cxnSp>
        <p:nvCxnSpPr>
          <p:cNvPr id="40" name="Straight Connector 39">
            <a:extLst>
              <a:ext uri="{FF2B5EF4-FFF2-40B4-BE49-F238E27FC236}">
                <a16:creationId xmlns:a16="http://schemas.microsoft.com/office/drawing/2014/main" id="{97348E44-3C21-99A3-EF5F-E808D090E5D0}"/>
              </a:ext>
            </a:extLst>
          </p:cNvPr>
          <p:cNvCxnSpPr>
            <a:cxnSpLocks/>
          </p:cNvCxnSpPr>
          <p:nvPr>
            <p:custDataLst>
              <p:tags r:id="rId22"/>
            </p:custDataLst>
          </p:nvPr>
        </p:nvCxnSpPr>
        <p:spPr bwMode="gray">
          <a:xfrm flipV="1">
            <a:off x="1376789" y="3916009"/>
            <a:ext cx="588963" cy="144463"/>
          </a:xfrm>
          <a:prstGeom prst="line">
            <a:avLst/>
          </a:prstGeom>
          <a:ln w="28575" cap="flat" cmpd="sng" algn="ctr">
            <a:solidFill>
              <a:schemeClr val="tx2"/>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64A25D97-42DE-42D6-CBD6-D07EE73B9810}"/>
              </a:ext>
            </a:extLst>
          </p:cNvPr>
          <p:cNvCxnSpPr>
            <a:cxnSpLocks/>
          </p:cNvCxnSpPr>
          <p:nvPr>
            <p:custDataLst>
              <p:tags r:id="rId23"/>
            </p:custDataLst>
          </p:nvPr>
        </p:nvCxnSpPr>
        <p:spPr bwMode="gray">
          <a:xfrm flipV="1">
            <a:off x="2554714" y="2612671"/>
            <a:ext cx="2944813" cy="1150938"/>
          </a:xfrm>
          <a:prstGeom prst="line">
            <a:avLst/>
          </a:prstGeom>
          <a:ln w="28575" cap="flat" cmpd="sng" algn="ctr">
            <a:solidFill>
              <a:schemeClr val="tx2"/>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26" name="Text Placeholder 2">
            <a:extLst>
              <a:ext uri="{FF2B5EF4-FFF2-40B4-BE49-F238E27FC236}">
                <a16:creationId xmlns:a16="http://schemas.microsoft.com/office/drawing/2014/main" id="{5A8BB032-0215-4D34-4C26-1FBB9F0A12CB}"/>
              </a:ext>
            </a:extLst>
          </p:cNvPr>
          <p:cNvSpPr>
            <a:spLocks noGrp="1"/>
          </p:cNvSpPr>
          <p:nvPr>
            <p:custDataLst>
              <p:tags r:id="rId24"/>
            </p:custDataLst>
          </p:nvPr>
        </p:nvSpPr>
        <p:spPr bwMode="auto">
          <a:xfrm>
            <a:off x="1256139"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9C996E29-7F2B-4316-89D0-0DCA13C1185A}" type="datetime'''''''''''''''''''''''''''''''''''20''''''''''''2''3'">
              <a:rPr lang="en-US" altLang="en-US" sz="800" smtClean="0">
                <a:solidFill>
                  <a:srgbClr val="3A5479"/>
                </a:solidFill>
              </a:rPr>
              <a:pPr lvl="1" algn="ctr">
                <a:spcBef>
                  <a:spcPct val="0"/>
                </a:spcBef>
                <a:spcAft>
                  <a:spcPct val="0"/>
                </a:spcAft>
              </a:pPr>
              <a:t>2023</a:t>
            </a:fld>
            <a:endParaRPr lang="en-US" sz="800">
              <a:solidFill>
                <a:srgbClr val="3A5479"/>
              </a:solidFill>
            </a:endParaRPr>
          </a:p>
        </p:txBody>
      </p:sp>
      <p:sp>
        <p:nvSpPr>
          <p:cNvPr id="129" name="Text Placeholder 2">
            <a:extLst>
              <a:ext uri="{FF2B5EF4-FFF2-40B4-BE49-F238E27FC236}">
                <a16:creationId xmlns:a16="http://schemas.microsoft.com/office/drawing/2014/main" id="{E4C6171D-3149-E237-72E6-A3B05C9C8734}"/>
              </a:ext>
            </a:extLst>
          </p:cNvPr>
          <p:cNvSpPr>
            <a:spLocks noGrp="1"/>
          </p:cNvSpPr>
          <p:nvPr>
            <p:custDataLst>
              <p:tags r:id="rId25"/>
            </p:custDataLst>
          </p:nvPr>
        </p:nvSpPr>
        <p:spPr bwMode="auto">
          <a:xfrm>
            <a:off x="1845101"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8DDBDE7E-281E-435F-9FDA-5D2C31601B76}" type="datetime'''''''''2''''''''''''0''''''''''''''''''2''''''''4'''">
              <a:rPr lang="en-US" altLang="en-US" sz="800" smtClean="0">
                <a:solidFill>
                  <a:srgbClr val="3A5479"/>
                </a:solidFill>
              </a:rPr>
              <a:pPr lvl="1" algn="ctr">
                <a:spcBef>
                  <a:spcPct val="0"/>
                </a:spcBef>
                <a:spcAft>
                  <a:spcPct val="0"/>
                </a:spcAft>
              </a:pPr>
              <a:t>2024</a:t>
            </a:fld>
            <a:endParaRPr lang="en-US" sz="800">
              <a:solidFill>
                <a:srgbClr val="3A5479"/>
              </a:solidFill>
            </a:endParaRPr>
          </a:p>
        </p:txBody>
      </p:sp>
      <p:sp>
        <p:nvSpPr>
          <p:cNvPr id="132" name="Text Placeholder 2">
            <a:extLst>
              <a:ext uri="{FF2B5EF4-FFF2-40B4-BE49-F238E27FC236}">
                <a16:creationId xmlns:a16="http://schemas.microsoft.com/office/drawing/2014/main" id="{532476F3-9042-595B-37DD-7CC97DFF4D2F}"/>
              </a:ext>
            </a:extLst>
          </p:cNvPr>
          <p:cNvSpPr>
            <a:spLocks noGrp="1"/>
          </p:cNvSpPr>
          <p:nvPr>
            <p:custDataLst>
              <p:tags r:id="rId26"/>
            </p:custDataLst>
          </p:nvPr>
        </p:nvSpPr>
        <p:spPr bwMode="auto">
          <a:xfrm>
            <a:off x="2434064"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32A2DC59-380D-4F38-8B1F-179A0EFACC66}" type="datetime'''''''''20''''''''''''''''''''''''''''''2''''''''''''5'">
              <a:rPr lang="en-US" altLang="en-US" sz="800" smtClean="0">
                <a:solidFill>
                  <a:srgbClr val="3A5479"/>
                </a:solidFill>
              </a:rPr>
              <a:pPr lvl="1" algn="ctr">
                <a:spcBef>
                  <a:spcPct val="0"/>
                </a:spcBef>
                <a:spcAft>
                  <a:spcPct val="0"/>
                </a:spcAft>
              </a:pPr>
              <a:t>2025</a:t>
            </a:fld>
            <a:endParaRPr lang="en-US" sz="800">
              <a:solidFill>
                <a:srgbClr val="3A5479"/>
              </a:solidFill>
            </a:endParaRPr>
          </a:p>
        </p:txBody>
      </p:sp>
      <p:sp>
        <p:nvSpPr>
          <p:cNvPr id="135" name="Text Placeholder 2">
            <a:extLst>
              <a:ext uri="{FF2B5EF4-FFF2-40B4-BE49-F238E27FC236}">
                <a16:creationId xmlns:a16="http://schemas.microsoft.com/office/drawing/2014/main" id="{F8CC8780-4DA2-386B-5CD6-408137273E73}"/>
              </a:ext>
            </a:extLst>
          </p:cNvPr>
          <p:cNvSpPr>
            <a:spLocks noGrp="1"/>
          </p:cNvSpPr>
          <p:nvPr>
            <p:custDataLst>
              <p:tags r:id="rId27"/>
            </p:custDataLst>
          </p:nvPr>
        </p:nvSpPr>
        <p:spPr bwMode="auto">
          <a:xfrm>
            <a:off x="3023026"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50842CAF-EAB9-4AFF-9929-6B879907CF3E}" type="datetime'''''''''''''''''''''2''0''''''2''''''''''6'''''''''''''''">
              <a:rPr lang="en-US" altLang="en-US" sz="800" smtClean="0">
                <a:solidFill>
                  <a:srgbClr val="3A5479"/>
                </a:solidFill>
              </a:rPr>
              <a:pPr lvl="1" algn="ctr">
                <a:spcBef>
                  <a:spcPct val="0"/>
                </a:spcBef>
                <a:spcAft>
                  <a:spcPct val="0"/>
                </a:spcAft>
              </a:pPr>
              <a:t>2026</a:t>
            </a:fld>
            <a:endParaRPr lang="en-US" sz="800">
              <a:solidFill>
                <a:srgbClr val="3A5479"/>
              </a:solidFill>
            </a:endParaRPr>
          </a:p>
        </p:txBody>
      </p:sp>
      <p:sp>
        <p:nvSpPr>
          <p:cNvPr id="138" name="Text Placeholder 2">
            <a:extLst>
              <a:ext uri="{FF2B5EF4-FFF2-40B4-BE49-F238E27FC236}">
                <a16:creationId xmlns:a16="http://schemas.microsoft.com/office/drawing/2014/main" id="{AE5B33EE-E240-A3D3-B63A-6D9F0B8E6835}"/>
              </a:ext>
            </a:extLst>
          </p:cNvPr>
          <p:cNvSpPr>
            <a:spLocks noGrp="1"/>
          </p:cNvSpPr>
          <p:nvPr>
            <p:custDataLst>
              <p:tags r:id="rId28"/>
            </p:custDataLst>
          </p:nvPr>
        </p:nvSpPr>
        <p:spPr bwMode="auto">
          <a:xfrm>
            <a:off x="3611989"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69184A5E-FF83-401E-BE7B-EF46ECE7BADA}" type="datetime'''''2''''''0''''''''''''2''''''''''''''''7'''''''''''''''''''">
              <a:rPr lang="en-US" altLang="en-US" sz="800" smtClean="0">
                <a:solidFill>
                  <a:srgbClr val="3A5479"/>
                </a:solidFill>
              </a:rPr>
              <a:pPr lvl="1" algn="ctr">
                <a:spcBef>
                  <a:spcPct val="0"/>
                </a:spcBef>
                <a:spcAft>
                  <a:spcPct val="0"/>
                </a:spcAft>
              </a:pPr>
              <a:t>2027</a:t>
            </a:fld>
            <a:endParaRPr lang="en-US" sz="800">
              <a:solidFill>
                <a:srgbClr val="3A5479"/>
              </a:solidFill>
            </a:endParaRPr>
          </a:p>
        </p:txBody>
      </p:sp>
      <p:sp>
        <p:nvSpPr>
          <p:cNvPr id="188" name="Text Placeholder 2">
            <a:extLst>
              <a:ext uri="{FF2B5EF4-FFF2-40B4-BE49-F238E27FC236}">
                <a16:creationId xmlns:a16="http://schemas.microsoft.com/office/drawing/2014/main" id="{590F00FA-EE44-102C-791D-939D8ABDDE61}"/>
              </a:ext>
            </a:extLst>
          </p:cNvPr>
          <p:cNvSpPr>
            <a:spLocks noGrp="1"/>
          </p:cNvSpPr>
          <p:nvPr>
            <p:custDataLst>
              <p:tags r:id="rId29"/>
            </p:custDataLst>
          </p:nvPr>
        </p:nvSpPr>
        <p:spPr bwMode="auto">
          <a:xfrm>
            <a:off x="4200951"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6BF92BF1-4BC6-4129-A5BD-B2CC6358E7E2}" type="datetime'''''''''''''2''''''''''0''''''''''''''''''''28'''''''''">
              <a:rPr lang="en-US" altLang="en-US" sz="800" smtClean="0">
                <a:solidFill>
                  <a:srgbClr val="3A5479"/>
                </a:solidFill>
              </a:rPr>
              <a:pPr lvl="1" algn="ctr">
                <a:spcBef>
                  <a:spcPct val="0"/>
                </a:spcBef>
                <a:spcAft>
                  <a:spcPct val="0"/>
                </a:spcAft>
              </a:pPr>
              <a:t>2028</a:t>
            </a:fld>
            <a:endParaRPr lang="en-US" sz="800">
              <a:solidFill>
                <a:srgbClr val="3A5479"/>
              </a:solidFill>
            </a:endParaRPr>
          </a:p>
        </p:txBody>
      </p:sp>
      <p:sp>
        <p:nvSpPr>
          <p:cNvPr id="191" name="Text Placeholder 2">
            <a:extLst>
              <a:ext uri="{FF2B5EF4-FFF2-40B4-BE49-F238E27FC236}">
                <a16:creationId xmlns:a16="http://schemas.microsoft.com/office/drawing/2014/main" id="{3104E912-7EE5-B3AF-F2F2-5DC4EC05C932}"/>
              </a:ext>
            </a:extLst>
          </p:cNvPr>
          <p:cNvSpPr>
            <a:spLocks noGrp="1"/>
          </p:cNvSpPr>
          <p:nvPr>
            <p:custDataLst>
              <p:tags r:id="rId30"/>
            </p:custDataLst>
          </p:nvPr>
        </p:nvSpPr>
        <p:spPr bwMode="auto">
          <a:xfrm>
            <a:off x="4789914"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65B565B5-DEDE-450D-8FFF-B260DC010906}" type="datetime'''''''''''''2''''''''''0''''2''''''''''''''''''''''''9'''''''">
              <a:rPr lang="en-US" altLang="en-US" sz="800" smtClean="0">
                <a:solidFill>
                  <a:srgbClr val="3A5479"/>
                </a:solidFill>
              </a:rPr>
              <a:pPr lvl="1" algn="ctr">
                <a:spcBef>
                  <a:spcPct val="0"/>
                </a:spcBef>
                <a:spcAft>
                  <a:spcPct val="0"/>
                </a:spcAft>
              </a:pPr>
              <a:t>2029</a:t>
            </a:fld>
            <a:endParaRPr lang="en-US" sz="800" dirty="0">
              <a:solidFill>
                <a:srgbClr val="3A5479"/>
              </a:solidFill>
            </a:endParaRPr>
          </a:p>
        </p:txBody>
      </p:sp>
      <p:sp>
        <p:nvSpPr>
          <p:cNvPr id="194" name="Text Placeholder 2">
            <a:extLst>
              <a:ext uri="{FF2B5EF4-FFF2-40B4-BE49-F238E27FC236}">
                <a16:creationId xmlns:a16="http://schemas.microsoft.com/office/drawing/2014/main" id="{0109D4F6-061A-8EFA-8EF6-4A80A2806FE8}"/>
              </a:ext>
            </a:extLst>
          </p:cNvPr>
          <p:cNvSpPr>
            <a:spLocks noGrp="1"/>
          </p:cNvSpPr>
          <p:nvPr>
            <p:custDataLst>
              <p:tags r:id="rId31"/>
            </p:custDataLst>
          </p:nvPr>
        </p:nvSpPr>
        <p:spPr bwMode="auto">
          <a:xfrm>
            <a:off x="5378876" y="5886097"/>
            <a:ext cx="2413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25ACBF31-EA61-4F63-A971-C7809C664E88}" type="datetime'''''2''0''''''''''''''''30'''''''''''''''''''">
              <a:rPr lang="en-US" altLang="en-US" sz="800" smtClean="0">
                <a:solidFill>
                  <a:srgbClr val="3A5479"/>
                </a:solidFill>
              </a:rPr>
              <a:pPr lvl="1" algn="ctr">
                <a:spcBef>
                  <a:spcPct val="0"/>
                </a:spcBef>
                <a:spcAft>
                  <a:spcPct val="0"/>
                </a:spcAft>
              </a:pPr>
              <a:t>2030</a:t>
            </a:fld>
            <a:endParaRPr lang="en-US" sz="800">
              <a:solidFill>
                <a:srgbClr val="3A5479"/>
              </a:solidFill>
            </a:endParaRPr>
          </a:p>
        </p:txBody>
      </p:sp>
      <p:sp>
        <p:nvSpPr>
          <p:cNvPr id="51" name="Text Placeholder 2">
            <a:extLst>
              <a:ext uri="{FF2B5EF4-FFF2-40B4-BE49-F238E27FC236}">
                <a16:creationId xmlns:a16="http://schemas.microsoft.com/office/drawing/2014/main" id="{24BD1E49-B899-F769-A81E-A82FECB06F25}"/>
              </a:ext>
            </a:extLst>
          </p:cNvPr>
          <p:cNvSpPr>
            <a:spLocks noGrp="1"/>
          </p:cNvSpPr>
          <p:nvPr>
            <p:custDataLst>
              <p:tags r:id="rId32"/>
            </p:custDataLst>
          </p:nvPr>
        </p:nvSpPr>
        <p:spPr bwMode="auto">
          <a:xfrm>
            <a:off x="1233914" y="3901722"/>
            <a:ext cx="874713" cy="173038"/>
          </a:xfrm>
          <a:prstGeom prst="ellipse">
            <a:avLst/>
          </a:prstGeom>
          <a:solidFill>
            <a:schemeClr val="bg1"/>
          </a:solidFill>
          <a:ln w="9525" cmpd="sng" algn="ctr">
            <a:solidFill>
              <a:schemeClr val="tx2"/>
            </a:solidFill>
          </a:ln>
          <a:effec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ctr" defTabSz="914400" rtl="0" eaLnBrk="1" fontAlgn="auto" latinLnBrk="0" hangingPunct="1">
              <a:lnSpc>
                <a:spcPct val="100000"/>
              </a:lnSpc>
              <a:spcBef>
                <a:spcPct val="0"/>
              </a:spcBef>
              <a:spcAft>
                <a:spcPct val="0"/>
              </a:spcAft>
              <a:buClrTx/>
              <a:buSzTx/>
              <a:buFontTx/>
              <a:buNone/>
              <a:tabLst/>
              <a:defRPr/>
            </a:pPr>
            <a:fld id="{A003229F-4163-4800-A965-149D9CD66569}" type="datetime'C''''AGR'''''''' ''''''''''''''''''''''''''1''0''.''''4''%'">
              <a:rPr lang="en-US" altLang="en-US" sz="800" b="1" smtClean="0">
                <a:solidFill>
                  <a:srgbClr val="00338D"/>
                </a:solidFill>
                <a:effectLst/>
              </a:rPr>
              <a:pPr marL="0" marR="0" lvl="1" indent="0" algn="ctr" defTabSz="914400" rtl="0" eaLnBrk="1" fontAlgn="auto" latinLnBrk="0" hangingPunct="1">
                <a:lnSpc>
                  <a:spcPct val="100000"/>
                </a:lnSpc>
                <a:spcBef>
                  <a:spcPct val="0"/>
                </a:spcBef>
                <a:spcAft>
                  <a:spcPct val="0"/>
                </a:spcAft>
                <a:buClrTx/>
                <a:buSzTx/>
                <a:buFontTx/>
                <a:buNone/>
                <a:tabLst/>
                <a:defRPr/>
              </a:pPr>
              <a:t>CAGR 10.4%</a:t>
            </a:fld>
            <a:endParaRPr kumimoji="0" lang="en-US" sz="800" b="1" i="0" strike="noStrike" kern="1200" cap="none" spc="0" normalizeH="0" baseline="0" noProof="0">
              <a:ln>
                <a:noFill/>
              </a:ln>
              <a:solidFill>
                <a:srgbClr val="00338D"/>
              </a:solidFill>
              <a:effectLst/>
              <a:uLnTx/>
              <a:uFillTx/>
              <a:ea typeface="+mn-ea"/>
              <a:cs typeface="+mn-cs"/>
            </a:endParaRPr>
          </a:p>
        </p:txBody>
      </p:sp>
      <p:sp>
        <p:nvSpPr>
          <p:cNvPr id="52" name="Text Placeholder 2">
            <a:extLst>
              <a:ext uri="{FF2B5EF4-FFF2-40B4-BE49-F238E27FC236}">
                <a16:creationId xmlns:a16="http://schemas.microsoft.com/office/drawing/2014/main" id="{4C3A295C-B4FE-E210-8D74-B9C709087D38}"/>
              </a:ext>
            </a:extLst>
          </p:cNvPr>
          <p:cNvSpPr>
            <a:spLocks noGrp="1"/>
          </p:cNvSpPr>
          <p:nvPr>
            <p:custDataLst>
              <p:tags r:id="rId33"/>
            </p:custDataLst>
          </p:nvPr>
        </p:nvSpPr>
        <p:spPr bwMode="auto">
          <a:xfrm>
            <a:off x="3589764" y="3101622"/>
            <a:ext cx="874713" cy="173038"/>
          </a:xfrm>
          <a:prstGeom prst="ellipse">
            <a:avLst/>
          </a:prstGeom>
          <a:solidFill>
            <a:schemeClr val="bg1"/>
          </a:solidFill>
          <a:ln w="9525" cmpd="sng" algn="ctr">
            <a:solidFill>
              <a:schemeClr val="tx2"/>
            </a:solidFill>
          </a:ln>
          <a:effec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ctr" defTabSz="914400" rtl="0" eaLnBrk="1" fontAlgn="auto" latinLnBrk="0" hangingPunct="1">
              <a:lnSpc>
                <a:spcPct val="100000"/>
              </a:lnSpc>
              <a:spcBef>
                <a:spcPct val="0"/>
              </a:spcBef>
              <a:spcAft>
                <a:spcPct val="0"/>
              </a:spcAft>
              <a:buClrTx/>
              <a:buSzTx/>
              <a:buFontTx/>
              <a:buNone/>
              <a:tabLst/>
              <a:defRPr/>
            </a:pPr>
            <a:fld id="{60746F42-ACD2-4E49-B9F7-7A0C0589CF6D}" type="datetime'''C''''''A''''''G''R'''''''''''''''' ''''''1''0.''''''9%'''">
              <a:rPr lang="en-US" altLang="en-US" sz="800" b="1" smtClean="0">
                <a:solidFill>
                  <a:srgbClr val="00338D"/>
                </a:solidFill>
                <a:effectLst/>
              </a:rPr>
              <a:pPr marL="0" marR="0" lvl="1" indent="0" algn="ctr" defTabSz="914400" rtl="0" eaLnBrk="1" fontAlgn="auto" latinLnBrk="0" hangingPunct="1">
                <a:lnSpc>
                  <a:spcPct val="100000"/>
                </a:lnSpc>
                <a:spcBef>
                  <a:spcPct val="0"/>
                </a:spcBef>
                <a:spcAft>
                  <a:spcPct val="0"/>
                </a:spcAft>
                <a:buClrTx/>
                <a:buSzTx/>
                <a:buFontTx/>
                <a:buNone/>
                <a:tabLst/>
                <a:defRPr/>
              </a:pPr>
              <a:t>CAGR 10.9%</a:t>
            </a:fld>
            <a:endParaRPr kumimoji="0" lang="en-US" sz="800" b="1" i="0" strike="noStrike" kern="1200" cap="none" spc="0" normalizeH="0" baseline="0" noProof="0">
              <a:ln>
                <a:noFill/>
              </a:ln>
              <a:solidFill>
                <a:srgbClr val="00338D"/>
              </a:solidFill>
              <a:effectLst/>
              <a:uLnTx/>
              <a:uFillTx/>
              <a:ea typeface="+mn-ea"/>
              <a:cs typeface="+mn-cs"/>
            </a:endParaRPr>
          </a:p>
        </p:txBody>
      </p:sp>
      <p:sp>
        <p:nvSpPr>
          <p:cNvPr id="55" name="Rectangle 54">
            <a:extLst>
              <a:ext uri="{FF2B5EF4-FFF2-40B4-BE49-F238E27FC236}">
                <a16:creationId xmlns:a16="http://schemas.microsoft.com/office/drawing/2014/main" id="{8D9E1015-C63D-0AA7-22BC-218949E92A19}"/>
              </a:ext>
            </a:extLst>
          </p:cNvPr>
          <p:cNvSpPr/>
          <p:nvPr/>
        </p:nvSpPr>
        <p:spPr>
          <a:xfrm>
            <a:off x="987145" y="2386567"/>
            <a:ext cx="3322461" cy="2382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spAutoFit/>
          </a:bodyPr>
          <a:lstStyle/>
          <a:p>
            <a:pPr marL="0" marR="0" lvl="0" indent="0" algn="l" defTabSz="914400" rtl="0" eaLnBrk="1" fontAlgn="auto" latinLnBrk="0" hangingPunct="1">
              <a:lnSpc>
                <a:spcPct val="70000"/>
              </a:lnSpc>
              <a:spcBef>
                <a:spcPts val="0"/>
              </a:spcBef>
              <a:spcAft>
                <a:spcPts val="500"/>
              </a:spcAft>
              <a:buClrTx/>
              <a:buSzTx/>
              <a:buFontTx/>
              <a:buNone/>
              <a:tabLst/>
              <a:defRPr/>
            </a:pPr>
            <a:r>
              <a:rPr kumimoji="0" lang="en-GB" sz="800" b="1" i="0" u="none" strike="noStrike" kern="1200" cap="none" spc="0" normalizeH="0" baseline="0" noProof="0">
                <a:ln>
                  <a:noFill/>
                </a:ln>
                <a:solidFill>
                  <a:srgbClr val="6F8DB9"/>
                </a:solidFill>
                <a:effectLst/>
                <a:uLnTx/>
                <a:uFillTx/>
                <a:latin typeface="Arial"/>
              </a:rPr>
              <a:t>Historical growth (2023-2025): </a:t>
            </a:r>
            <a:r>
              <a:rPr lang="en-GB" sz="800" b="1">
                <a:solidFill>
                  <a:srgbClr val="6F8DB9"/>
                </a:solidFill>
                <a:latin typeface="Arial"/>
              </a:rPr>
              <a:t>20.1%</a:t>
            </a:r>
            <a:endParaRPr kumimoji="0" lang="en-GB" sz="800" b="1" i="0" u="none" strike="noStrike" kern="1200" cap="none" spc="0" normalizeH="0" baseline="0" noProof="0">
              <a:ln>
                <a:noFill/>
              </a:ln>
              <a:solidFill>
                <a:srgbClr val="6F8DB9"/>
              </a:solidFill>
              <a:effectLst/>
              <a:uLnTx/>
              <a:uFillTx/>
              <a:latin typeface="Arial"/>
            </a:endParaRPr>
          </a:p>
          <a:p>
            <a:pPr marL="0" marR="0" lvl="0" indent="0" algn="l" defTabSz="914400" rtl="0" eaLnBrk="1" fontAlgn="auto" latinLnBrk="0" hangingPunct="1">
              <a:lnSpc>
                <a:spcPct val="70000"/>
              </a:lnSpc>
              <a:spcBef>
                <a:spcPts val="0"/>
              </a:spcBef>
              <a:spcAft>
                <a:spcPts val="500"/>
              </a:spcAft>
              <a:buClrTx/>
              <a:buSzTx/>
              <a:buFontTx/>
              <a:buNone/>
              <a:tabLst/>
              <a:defRPr/>
            </a:pPr>
            <a:r>
              <a:rPr kumimoji="0" lang="en-GB" sz="800" b="1" i="0" u="none" strike="noStrike" kern="1200" cap="none" spc="0" normalizeH="0" baseline="0" noProof="0">
                <a:ln>
                  <a:noFill/>
                </a:ln>
                <a:solidFill>
                  <a:srgbClr val="C3CFE1"/>
                </a:solidFill>
                <a:effectLst/>
                <a:uLnTx/>
                <a:uFillTx/>
                <a:latin typeface="Arial"/>
              </a:rPr>
              <a:t>Projected growth (2025-2030): </a:t>
            </a:r>
            <a:r>
              <a:rPr lang="en-GB" sz="800" b="1">
                <a:solidFill>
                  <a:srgbClr val="C3CFE1"/>
                </a:solidFill>
                <a:latin typeface="Arial"/>
              </a:rPr>
              <a:t>11.8%</a:t>
            </a:r>
            <a:endParaRPr kumimoji="0" lang="en-GB" sz="800" b="1" i="0" u="none" strike="noStrike" kern="1200" cap="none" spc="0" normalizeH="0" baseline="0" noProof="0">
              <a:ln>
                <a:noFill/>
              </a:ln>
              <a:solidFill>
                <a:srgbClr val="C3CFE1"/>
              </a:solidFill>
              <a:effectLst/>
              <a:uLnTx/>
              <a:uFillTx/>
              <a:latin typeface="Arial"/>
            </a:endParaRPr>
          </a:p>
        </p:txBody>
      </p:sp>
      <p:sp>
        <p:nvSpPr>
          <p:cNvPr id="56" name="TextBox 55">
            <a:extLst>
              <a:ext uri="{FF2B5EF4-FFF2-40B4-BE49-F238E27FC236}">
                <a16:creationId xmlns:a16="http://schemas.microsoft.com/office/drawing/2014/main" id="{A34D0227-B1CB-54EE-2F55-9CBE13837391}"/>
              </a:ext>
            </a:extLst>
          </p:cNvPr>
          <p:cNvSpPr txBox="1"/>
          <p:nvPr/>
        </p:nvSpPr>
        <p:spPr>
          <a:xfrm>
            <a:off x="978091" y="2220066"/>
            <a:ext cx="2156060" cy="92589"/>
          </a:xfrm>
          <a:prstGeom prst="rect">
            <a:avLst/>
          </a:prstGeom>
          <a:noFill/>
        </p:spPr>
        <p:txBody>
          <a:bodyPr wrap="square" lIns="0" tIns="0" rIns="0" bIns="0" rtlCol="0">
            <a:spAutoFit/>
          </a:bodyPr>
          <a:lstStyle/>
          <a:p>
            <a:pPr marL="0" marR="0" lvl="0" indent="0" algn="l" defTabSz="914400" rtl="0" eaLnBrk="1" fontAlgn="auto" latinLnBrk="0" hangingPunct="1">
              <a:lnSpc>
                <a:spcPct val="75000"/>
              </a:lnSpc>
              <a:spcBef>
                <a:spcPts val="0"/>
              </a:spcBef>
              <a:spcAft>
                <a:spcPts val="300"/>
              </a:spcAft>
              <a:buClrTx/>
              <a:buSzTx/>
              <a:buFontTx/>
              <a:buNone/>
              <a:tabLst/>
              <a:defRPr/>
            </a:pPr>
            <a:r>
              <a:rPr kumimoji="0" lang="en-GB" sz="800" b="1" i="0" u="none" strike="noStrike" kern="1200" cap="none" spc="0" normalizeH="0" baseline="0" noProof="0">
                <a:ln>
                  <a:noFill/>
                </a:ln>
                <a:solidFill>
                  <a:srgbClr val="00338D"/>
                </a:solidFill>
                <a:effectLst/>
                <a:uLnTx/>
                <a:uFillTx/>
                <a:latin typeface="Arial"/>
                <a:ea typeface="+mn-ea"/>
                <a:cs typeface="+mn-cs"/>
              </a:rPr>
              <a:t>Last Mile Delivery Market Size (2023-2030)</a:t>
            </a:r>
          </a:p>
        </p:txBody>
      </p:sp>
      <p:sp>
        <p:nvSpPr>
          <p:cNvPr id="115" name="Rectangle: Rounded Corners 114">
            <a:extLst>
              <a:ext uri="{FF2B5EF4-FFF2-40B4-BE49-F238E27FC236}">
                <a16:creationId xmlns:a16="http://schemas.microsoft.com/office/drawing/2014/main" id="{8C9F0D48-77BD-BBAF-4D4E-A73CA2470B44}"/>
              </a:ext>
            </a:extLst>
          </p:cNvPr>
          <p:cNvSpPr/>
          <p:nvPr/>
        </p:nvSpPr>
        <p:spPr>
          <a:xfrm>
            <a:off x="6299626" y="3739795"/>
            <a:ext cx="4981384" cy="2268540"/>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dirty="0">
                <a:ln>
                  <a:noFill/>
                </a:ln>
                <a:solidFill>
                  <a:schemeClr val="tx1"/>
                </a:solidFill>
                <a:effectLst/>
                <a:uLnTx/>
                <a:uFillTx/>
                <a:latin typeface="Arial"/>
                <a:ea typeface="+mn-ea"/>
                <a:cs typeface="+mn-cs"/>
              </a:rPr>
              <a:t>The gig economy is valued at $500 billion in 2023, expected to grow to $</a:t>
            </a:r>
            <a:r>
              <a:rPr lang="en-US" sz="1000" dirty="0">
                <a:solidFill>
                  <a:schemeClr val="tx1"/>
                </a:solidFill>
                <a:latin typeface="Arial"/>
              </a:rPr>
              <a:t>1355</a:t>
            </a:r>
            <a:r>
              <a:rPr kumimoji="0" lang="en-US" sz="1000" i="0" u="none" strike="noStrike" kern="1200" cap="none" spc="0" normalizeH="0" baseline="0" noProof="0" dirty="0">
                <a:ln>
                  <a:noFill/>
                </a:ln>
                <a:solidFill>
                  <a:schemeClr val="tx1"/>
                </a:solidFill>
                <a:effectLst/>
                <a:uLnTx/>
                <a:uFillTx/>
                <a:latin typeface="Arial"/>
                <a:ea typeface="+mn-ea"/>
                <a:cs typeface="+mn-cs"/>
              </a:rPr>
              <a:t> Billion by 2030 worldwide.​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dirty="0">
                <a:ln>
                  <a:noFill/>
                </a:ln>
                <a:solidFill>
                  <a:schemeClr val="tx1"/>
                </a:solidFill>
                <a:effectLst/>
                <a:uLnTx/>
                <a:uFillTx/>
                <a:latin typeface="Arial"/>
                <a:ea typeface="+mn-ea"/>
                <a:cs typeface="+mn-cs"/>
              </a:rPr>
              <a:t>The last-mile delivery industry is a critical driver of the gig economy, fueled by rapid e-commerce growth and evolving consumer expectations for speed and convenience.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dirty="0">
                <a:ln>
                  <a:noFill/>
                </a:ln>
                <a:solidFill>
                  <a:schemeClr val="tx1"/>
                </a:solidFill>
                <a:effectLst/>
                <a:uLnTx/>
                <a:uFillTx/>
                <a:latin typeface="Arial"/>
                <a:ea typeface="+mn-ea"/>
                <a:cs typeface="+mn-cs"/>
              </a:rPr>
              <a:t>Last- Mile Delivery Market Size: $154B in 2023 → $317B by 2030 (CAGR ~10.9%).</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dirty="0">
                <a:ln>
                  <a:noFill/>
                </a:ln>
                <a:solidFill>
                  <a:schemeClr val="tx1"/>
                </a:solidFill>
                <a:effectLst/>
                <a:uLnTx/>
                <a:uFillTx/>
                <a:latin typeface="Arial"/>
                <a:ea typeface="+mn-ea"/>
                <a:cs typeface="+mn-cs"/>
              </a:rPr>
              <a:t>Key Growth Drivers:</a:t>
            </a:r>
          </a:p>
          <a:p>
            <a:pPr marL="628650" lvl="1" indent="-171450">
              <a:buFont typeface="Arial" panose="020B0604020202020204" pitchFamily="34" charset="0"/>
              <a:buChar char="•"/>
              <a:defRPr/>
            </a:pPr>
            <a:r>
              <a:rPr kumimoji="0" lang="en-US" sz="1000" i="0" u="none" strike="noStrike" kern="1200" cap="none" spc="0" normalizeH="0" baseline="0" noProof="0" dirty="0">
                <a:ln>
                  <a:noFill/>
                </a:ln>
                <a:solidFill>
                  <a:schemeClr val="tx1"/>
                </a:solidFill>
                <a:effectLst/>
                <a:uLnTx/>
                <a:uFillTx/>
                <a:latin typeface="Arial"/>
                <a:ea typeface="+mn-ea"/>
                <a:cs typeface="+mn-cs"/>
              </a:rPr>
              <a:t>Surge in online shopping and same-day delivery demand.</a:t>
            </a:r>
          </a:p>
          <a:p>
            <a:pPr marL="628650" lvl="1" indent="-171450">
              <a:buFont typeface="Arial" panose="020B0604020202020204" pitchFamily="34" charset="0"/>
              <a:buChar char="•"/>
              <a:defRPr/>
            </a:pPr>
            <a:r>
              <a:rPr kumimoji="0" lang="en-US" sz="1000" i="0" u="none" strike="noStrike" kern="1200" cap="none" spc="0" normalizeH="0" baseline="0" noProof="0" dirty="0">
                <a:ln>
                  <a:noFill/>
                </a:ln>
                <a:solidFill>
                  <a:schemeClr val="tx1"/>
                </a:solidFill>
                <a:effectLst/>
                <a:uLnTx/>
                <a:uFillTx/>
                <a:latin typeface="Arial"/>
                <a:ea typeface="+mn-ea"/>
                <a:cs typeface="+mn-cs"/>
              </a:rPr>
              <a:t>Technological advancements: AI routing, automation, EV adoption.</a:t>
            </a:r>
          </a:p>
          <a:p>
            <a:pPr marL="628650" lvl="1" indent="-171450">
              <a:buFont typeface="Arial" panose="020B0604020202020204" pitchFamily="34" charset="0"/>
              <a:buChar char="•"/>
              <a:defRPr/>
            </a:pPr>
            <a:r>
              <a:rPr kumimoji="0" lang="en-US" sz="1000" i="0" u="none" strike="noStrike" kern="1200" cap="none" spc="0" normalizeH="0" baseline="0" noProof="0" dirty="0">
                <a:ln>
                  <a:noFill/>
                </a:ln>
                <a:solidFill>
                  <a:schemeClr val="tx1"/>
                </a:solidFill>
                <a:effectLst/>
                <a:uLnTx/>
                <a:uFillTx/>
                <a:latin typeface="Arial"/>
                <a:ea typeface="+mn-ea"/>
                <a:cs typeface="+mn-cs"/>
              </a:rPr>
              <a:t>Urbanization and sustainability initiatives (green delivery).</a:t>
            </a:r>
          </a:p>
          <a:p>
            <a:pPr marL="628650" lvl="1" indent="-171450">
              <a:buFont typeface="Arial" panose="020B0604020202020204" pitchFamily="34" charset="0"/>
              <a:buChar char="•"/>
              <a:defRPr/>
            </a:pPr>
            <a:r>
              <a:rPr kumimoji="0" lang="en-US" sz="1000" i="0" u="none" strike="noStrike" kern="1200" cap="none" spc="0" normalizeH="0" baseline="0" noProof="0" dirty="0">
                <a:ln>
                  <a:noFill/>
                </a:ln>
                <a:solidFill>
                  <a:schemeClr val="tx1"/>
                </a:solidFill>
                <a:effectLst/>
                <a:uLnTx/>
                <a:uFillTx/>
                <a:latin typeface="Arial"/>
                <a:ea typeface="+mn-ea"/>
                <a:cs typeface="+mn-cs"/>
              </a:rPr>
              <a:t>Flexible gig workforce enabling scalable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dirty="0">
                <a:ln>
                  <a:noFill/>
                </a:ln>
                <a:solidFill>
                  <a:schemeClr val="tx1"/>
                </a:solidFill>
                <a:effectLst/>
                <a:uLnTx/>
                <a:uFillTx/>
                <a:latin typeface="Arial"/>
                <a:ea typeface="+mn-ea"/>
                <a:cs typeface="+mn-cs"/>
              </a:rPr>
              <a:t>Competitive Landscape: DoorDash (42.4%), Uber Eats (39.5%), Instacart (17.7%) dominate the market.</a:t>
            </a:r>
          </a:p>
        </p:txBody>
      </p:sp>
      <p:sp>
        <p:nvSpPr>
          <p:cNvPr id="117" name="TextBox 116">
            <a:extLst>
              <a:ext uri="{FF2B5EF4-FFF2-40B4-BE49-F238E27FC236}">
                <a16:creationId xmlns:a16="http://schemas.microsoft.com/office/drawing/2014/main" id="{BA4BC52D-B818-2E17-CAE2-5336F3D8B27F}"/>
              </a:ext>
            </a:extLst>
          </p:cNvPr>
          <p:cNvSpPr txBox="1"/>
          <p:nvPr/>
        </p:nvSpPr>
        <p:spPr>
          <a:xfrm>
            <a:off x="910990" y="6038497"/>
            <a:ext cx="7406640" cy="149933"/>
          </a:xfrm>
          <a:prstGeom prst="rect">
            <a:avLst/>
          </a:prstGeom>
        </p:spPr>
        <p:txBody>
          <a:bodyPr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00338D"/>
                </a:solidFill>
                <a:effectLst/>
                <a:uLnTx/>
                <a:uFillTx/>
                <a:latin typeface="Arial"/>
              </a:rPr>
              <a:t>Sources: Secondary Research Oct 2025</a:t>
            </a:r>
          </a:p>
        </p:txBody>
      </p:sp>
      <p:sp>
        <p:nvSpPr>
          <p:cNvPr id="220" name="Rectangle 219">
            <a:extLst>
              <a:ext uri="{FF2B5EF4-FFF2-40B4-BE49-F238E27FC236}">
                <a16:creationId xmlns:a16="http://schemas.microsoft.com/office/drawing/2014/main" id="{08F9B48D-7996-7889-D6CC-DF4FAD8E7E1A}"/>
              </a:ext>
            </a:extLst>
          </p:cNvPr>
          <p:cNvSpPr/>
          <p:nvPr>
            <p:custDataLst>
              <p:tags r:id="rId34"/>
            </p:custDataLst>
          </p:nvPr>
        </p:nvSpPr>
        <p:spPr bwMode="auto">
          <a:xfrm>
            <a:off x="4105701" y="2268184"/>
            <a:ext cx="142875" cy="106363"/>
          </a:xfrm>
          <a:prstGeom prst="rect">
            <a:avLst/>
          </a:prstGeom>
          <a:solidFill>
            <a:srgbClr val="C3CFE1"/>
          </a:solidFill>
          <a:ln w="3175" cap="flat" cmpd="sng" algn="ctr">
            <a:solidFill>
              <a:schemeClr val="bg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217" name="Text Placeholder 2">
            <a:extLst>
              <a:ext uri="{FF2B5EF4-FFF2-40B4-BE49-F238E27FC236}">
                <a16:creationId xmlns:a16="http://schemas.microsoft.com/office/drawing/2014/main" id="{F7F3FADF-3384-F212-04B5-56485653FC20}"/>
              </a:ext>
            </a:extLst>
          </p:cNvPr>
          <p:cNvSpPr>
            <a:spLocks noGrp="1"/>
          </p:cNvSpPr>
          <p:nvPr>
            <p:custDataLst>
              <p:tags r:id="rId35"/>
            </p:custDataLst>
          </p:nvPr>
        </p:nvSpPr>
        <p:spPr bwMode="auto">
          <a:xfrm>
            <a:off x="4299376" y="2263422"/>
            <a:ext cx="1198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60013E87-16E1-45CC-982F-75FEE9DA53B6}" type="datetime'''''M''ar''''k''''''et ''Si''ze (US''D'''' ''Bill''ion''s'')'">
              <a:rPr lang="en-US" altLang="en-US" sz="800" smtClean="0">
                <a:solidFill>
                  <a:srgbClr val="3A5479"/>
                </a:solidFill>
                <a:effectLst/>
              </a:rPr>
              <a:pPr lvl="1">
                <a:spcBef>
                  <a:spcPct val="0"/>
                </a:spcBef>
                <a:spcAft>
                  <a:spcPct val="0"/>
                </a:spcAft>
              </a:pPr>
              <a:t>Market Size (USD Billions)</a:t>
            </a:fld>
            <a:endParaRPr lang="en-US" sz="800" dirty="0">
              <a:solidFill>
                <a:srgbClr val="3A5479"/>
              </a:solidFill>
            </a:endParaRPr>
          </a:p>
        </p:txBody>
      </p:sp>
      <p:sp>
        <p:nvSpPr>
          <p:cNvPr id="8" name="Text Box 57">
            <a:extLst>
              <a:ext uri="{FF2B5EF4-FFF2-40B4-BE49-F238E27FC236}">
                <a16:creationId xmlns:a16="http://schemas.microsoft.com/office/drawing/2014/main" id="{EE367FAF-EA76-41FB-91D6-C2DDCFBB658C}"/>
              </a:ext>
            </a:extLst>
          </p:cNvPr>
          <p:cNvSpPr txBox="1">
            <a:spLocks noChangeArrowheads="1"/>
          </p:cNvSpPr>
          <p:nvPr>
            <p:custDataLst>
              <p:tags r:id="rId36"/>
            </p:custDataLst>
          </p:nvPr>
        </p:nvSpPr>
        <p:spPr bwMode="gray">
          <a:xfrm>
            <a:off x="596679" y="1641437"/>
            <a:ext cx="111922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338D"/>
                </a:solidFill>
                <a:effectLst/>
                <a:uLnTx/>
                <a:uFillTx/>
                <a:latin typeface="Arial" panose="020B0604020202020204" pitchFamily="34" charset="0"/>
                <a:ea typeface="+mn-ea"/>
                <a:cs typeface="+mn-cs"/>
              </a:rPr>
              <a:t>Market Growth Trajectory</a:t>
            </a:r>
          </a:p>
        </p:txBody>
      </p:sp>
      <p:grpSp>
        <p:nvGrpSpPr>
          <p:cNvPr id="11" name="Subtitle [Placeholder]">
            <a:extLst>
              <a:ext uri="{FF2B5EF4-FFF2-40B4-BE49-F238E27FC236}">
                <a16:creationId xmlns:a16="http://schemas.microsoft.com/office/drawing/2014/main" id="{378EF407-A0A8-820A-9EA7-5BFA7A97CAE0}"/>
              </a:ext>
            </a:extLst>
          </p:cNvPr>
          <p:cNvGrpSpPr>
            <a:grpSpLocks/>
          </p:cNvGrpSpPr>
          <p:nvPr/>
        </p:nvGrpSpPr>
        <p:grpSpPr bwMode="auto">
          <a:xfrm>
            <a:off x="551521" y="1305701"/>
            <a:ext cx="11282572" cy="211138"/>
            <a:chOff x="1288" y="1620"/>
            <a:chExt cx="4426" cy="133"/>
          </a:xfrm>
        </p:grpSpPr>
        <p:sp>
          <p:nvSpPr>
            <p:cNvPr id="13" name="Line 56">
              <a:extLst>
                <a:ext uri="{FF2B5EF4-FFF2-40B4-BE49-F238E27FC236}">
                  <a16:creationId xmlns:a16="http://schemas.microsoft.com/office/drawing/2014/main" id="{BC3F388C-71B7-C574-1AA5-A1E33F4AFCF2}"/>
                </a:ext>
              </a:extLst>
            </p:cNvPr>
            <p:cNvSpPr>
              <a:spLocks noChangeShapeType="1"/>
            </p:cNvSpPr>
            <p:nvPr>
              <p:custDataLst>
                <p:tags r:id="rId37"/>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4" name="Text Box 57">
              <a:extLst>
                <a:ext uri="{FF2B5EF4-FFF2-40B4-BE49-F238E27FC236}">
                  <a16:creationId xmlns:a16="http://schemas.microsoft.com/office/drawing/2014/main" id="{DB608378-2AB6-3D75-1C0A-8BD222588476}"/>
                </a:ext>
              </a:extLst>
            </p:cNvPr>
            <p:cNvSpPr txBox="1">
              <a:spLocks noChangeArrowheads="1"/>
            </p:cNvSpPr>
            <p:nvPr>
              <p:custDataLst>
                <p:tags r:id="rId38"/>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dirty="0">
                  <a:solidFill>
                    <a:srgbClr val="000000"/>
                  </a:solidFill>
                  <a:cs typeface="Arial" panose="020B0604020202020204" pitchFamily="34" charset="0"/>
                </a:rPr>
                <a:t>Strong Growth Trajectory Fueled by E-Commerce, Technology, and Consumer Demand for Speed</a:t>
              </a:r>
            </a:p>
          </p:txBody>
        </p:sp>
      </p:grpSp>
    </p:spTree>
    <p:extLst>
      <p:ext uri="{BB962C8B-B14F-4D97-AF65-F5344CB8AC3E}">
        <p14:creationId xmlns:p14="http://schemas.microsoft.com/office/powerpoint/2010/main" val="415159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1A2AA-1334-A37D-C59B-89ACF5DB2753}"/>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131140-396D-3AB3-956E-2E04F8188B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473" imgH="473" progId="TCLayout.ActiveDocument.1">
                  <p:embed/>
                </p:oleObj>
              </mc:Choice>
              <mc:Fallback>
                <p:oleObj name="think-cell Slide" r:id="rId28" imgW="473" imgH="473" progId="TCLayout.ActiveDocument.1">
                  <p:embed/>
                  <p:pic>
                    <p:nvPicPr>
                      <p:cNvPr id="5" name="think-cell data - do not delete" hidden="1">
                        <a:extLst>
                          <a:ext uri="{FF2B5EF4-FFF2-40B4-BE49-F238E27FC236}">
                            <a16:creationId xmlns:a16="http://schemas.microsoft.com/office/drawing/2014/main" id="{46131140-396D-3AB3-956E-2E04F8188B08}"/>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0987350F-D9F2-E54D-C756-4DA74B6328D5}"/>
              </a:ext>
            </a:extLst>
          </p:cNvPr>
          <p:cNvSpPr>
            <a:spLocks noGrp="1"/>
          </p:cNvSpPr>
          <p:nvPr>
            <p:ph type="body" sz="quarter" idx="19"/>
          </p:nvPr>
        </p:nvSpPr>
        <p:spPr/>
        <p:txBody>
          <a:bodyPr/>
          <a:lstStyle/>
          <a:p>
            <a:pPr marL="0" indent="0">
              <a:buNone/>
            </a:pPr>
            <a:r>
              <a:rPr lang="en-US" dirty="0">
                <a:cs typeface="Arial"/>
              </a:rPr>
              <a:t>Gig workforce management: Workforce profile</a:t>
            </a:r>
          </a:p>
        </p:txBody>
      </p:sp>
      <p:sp>
        <p:nvSpPr>
          <p:cNvPr id="3" name="Title 2">
            <a:extLst>
              <a:ext uri="{FF2B5EF4-FFF2-40B4-BE49-F238E27FC236}">
                <a16:creationId xmlns:a16="http://schemas.microsoft.com/office/drawing/2014/main" id="{9B376F64-68C1-44EF-24B2-987AC61D40D6}"/>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Navigating the Trade-Offs Between Driver Flexibility, Stability, and Cost</a:t>
            </a:r>
          </a:p>
        </p:txBody>
      </p:sp>
      <p:graphicFrame>
        <p:nvGraphicFramePr>
          <p:cNvPr id="46" name="Chart 45">
            <a:extLst>
              <a:ext uri="{FF2B5EF4-FFF2-40B4-BE49-F238E27FC236}">
                <a16:creationId xmlns:a16="http://schemas.microsoft.com/office/drawing/2014/main" id="{50CD34EF-6C19-E1D8-6339-5F67B8BC137E}"/>
              </a:ext>
            </a:extLst>
          </p:cNvPr>
          <p:cNvGraphicFramePr/>
          <p:nvPr>
            <p:custDataLst>
              <p:tags r:id="rId2"/>
            </p:custDataLst>
          </p:nvPr>
        </p:nvGraphicFramePr>
        <p:xfrm>
          <a:off x="1343025" y="2279650"/>
          <a:ext cx="3041650" cy="3389313"/>
        </p:xfrm>
        <a:graphic>
          <a:graphicData uri="http://schemas.openxmlformats.org/drawingml/2006/chart">
            <c:chart xmlns:c="http://schemas.openxmlformats.org/drawingml/2006/chart" xmlns:r="http://schemas.openxmlformats.org/officeDocument/2006/relationships" r:id="rId30"/>
          </a:graphicData>
        </a:graphic>
      </p:graphicFrame>
      <p:sp>
        <p:nvSpPr>
          <p:cNvPr id="343" name="Rectangle 342">
            <a:extLst>
              <a:ext uri="{FF2B5EF4-FFF2-40B4-BE49-F238E27FC236}">
                <a16:creationId xmlns:a16="http://schemas.microsoft.com/office/drawing/2014/main" id="{A3F06B9A-3DED-22D7-8122-8557F1A62A96}"/>
              </a:ext>
            </a:extLst>
          </p:cNvPr>
          <p:cNvSpPr/>
          <p:nvPr>
            <p:custDataLst>
              <p:tags r:id="rId3"/>
            </p:custDataLst>
          </p:nvPr>
        </p:nvSpPr>
        <p:spPr bwMode="auto">
          <a:xfrm>
            <a:off x="542925" y="2593975"/>
            <a:ext cx="142875" cy="106363"/>
          </a:xfrm>
          <a:prstGeom prst="rect">
            <a:avLst/>
          </a:prstGeom>
          <a:solidFill>
            <a:srgbClr val="DFE5EF"/>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44" name="Rectangle 343">
            <a:extLst>
              <a:ext uri="{FF2B5EF4-FFF2-40B4-BE49-F238E27FC236}">
                <a16:creationId xmlns:a16="http://schemas.microsoft.com/office/drawing/2014/main" id="{E54EC767-3F09-2F3A-79C6-E99B7A90D118}"/>
              </a:ext>
            </a:extLst>
          </p:cNvPr>
          <p:cNvSpPr/>
          <p:nvPr>
            <p:custDataLst>
              <p:tags r:id="rId4"/>
            </p:custDataLst>
          </p:nvPr>
        </p:nvSpPr>
        <p:spPr bwMode="auto">
          <a:xfrm>
            <a:off x="542925" y="2767013"/>
            <a:ext cx="142875" cy="106363"/>
          </a:xfrm>
          <a:prstGeom prst="rect">
            <a:avLst/>
          </a:prstGeom>
          <a:solidFill>
            <a:srgbClr val="C3CFE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45" name="Rectangle 344">
            <a:extLst>
              <a:ext uri="{FF2B5EF4-FFF2-40B4-BE49-F238E27FC236}">
                <a16:creationId xmlns:a16="http://schemas.microsoft.com/office/drawing/2014/main" id="{0C38A972-09EB-63D0-C9E7-8D59480B9D4F}"/>
              </a:ext>
            </a:extLst>
          </p:cNvPr>
          <p:cNvSpPr/>
          <p:nvPr>
            <p:custDataLst>
              <p:tags r:id="rId5"/>
            </p:custDataLst>
          </p:nvPr>
        </p:nvSpPr>
        <p:spPr bwMode="auto">
          <a:xfrm>
            <a:off x="542925" y="2940050"/>
            <a:ext cx="142875" cy="106363"/>
          </a:xfrm>
          <a:prstGeom prst="rect">
            <a:avLst/>
          </a:prstGeom>
          <a:solidFill>
            <a:srgbClr val="9DB1CF"/>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46" name="Rectangle 345">
            <a:extLst>
              <a:ext uri="{FF2B5EF4-FFF2-40B4-BE49-F238E27FC236}">
                <a16:creationId xmlns:a16="http://schemas.microsoft.com/office/drawing/2014/main" id="{D29F9D75-77E5-2C25-240F-EF8B7A3E4D71}"/>
              </a:ext>
            </a:extLst>
          </p:cNvPr>
          <p:cNvSpPr/>
          <p:nvPr>
            <p:custDataLst>
              <p:tags r:id="rId6"/>
            </p:custDataLst>
          </p:nvPr>
        </p:nvSpPr>
        <p:spPr bwMode="auto">
          <a:xfrm>
            <a:off x="542925" y="3113088"/>
            <a:ext cx="142875" cy="106363"/>
          </a:xfrm>
          <a:prstGeom prst="rect">
            <a:avLst/>
          </a:prstGeom>
          <a:solidFill>
            <a:srgbClr val="6F8DB9"/>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47" name="Rectangle 346">
            <a:extLst>
              <a:ext uri="{FF2B5EF4-FFF2-40B4-BE49-F238E27FC236}">
                <a16:creationId xmlns:a16="http://schemas.microsoft.com/office/drawing/2014/main" id="{B7D9D017-9A65-AAF8-54E2-9E3A608FFAA8}"/>
              </a:ext>
            </a:extLst>
          </p:cNvPr>
          <p:cNvSpPr/>
          <p:nvPr>
            <p:custDataLst>
              <p:tags r:id="rId7"/>
            </p:custDataLst>
          </p:nvPr>
        </p:nvSpPr>
        <p:spPr bwMode="auto">
          <a:xfrm>
            <a:off x="542925" y="3286125"/>
            <a:ext cx="142875" cy="106363"/>
          </a:xfrm>
          <a:prstGeom prst="rect">
            <a:avLst/>
          </a:prstGeom>
          <a:solidFill>
            <a:srgbClr val="4C6C9C"/>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314" name="Text Placeholder 2">
            <a:extLst>
              <a:ext uri="{FF2B5EF4-FFF2-40B4-BE49-F238E27FC236}">
                <a16:creationId xmlns:a16="http://schemas.microsoft.com/office/drawing/2014/main" id="{65D924B1-22B2-19B2-AB6A-0E6D61CDBD4A}"/>
              </a:ext>
            </a:extLst>
          </p:cNvPr>
          <p:cNvSpPr>
            <a:spLocks noGrp="1"/>
          </p:cNvSpPr>
          <p:nvPr>
            <p:custDataLst>
              <p:tags r:id="rId8"/>
            </p:custDataLst>
          </p:nvPr>
        </p:nvSpPr>
        <p:spPr bwMode="auto">
          <a:xfrm>
            <a:off x="736600" y="2589213"/>
            <a:ext cx="2619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CF69D253-84D9-48D5-8B30-D488D51E6CE9}" type="datetime'''18''''''''''-''2''''''4'''''''">
              <a:rPr lang="en-US" altLang="en-US" sz="800" smtClean="0"/>
              <a:pPr lvl="1">
                <a:spcBef>
                  <a:spcPct val="0"/>
                </a:spcBef>
                <a:spcAft>
                  <a:spcPct val="0"/>
                </a:spcAft>
              </a:pPr>
              <a:t>18-24</a:t>
            </a:fld>
            <a:endParaRPr lang="en-US" sz="800"/>
          </a:p>
        </p:txBody>
      </p:sp>
      <p:sp>
        <p:nvSpPr>
          <p:cNvPr id="315" name="Text Placeholder 2">
            <a:extLst>
              <a:ext uri="{FF2B5EF4-FFF2-40B4-BE49-F238E27FC236}">
                <a16:creationId xmlns:a16="http://schemas.microsoft.com/office/drawing/2014/main" id="{65F25B32-1008-DB27-C56F-8EEB26DFAF37}"/>
              </a:ext>
            </a:extLst>
          </p:cNvPr>
          <p:cNvSpPr>
            <a:spLocks noGrp="1"/>
          </p:cNvSpPr>
          <p:nvPr>
            <p:custDataLst>
              <p:tags r:id="rId9"/>
            </p:custDataLst>
          </p:nvPr>
        </p:nvSpPr>
        <p:spPr bwMode="auto">
          <a:xfrm>
            <a:off x="736600" y="2762250"/>
            <a:ext cx="2619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3A3DCA07-E140-4A0C-8D8F-69B19EEFC575}" type="datetime'''''''''2''''''''''5''''''''''''''''-3''4'''''''''''''''''''">
              <a:rPr lang="en-US" altLang="en-US" sz="800" smtClean="0"/>
              <a:pPr lvl="1">
                <a:spcBef>
                  <a:spcPct val="0"/>
                </a:spcBef>
                <a:spcAft>
                  <a:spcPct val="0"/>
                </a:spcAft>
              </a:pPr>
              <a:t>25-34</a:t>
            </a:fld>
            <a:endParaRPr lang="en-US" sz="800"/>
          </a:p>
        </p:txBody>
      </p:sp>
      <p:sp>
        <p:nvSpPr>
          <p:cNvPr id="316" name="Text Placeholder 2">
            <a:extLst>
              <a:ext uri="{FF2B5EF4-FFF2-40B4-BE49-F238E27FC236}">
                <a16:creationId xmlns:a16="http://schemas.microsoft.com/office/drawing/2014/main" id="{4B47D5F9-A2C4-725E-E7D5-DF1D109099C9}"/>
              </a:ext>
            </a:extLst>
          </p:cNvPr>
          <p:cNvSpPr>
            <a:spLocks noGrp="1"/>
          </p:cNvSpPr>
          <p:nvPr>
            <p:custDataLst>
              <p:tags r:id="rId10"/>
            </p:custDataLst>
          </p:nvPr>
        </p:nvSpPr>
        <p:spPr bwMode="auto">
          <a:xfrm>
            <a:off x="736600" y="2935288"/>
            <a:ext cx="2619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02B22C97-8C51-4292-810B-E1BBA7402BB1}" type="datetime'''''''''''''3''''5''''''''''''-''44'''''">
              <a:rPr lang="en-US" altLang="en-US" sz="800" smtClean="0"/>
              <a:pPr lvl="1">
                <a:spcBef>
                  <a:spcPct val="0"/>
                </a:spcBef>
                <a:spcAft>
                  <a:spcPct val="0"/>
                </a:spcAft>
              </a:pPr>
              <a:t>35-44</a:t>
            </a:fld>
            <a:endParaRPr lang="en-US" sz="800"/>
          </a:p>
        </p:txBody>
      </p:sp>
      <p:sp>
        <p:nvSpPr>
          <p:cNvPr id="318" name="Text Placeholder 2">
            <a:extLst>
              <a:ext uri="{FF2B5EF4-FFF2-40B4-BE49-F238E27FC236}">
                <a16:creationId xmlns:a16="http://schemas.microsoft.com/office/drawing/2014/main" id="{68E37146-8E48-449E-B048-4A899A6790D8}"/>
              </a:ext>
            </a:extLst>
          </p:cNvPr>
          <p:cNvSpPr>
            <a:spLocks noGrp="1"/>
          </p:cNvSpPr>
          <p:nvPr>
            <p:custDataLst>
              <p:tags r:id="rId11"/>
            </p:custDataLst>
          </p:nvPr>
        </p:nvSpPr>
        <p:spPr bwMode="auto">
          <a:xfrm>
            <a:off x="736600" y="3108325"/>
            <a:ext cx="2619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926C7EE1-70D2-44FA-85FD-A6C8EB05C484}" type="datetime'''''''''''4''5''''''-''''''''''''''''''''''''''''5''''4'">
              <a:rPr lang="en-US" altLang="en-US" sz="800" smtClean="0"/>
              <a:pPr lvl="1">
                <a:spcBef>
                  <a:spcPct val="0"/>
                </a:spcBef>
                <a:spcAft>
                  <a:spcPct val="0"/>
                </a:spcAft>
              </a:pPr>
              <a:t>45-54</a:t>
            </a:fld>
            <a:endParaRPr lang="en-US" sz="800"/>
          </a:p>
        </p:txBody>
      </p:sp>
      <p:sp>
        <p:nvSpPr>
          <p:cNvPr id="319" name="Text Placeholder 2">
            <a:extLst>
              <a:ext uri="{FF2B5EF4-FFF2-40B4-BE49-F238E27FC236}">
                <a16:creationId xmlns:a16="http://schemas.microsoft.com/office/drawing/2014/main" id="{A971A835-7291-C2AD-25E7-3458B91AB136}"/>
              </a:ext>
            </a:extLst>
          </p:cNvPr>
          <p:cNvSpPr>
            <a:spLocks noGrp="1"/>
          </p:cNvSpPr>
          <p:nvPr>
            <p:custDataLst>
              <p:tags r:id="rId12"/>
            </p:custDataLst>
          </p:nvPr>
        </p:nvSpPr>
        <p:spPr bwMode="auto">
          <a:xfrm>
            <a:off x="736600" y="3281363"/>
            <a:ext cx="1730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E79981D6-F23E-4624-A679-E1F86390BAC9}" type="datetime'''''''''''''''''5''5''''''''''+'''''''''">
              <a:rPr lang="en-US" altLang="en-US" sz="800" smtClean="0"/>
              <a:pPr lvl="1">
                <a:spcBef>
                  <a:spcPct val="0"/>
                </a:spcBef>
                <a:spcAft>
                  <a:spcPct val="0"/>
                </a:spcAft>
              </a:pPr>
              <a:t>55+</a:t>
            </a:fld>
            <a:endParaRPr lang="en-US" sz="800"/>
          </a:p>
        </p:txBody>
      </p:sp>
      <p:sp>
        <p:nvSpPr>
          <p:cNvPr id="370" name="Rectangle: Rounded Corners 369">
            <a:extLst>
              <a:ext uri="{FF2B5EF4-FFF2-40B4-BE49-F238E27FC236}">
                <a16:creationId xmlns:a16="http://schemas.microsoft.com/office/drawing/2014/main" id="{718F8AAA-693B-F60D-16D6-AE47C73565EA}"/>
              </a:ext>
            </a:extLst>
          </p:cNvPr>
          <p:cNvSpPr/>
          <p:nvPr/>
        </p:nvSpPr>
        <p:spPr>
          <a:xfrm>
            <a:off x="6813775" y="4441263"/>
            <a:ext cx="3709988" cy="277453"/>
          </a:xfrm>
          <a:prstGeom prst="roundRect">
            <a:avLst>
              <a:gd name="adj" fmla="val 3757"/>
            </a:avLst>
          </a:prstGeom>
          <a:noFill/>
          <a:ln>
            <a:solidFill>
              <a:schemeClr val="tx2"/>
            </a:solidFill>
            <a:prstDash val="solid"/>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338D"/>
              </a:solidFill>
              <a:effectLst/>
              <a:uLnTx/>
              <a:uFillTx/>
              <a:latin typeface="Arial"/>
              <a:ea typeface="+mn-ea"/>
              <a:cs typeface="+mn-cs"/>
            </a:endParaRPr>
          </a:p>
        </p:txBody>
      </p:sp>
      <p:sp>
        <p:nvSpPr>
          <p:cNvPr id="837" name="TextBox 836">
            <a:extLst>
              <a:ext uri="{FF2B5EF4-FFF2-40B4-BE49-F238E27FC236}">
                <a16:creationId xmlns:a16="http://schemas.microsoft.com/office/drawing/2014/main" id="{EFFEACA7-E0E0-E323-C462-ADD7D674669E}"/>
              </a:ext>
            </a:extLst>
          </p:cNvPr>
          <p:cNvSpPr txBox="1"/>
          <p:nvPr/>
        </p:nvSpPr>
        <p:spPr>
          <a:xfrm>
            <a:off x="503238" y="5988101"/>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63BD1573-8C87-B564-6D15-EEA8EAD5B109}"/>
              </a:ext>
            </a:extLst>
          </p:cNvPr>
          <p:cNvGrpSpPr>
            <a:grpSpLocks/>
          </p:cNvGrpSpPr>
          <p:nvPr/>
        </p:nvGrpSpPr>
        <p:grpSpPr bwMode="auto">
          <a:xfrm>
            <a:off x="502273" y="966177"/>
            <a:ext cx="11282572" cy="365126"/>
            <a:chOff x="1288" y="1523"/>
            <a:chExt cx="4426" cy="230"/>
          </a:xfrm>
        </p:grpSpPr>
        <p:sp>
          <p:nvSpPr>
            <p:cNvPr id="14" name="Line 56">
              <a:extLst>
                <a:ext uri="{FF2B5EF4-FFF2-40B4-BE49-F238E27FC236}">
                  <a16:creationId xmlns:a16="http://schemas.microsoft.com/office/drawing/2014/main" id="{8CD98333-A845-A159-ABC2-F7E25BA23725}"/>
                </a:ext>
              </a:extLst>
            </p:cNvPr>
            <p:cNvSpPr>
              <a:spLocks noChangeShapeType="1"/>
            </p:cNvSpPr>
            <p:nvPr>
              <p:custDataLst>
                <p:tags r:id="rId24"/>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80B2DACA-EDB8-4E13-7860-5C1A6F3FBC8E}"/>
                </a:ext>
              </a:extLst>
            </p:cNvPr>
            <p:cNvSpPr txBox="1">
              <a:spLocks noChangeArrowheads="1"/>
            </p:cNvSpPr>
            <p:nvPr>
              <p:custDataLst>
                <p:tags r:id="rId25"/>
              </p:custDataLst>
            </p:nvPr>
          </p:nvSpPr>
          <p:spPr bwMode="gray">
            <a:xfrm>
              <a:off x="1288" y="1523"/>
              <a:ext cx="442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Younger gig workforce and mixed sentiment on flexibility, pay, and benefits create retention and compliance challenges for Walmart Spark, requiring a labor model that balances cost, autonomy, and stability.</a:t>
              </a:r>
            </a:p>
          </p:txBody>
        </p:sp>
      </p:grpSp>
      <p:grpSp>
        <p:nvGrpSpPr>
          <p:cNvPr id="21" name="Subtitle [Placeholder]">
            <a:extLst>
              <a:ext uri="{FF2B5EF4-FFF2-40B4-BE49-F238E27FC236}">
                <a16:creationId xmlns:a16="http://schemas.microsoft.com/office/drawing/2014/main" id="{FC3926A9-6528-F6DB-7BBA-1270C77F5200}"/>
              </a:ext>
            </a:extLst>
          </p:cNvPr>
          <p:cNvGrpSpPr>
            <a:grpSpLocks/>
          </p:cNvGrpSpPr>
          <p:nvPr/>
        </p:nvGrpSpPr>
        <p:grpSpPr bwMode="auto">
          <a:xfrm>
            <a:off x="502273" y="1511942"/>
            <a:ext cx="5174627" cy="600202"/>
            <a:chOff x="902" y="-489805"/>
            <a:chExt cx="3832" cy="491554"/>
          </a:xfrm>
        </p:grpSpPr>
        <p:sp>
          <p:nvSpPr>
            <p:cNvPr id="22" name="Line 56">
              <a:extLst>
                <a:ext uri="{FF2B5EF4-FFF2-40B4-BE49-F238E27FC236}">
                  <a16:creationId xmlns:a16="http://schemas.microsoft.com/office/drawing/2014/main" id="{5904293C-F3B0-986D-7065-1550B3A0D1BA}"/>
                </a:ext>
              </a:extLst>
            </p:cNvPr>
            <p:cNvSpPr>
              <a:spLocks noChangeShapeType="1"/>
            </p:cNvSpPr>
            <p:nvPr>
              <p:custDataLst>
                <p:tags r:id="rId2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3" name="Text Box 57">
              <a:extLst>
                <a:ext uri="{FF2B5EF4-FFF2-40B4-BE49-F238E27FC236}">
                  <a16:creationId xmlns:a16="http://schemas.microsoft.com/office/drawing/2014/main" id="{5730DD6D-0F0B-BFDF-777C-77FA18F8D321}"/>
                </a:ext>
              </a:extLst>
            </p:cNvPr>
            <p:cNvSpPr txBox="1">
              <a:spLocks noChangeArrowheads="1"/>
            </p:cNvSpPr>
            <p:nvPr>
              <p:custDataLst>
                <p:tags r:id="rId23"/>
              </p:custDataLst>
            </p:nvPr>
          </p:nvSpPr>
          <p:spPr bwMode="gray">
            <a:xfrm>
              <a:off x="902" y="-489805"/>
              <a:ext cx="3832" cy="491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Age Distribution of U.S. Gig Workers (Best Estimates, 2025)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Nearly 65% of U.S. gig workers are under 35, with Millennials (25–34) making up the largest share at 43%. Older workers (55+) represent less than 10%, underscoring the gig economy’s strong appeal to younger generations</a:t>
              </a:r>
            </a:p>
          </p:txBody>
        </p:sp>
      </p:grpSp>
      <p:grpSp>
        <p:nvGrpSpPr>
          <p:cNvPr id="43" name="Subtitle [Placeholder]">
            <a:extLst>
              <a:ext uri="{FF2B5EF4-FFF2-40B4-BE49-F238E27FC236}">
                <a16:creationId xmlns:a16="http://schemas.microsoft.com/office/drawing/2014/main" id="{085BB7F6-7CC0-5DDE-166B-E94680B54321}"/>
              </a:ext>
            </a:extLst>
          </p:cNvPr>
          <p:cNvGrpSpPr>
            <a:grpSpLocks/>
          </p:cNvGrpSpPr>
          <p:nvPr/>
        </p:nvGrpSpPr>
        <p:grpSpPr bwMode="auto">
          <a:xfrm>
            <a:off x="6096000" y="1373404"/>
            <a:ext cx="5243074" cy="738702"/>
            <a:chOff x="902" y="-603234"/>
            <a:chExt cx="3832" cy="604983"/>
          </a:xfrm>
        </p:grpSpPr>
        <p:sp>
          <p:nvSpPr>
            <p:cNvPr id="44" name="Line 56">
              <a:extLst>
                <a:ext uri="{FF2B5EF4-FFF2-40B4-BE49-F238E27FC236}">
                  <a16:creationId xmlns:a16="http://schemas.microsoft.com/office/drawing/2014/main" id="{7954E4DF-8A24-196E-5F8C-826793E6AF25}"/>
                </a:ext>
              </a:extLst>
            </p:cNvPr>
            <p:cNvSpPr>
              <a:spLocks noChangeShapeType="1"/>
            </p:cNvSpPr>
            <p:nvPr>
              <p:custDataLst>
                <p:tags r:id="rId20"/>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45" name="Text Box 57">
              <a:extLst>
                <a:ext uri="{FF2B5EF4-FFF2-40B4-BE49-F238E27FC236}">
                  <a16:creationId xmlns:a16="http://schemas.microsoft.com/office/drawing/2014/main" id="{4F3C5676-571E-966C-0881-DE992B6F7548}"/>
                </a:ext>
              </a:extLst>
            </p:cNvPr>
            <p:cNvSpPr txBox="1">
              <a:spLocks noChangeArrowheads="1"/>
            </p:cNvSpPr>
            <p:nvPr>
              <p:custDataLst>
                <p:tags r:id="rId21"/>
              </p:custDataLst>
            </p:nvPr>
          </p:nvSpPr>
          <p:spPr bwMode="gray">
            <a:xfrm>
              <a:off x="902" y="-603234"/>
              <a:ext cx="3832" cy="60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Central Paradox of the Gig Economy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The industry's entire model is built on "flexibility," but this ignores a massive latent demand for stability and security. The platform that can bridge this gap—offering the best of both worlds—will attract and retain the most committed, high-performing drivers</a:t>
              </a:r>
            </a:p>
          </p:txBody>
        </p:sp>
      </p:grpSp>
      <p:sp>
        <p:nvSpPr>
          <p:cNvPr id="48" name="Rectangle 47">
            <a:extLst>
              <a:ext uri="{FF2B5EF4-FFF2-40B4-BE49-F238E27FC236}">
                <a16:creationId xmlns:a16="http://schemas.microsoft.com/office/drawing/2014/main" id="{BC497CA4-183B-373E-AD60-1316C61EEF6E}"/>
              </a:ext>
            </a:extLst>
          </p:cNvPr>
          <p:cNvSpPr/>
          <p:nvPr/>
        </p:nvSpPr>
        <p:spPr>
          <a:xfrm>
            <a:off x="6141010" y="2279650"/>
            <a:ext cx="2317190" cy="7240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3600">
              <a:solidFill>
                <a:schemeClr val="bg1"/>
              </a:solidFill>
              <a:latin typeface="+mj-lt"/>
            </a:endParaRPr>
          </a:p>
        </p:txBody>
      </p:sp>
      <p:sp>
        <p:nvSpPr>
          <p:cNvPr id="49" name="Rectangle 48">
            <a:extLst>
              <a:ext uri="{FF2B5EF4-FFF2-40B4-BE49-F238E27FC236}">
                <a16:creationId xmlns:a16="http://schemas.microsoft.com/office/drawing/2014/main" id="{A02B51E1-A9E9-26FD-DC6C-CA2256305B02}"/>
              </a:ext>
            </a:extLst>
          </p:cNvPr>
          <p:cNvSpPr/>
          <p:nvPr/>
        </p:nvSpPr>
        <p:spPr>
          <a:xfrm>
            <a:off x="9021884" y="2270855"/>
            <a:ext cx="2317190" cy="72237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0" name="TextBox 49">
            <a:extLst>
              <a:ext uri="{FF2B5EF4-FFF2-40B4-BE49-F238E27FC236}">
                <a16:creationId xmlns:a16="http://schemas.microsoft.com/office/drawing/2014/main" id="{C611E56D-78F9-D1C2-FF06-04F1A2C95EF3}"/>
              </a:ext>
            </a:extLst>
          </p:cNvPr>
          <p:cNvSpPr txBox="1"/>
          <p:nvPr/>
        </p:nvSpPr>
        <p:spPr>
          <a:xfrm>
            <a:off x="7006492" y="2337670"/>
            <a:ext cx="895350" cy="482524"/>
          </a:xfrm>
          <a:prstGeom prst="rect">
            <a:avLst/>
          </a:prstGeom>
        </p:spPr>
        <p:txBody>
          <a:bodyPr vert="horz" wrap="square" lIns="0" tIns="0" rIns="0" bIns="0" rtlCol="0" anchor="t" anchorCtr="0">
            <a:noAutofit/>
          </a:bodyPr>
          <a:lstStyle/>
          <a:p>
            <a:pPr algn="l">
              <a:spcAft>
                <a:spcPts val="600"/>
              </a:spcAft>
            </a:pPr>
            <a:r>
              <a:rPr lang="en-US" sz="3600" b="1">
                <a:solidFill>
                  <a:schemeClr val="bg1"/>
                </a:solidFill>
                <a:latin typeface="+mj-lt"/>
              </a:rPr>
              <a:t>63%</a:t>
            </a:r>
          </a:p>
        </p:txBody>
      </p:sp>
      <p:sp>
        <p:nvSpPr>
          <p:cNvPr id="51" name="TextBox 50">
            <a:extLst>
              <a:ext uri="{FF2B5EF4-FFF2-40B4-BE49-F238E27FC236}">
                <a16:creationId xmlns:a16="http://schemas.microsoft.com/office/drawing/2014/main" id="{BC392B9D-B664-478B-C2C0-6E25A7DF95C2}"/>
              </a:ext>
            </a:extLst>
          </p:cNvPr>
          <p:cNvSpPr txBox="1"/>
          <p:nvPr/>
        </p:nvSpPr>
        <p:spPr>
          <a:xfrm>
            <a:off x="9953625" y="2328145"/>
            <a:ext cx="895350" cy="482524"/>
          </a:xfrm>
          <a:prstGeom prst="rect">
            <a:avLst/>
          </a:prstGeom>
        </p:spPr>
        <p:txBody>
          <a:bodyPr vert="horz" wrap="square" lIns="0" tIns="0" rIns="0" bIns="0" rtlCol="0" anchor="t" anchorCtr="0">
            <a:noAutofit/>
          </a:bodyPr>
          <a:lstStyle/>
          <a:p>
            <a:pPr algn="l">
              <a:spcAft>
                <a:spcPts val="600"/>
              </a:spcAft>
            </a:pPr>
            <a:r>
              <a:rPr lang="en-US" sz="3600" b="1">
                <a:solidFill>
                  <a:schemeClr val="bg1"/>
                </a:solidFill>
                <a:latin typeface="+mj-lt"/>
              </a:rPr>
              <a:t>62%</a:t>
            </a:r>
          </a:p>
        </p:txBody>
      </p:sp>
      <p:sp>
        <p:nvSpPr>
          <p:cNvPr id="54" name="Rectangle: Top Corners Rounded 53">
            <a:extLst>
              <a:ext uri="{FF2B5EF4-FFF2-40B4-BE49-F238E27FC236}">
                <a16:creationId xmlns:a16="http://schemas.microsoft.com/office/drawing/2014/main" id="{A6AF640F-E9E7-D99D-7608-070A95EAE0DC}"/>
              </a:ext>
            </a:extLst>
          </p:cNvPr>
          <p:cNvSpPr/>
          <p:nvPr/>
        </p:nvSpPr>
        <p:spPr>
          <a:xfrm rot="10800000">
            <a:off x="6144768" y="3009504"/>
            <a:ext cx="2313432" cy="407193"/>
          </a:xfrm>
          <a:prstGeom prst="round2SameRect">
            <a:avLst/>
          </a:prstGeom>
          <a:solidFill>
            <a:srgbClr val="6F8DB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2" name="Text Box 57">
            <a:extLst>
              <a:ext uri="{FF2B5EF4-FFF2-40B4-BE49-F238E27FC236}">
                <a16:creationId xmlns:a16="http://schemas.microsoft.com/office/drawing/2014/main" id="{E3826B99-EB17-D9B8-C518-CFC91421A79F}"/>
              </a:ext>
            </a:extLst>
          </p:cNvPr>
          <p:cNvSpPr txBox="1">
            <a:spLocks noChangeArrowheads="1"/>
          </p:cNvSpPr>
          <p:nvPr>
            <p:custDataLst>
              <p:tags r:id="rId13"/>
            </p:custDataLst>
          </p:nvPr>
        </p:nvSpPr>
        <p:spPr bwMode="gray">
          <a:xfrm>
            <a:off x="6239669" y="3054352"/>
            <a:ext cx="211399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Cite Flexibility as their #1 reason for doing gig work</a:t>
            </a:r>
          </a:p>
        </p:txBody>
      </p:sp>
      <p:sp>
        <p:nvSpPr>
          <p:cNvPr id="55" name="Rectangle: Top Corners Rounded 54">
            <a:extLst>
              <a:ext uri="{FF2B5EF4-FFF2-40B4-BE49-F238E27FC236}">
                <a16:creationId xmlns:a16="http://schemas.microsoft.com/office/drawing/2014/main" id="{C85EEFCF-13D1-1589-82DA-1C72C8115EAC}"/>
              </a:ext>
            </a:extLst>
          </p:cNvPr>
          <p:cNvSpPr/>
          <p:nvPr/>
        </p:nvSpPr>
        <p:spPr>
          <a:xfrm rot="10800000">
            <a:off x="9021884" y="3012123"/>
            <a:ext cx="2313432" cy="407193"/>
          </a:xfrm>
          <a:prstGeom prst="round2SameRect">
            <a:avLst/>
          </a:prstGeom>
          <a:solidFill>
            <a:srgbClr val="6F8DB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53" name="Text Box 57">
            <a:extLst>
              <a:ext uri="{FF2B5EF4-FFF2-40B4-BE49-F238E27FC236}">
                <a16:creationId xmlns:a16="http://schemas.microsoft.com/office/drawing/2014/main" id="{50B9AC6E-8D27-203F-E5D3-BF168016820E}"/>
              </a:ext>
            </a:extLst>
          </p:cNvPr>
          <p:cNvSpPr txBox="1">
            <a:spLocks noChangeArrowheads="1"/>
          </p:cNvSpPr>
          <p:nvPr>
            <p:custDataLst>
              <p:tags r:id="rId14"/>
            </p:custDataLst>
          </p:nvPr>
        </p:nvSpPr>
        <p:spPr bwMode="gray">
          <a:xfrm>
            <a:off x="9109804" y="3030944"/>
            <a:ext cx="20486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bg1"/>
                </a:solidFill>
              </a:rPr>
              <a:t>Would prefer stable, traditional employment if available</a:t>
            </a:r>
          </a:p>
        </p:txBody>
      </p:sp>
      <p:grpSp>
        <p:nvGrpSpPr>
          <p:cNvPr id="56" name="Subtitle [Placeholder]">
            <a:extLst>
              <a:ext uri="{FF2B5EF4-FFF2-40B4-BE49-F238E27FC236}">
                <a16:creationId xmlns:a16="http://schemas.microsoft.com/office/drawing/2014/main" id="{9E384D4B-245A-489B-F9C3-33BC759CE071}"/>
              </a:ext>
            </a:extLst>
          </p:cNvPr>
          <p:cNvGrpSpPr>
            <a:grpSpLocks/>
          </p:cNvGrpSpPr>
          <p:nvPr/>
        </p:nvGrpSpPr>
        <p:grpSpPr bwMode="auto">
          <a:xfrm>
            <a:off x="6092242" y="3715479"/>
            <a:ext cx="5243074" cy="600202"/>
            <a:chOff x="902" y="-489805"/>
            <a:chExt cx="3832" cy="491554"/>
          </a:xfrm>
        </p:grpSpPr>
        <p:sp>
          <p:nvSpPr>
            <p:cNvPr id="57" name="Line 56">
              <a:extLst>
                <a:ext uri="{FF2B5EF4-FFF2-40B4-BE49-F238E27FC236}">
                  <a16:creationId xmlns:a16="http://schemas.microsoft.com/office/drawing/2014/main" id="{D9631328-96DC-E3F2-3C89-AFF1D5085A43}"/>
                </a:ext>
              </a:extLst>
            </p:cNvPr>
            <p:cNvSpPr>
              <a:spLocks noChangeShapeType="1"/>
            </p:cNvSpPr>
            <p:nvPr>
              <p:custDataLst>
                <p:tags r:id="rId18"/>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58" name="Text Box 57">
              <a:extLst>
                <a:ext uri="{FF2B5EF4-FFF2-40B4-BE49-F238E27FC236}">
                  <a16:creationId xmlns:a16="http://schemas.microsoft.com/office/drawing/2014/main" id="{5863F003-9763-52A5-49D3-ACAC77E1DFA7}"/>
                </a:ext>
              </a:extLst>
            </p:cNvPr>
            <p:cNvSpPr txBox="1">
              <a:spLocks noChangeArrowheads="1"/>
            </p:cNvSpPr>
            <p:nvPr>
              <p:custDataLst>
                <p:tags r:id="rId19"/>
              </p:custDataLst>
            </p:nvPr>
          </p:nvSpPr>
          <p:spPr bwMode="gray">
            <a:xfrm>
              <a:off x="902" y="-489805"/>
              <a:ext cx="3832" cy="491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Driver Churn Driven by “Below the Surface” Economic Pressures: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The real threat to driver retention lies in the fundamental economics of the job. Spark must solve for these "below the surface" issues—like pay variability and rising costs—to build a sustainable and loyal driver base</a:t>
              </a:r>
            </a:p>
          </p:txBody>
        </p:sp>
      </p:grpSp>
      <p:sp>
        <p:nvSpPr>
          <p:cNvPr id="59" name="Text Box 57">
            <a:extLst>
              <a:ext uri="{FF2B5EF4-FFF2-40B4-BE49-F238E27FC236}">
                <a16:creationId xmlns:a16="http://schemas.microsoft.com/office/drawing/2014/main" id="{8A8D8B11-5710-79CF-D10A-9E499E609655}"/>
              </a:ext>
            </a:extLst>
          </p:cNvPr>
          <p:cNvSpPr txBox="1">
            <a:spLocks noChangeArrowheads="1"/>
          </p:cNvSpPr>
          <p:nvPr>
            <p:custDataLst>
              <p:tags r:id="rId15"/>
            </p:custDataLst>
          </p:nvPr>
        </p:nvSpPr>
        <p:spPr bwMode="gray">
          <a:xfrm>
            <a:off x="7405399" y="4487541"/>
            <a:ext cx="2847695"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Reported Job Satisfaction by Gig Workers (76-80%)</a:t>
            </a:r>
          </a:p>
        </p:txBody>
      </p:sp>
      <p:cxnSp>
        <p:nvCxnSpPr>
          <p:cNvPr id="61" name="Straight Connector 60">
            <a:extLst>
              <a:ext uri="{FF2B5EF4-FFF2-40B4-BE49-F238E27FC236}">
                <a16:creationId xmlns:a16="http://schemas.microsoft.com/office/drawing/2014/main" id="{A272A275-6422-6D03-7FE3-B6200C19CE65}"/>
              </a:ext>
            </a:extLst>
          </p:cNvPr>
          <p:cNvCxnSpPr>
            <a:cxnSpLocks/>
          </p:cNvCxnSpPr>
          <p:nvPr/>
        </p:nvCxnSpPr>
        <p:spPr>
          <a:xfrm>
            <a:off x="6415532" y="4800523"/>
            <a:ext cx="4384675" cy="0"/>
          </a:xfrm>
          <a:prstGeom prst="line">
            <a:avLst/>
          </a:prstGeom>
          <a:ln w="1270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1024" name="Rectangle: Rounded Corners 1023">
            <a:extLst>
              <a:ext uri="{FF2B5EF4-FFF2-40B4-BE49-F238E27FC236}">
                <a16:creationId xmlns:a16="http://schemas.microsoft.com/office/drawing/2014/main" id="{52C2DEF4-7571-E3AC-0B47-6C710D920EE7}"/>
              </a:ext>
            </a:extLst>
          </p:cNvPr>
          <p:cNvSpPr/>
          <p:nvPr/>
        </p:nvSpPr>
        <p:spPr>
          <a:xfrm>
            <a:off x="6415532" y="4915807"/>
            <a:ext cx="1795913" cy="802916"/>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338D"/>
              </a:solidFill>
              <a:effectLst/>
              <a:uLnTx/>
              <a:uFillTx/>
              <a:latin typeface="Arial"/>
              <a:ea typeface="+mn-ea"/>
              <a:cs typeface="+mn-cs"/>
            </a:endParaRPr>
          </a:p>
        </p:txBody>
      </p:sp>
      <p:sp>
        <p:nvSpPr>
          <p:cNvPr id="1025" name="Text Box 57">
            <a:extLst>
              <a:ext uri="{FF2B5EF4-FFF2-40B4-BE49-F238E27FC236}">
                <a16:creationId xmlns:a16="http://schemas.microsoft.com/office/drawing/2014/main" id="{278B9DA1-483D-46DD-D18D-BD742DF8D1AA}"/>
              </a:ext>
            </a:extLst>
          </p:cNvPr>
          <p:cNvSpPr txBox="1">
            <a:spLocks noChangeArrowheads="1"/>
          </p:cNvSpPr>
          <p:nvPr>
            <p:custDataLst>
              <p:tags r:id="rId16"/>
            </p:custDataLst>
          </p:nvPr>
        </p:nvSpPr>
        <p:spPr bwMode="gray">
          <a:xfrm>
            <a:off x="6680408" y="4943742"/>
            <a:ext cx="1449981" cy="692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1">
                <a:solidFill>
                  <a:schemeClr val="tx1"/>
                </a:solidFill>
              </a:rPr>
              <a:t>Financial Precarity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900" i="1">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1">
                <a:solidFill>
                  <a:schemeClr val="tx1"/>
                </a:solidFill>
              </a:rPr>
              <a:t>Rising </a:t>
            </a:r>
            <a:r>
              <a:rPr lang="en-US" sz="900" i="1" err="1">
                <a:solidFill>
                  <a:schemeClr val="tx1"/>
                </a:solidFill>
              </a:rPr>
              <a:t>OpEx</a:t>
            </a:r>
            <a:r>
              <a:rPr lang="en-US" sz="900" i="1">
                <a:solidFill>
                  <a:schemeClr val="tx1"/>
                </a:solidFill>
              </a:rPr>
              <a:t> (Fuel)</a:t>
            </a:r>
          </a:p>
          <a:p>
            <a:pPr marR="0" lvl="0" algn="l" defTabSz="914400" rtl="0" eaLnBrk="1" fontAlgn="auto" latinLnBrk="0" hangingPunct="1">
              <a:lnSpc>
                <a:spcPct val="100000"/>
              </a:lnSpc>
              <a:spcBef>
                <a:spcPts val="0"/>
              </a:spcBef>
              <a:spcAft>
                <a:spcPts val="0"/>
              </a:spcAft>
              <a:buClrTx/>
              <a:buSzTx/>
              <a:tabLst/>
              <a:defRPr/>
            </a:pPr>
            <a:endParaRPr lang="en-US" sz="900" i="1">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i="1">
                <a:solidFill>
                  <a:schemeClr val="tx1"/>
                </a:solidFill>
              </a:rPr>
              <a:t>Lack of Benefits</a:t>
            </a:r>
          </a:p>
        </p:txBody>
      </p:sp>
      <p:sp>
        <p:nvSpPr>
          <p:cNvPr id="1028" name="Arrow: Left-Right 1027">
            <a:extLst>
              <a:ext uri="{FF2B5EF4-FFF2-40B4-BE49-F238E27FC236}">
                <a16:creationId xmlns:a16="http://schemas.microsoft.com/office/drawing/2014/main" id="{33B53379-9B1F-8F00-C47A-037080442E09}"/>
              </a:ext>
            </a:extLst>
          </p:cNvPr>
          <p:cNvSpPr/>
          <p:nvPr/>
        </p:nvSpPr>
        <p:spPr>
          <a:xfrm>
            <a:off x="8318071" y="5210098"/>
            <a:ext cx="1022350" cy="134938"/>
          </a:xfrm>
          <a:prstGeom prst="leftRightArrow">
            <a:avLst/>
          </a:prstGeom>
          <a:solidFill>
            <a:srgbClr val="6F8DB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1030" name="Text Box 57">
            <a:extLst>
              <a:ext uri="{FF2B5EF4-FFF2-40B4-BE49-F238E27FC236}">
                <a16:creationId xmlns:a16="http://schemas.microsoft.com/office/drawing/2014/main" id="{0F50DE8B-CF88-2E81-7F2B-8BD2D085FC14}"/>
              </a:ext>
            </a:extLst>
          </p:cNvPr>
          <p:cNvSpPr txBox="1">
            <a:spLocks noChangeArrowheads="1"/>
          </p:cNvSpPr>
          <p:nvPr>
            <p:custDataLst>
              <p:tags r:id="rId17"/>
            </p:custDataLst>
          </p:nvPr>
        </p:nvSpPr>
        <p:spPr bwMode="gray">
          <a:xfrm>
            <a:off x="9447047" y="5211514"/>
            <a:ext cx="1531037" cy="138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Hidden Drivers of Churn</a:t>
            </a:r>
          </a:p>
        </p:txBody>
      </p:sp>
    </p:spTree>
    <p:extLst>
      <p:ext uri="{BB962C8B-B14F-4D97-AF65-F5344CB8AC3E}">
        <p14:creationId xmlns:p14="http://schemas.microsoft.com/office/powerpoint/2010/main" val="3031809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864A2-C290-B6A4-7CDD-CF49E41C19ED}"/>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95FD3EE-06C5-3731-A5F5-9C366E5532C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473" imgH="473" progId="TCLayout.ActiveDocument.1">
                  <p:embed/>
                </p:oleObj>
              </mc:Choice>
              <mc:Fallback>
                <p:oleObj name="think-cell Slide" r:id="rId27" imgW="473" imgH="473" progId="TCLayout.ActiveDocument.1">
                  <p:embed/>
                  <p:pic>
                    <p:nvPicPr>
                      <p:cNvPr id="5" name="think-cell data - do not delete" hidden="1">
                        <a:extLst>
                          <a:ext uri="{FF2B5EF4-FFF2-40B4-BE49-F238E27FC236}">
                            <a16:creationId xmlns:a16="http://schemas.microsoft.com/office/drawing/2014/main" id="{695FD3EE-06C5-3731-A5F5-9C366E5532C8}"/>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E2108627-1050-44E5-D4B5-E8826E8F9367}"/>
              </a:ext>
            </a:extLst>
          </p:cNvPr>
          <p:cNvSpPr>
            <a:spLocks noGrp="1"/>
          </p:cNvSpPr>
          <p:nvPr>
            <p:ph type="body" sz="quarter" idx="19"/>
          </p:nvPr>
        </p:nvSpPr>
        <p:spPr/>
        <p:txBody>
          <a:bodyPr/>
          <a:lstStyle/>
          <a:p>
            <a:pPr marL="0" indent="0">
              <a:buNone/>
            </a:pPr>
            <a:r>
              <a:rPr lang="en-US" dirty="0">
                <a:cs typeface="Arial"/>
              </a:rPr>
              <a:t>Gig workforce management: PayScale</a:t>
            </a:r>
          </a:p>
        </p:txBody>
      </p:sp>
      <p:sp>
        <p:nvSpPr>
          <p:cNvPr id="3" name="Title 2">
            <a:extLst>
              <a:ext uri="{FF2B5EF4-FFF2-40B4-BE49-F238E27FC236}">
                <a16:creationId xmlns:a16="http://schemas.microsoft.com/office/drawing/2014/main" id="{F43C71ED-B761-8181-0E8E-A13768674BB8}"/>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Deconstructing Driver Pay: A Mix of Dynamic Base, Promotions, and Tips</a:t>
            </a:r>
          </a:p>
        </p:txBody>
      </p:sp>
      <p:sp>
        <p:nvSpPr>
          <p:cNvPr id="837" name="TextBox 836">
            <a:extLst>
              <a:ext uri="{FF2B5EF4-FFF2-40B4-BE49-F238E27FC236}">
                <a16:creationId xmlns:a16="http://schemas.microsoft.com/office/drawing/2014/main" id="{BD2E07BD-4619-BB21-8CF3-A3D0B9B07EEB}"/>
              </a:ext>
            </a:extLst>
          </p:cNvPr>
          <p:cNvSpPr txBox="1"/>
          <p:nvPr/>
        </p:nvSpPr>
        <p:spPr>
          <a:xfrm>
            <a:off x="502273" y="6037162"/>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5F4C5A3E-E6C4-DFFE-AD9F-AC06FE98ADE7}"/>
              </a:ext>
            </a:extLst>
          </p:cNvPr>
          <p:cNvGrpSpPr>
            <a:grpSpLocks/>
          </p:cNvGrpSpPr>
          <p:nvPr/>
        </p:nvGrpSpPr>
        <p:grpSpPr bwMode="auto">
          <a:xfrm>
            <a:off x="495300" y="1009709"/>
            <a:ext cx="11282572" cy="211138"/>
            <a:chOff x="1288" y="1620"/>
            <a:chExt cx="4426" cy="133"/>
          </a:xfrm>
        </p:grpSpPr>
        <p:sp>
          <p:nvSpPr>
            <p:cNvPr id="14" name="Line 56">
              <a:extLst>
                <a:ext uri="{FF2B5EF4-FFF2-40B4-BE49-F238E27FC236}">
                  <a16:creationId xmlns:a16="http://schemas.microsoft.com/office/drawing/2014/main" id="{B46327AE-38AF-3AFE-63CD-6F7484A86624}"/>
                </a:ext>
              </a:extLst>
            </p:cNvPr>
            <p:cNvSpPr>
              <a:spLocks noChangeShapeType="1"/>
            </p:cNvSpPr>
            <p:nvPr>
              <p:custDataLst>
                <p:tags r:id="rId23"/>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816F5E6F-ACAC-7146-8759-D2F2B7D3162F}"/>
                </a:ext>
              </a:extLst>
            </p:cNvPr>
            <p:cNvSpPr txBox="1">
              <a:spLocks noChangeArrowheads="1"/>
            </p:cNvSpPr>
            <p:nvPr>
              <p:custDataLst>
                <p:tags r:id="rId24"/>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Despite average hourly pay ranging from $15 to $25 across Amazon Flex, Uber Eats, DoorDash, and Instacart, driver earnings are shaped by dynamic base pay, promotions, and 100% tip retention. </a:t>
              </a:r>
            </a:p>
          </p:txBody>
        </p:sp>
      </p:grpSp>
      <p:grpSp>
        <p:nvGrpSpPr>
          <p:cNvPr id="21" name="Subtitle [Placeholder]">
            <a:extLst>
              <a:ext uri="{FF2B5EF4-FFF2-40B4-BE49-F238E27FC236}">
                <a16:creationId xmlns:a16="http://schemas.microsoft.com/office/drawing/2014/main" id="{7BB5B144-96DC-9674-B279-8E2726D5E225}"/>
              </a:ext>
            </a:extLst>
          </p:cNvPr>
          <p:cNvGrpSpPr>
            <a:grpSpLocks/>
          </p:cNvGrpSpPr>
          <p:nvPr/>
        </p:nvGrpSpPr>
        <p:grpSpPr bwMode="auto">
          <a:xfrm>
            <a:off x="502273" y="1568509"/>
            <a:ext cx="5174627" cy="323203"/>
            <a:chOff x="902" y="-262948"/>
            <a:chExt cx="3832" cy="264697"/>
          </a:xfrm>
        </p:grpSpPr>
        <p:sp>
          <p:nvSpPr>
            <p:cNvPr id="22" name="Line 56">
              <a:extLst>
                <a:ext uri="{FF2B5EF4-FFF2-40B4-BE49-F238E27FC236}">
                  <a16:creationId xmlns:a16="http://schemas.microsoft.com/office/drawing/2014/main" id="{0EF250F1-78F1-D920-607E-79F09732F5CA}"/>
                </a:ext>
              </a:extLst>
            </p:cNvPr>
            <p:cNvSpPr>
              <a:spLocks noChangeShapeType="1"/>
            </p:cNvSpPr>
            <p:nvPr>
              <p:custDataLst>
                <p:tags r:id="rId21"/>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3" name="Text Box 57">
              <a:extLst>
                <a:ext uri="{FF2B5EF4-FFF2-40B4-BE49-F238E27FC236}">
                  <a16:creationId xmlns:a16="http://schemas.microsoft.com/office/drawing/2014/main" id="{F5112A6D-70F5-EB39-4178-30B8112A16FE}"/>
                </a:ext>
              </a:extLst>
            </p:cNvPr>
            <p:cNvSpPr txBox="1">
              <a:spLocks noChangeArrowheads="1"/>
            </p:cNvSpPr>
            <p:nvPr>
              <p:custDataLst>
                <p:tags r:id="rId22"/>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Surveyed Pay Rates of Gig Workers by Company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Pay Rates of $8-$25/</a:t>
              </a:r>
              <a:r>
                <a:rPr lang="en-US" sz="900" i="1" err="1">
                  <a:solidFill>
                    <a:schemeClr val="tx1"/>
                  </a:solidFill>
                </a:rPr>
                <a:t>hr</a:t>
              </a:r>
              <a:r>
                <a:rPr lang="en-US" sz="900" i="1">
                  <a:solidFill>
                    <a:schemeClr val="tx1"/>
                  </a:solidFill>
                </a:rPr>
                <a:t> mask significant volatility and hidden costs in real-world driver earnings</a:t>
              </a:r>
            </a:p>
          </p:txBody>
        </p:sp>
      </p:grpSp>
      <p:grpSp>
        <p:nvGrpSpPr>
          <p:cNvPr id="43" name="Subtitle [Placeholder]">
            <a:extLst>
              <a:ext uri="{FF2B5EF4-FFF2-40B4-BE49-F238E27FC236}">
                <a16:creationId xmlns:a16="http://schemas.microsoft.com/office/drawing/2014/main" id="{AE901216-60B7-0A3A-5FD5-FD615ECA9ABE}"/>
              </a:ext>
            </a:extLst>
          </p:cNvPr>
          <p:cNvGrpSpPr>
            <a:grpSpLocks/>
          </p:cNvGrpSpPr>
          <p:nvPr/>
        </p:nvGrpSpPr>
        <p:grpSpPr bwMode="auto">
          <a:xfrm>
            <a:off x="6102561" y="1568471"/>
            <a:ext cx="5675311" cy="323203"/>
            <a:chOff x="902" y="-262948"/>
            <a:chExt cx="3832" cy="264697"/>
          </a:xfrm>
        </p:grpSpPr>
        <p:sp>
          <p:nvSpPr>
            <p:cNvPr id="44" name="Line 56">
              <a:extLst>
                <a:ext uri="{FF2B5EF4-FFF2-40B4-BE49-F238E27FC236}">
                  <a16:creationId xmlns:a16="http://schemas.microsoft.com/office/drawing/2014/main" id="{20AB2A50-8E59-6B56-C9AA-97E2CB28E037}"/>
                </a:ext>
              </a:extLst>
            </p:cNvPr>
            <p:cNvSpPr>
              <a:spLocks noChangeShapeType="1"/>
            </p:cNvSpPr>
            <p:nvPr>
              <p:custDataLst>
                <p:tags r:id="rId19"/>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45" name="Text Box 57">
              <a:extLst>
                <a:ext uri="{FF2B5EF4-FFF2-40B4-BE49-F238E27FC236}">
                  <a16:creationId xmlns:a16="http://schemas.microsoft.com/office/drawing/2014/main" id="{80B9F92B-6F06-FE1C-DEDA-90C08FB1A3F6}"/>
                </a:ext>
              </a:extLst>
            </p:cNvPr>
            <p:cNvSpPr txBox="1">
              <a:spLocks noChangeArrowheads="1"/>
            </p:cNvSpPr>
            <p:nvPr>
              <p:custDataLst>
                <p:tags r:id="rId20"/>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Competitor Pay is a Mix of Dynamic Rates and Tiered Rewards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Major platforms share vulnerability to regulatory action related to the classification of their drivers</a:t>
              </a:r>
            </a:p>
          </p:txBody>
        </p:sp>
      </p:grpSp>
      <p:graphicFrame>
        <p:nvGraphicFramePr>
          <p:cNvPr id="27" name="Table 26">
            <a:extLst>
              <a:ext uri="{FF2B5EF4-FFF2-40B4-BE49-F238E27FC236}">
                <a16:creationId xmlns:a16="http://schemas.microsoft.com/office/drawing/2014/main" id="{48E82C4B-89EC-1048-38FC-E1C89F9CC8CF}"/>
              </a:ext>
            </a:extLst>
          </p:cNvPr>
          <p:cNvGraphicFramePr>
            <a:graphicFrameLocks noGrp="1"/>
          </p:cNvGraphicFramePr>
          <p:nvPr/>
        </p:nvGraphicFramePr>
        <p:xfrm>
          <a:off x="6088063" y="2252063"/>
          <a:ext cx="5683248" cy="3124799"/>
        </p:xfrm>
        <a:graphic>
          <a:graphicData uri="http://schemas.openxmlformats.org/drawingml/2006/table">
            <a:tbl>
              <a:tblPr firstRow="1">
                <a:tableStyleId>{9D7B26C5-4107-4FEC-AEDC-1716B250A1EF}</a:tableStyleId>
              </a:tblPr>
              <a:tblGrid>
                <a:gridCol w="603292">
                  <a:extLst>
                    <a:ext uri="{9D8B030D-6E8A-4147-A177-3AD203B41FA5}">
                      <a16:colId xmlns:a16="http://schemas.microsoft.com/office/drawing/2014/main" val="1955548065"/>
                    </a:ext>
                  </a:extLst>
                </a:gridCol>
                <a:gridCol w="1144095">
                  <a:extLst>
                    <a:ext uri="{9D8B030D-6E8A-4147-A177-3AD203B41FA5}">
                      <a16:colId xmlns:a16="http://schemas.microsoft.com/office/drawing/2014/main" val="1269013608"/>
                    </a:ext>
                  </a:extLst>
                </a:gridCol>
                <a:gridCol w="1162097">
                  <a:extLst>
                    <a:ext uri="{9D8B030D-6E8A-4147-A177-3AD203B41FA5}">
                      <a16:colId xmlns:a16="http://schemas.microsoft.com/office/drawing/2014/main" val="738249062"/>
                    </a:ext>
                  </a:extLst>
                </a:gridCol>
                <a:gridCol w="1153614">
                  <a:extLst>
                    <a:ext uri="{9D8B030D-6E8A-4147-A177-3AD203B41FA5}">
                      <a16:colId xmlns:a16="http://schemas.microsoft.com/office/drawing/2014/main" val="3525863085"/>
                    </a:ext>
                  </a:extLst>
                </a:gridCol>
                <a:gridCol w="1620150">
                  <a:extLst>
                    <a:ext uri="{9D8B030D-6E8A-4147-A177-3AD203B41FA5}">
                      <a16:colId xmlns:a16="http://schemas.microsoft.com/office/drawing/2014/main" val="2788234458"/>
                    </a:ext>
                  </a:extLst>
                </a:gridCol>
              </a:tblGrid>
              <a:tr h="465667">
                <a:tc>
                  <a:txBody>
                    <a:bodyPr/>
                    <a:lstStyle/>
                    <a:p>
                      <a:pPr algn="ctr" fontAlgn="t">
                        <a:buNone/>
                      </a:pPr>
                      <a:r>
                        <a:rPr lang="en-US" sz="900" b="1" u="none" strike="noStrike">
                          <a:solidFill>
                            <a:schemeClr val="tx1"/>
                          </a:solidFill>
                          <a:effectLst/>
                        </a:rPr>
                        <a:t>Platform</a:t>
                      </a:r>
                      <a:endParaRPr lang="en-US" sz="900" b="1" i="0" u="none" strike="noStrike">
                        <a:solidFill>
                          <a:schemeClr val="tx1"/>
                        </a:solidFill>
                        <a:effectLst/>
                        <a:latin typeface="Calibri" panose="020F0502020204030204" pitchFamily="34" charset="0"/>
                      </a:endParaRPr>
                    </a:p>
                  </a:txBody>
                  <a:tcPr marL="6350" marR="6350" marT="6350" marB="0" anchor="ctr"/>
                </a:tc>
                <a:tc>
                  <a:txBody>
                    <a:bodyPr/>
                    <a:lstStyle/>
                    <a:p>
                      <a:pPr algn="ctr" fontAlgn="t">
                        <a:buNone/>
                      </a:pPr>
                      <a:r>
                        <a:rPr lang="en-US" sz="900" b="1" u="none" strike="noStrike">
                          <a:solidFill>
                            <a:schemeClr val="tx1"/>
                          </a:solidFill>
                          <a:effectLst/>
                        </a:rPr>
                        <a:t>Avg Hourly Pay (Pre-Expense)</a:t>
                      </a:r>
                      <a:endParaRPr lang="en-US" sz="900" b="1" i="0" u="none" strike="noStrike">
                        <a:solidFill>
                          <a:schemeClr val="tx1"/>
                        </a:solidFill>
                        <a:effectLst/>
                        <a:latin typeface="Calibri" panose="020F0502020204030204" pitchFamily="34" charset="0"/>
                      </a:endParaRPr>
                    </a:p>
                  </a:txBody>
                  <a:tcPr marL="6350" marR="6350" marT="6350" marB="0" anchor="ctr"/>
                </a:tc>
                <a:tc>
                  <a:txBody>
                    <a:bodyPr/>
                    <a:lstStyle/>
                    <a:p>
                      <a:pPr algn="ctr" fontAlgn="t">
                        <a:buNone/>
                      </a:pPr>
                      <a:r>
                        <a:rPr lang="en-US" sz="900" b="1" u="none" strike="noStrike">
                          <a:solidFill>
                            <a:schemeClr val="tx1"/>
                          </a:solidFill>
                          <a:effectLst/>
                        </a:rPr>
                        <a:t>Pay Structure and Incentives</a:t>
                      </a:r>
                      <a:endParaRPr lang="en-US" sz="900" b="1" i="0" u="none" strike="noStrike">
                        <a:solidFill>
                          <a:schemeClr val="tx1"/>
                        </a:solidFill>
                        <a:effectLst/>
                        <a:latin typeface="Calibri" panose="020F0502020204030204" pitchFamily="34" charset="0"/>
                      </a:endParaRPr>
                    </a:p>
                  </a:txBody>
                  <a:tcPr marL="6350" marR="6350" marT="6350" marB="0" anchor="ctr"/>
                </a:tc>
                <a:tc>
                  <a:txBody>
                    <a:bodyPr/>
                    <a:lstStyle/>
                    <a:p>
                      <a:pPr algn="ctr" fontAlgn="t">
                        <a:buNone/>
                      </a:pPr>
                      <a:r>
                        <a:rPr lang="en-US" sz="900" b="1" u="none" strike="noStrike">
                          <a:solidFill>
                            <a:schemeClr val="tx1"/>
                          </a:solidFill>
                          <a:effectLst/>
                        </a:rPr>
                        <a:t>Notable Benefits/Rewards</a:t>
                      </a:r>
                      <a:endParaRPr lang="en-US" sz="900" b="1" i="0" u="none" strike="noStrike">
                        <a:solidFill>
                          <a:schemeClr val="tx1"/>
                        </a:solidFill>
                        <a:effectLst/>
                        <a:latin typeface="Calibri" panose="020F0502020204030204" pitchFamily="34" charset="0"/>
                      </a:endParaRPr>
                    </a:p>
                  </a:txBody>
                  <a:tcPr marL="6350" marR="6350" marT="6350" marB="0" anchor="ctr"/>
                </a:tc>
                <a:tc>
                  <a:txBody>
                    <a:bodyPr/>
                    <a:lstStyle/>
                    <a:p>
                      <a:pPr algn="ctr" fontAlgn="t">
                        <a:buNone/>
                      </a:pPr>
                      <a:r>
                        <a:rPr lang="en-US" sz="900" b="1" u="none" strike="noStrike">
                          <a:solidFill>
                            <a:schemeClr val="tx1"/>
                          </a:solidFill>
                          <a:effectLst/>
                        </a:rPr>
                        <a:t>Compliance Risks and Regulatory Impact</a:t>
                      </a:r>
                      <a:endParaRPr lang="en-US" sz="900" b="1" i="0" u="none" strike="noStrike">
                        <a:solidFill>
                          <a:schemeClr val="tx1"/>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795752147"/>
                  </a:ext>
                </a:extLst>
              </a:tr>
              <a:tr h="909400">
                <a:tc>
                  <a:txBody>
                    <a:bodyPr/>
                    <a:lstStyle/>
                    <a:p>
                      <a:pPr algn="ctr" fontAlgn="t">
                        <a:buNone/>
                      </a:pPr>
                      <a:r>
                        <a:rPr lang="en-US" sz="900" b="0" u="none" strike="noStrike">
                          <a:solidFill>
                            <a:srgbClr val="000000"/>
                          </a:solidFill>
                          <a:effectLst/>
                        </a:rPr>
                        <a:t>Amazon Flex</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$18–$25/</a:t>
                      </a:r>
                      <a:r>
                        <a:rPr lang="en-US" sz="900" b="0" u="none" strike="noStrike" err="1">
                          <a:solidFill>
                            <a:srgbClr val="000000"/>
                          </a:solidFill>
                          <a:effectLst/>
                        </a:rPr>
                        <a:t>hr</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Fixed block pay; no per-order variability</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Tiered rewards: up to 6% fuel cashback, preferred scheduling, vehicle discounts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Hybrid model (DSPs as employees, Flex as contractors); high misclassification risk under DOL 2024 rule</a:t>
                      </a:r>
                      <a:endParaRPr lang="en-US" sz="9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11448252"/>
                  </a:ext>
                </a:extLst>
              </a:tr>
              <a:tr h="533840">
                <a:tc>
                  <a:txBody>
                    <a:bodyPr/>
                    <a:lstStyle/>
                    <a:p>
                      <a:pPr algn="ctr" fontAlgn="t">
                        <a:buNone/>
                      </a:pPr>
                      <a:r>
                        <a:rPr lang="en-US" sz="900" b="0" u="none" strike="noStrike">
                          <a:solidFill>
                            <a:srgbClr val="000000"/>
                          </a:solidFill>
                          <a:effectLst/>
                        </a:rPr>
                        <a:t>Uber Eats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$15–$22/hr</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Dynamic per order; Surge, Quests, Boost</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Uber Pro: tuition, vehicle maintenance discounts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IRS &amp; DOL scrutiny; legal settlements up to $100M; Prop 22 in CA</a:t>
                      </a:r>
                      <a:endParaRPr lang="en-US" sz="9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266959595"/>
                  </a:ext>
                </a:extLst>
              </a:tr>
              <a:tr h="682052">
                <a:tc>
                  <a:txBody>
                    <a:bodyPr/>
                    <a:lstStyle/>
                    <a:p>
                      <a:pPr algn="ctr" fontAlgn="t">
                        <a:buNone/>
                      </a:pPr>
                      <a:r>
                        <a:rPr lang="en-US" sz="900" b="0" u="none" strike="noStrike">
                          <a:solidFill>
                            <a:srgbClr val="000000"/>
                          </a:solidFill>
                          <a:effectLst/>
                        </a:rPr>
                        <a:t>DoorDash</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~$16.61/</a:t>
                      </a:r>
                      <a:r>
                        <a:rPr lang="en-US" sz="900" b="0" u="none" strike="noStrike" err="1">
                          <a:solidFill>
                            <a:srgbClr val="000000"/>
                          </a:solidFill>
                          <a:effectLst/>
                        </a:rPr>
                        <a:t>hr</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Dynamic per order ($2–$10+); Peak Pay, Challenges, Streaks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DasherDirect: 2% gas cashback, instant pay</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High misclassification risk; Prop 22 implications; state-level complexity</a:t>
                      </a:r>
                      <a:endParaRPr lang="en-US" sz="9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439197920"/>
                  </a:ext>
                </a:extLst>
              </a:tr>
              <a:tr h="533840">
                <a:tc>
                  <a:txBody>
                    <a:bodyPr/>
                    <a:lstStyle/>
                    <a:p>
                      <a:pPr algn="ctr" fontAlgn="t">
                        <a:buNone/>
                      </a:pPr>
                      <a:r>
                        <a:rPr lang="en-US" sz="900" b="0" u="none" strike="noStrike">
                          <a:solidFill>
                            <a:srgbClr val="000000"/>
                          </a:solidFill>
                          <a:effectLst/>
                        </a:rPr>
                        <a:t>Instacart</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~$18/hr (often lower net)</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Per-batch payment; Peak Boosts, Quality Bonuses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Occasional promotions, no standing rewards</a:t>
                      </a:r>
                      <a:endParaRPr lang="en-US" sz="9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t">
                        <a:buNone/>
                      </a:pPr>
                      <a:r>
                        <a:rPr lang="en-US" sz="900" b="0" u="none" strike="noStrike">
                          <a:solidFill>
                            <a:srgbClr val="000000"/>
                          </a:solidFill>
                          <a:effectLst/>
                        </a:rPr>
                        <a:t>State-level complexity; risk of reclassification; onboarding delays</a:t>
                      </a:r>
                      <a:endParaRPr lang="en-US" sz="9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011599073"/>
                  </a:ext>
                </a:extLst>
              </a:tr>
            </a:tbl>
          </a:graphicData>
        </a:graphic>
      </p:graphicFrame>
      <p:sp>
        <p:nvSpPr>
          <p:cNvPr id="30" name="Rectangle: Rounded Corners 29">
            <a:extLst>
              <a:ext uri="{FF2B5EF4-FFF2-40B4-BE49-F238E27FC236}">
                <a16:creationId xmlns:a16="http://schemas.microsoft.com/office/drawing/2014/main" id="{3EF766BA-3EB2-903A-E46E-7989A9B86E4F}"/>
              </a:ext>
            </a:extLst>
          </p:cNvPr>
          <p:cNvSpPr/>
          <p:nvPr/>
        </p:nvSpPr>
        <p:spPr>
          <a:xfrm>
            <a:off x="495300" y="5657851"/>
            <a:ext cx="11282572" cy="380469"/>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r>
              <a:rPr lang="en-US" sz="1000" i="1">
                <a:solidFill>
                  <a:schemeClr val="tx1"/>
                </a:solidFill>
              </a:rPr>
              <a:t>Tightening DOL rules and state laws like California’s Prop 22 have put gig platforms under increasing legal scrutiny, making compliance risk and workforce classification a central challenge for sustainable operations.</a:t>
            </a:r>
          </a:p>
        </p:txBody>
      </p:sp>
      <p:graphicFrame>
        <p:nvGraphicFramePr>
          <p:cNvPr id="842" name="Chart 841">
            <a:extLst>
              <a:ext uri="{FF2B5EF4-FFF2-40B4-BE49-F238E27FC236}">
                <a16:creationId xmlns:a16="http://schemas.microsoft.com/office/drawing/2014/main" id="{5376ED66-C3DF-2094-F88F-4851C1BC697A}"/>
              </a:ext>
            </a:extLst>
          </p:cNvPr>
          <p:cNvGraphicFramePr/>
          <p:nvPr>
            <p:custDataLst>
              <p:tags r:id="rId2"/>
            </p:custDataLst>
          </p:nvPr>
        </p:nvGraphicFramePr>
        <p:xfrm>
          <a:off x="1096963" y="2270125"/>
          <a:ext cx="4281487" cy="3189288"/>
        </p:xfrm>
        <a:graphic>
          <a:graphicData uri="http://schemas.openxmlformats.org/drawingml/2006/chart">
            <c:chart xmlns:c="http://schemas.openxmlformats.org/drawingml/2006/chart" xmlns:r="http://schemas.openxmlformats.org/officeDocument/2006/relationships" r:id="rId29"/>
          </a:graphicData>
        </a:graphic>
      </p:graphicFrame>
      <p:sp>
        <p:nvSpPr>
          <p:cNvPr id="357" name="Text Placeholder 2">
            <a:extLst>
              <a:ext uri="{FF2B5EF4-FFF2-40B4-BE49-F238E27FC236}">
                <a16:creationId xmlns:a16="http://schemas.microsoft.com/office/drawing/2014/main" id="{F94EB5C8-0736-1C29-4A9A-FA6C92609114}"/>
              </a:ext>
            </a:extLst>
          </p:cNvPr>
          <p:cNvSpPr>
            <a:spLocks noGrp="1"/>
          </p:cNvSpPr>
          <p:nvPr>
            <p:custDataLst>
              <p:tags r:id="rId3"/>
            </p:custDataLst>
          </p:nvPr>
        </p:nvSpPr>
        <p:spPr bwMode="gray">
          <a:xfrm>
            <a:off x="4576762" y="2668588"/>
            <a:ext cx="285750" cy="122238"/>
          </a:xfrm>
          <a:prstGeom prst="rect">
            <a:avLst/>
          </a:prstGeom>
          <a:solidFill>
            <a:schemeClr val="bg1"/>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68019F94-EFED-485E-8716-B01A2E67C69F}" type="datetime'''''''''''''''''''$7''''''''''''.''''''''0''''''0'">
              <a:rPr lang="en-US" altLang="en-US" sz="800" smtClean="0">
                <a:effectLst/>
              </a:rPr>
              <a:pPr lvl="1" algn="ctr">
                <a:spcBef>
                  <a:spcPct val="0"/>
                </a:spcBef>
                <a:spcAft>
                  <a:spcPct val="0"/>
                </a:spcAft>
              </a:pPr>
              <a:t>$7.00</a:t>
            </a:fld>
            <a:endParaRPr lang="en-US" sz="800"/>
          </a:p>
        </p:txBody>
      </p:sp>
      <p:sp>
        <p:nvSpPr>
          <p:cNvPr id="341" name="Text Placeholder 2">
            <a:extLst>
              <a:ext uri="{FF2B5EF4-FFF2-40B4-BE49-F238E27FC236}">
                <a16:creationId xmlns:a16="http://schemas.microsoft.com/office/drawing/2014/main" id="{8FB0E2D9-204F-AD63-6CDC-D26AE641F63C}"/>
              </a:ext>
            </a:extLst>
          </p:cNvPr>
          <p:cNvSpPr>
            <a:spLocks noGrp="1"/>
          </p:cNvSpPr>
          <p:nvPr>
            <p:custDataLst>
              <p:tags r:id="rId4"/>
            </p:custDataLst>
          </p:nvPr>
        </p:nvSpPr>
        <p:spPr bwMode="gray">
          <a:xfrm>
            <a:off x="2489199" y="2668588"/>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72418A11-CCF0-44C8-81A8-D6C06AC86A56}" type="datetime'''$''''''''''''1''''8.''''''''0''''''''0'''">
              <a:rPr lang="en-US" altLang="en-US" sz="800" smtClean="0"/>
              <a:pPr lvl="1" algn="ctr">
                <a:spcBef>
                  <a:spcPct val="0"/>
                </a:spcBef>
                <a:spcAft>
                  <a:spcPct val="0"/>
                </a:spcAft>
              </a:pPr>
              <a:t>$18.00</a:t>
            </a:fld>
            <a:endParaRPr lang="en-US" sz="800"/>
          </a:p>
        </p:txBody>
      </p:sp>
      <p:sp>
        <p:nvSpPr>
          <p:cNvPr id="1061" name="Text Placeholder 2">
            <a:extLst>
              <a:ext uri="{FF2B5EF4-FFF2-40B4-BE49-F238E27FC236}">
                <a16:creationId xmlns:a16="http://schemas.microsoft.com/office/drawing/2014/main" id="{C07CC68A-DED3-1AC4-4D34-9B261ACB1CC4}"/>
              </a:ext>
            </a:extLst>
          </p:cNvPr>
          <p:cNvSpPr>
            <a:spLocks noGrp="1"/>
          </p:cNvSpPr>
          <p:nvPr>
            <p:custDataLst>
              <p:tags r:id="rId5"/>
            </p:custDataLst>
          </p:nvPr>
        </p:nvSpPr>
        <p:spPr bwMode="auto">
          <a:xfrm>
            <a:off x="517525" y="2668588"/>
            <a:ext cx="5953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D009713A-94D3-490E-A88D-56E0A6359AF6}" type="datetime'''Am''''''''az''''''''''on'''''''' ''''''''Fl''''''''''''ex'">
              <a:rPr lang="en-US" altLang="en-US" sz="800" smtClean="0"/>
              <a:pPr lvl="1" algn="r">
                <a:spcBef>
                  <a:spcPct val="0"/>
                </a:spcBef>
                <a:spcAft>
                  <a:spcPct val="0"/>
                </a:spcAft>
              </a:pPr>
              <a:t>Amazon Flex</a:t>
            </a:fld>
            <a:endParaRPr lang="en-US" sz="800"/>
          </a:p>
        </p:txBody>
      </p:sp>
      <p:sp>
        <p:nvSpPr>
          <p:cNvPr id="358" name="Text Placeholder 2">
            <a:extLst>
              <a:ext uri="{FF2B5EF4-FFF2-40B4-BE49-F238E27FC236}">
                <a16:creationId xmlns:a16="http://schemas.microsoft.com/office/drawing/2014/main" id="{89B5A5A1-833E-578B-5077-D347FCC23F5B}"/>
              </a:ext>
            </a:extLst>
          </p:cNvPr>
          <p:cNvSpPr>
            <a:spLocks noGrp="1"/>
          </p:cNvSpPr>
          <p:nvPr>
            <p:custDataLst>
              <p:tags r:id="rId6"/>
            </p:custDataLst>
          </p:nvPr>
        </p:nvSpPr>
        <p:spPr bwMode="gray">
          <a:xfrm>
            <a:off x="4497387" y="3425825"/>
            <a:ext cx="285750" cy="122238"/>
          </a:xfrm>
          <a:prstGeom prst="rect">
            <a:avLst/>
          </a:prstGeom>
          <a:solidFill>
            <a:schemeClr val="bg1"/>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02387808-56FF-419A-8F5D-040979538207}" type="datetime'''''''$''''''''''''7''''''.''''''''''''''''0''0'''''''''''''''">
              <a:rPr lang="en-US" altLang="en-US" sz="800" smtClean="0">
                <a:effectLst/>
              </a:rPr>
              <a:pPr lvl="1" algn="ctr">
                <a:spcBef>
                  <a:spcPct val="0"/>
                </a:spcBef>
                <a:spcAft>
                  <a:spcPct val="0"/>
                </a:spcAft>
              </a:pPr>
              <a:t>$7.00</a:t>
            </a:fld>
            <a:endParaRPr lang="en-US" sz="800"/>
          </a:p>
        </p:txBody>
      </p:sp>
      <p:sp>
        <p:nvSpPr>
          <p:cNvPr id="342" name="Text Placeholder 2">
            <a:extLst>
              <a:ext uri="{FF2B5EF4-FFF2-40B4-BE49-F238E27FC236}">
                <a16:creationId xmlns:a16="http://schemas.microsoft.com/office/drawing/2014/main" id="{B12AF9FA-5DED-179C-827A-07F331F901EF}"/>
              </a:ext>
            </a:extLst>
          </p:cNvPr>
          <p:cNvSpPr>
            <a:spLocks noGrp="1"/>
          </p:cNvSpPr>
          <p:nvPr>
            <p:custDataLst>
              <p:tags r:id="rId7"/>
            </p:custDataLst>
          </p:nvPr>
        </p:nvSpPr>
        <p:spPr bwMode="gray">
          <a:xfrm>
            <a:off x="2411412" y="3425825"/>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DA28A3AD-36BC-4D46-9768-CA06830E2B97}" type="datetime'''''''''''$1''5''''''''''.''''''''''''''''''0''0'''''''''''''">
              <a:rPr lang="en-US" altLang="en-US" sz="800" smtClean="0"/>
              <a:pPr lvl="1" algn="ctr">
                <a:spcBef>
                  <a:spcPct val="0"/>
                </a:spcBef>
                <a:spcAft>
                  <a:spcPct val="0"/>
                </a:spcAft>
              </a:pPr>
              <a:t>$15.00</a:t>
            </a:fld>
            <a:endParaRPr lang="en-US" sz="800"/>
          </a:p>
        </p:txBody>
      </p:sp>
      <p:sp>
        <p:nvSpPr>
          <p:cNvPr id="1063" name="Text Placeholder 2">
            <a:extLst>
              <a:ext uri="{FF2B5EF4-FFF2-40B4-BE49-F238E27FC236}">
                <a16:creationId xmlns:a16="http://schemas.microsoft.com/office/drawing/2014/main" id="{D7FAB686-A910-0621-F866-9900BB0ACF37}"/>
              </a:ext>
            </a:extLst>
          </p:cNvPr>
          <p:cNvSpPr>
            <a:spLocks noGrp="1"/>
          </p:cNvSpPr>
          <p:nvPr>
            <p:custDataLst>
              <p:tags r:id="rId8"/>
            </p:custDataLst>
          </p:nvPr>
        </p:nvSpPr>
        <p:spPr bwMode="auto">
          <a:xfrm>
            <a:off x="892175" y="3425825"/>
            <a:ext cx="2206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3C0228DE-DBE8-4FCF-BAFF-0841A9D614D6}" type="datetime'''''''U''b''''''''''''e''''''''''r'''''''''''''''">
              <a:rPr lang="en-US" altLang="en-US" sz="800" smtClean="0"/>
              <a:pPr lvl="1" algn="r">
                <a:spcBef>
                  <a:spcPct val="0"/>
                </a:spcBef>
                <a:spcAft>
                  <a:spcPct val="0"/>
                </a:spcAft>
              </a:pPr>
              <a:t>Uber</a:t>
            </a:fld>
            <a:endParaRPr lang="en-US" sz="800"/>
          </a:p>
        </p:txBody>
      </p:sp>
      <p:sp>
        <p:nvSpPr>
          <p:cNvPr id="359" name="Text Placeholder 2">
            <a:extLst>
              <a:ext uri="{FF2B5EF4-FFF2-40B4-BE49-F238E27FC236}">
                <a16:creationId xmlns:a16="http://schemas.microsoft.com/office/drawing/2014/main" id="{F0F4F096-464A-C8FD-374D-DB96D74A30EE}"/>
              </a:ext>
            </a:extLst>
          </p:cNvPr>
          <p:cNvSpPr>
            <a:spLocks noGrp="1"/>
          </p:cNvSpPr>
          <p:nvPr>
            <p:custDataLst>
              <p:tags r:id="rId9"/>
            </p:custDataLst>
          </p:nvPr>
        </p:nvSpPr>
        <p:spPr bwMode="gray">
          <a:xfrm>
            <a:off x="4432299" y="4181475"/>
            <a:ext cx="285750" cy="122238"/>
          </a:xfrm>
          <a:prstGeom prst="rect">
            <a:avLst/>
          </a:prstGeom>
          <a:solidFill>
            <a:schemeClr val="bg1"/>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DB3A210C-9834-4438-88EB-598C84C75292}" type="datetime'''''''''''''''''''''$''''7''''''.''''''''00'''''''''''">
              <a:rPr lang="en-US" altLang="en-US" sz="800" smtClean="0">
                <a:effectLst/>
              </a:rPr>
              <a:pPr lvl="1" algn="ctr">
                <a:spcBef>
                  <a:spcPct val="0"/>
                </a:spcBef>
                <a:spcAft>
                  <a:spcPct val="0"/>
                </a:spcAft>
              </a:pPr>
              <a:t>$7.00</a:t>
            </a:fld>
            <a:endParaRPr lang="en-US" sz="800"/>
          </a:p>
        </p:txBody>
      </p:sp>
      <p:sp>
        <p:nvSpPr>
          <p:cNvPr id="348" name="Text Placeholder 2">
            <a:extLst>
              <a:ext uri="{FF2B5EF4-FFF2-40B4-BE49-F238E27FC236}">
                <a16:creationId xmlns:a16="http://schemas.microsoft.com/office/drawing/2014/main" id="{358EF3D9-7357-AF32-09B3-144962298EA0}"/>
              </a:ext>
            </a:extLst>
          </p:cNvPr>
          <p:cNvSpPr>
            <a:spLocks noGrp="1"/>
          </p:cNvSpPr>
          <p:nvPr>
            <p:custDataLst>
              <p:tags r:id="rId10"/>
            </p:custDataLst>
          </p:nvPr>
        </p:nvSpPr>
        <p:spPr bwMode="gray">
          <a:xfrm>
            <a:off x="2344737" y="4181475"/>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EF7D233C-F23A-4490-95E2-2BDA8573BEA6}" type="datetime'''''''$1''''''3''''''''''.''''''''00'''''''''">
              <a:rPr lang="en-US" altLang="en-US" sz="800" smtClean="0"/>
              <a:pPr lvl="1" algn="ctr">
                <a:spcBef>
                  <a:spcPct val="0"/>
                </a:spcBef>
                <a:spcAft>
                  <a:spcPct val="0"/>
                </a:spcAft>
              </a:pPr>
              <a:t>$13.00</a:t>
            </a:fld>
            <a:endParaRPr lang="en-US" sz="800"/>
          </a:p>
        </p:txBody>
      </p:sp>
      <p:sp>
        <p:nvSpPr>
          <p:cNvPr id="1064" name="Text Placeholder 2">
            <a:extLst>
              <a:ext uri="{FF2B5EF4-FFF2-40B4-BE49-F238E27FC236}">
                <a16:creationId xmlns:a16="http://schemas.microsoft.com/office/drawing/2014/main" id="{7C9B23AA-75C6-BCBD-C890-2DE46410773A}"/>
              </a:ext>
            </a:extLst>
          </p:cNvPr>
          <p:cNvSpPr>
            <a:spLocks noGrp="1"/>
          </p:cNvSpPr>
          <p:nvPr>
            <p:custDataLst>
              <p:tags r:id="rId11"/>
            </p:custDataLst>
          </p:nvPr>
        </p:nvSpPr>
        <p:spPr bwMode="auto">
          <a:xfrm>
            <a:off x="654050" y="4181475"/>
            <a:ext cx="4587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1F283D13-276F-4D19-BDF5-653A0306959D}" type="datetime'''''''''''D''''o''''''''''o''''''''''r''Da''''''sh'''''''">
              <a:rPr lang="en-US" altLang="en-US" sz="800" smtClean="0"/>
              <a:pPr lvl="1" algn="r">
                <a:spcBef>
                  <a:spcPct val="0"/>
                </a:spcBef>
                <a:spcAft>
                  <a:spcPct val="0"/>
                </a:spcAft>
              </a:pPr>
              <a:t>DoorDash</a:t>
            </a:fld>
            <a:endParaRPr lang="en-US" sz="800"/>
          </a:p>
        </p:txBody>
      </p:sp>
      <p:sp>
        <p:nvSpPr>
          <p:cNvPr id="360" name="Text Placeholder 2">
            <a:extLst>
              <a:ext uri="{FF2B5EF4-FFF2-40B4-BE49-F238E27FC236}">
                <a16:creationId xmlns:a16="http://schemas.microsoft.com/office/drawing/2014/main" id="{7002A9AC-D6F4-3009-7C60-B0066E67D37A}"/>
              </a:ext>
            </a:extLst>
          </p:cNvPr>
          <p:cNvSpPr>
            <a:spLocks noGrp="1"/>
          </p:cNvSpPr>
          <p:nvPr>
            <p:custDataLst>
              <p:tags r:id="rId12"/>
            </p:custDataLst>
          </p:nvPr>
        </p:nvSpPr>
        <p:spPr bwMode="gray">
          <a:xfrm>
            <a:off x="4591049" y="4937125"/>
            <a:ext cx="285750" cy="122238"/>
          </a:xfrm>
          <a:prstGeom prst="rect">
            <a:avLst/>
          </a:prstGeom>
          <a:solidFill>
            <a:schemeClr val="bg1"/>
          </a:solidFill>
          <a:ln>
            <a:noFill/>
          </a:ln>
          <a:effec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D0B5D9F3-B83B-447C-9CC7-A724241B24E0}" type="datetime'''''$3''''''''''''''''''.''0''''0'''''''''''''''''''''''''">
              <a:rPr lang="en-US" altLang="en-US" sz="800" smtClean="0">
                <a:effectLst/>
              </a:rPr>
              <a:pPr lvl="1" algn="ctr">
                <a:spcBef>
                  <a:spcPct val="0"/>
                </a:spcBef>
                <a:spcAft>
                  <a:spcPct val="0"/>
                </a:spcAft>
              </a:pPr>
              <a:t>$3.00</a:t>
            </a:fld>
            <a:endParaRPr lang="en-US" sz="800"/>
          </a:p>
        </p:txBody>
      </p:sp>
      <p:sp>
        <p:nvSpPr>
          <p:cNvPr id="349" name="Text Placeholder 2">
            <a:extLst>
              <a:ext uri="{FF2B5EF4-FFF2-40B4-BE49-F238E27FC236}">
                <a16:creationId xmlns:a16="http://schemas.microsoft.com/office/drawing/2014/main" id="{3C863C8A-909E-CD96-7731-68B01D72A754}"/>
              </a:ext>
            </a:extLst>
          </p:cNvPr>
          <p:cNvSpPr>
            <a:spLocks noGrp="1"/>
          </p:cNvSpPr>
          <p:nvPr>
            <p:custDataLst>
              <p:tags r:id="rId13"/>
            </p:custDataLst>
          </p:nvPr>
        </p:nvSpPr>
        <p:spPr bwMode="gray">
          <a:xfrm>
            <a:off x="2533649" y="4937125"/>
            <a:ext cx="28575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BA0EA729-9CA8-4FE3-A579-10375056E76A}" type="datetime'''''''''$''''''8''''''''''''''''''''''''.''''''''''''''00'''''">
              <a:rPr lang="en-US" altLang="en-US" sz="800" smtClean="0"/>
              <a:pPr lvl="1" algn="ctr">
                <a:spcBef>
                  <a:spcPct val="0"/>
                </a:spcBef>
                <a:spcAft>
                  <a:spcPct val="0"/>
                </a:spcAft>
              </a:pPr>
              <a:t>$8.00</a:t>
            </a:fld>
            <a:endParaRPr lang="en-US" sz="800"/>
          </a:p>
        </p:txBody>
      </p:sp>
      <p:sp>
        <p:nvSpPr>
          <p:cNvPr id="1077" name="Text Placeholder 2">
            <a:extLst>
              <a:ext uri="{FF2B5EF4-FFF2-40B4-BE49-F238E27FC236}">
                <a16:creationId xmlns:a16="http://schemas.microsoft.com/office/drawing/2014/main" id="{5407A458-F543-B1A4-45E2-F4F9124A7EC9}"/>
              </a:ext>
            </a:extLst>
          </p:cNvPr>
          <p:cNvSpPr>
            <a:spLocks noGrp="1"/>
          </p:cNvSpPr>
          <p:nvPr>
            <p:custDataLst>
              <p:tags r:id="rId14"/>
            </p:custDataLst>
          </p:nvPr>
        </p:nvSpPr>
        <p:spPr bwMode="auto">
          <a:xfrm>
            <a:off x="415925" y="4937125"/>
            <a:ext cx="6969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34C217E9-8F98-447F-8D72-4F262B69FB78}" type="datetime'''I''''n''s''''''''''t''''''''''aca''rt'' ''''(Rea''l'')'''">
              <a:rPr lang="en-US" altLang="en-US" sz="800" smtClean="0"/>
              <a:pPr lvl="1" algn="r">
                <a:spcBef>
                  <a:spcPct val="0"/>
                </a:spcBef>
                <a:spcAft>
                  <a:spcPct val="0"/>
                </a:spcAft>
              </a:pPr>
              <a:t>Instacart (Real)</a:t>
            </a:fld>
            <a:endParaRPr lang="en-US" sz="800"/>
          </a:p>
        </p:txBody>
      </p:sp>
      <p:sp>
        <p:nvSpPr>
          <p:cNvPr id="1069" name="Text Placeholder 2">
            <a:extLst>
              <a:ext uri="{FF2B5EF4-FFF2-40B4-BE49-F238E27FC236}">
                <a16:creationId xmlns:a16="http://schemas.microsoft.com/office/drawing/2014/main" id="{962B2C49-91D8-F16E-515E-311C12AB0929}"/>
              </a:ext>
            </a:extLst>
          </p:cNvPr>
          <p:cNvSpPr>
            <a:spLocks noGrp="1"/>
          </p:cNvSpPr>
          <p:nvPr>
            <p:custDataLst>
              <p:tags r:id="rId15"/>
            </p:custDataLst>
          </p:nvPr>
        </p:nvSpPr>
        <p:spPr bwMode="gray">
          <a:xfrm>
            <a:off x="5321299" y="2668588"/>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ACADD1E2-95CE-4099-92A7-3194B8FB6BAD}" type="datetime'''''''''''''''$''''''''''''25''.''''''''0''0'''''''">
              <a:rPr lang="en-US" altLang="en-US" sz="800" smtClean="0"/>
              <a:pPr lvl="1">
                <a:spcBef>
                  <a:spcPct val="0"/>
                </a:spcBef>
                <a:spcAft>
                  <a:spcPct val="0"/>
                </a:spcAft>
              </a:pPr>
              <a:t>$25.00</a:t>
            </a:fld>
            <a:endParaRPr lang="en-US" sz="800"/>
          </a:p>
        </p:txBody>
      </p:sp>
      <p:sp>
        <p:nvSpPr>
          <p:cNvPr id="1071" name="Text Placeholder 2">
            <a:extLst>
              <a:ext uri="{FF2B5EF4-FFF2-40B4-BE49-F238E27FC236}">
                <a16:creationId xmlns:a16="http://schemas.microsoft.com/office/drawing/2014/main" id="{FD8E4ED6-D074-1C31-48AC-AC43A33CEF1F}"/>
              </a:ext>
            </a:extLst>
          </p:cNvPr>
          <p:cNvSpPr>
            <a:spLocks noGrp="1"/>
          </p:cNvSpPr>
          <p:nvPr>
            <p:custDataLst>
              <p:tags r:id="rId16"/>
            </p:custDataLst>
          </p:nvPr>
        </p:nvSpPr>
        <p:spPr bwMode="gray">
          <a:xfrm>
            <a:off x="5321299" y="3425825"/>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79CFED05-042D-4CB8-9510-225CD9DD70FD}" type="datetime'$2''''''2''''.''''''''0''''''''''0'''''">
              <a:rPr lang="en-US" altLang="en-US" sz="800" smtClean="0"/>
              <a:pPr lvl="1">
                <a:spcBef>
                  <a:spcPct val="0"/>
                </a:spcBef>
                <a:spcAft>
                  <a:spcPct val="0"/>
                </a:spcAft>
              </a:pPr>
              <a:t>$22.00</a:t>
            </a:fld>
            <a:endParaRPr lang="en-US" sz="800"/>
          </a:p>
        </p:txBody>
      </p:sp>
      <p:sp>
        <p:nvSpPr>
          <p:cNvPr id="1072" name="Text Placeholder 2">
            <a:extLst>
              <a:ext uri="{FF2B5EF4-FFF2-40B4-BE49-F238E27FC236}">
                <a16:creationId xmlns:a16="http://schemas.microsoft.com/office/drawing/2014/main" id="{8085C77A-AE52-7FC8-4B0A-552F84EBC093}"/>
              </a:ext>
            </a:extLst>
          </p:cNvPr>
          <p:cNvSpPr>
            <a:spLocks noGrp="1"/>
          </p:cNvSpPr>
          <p:nvPr>
            <p:custDataLst>
              <p:tags r:id="rId17"/>
            </p:custDataLst>
          </p:nvPr>
        </p:nvSpPr>
        <p:spPr bwMode="gray">
          <a:xfrm>
            <a:off x="5321299" y="4181475"/>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5929C687-68E4-4248-9ABF-46D1480EE9B6}" type="datetime'''''''''''''$''''''2''''''0''''''''''.''0''0'''''''''''''">
              <a:rPr lang="en-US" altLang="en-US" sz="800" smtClean="0"/>
              <a:pPr lvl="1">
                <a:spcBef>
                  <a:spcPct val="0"/>
                </a:spcBef>
                <a:spcAft>
                  <a:spcPct val="0"/>
                </a:spcAft>
              </a:pPr>
              <a:t>$20.00</a:t>
            </a:fld>
            <a:endParaRPr lang="en-US" sz="800"/>
          </a:p>
        </p:txBody>
      </p:sp>
      <p:sp>
        <p:nvSpPr>
          <p:cNvPr id="1079" name="Text Placeholder 2">
            <a:extLst>
              <a:ext uri="{FF2B5EF4-FFF2-40B4-BE49-F238E27FC236}">
                <a16:creationId xmlns:a16="http://schemas.microsoft.com/office/drawing/2014/main" id="{E6C832B5-D755-5F81-488D-62115F39E4E7}"/>
              </a:ext>
            </a:extLst>
          </p:cNvPr>
          <p:cNvSpPr>
            <a:spLocks noGrp="1"/>
          </p:cNvSpPr>
          <p:nvPr>
            <p:custDataLst>
              <p:tags r:id="rId18"/>
            </p:custDataLst>
          </p:nvPr>
        </p:nvSpPr>
        <p:spPr bwMode="gray">
          <a:xfrm>
            <a:off x="5321299" y="4937125"/>
            <a:ext cx="3429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3A9B4E3A-DEF5-451C-9C2E-78B4EB3BAD47}" type="datetime'''''$1''''''1''''.''''''''''''''''''''''''0''''''0'''''''">
              <a:rPr lang="en-US" altLang="en-US" sz="800" smtClean="0"/>
              <a:pPr lvl="1">
                <a:spcBef>
                  <a:spcPct val="0"/>
                </a:spcBef>
                <a:spcAft>
                  <a:spcPct val="0"/>
                </a:spcAft>
              </a:pPr>
              <a:t>$11.00</a:t>
            </a:fld>
            <a:endParaRPr lang="en-US" sz="800"/>
          </a:p>
        </p:txBody>
      </p:sp>
      <p:sp>
        <p:nvSpPr>
          <p:cNvPr id="850" name="Rectangle 849">
            <a:extLst>
              <a:ext uri="{FF2B5EF4-FFF2-40B4-BE49-F238E27FC236}">
                <a16:creationId xmlns:a16="http://schemas.microsoft.com/office/drawing/2014/main" id="{C220C23F-6504-AAB7-F1F1-62C3BDC2C48B}"/>
              </a:ext>
            </a:extLst>
          </p:cNvPr>
          <p:cNvSpPr/>
          <p:nvPr/>
        </p:nvSpPr>
        <p:spPr>
          <a:xfrm>
            <a:off x="3089585" y="2148517"/>
            <a:ext cx="958539" cy="120753"/>
          </a:xfrm>
          <a:prstGeom prst="rect">
            <a:avLst/>
          </a:prstGeom>
          <a:ln/>
        </p:spPr>
        <p:style>
          <a:lnRef idx="2">
            <a:schemeClr val="dk1"/>
          </a:lnRef>
          <a:fillRef idx="1">
            <a:schemeClr val="lt1"/>
          </a:fillRef>
          <a:effectRef idx="0">
            <a:schemeClr val="dk1"/>
          </a:effectRef>
          <a:fontRef idx="minor">
            <a:schemeClr val="dk1"/>
          </a:fontRef>
        </p:style>
        <p:txBody>
          <a:bodyPr lIns="54610" tIns="54610" rIns="54610" bIns="54610" rtlCol="0" anchor="ctr"/>
          <a:lstStyle/>
          <a:p>
            <a:pPr algn="ctr"/>
            <a:r>
              <a:rPr lang="en-US" sz="900">
                <a:solidFill>
                  <a:schemeClr val="tx1"/>
                </a:solidFill>
              </a:rPr>
              <a:t>Pay Range</a:t>
            </a:r>
          </a:p>
        </p:txBody>
      </p:sp>
      <p:cxnSp>
        <p:nvCxnSpPr>
          <p:cNvPr id="852" name="Straight Connector 851">
            <a:extLst>
              <a:ext uri="{FF2B5EF4-FFF2-40B4-BE49-F238E27FC236}">
                <a16:creationId xmlns:a16="http://schemas.microsoft.com/office/drawing/2014/main" id="{62A998A0-D799-A718-5BD1-33F4F12E065F}"/>
              </a:ext>
            </a:extLst>
          </p:cNvPr>
          <p:cNvCxnSpPr>
            <a:cxnSpLocks/>
          </p:cNvCxnSpPr>
          <p:nvPr/>
        </p:nvCxnSpPr>
        <p:spPr>
          <a:xfrm flipH="1">
            <a:off x="1277936" y="2197100"/>
            <a:ext cx="1811649"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53" name="Straight Connector 852">
            <a:extLst>
              <a:ext uri="{FF2B5EF4-FFF2-40B4-BE49-F238E27FC236}">
                <a16:creationId xmlns:a16="http://schemas.microsoft.com/office/drawing/2014/main" id="{A013A67E-A020-8771-DA88-C57133E8BA0D}"/>
              </a:ext>
            </a:extLst>
          </p:cNvPr>
          <p:cNvCxnSpPr>
            <a:cxnSpLocks/>
          </p:cNvCxnSpPr>
          <p:nvPr/>
        </p:nvCxnSpPr>
        <p:spPr>
          <a:xfrm flipH="1">
            <a:off x="4048124" y="2197100"/>
            <a:ext cx="1273175" cy="0"/>
          </a:xfrm>
          <a:prstGeom prst="line">
            <a:avLst/>
          </a:prstGeom>
          <a:ln w="6350"/>
        </p:spPr>
        <p:style>
          <a:lnRef idx="1">
            <a:schemeClr val="dk1"/>
          </a:lnRef>
          <a:fillRef idx="0">
            <a:schemeClr val="dk1"/>
          </a:fillRef>
          <a:effectRef idx="0">
            <a:schemeClr val="dk1"/>
          </a:effectRef>
          <a:fontRef idx="minor">
            <a:schemeClr val="tx1"/>
          </a:fontRef>
        </p:style>
      </p:cxnSp>
      <p:cxnSp>
        <p:nvCxnSpPr>
          <p:cNvPr id="856" name="Straight Connector 855">
            <a:extLst>
              <a:ext uri="{FF2B5EF4-FFF2-40B4-BE49-F238E27FC236}">
                <a16:creationId xmlns:a16="http://schemas.microsoft.com/office/drawing/2014/main" id="{EDB13A18-DA47-71B1-D934-CBCA9CF84AF9}"/>
              </a:ext>
            </a:extLst>
          </p:cNvPr>
          <p:cNvCxnSpPr/>
          <p:nvPr/>
        </p:nvCxnSpPr>
        <p:spPr>
          <a:xfrm>
            <a:off x="5321299" y="2143125"/>
            <a:ext cx="0" cy="12297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57" name="Straight Connector 856">
            <a:extLst>
              <a:ext uri="{FF2B5EF4-FFF2-40B4-BE49-F238E27FC236}">
                <a16:creationId xmlns:a16="http://schemas.microsoft.com/office/drawing/2014/main" id="{4F947AF1-685B-BFAB-E6EB-AFD5A28F7483}"/>
              </a:ext>
            </a:extLst>
          </p:cNvPr>
          <p:cNvCxnSpPr/>
          <p:nvPr/>
        </p:nvCxnSpPr>
        <p:spPr>
          <a:xfrm>
            <a:off x="1277936" y="2135615"/>
            <a:ext cx="0" cy="12297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1165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66D4C-08BB-F53D-37F5-A9184D1C8DCF}"/>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9875939-5DD0-5087-F4AD-829192A7F1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73" imgH="473" progId="TCLayout.ActiveDocument.1">
                  <p:embed/>
                </p:oleObj>
              </mc:Choice>
              <mc:Fallback>
                <p:oleObj name="think-cell Slide" r:id="rId12" imgW="473" imgH="473" progId="TCLayout.ActiveDocument.1">
                  <p:embed/>
                  <p:pic>
                    <p:nvPicPr>
                      <p:cNvPr id="5" name="think-cell data - do not delete" hidden="1">
                        <a:extLst>
                          <a:ext uri="{FF2B5EF4-FFF2-40B4-BE49-F238E27FC236}">
                            <a16:creationId xmlns:a16="http://schemas.microsoft.com/office/drawing/2014/main" id="{B9875939-5DD0-5087-F4AD-829192A7F190}"/>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95818FAB-C090-E746-64A8-555865B0987B}"/>
              </a:ext>
            </a:extLst>
          </p:cNvPr>
          <p:cNvSpPr>
            <a:spLocks noGrp="1"/>
          </p:cNvSpPr>
          <p:nvPr>
            <p:ph type="body" sz="quarter" idx="19"/>
          </p:nvPr>
        </p:nvSpPr>
        <p:spPr/>
        <p:txBody>
          <a:bodyPr/>
          <a:lstStyle/>
          <a:p>
            <a:pPr marL="0" indent="0">
              <a:buNone/>
            </a:pPr>
            <a:r>
              <a:rPr lang="en-US" dirty="0">
                <a:cs typeface="Arial"/>
              </a:rPr>
              <a:t>Competitive landscape: comparative scale across platforms </a:t>
            </a:r>
          </a:p>
        </p:txBody>
      </p:sp>
      <p:sp>
        <p:nvSpPr>
          <p:cNvPr id="3" name="Title 2">
            <a:extLst>
              <a:ext uri="{FF2B5EF4-FFF2-40B4-BE49-F238E27FC236}">
                <a16:creationId xmlns:a16="http://schemas.microsoft.com/office/drawing/2014/main" id="{4C063869-CD72-619D-A9D1-F57EC51E7EBD}"/>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Market Leaders Deploy Distinct Models of Scale to Carve Out Dominance</a:t>
            </a:r>
          </a:p>
        </p:txBody>
      </p:sp>
      <p:sp>
        <p:nvSpPr>
          <p:cNvPr id="837" name="TextBox 836">
            <a:extLst>
              <a:ext uri="{FF2B5EF4-FFF2-40B4-BE49-F238E27FC236}">
                <a16:creationId xmlns:a16="http://schemas.microsoft.com/office/drawing/2014/main" id="{A89BB4ED-CFD8-153F-35C3-599F64E09912}"/>
              </a:ext>
            </a:extLst>
          </p:cNvPr>
          <p:cNvSpPr txBox="1"/>
          <p:nvPr/>
        </p:nvSpPr>
        <p:spPr>
          <a:xfrm>
            <a:off x="502273" y="6037162"/>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387732DA-7D5B-43FF-4FD6-06AEAFFA4B05}"/>
              </a:ext>
            </a:extLst>
          </p:cNvPr>
          <p:cNvGrpSpPr>
            <a:grpSpLocks/>
          </p:cNvGrpSpPr>
          <p:nvPr/>
        </p:nvGrpSpPr>
        <p:grpSpPr bwMode="auto">
          <a:xfrm>
            <a:off x="495300" y="970022"/>
            <a:ext cx="11282572" cy="365126"/>
            <a:chOff x="1288" y="1523"/>
            <a:chExt cx="4426" cy="230"/>
          </a:xfrm>
        </p:grpSpPr>
        <p:sp>
          <p:nvSpPr>
            <p:cNvPr id="14" name="Line 56">
              <a:extLst>
                <a:ext uri="{FF2B5EF4-FFF2-40B4-BE49-F238E27FC236}">
                  <a16:creationId xmlns:a16="http://schemas.microsoft.com/office/drawing/2014/main" id="{3C90E996-A7AB-BD34-09B9-E1B98F9A1F88}"/>
                </a:ext>
              </a:extLst>
            </p:cNvPr>
            <p:cNvSpPr>
              <a:spLocks noChangeShapeType="1"/>
            </p:cNvSpPr>
            <p:nvPr>
              <p:custDataLst>
                <p:tags r:id="rId8"/>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5B0B7CC0-EA59-64CA-E5F0-1A4ABD98022B}"/>
                </a:ext>
              </a:extLst>
            </p:cNvPr>
            <p:cNvSpPr txBox="1">
              <a:spLocks noChangeArrowheads="1"/>
            </p:cNvSpPr>
            <p:nvPr>
              <p:custDataLst>
                <p:tags r:id="rId9"/>
              </p:custDataLst>
            </p:nvPr>
          </p:nvSpPr>
          <p:spPr bwMode="gray">
            <a:xfrm>
              <a:off x="1288" y="1523"/>
              <a:ext cx="442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While DoorDash's $80.1B GOV is driven by sheer network density, competitors leverage different strategic assets: Uber through driver utilization, Instacart via vertical focus, and Amazon with its operational logistics backbone</a:t>
              </a:r>
            </a:p>
          </p:txBody>
        </p:sp>
      </p:grpSp>
      <p:sp>
        <p:nvSpPr>
          <p:cNvPr id="30" name="Rectangle: Rounded Corners 29">
            <a:extLst>
              <a:ext uri="{FF2B5EF4-FFF2-40B4-BE49-F238E27FC236}">
                <a16:creationId xmlns:a16="http://schemas.microsoft.com/office/drawing/2014/main" id="{69C0CE55-9426-B643-4371-617FC7AA1247}"/>
              </a:ext>
            </a:extLst>
          </p:cNvPr>
          <p:cNvSpPr/>
          <p:nvPr/>
        </p:nvSpPr>
        <p:spPr>
          <a:xfrm>
            <a:off x="495300" y="5657851"/>
            <a:ext cx="11282572" cy="380469"/>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r>
              <a:rPr lang="en-US" sz="1000" i="1">
                <a:solidFill>
                  <a:schemeClr val="tx1"/>
                </a:solidFill>
              </a:rPr>
              <a:t>Each platform’s scale creates powerful network effects—more users and drivers attract more merchants, improve service quality, and accelerate market penetration. DoorDash leads in local commerce, Uber in global mobility and delivery, Instacart in grocery, and Amazon in logistics infrastructure.</a:t>
            </a:r>
          </a:p>
        </p:txBody>
      </p:sp>
      <p:graphicFrame>
        <p:nvGraphicFramePr>
          <p:cNvPr id="57" name="Chart 56">
            <a:extLst>
              <a:ext uri="{FF2B5EF4-FFF2-40B4-BE49-F238E27FC236}">
                <a16:creationId xmlns:a16="http://schemas.microsoft.com/office/drawing/2014/main" id="{E7207AED-F8AE-029E-1552-9C9CFDB05552}"/>
              </a:ext>
            </a:extLst>
          </p:cNvPr>
          <p:cNvGraphicFramePr/>
          <p:nvPr>
            <p:custDataLst>
              <p:tags r:id="rId2"/>
            </p:custDataLst>
          </p:nvPr>
        </p:nvGraphicFramePr>
        <p:xfrm>
          <a:off x="4899025" y="1908175"/>
          <a:ext cx="6961188" cy="3609975"/>
        </p:xfrm>
        <a:graphic>
          <a:graphicData uri="http://schemas.openxmlformats.org/drawingml/2006/chart">
            <c:chart xmlns:c="http://schemas.openxmlformats.org/drawingml/2006/chart" xmlns:r="http://schemas.openxmlformats.org/officeDocument/2006/relationships" r:id="rId14"/>
          </a:graphicData>
        </a:graphic>
      </p:graphicFrame>
      <p:sp>
        <p:nvSpPr>
          <p:cNvPr id="8" name="Text Placeholder 2">
            <a:extLst>
              <a:ext uri="{FF2B5EF4-FFF2-40B4-BE49-F238E27FC236}">
                <a16:creationId xmlns:a16="http://schemas.microsoft.com/office/drawing/2014/main" id="{9560F560-7BF7-0465-2E89-86B9ED73BD93}"/>
              </a:ext>
            </a:extLst>
          </p:cNvPr>
          <p:cNvSpPr>
            <a:spLocks noGrp="1"/>
          </p:cNvSpPr>
          <p:nvPr>
            <p:custDataLst>
              <p:tags r:id="rId3"/>
            </p:custDataLst>
          </p:nvPr>
        </p:nvSpPr>
        <p:spPr bwMode="auto">
          <a:xfrm>
            <a:off x="5878513" y="5365750"/>
            <a:ext cx="4714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D0E11963-DFC8-44F7-8C28-238537BE040D}" type="datetime'''D''o''''o''''''r''D''''''as''''''''''''''''''''''''''''h'">
              <a:rPr lang="en-US" altLang="en-US" sz="800" smtClean="0">
                <a:solidFill>
                  <a:srgbClr val="000000"/>
                </a:solidFill>
              </a:rPr>
              <a:pPr lvl="1" algn="ctr">
                <a:spcBef>
                  <a:spcPct val="0"/>
                </a:spcBef>
                <a:spcAft>
                  <a:spcPct val="0"/>
                </a:spcAft>
                <a:defRPr/>
              </a:pPr>
              <a:t>DoorDash</a:t>
            </a:fld>
            <a:endParaRPr kumimoji="0" lang="en-US" sz="800" b="0" i="0" strike="noStrike" kern="1200" cap="none" spc="0" normalizeH="0" baseline="0" noProof="0">
              <a:ln>
                <a:noFill/>
              </a:ln>
              <a:solidFill>
                <a:srgbClr val="000000"/>
              </a:solidFill>
              <a:effectLst/>
              <a:uLnTx/>
              <a:uFillTx/>
            </a:endParaRPr>
          </a:p>
        </p:txBody>
      </p:sp>
      <p:sp>
        <p:nvSpPr>
          <p:cNvPr id="10" name="Text Placeholder 2">
            <a:extLst>
              <a:ext uri="{FF2B5EF4-FFF2-40B4-BE49-F238E27FC236}">
                <a16:creationId xmlns:a16="http://schemas.microsoft.com/office/drawing/2014/main" id="{F7012E72-E34D-C59A-9CD2-C641AC291563}"/>
              </a:ext>
            </a:extLst>
          </p:cNvPr>
          <p:cNvSpPr>
            <a:spLocks noGrp="1"/>
          </p:cNvSpPr>
          <p:nvPr>
            <p:custDataLst>
              <p:tags r:id="rId4"/>
            </p:custDataLst>
          </p:nvPr>
        </p:nvSpPr>
        <p:spPr bwMode="auto">
          <a:xfrm>
            <a:off x="8064500" y="5365750"/>
            <a:ext cx="62865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AC09D921-EEDD-4091-AAF8-B66E011A377E}" type="datetime'U''be''r'''' ''D''''''''el''''i''''very'''''''">
              <a:rPr lang="en-US" altLang="en-US" sz="800" smtClean="0">
                <a:solidFill>
                  <a:srgbClr val="000000"/>
                </a:solidFill>
              </a:rPr>
              <a:pPr lvl="1" algn="ctr">
                <a:spcBef>
                  <a:spcPct val="0"/>
                </a:spcBef>
                <a:spcAft>
                  <a:spcPct val="0"/>
                </a:spcAft>
                <a:defRPr/>
              </a:pPr>
              <a:t>Uber Delivery</a:t>
            </a:fld>
            <a:endParaRPr kumimoji="0" lang="en-US" sz="800" b="0" i="0" strike="noStrike" kern="1200" cap="none" spc="0" normalizeH="0" baseline="0" noProof="0">
              <a:ln>
                <a:noFill/>
              </a:ln>
              <a:solidFill>
                <a:srgbClr val="000000"/>
              </a:solidFill>
              <a:effectLst/>
              <a:uLnTx/>
              <a:uFillTx/>
            </a:endParaRPr>
          </a:p>
        </p:txBody>
      </p:sp>
      <p:sp>
        <p:nvSpPr>
          <p:cNvPr id="9" name="Text Placeholder 2">
            <a:extLst>
              <a:ext uri="{FF2B5EF4-FFF2-40B4-BE49-F238E27FC236}">
                <a16:creationId xmlns:a16="http://schemas.microsoft.com/office/drawing/2014/main" id="{17010A9C-1C90-72E9-661F-59D888F2967E}"/>
              </a:ext>
            </a:extLst>
          </p:cNvPr>
          <p:cNvSpPr>
            <a:spLocks noGrp="1"/>
          </p:cNvSpPr>
          <p:nvPr>
            <p:custDataLst>
              <p:tags r:id="rId5"/>
            </p:custDataLst>
          </p:nvPr>
        </p:nvSpPr>
        <p:spPr bwMode="auto">
          <a:xfrm>
            <a:off x="10442575" y="5365750"/>
            <a:ext cx="4048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8F78303B-2DA9-4676-8F2A-EBADF60FE824}" type="datetime'''''''I''''''''n''s''ta''''''''c''a''''''''''''''''''r''''t'">
              <a:rPr lang="en-US" altLang="en-US" sz="800" smtClean="0">
                <a:solidFill>
                  <a:srgbClr val="000000"/>
                </a:solidFill>
              </a:rPr>
              <a:pPr lvl="1" algn="ctr">
                <a:spcBef>
                  <a:spcPct val="0"/>
                </a:spcBef>
                <a:spcAft>
                  <a:spcPct val="0"/>
                </a:spcAft>
                <a:defRPr/>
              </a:pPr>
              <a:t>Instacart</a:t>
            </a:fld>
            <a:endParaRPr kumimoji="0" lang="en-US" sz="800" b="0" i="0" strike="noStrike" kern="1200" cap="none" spc="0" normalizeH="0" baseline="0" noProof="0">
              <a:ln>
                <a:noFill/>
              </a:ln>
              <a:solidFill>
                <a:srgbClr val="000000"/>
              </a:solidFill>
              <a:effectLst/>
              <a:uLnTx/>
              <a:uFillTx/>
            </a:endParaRPr>
          </a:p>
        </p:txBody>
      </p:sp>
      <p:grpSp>
        <p:nvGrpSpPr>
          <p:cNvPr id="18" name="Subtitle [Placeholder]">
            <a:extLst>
              <a:ext uri="{FF2B5EF4-FFF2-40B4-BE49-F238E27FC236}">
                <a16:creationId xmlns:a16="http://schemas.microsoft.com/office/drawing/2014/main" id="{0577998C-F60C-3B44-2CDD-BEC8035E8147}"/>
              </a:ext>
            </a:extLst>
          </p:cNvPr>
          <p:cNvGrpSpPr>
            <a:grpSpLocks/>
          </p:cNvGrpSpPr>
          <p:nvPr/>
        </p:nvGrpSpPr>
        <p:grpSpPr bwMode="auto">
          <a:xfrm>
            <a:off x="5162550" y="1434096"/>
            <a:ext cx="6697663" cy="461703"/>
            <a:chOff x="902" y="-376377"/>
            <a:chExt cx="3832" cy="378126"/>
          </a:xfrm>
        </p:grpSpPr>
        <p:sp>
          <p:nvSpPr>
            <p:cNvPr id="19" name="Line 56">
              <a:extLst>
                <a:ext uri="{FF2B5EF4-FFF2-40B4-BE49-F238E27FC236}">
                  <a16:creationId xmlns:a16="http://schemas.microsoft.com/office/drawing/2014/main" id="{F294EB9B-25E7-9A8C-EC8D-95ED2453E72F}"/>
                </a:ext>
              </a:extLst>
            </p:cNvPr>
            <p:cNvSpPr>
              <a:spLocks noChangeShapeType="1"/>
            </p:cNvSpPr>
            <p:nvPr>
              <p:custDataLst>
                <p:tags r:id="rId6"/>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0" name="Text Box 57">
              <a:extLst>
                <a:ext uri="{FF2B5EF4-FFF2-40B4-BE49-F238E27FC236}">
                  <a16:creationId xmlns:a16="http://schemas.microsoft.com/office/drawing/2014/main" id="{47639EEE-DDD1-3DBB-CB67-3948D356A671}"/>
                </a:ext>
              </a:extLst>
            </p:cNvPr>
            <p:cNvSpPr txBox="1">
              <a:spLocks noChangeArrowheads="1"/>
            </p:cNvSpPr>
            <p:nvPr>
              <p:custDataLst>
                <p:tags r:id="rId7"/>
              </p:custDataLst>
            </p:nvPr>
          </p:nvSpPr>
          <p:spPr bwMode="gray">
            <a:xfrm>
              <a:off x="902" y="-376377"/>
              <a:ext cx="3832" cy="378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Gross Order Value (GOV) for 2024 by Platform: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DoorDash achieves dominance through sheer network volume, while Uber leverages its global, flexible driver pool for efficiency, and Instacart focuses on owning the grocery category</a:t>
              </a:r>
            </a:p>
          </p:txBody>
        </p:sp>
      </p:grpSp>
      <p:sp>
        <p:nvSpPr>
          <p:cNvPr id="40" name="Rectangle 39">
            <a:extLst>
              <a:ext uri="{FF2B5EF4-FFF2-40B4-BE49-F238E27FC236}">
                <a16:creationId xmlns:a16="http://schemas.microsoft.com/office/drawing/2014/main" id="{BDC5F879-BF9E-1FF0-8939-6D47A5A5E0F9}"/>
              </a:ext>
            </a:extLst>
          </p:cNvPr>
          <p:cNvSpPr/>
          <p:nvPr/>
        </p:nvSpPr>
        <p:spPr>
          <a:xfrm>
            <a:off x="502273" y="1620196"/>
            <a:ext cx="4374528" cy="3825820"/>
          </a:xfrm>
          <a:prstGeom prst="rect">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171450" indent="-171450">
              <a:buFont typeface="Arial" panose="020B0604020202020204" pitchFamily="34" charset="0"/>
              <a:buChar char="•"/>
            </a:pPr>
            <a:r>
              <a:rPr lang="en-US" sz="1000">
                <a:solidFill>
                  <a:schemeClr val="tx1"/>
                </a:solidFill>
              </a:rPr>
              <a:t>DoorDash leverages the largest U.S. user base (42M+ monthly users) and Dasher network (8M+) to process $80.1B in orders. This density enables rapid expansion into new markets and attracts merchants seeking high-volume exposure, reinforcing DoorDash’s dominance in local commerce delivery.</a:t>
            </a:r>
          </a:p>
          <a:p>
            <a:endParaRPr lang="en-US" sz="1000">
              <a:solidFill>
                <a:schemeClr val="tx1"/>
              </a:solidFill>
            </a:endParaRPr>
          </a:p>
          <a:p>
            <a:pPr marL="171450" indent="-171450">
              <a:buFont typeface="Arial" panose="020B0604020202020204" pitchFamily="34" charset="0"/>
              <a:buChar char="•"/>
            </a:pPr>
            <a:r>
              <a:rPr lang="en-US" sz="1000">
                <a:solidFill>
                  <a:schemeClr val="tx1"/>
                </a:solidFill>
              </a:rPr>
              <a:t>Uber utilizes a unified global pool of 8.8M monthly active drivers/couriers, supporting both ride-hailing and delivery. This flexibility allows Uber to maximize driver utilization and coverage, completing 11.27B trips worldwide. Uber’s scale enables instant service availability and competitive pricing, driving penetration in diverse regions.</a:t>
            </a:r>
          </a:p>
          <a:p>
            <a:endParaRPr lang="en-US" sz="1000">
              <a:solidFill>
                <a:schemeClr val="tx1"/>
              </a:solidFill>
            </a:endParaRPr>
          </a:p>
          <a:p>
            <a:pPr marL="171450" indent="-171450">
              <a:buFont typeface="Arial" panose="020B0604020202020204" pitchFamily="34" charset="0"/>
              <a:buChar char="•"/>
            </a:pPr>
            <a:r>
              <a:rPr lang="en-US" sz="1000">
                <a:solidFill>
                  <a:schemeClr val="tx1"/>
                </a:solidFill>
              </a:rPr>
              <a:t>Instacart focuses its scale within the grocery vertical, serving 14.4M users and processing 294M orders. By specializing, Instacart achieves deep partnerships with retailers and high-frequency engagement, making it the go-to platform for online grocery delivery in North America.</a:t>
            </a:r>
          </a:p>
          <a:p>
            <a:endParaRPr lang="en-US" sz="1000">
              <a:solidFill>
                <a:schemeClr val="tx1"/>
              </a:solidFill>
            </a:endParaRPr>
          </a:p>
          <a:p>
            <a:pPr marL="171450" indent="-171450">
              <a:buFont typeface="Arial" panose="020B0604020202020204" pitchFamily="34" charset="0"/>
              <a:buChar char="•"/>
            </a:pPr>
            <a:r>
              <a:rPr lang="en-US" sz="1000">
                <a:solidFill>
                  <a:schemeClr val="tx1"/>
                </a:solidFill>
              </a:rPr>
              <a:t>Amazon Logistics delivers over 6B packages annually in the U.S. via a hybrid workforce (DSPs and Flex drivers). Amazon’s scale in logistics and route optimization sets industry standards for reliability and reach, supporting both Amazon retail and third-party sellers.</a:t>
            </a:r>
            <a:endParaRPr lang="en-US" sz="1000">
              <a:solidFill>
                <a:schemeClr val="tx1"/>
              </a:solidFill>
              <a:latin typeface="Arial"/>
            </a:endParaRPr>
          </a:p>
        </p:txBody>
      </p:sp>
    </p:spTree>
    <p:extLst>
      <p:ext uri="{BB962C8B-B14F-4D97-AF65-F5344CB8AC3E}">
        <p14:creationId xmlns:p14="http://schemas.microsoft.com/office/powerpoint/2010/main" val="265116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E592F-EE4F-A0CE-5D13-AFFE6294CD7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FC7C878-3C06-74C6-C0CF-7C0AE4A17E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473" imgH="473" progId="TCLayout.ActiveDocument.1">
                  <p:embed/>
                </p:oleObj>
              </mc:Choice>
              <mc:Fallback>
                <p:oleObj name="think-cell Slide" r:id="rId20" imgW="473" imgH="473" progId="TCLayout.ActiveDocument.1">
                  <p:embed/>
                  <p:pic>
                    <p:nvPicPr>
                      <p:cNvPr id="5" name="think-cell data - do not delete" hidden="1">
                        <a:extLst>
                          <a:ext uri="{FF2B5EF4-FFF2-40B4-BE49-F238E27FC236}">
                            <a16:creationId xmlns:a16="http://schemas.microsoft.com/office/drawing/2014/main" id="{5FC7C878-3C06-74C6-C0CF-7C0AE4A17E3D}"/>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F39EEFD3-252B-5936-CBCC-F926C9BF3A7D}"/>
              </a:ext>
            </a:extLst>
          </p:cNvPr>
          <p:cNvSpPr>
            <a:spLocks noGrp="1"/>
          </p:cNvSpPr>
          <p:nvPr>
            <p:ph type="body" sz="quarter" idx="19"/>
          </p:nvPr>
        </p:nvSpPr>
        <p:spPr/>
        <p:txBody>
          <a:bodyPr/>
          <a:lstStyle/>
          <a:p>
            <a:pPr marL="0" indent="0">
              <a:buNone/>
            </a:pPr>
            <a:r>
              <a:rPr lang="en-US" dirty="0">
                <a:cs typeface="Arial"/>
              </a:rPr>
              <a:t>Competitive landscape: Workforce pay</a:t>
            </a:r>
          </a:p>
        </p:txBody>
      </p:sp>
      <p:sp>
        <p:nvSpPr>
          <p:cNvPr id="3" name="Title 2">
            <a:extLst>
              <a:ext uri="{FF2B5EF4-FFF2-40B4-BE49-F238E27FC236}">
                <a16:creationId xmlns:a16="http://schemas.microsoft.com/office/drawing/2014/main" id="{8469A020-9D5B-F362-5576-C602B469E3E2}"/>
              </a:ext>
            </a:extLst>
          </p:cNvPr>
          <p:cNvSpPr>
            <a:spLocks noGrp="1"/>
          </p:cNvSpPr>
          <p:nvPr>
            <p:ph type="title"/>
          </p:nvPr>
        </p:nvSpPr>
        <p:spPr>
          <a:xfrm>
            <a:off x="490063" y="530750"/>
            <a:ext cx="11194427" cy="639611"/>
          </a:xfrm>
        </p:spPr>
        <p:txBody>
          <a:bodyPr vert="horz">
            <a:noAutofit/>
          </a:bodyPr>
          <a:lstStyle/>
          <a:p>
            <a:r>
              <a:rPr lang="en-US" sz="2800" dirty="0">
                <a:latin typeface="Calibri" panose="020F0502020204030204" pitchFamily="34" charset="0"/>
                <a:cs typeface="Calibri" panose="020F0502020204030204" pitchFamily="34" charset="0"/>
              </a:rPr>
              <a:t>The Industry's Profitability Paradox: High Gross Margins Mask Razor-Thin Net Profitability</a:t>
            </a:r>
          </a:p>
        </p:txBody>
      </p:sp>
      <p:sp>
        <p:nvSpPr>
          <p:cNvPr id="837" name="TextBox 836">
            <a:extLst>
              <a:ext uri="{FF2B5EF4-FFF2-40B4-BE49-F238E27FC236}">
                <a16:creationId xmlns:a16="http://schemas.microsoft.com/office/drawing/2014/main" id="{D3226E07-8AB1-D7F9-CBA6-C3606E2D2604}"/>
              </a:ext>
            </a:extLst>
          </p:cNvPr>
          <p:cNvSpPr txBox="1"/>
          <p:nvPr/>
        </p:nvSpPr>
        <p:spPr>
          <a:xfrm>
            <a:off x="502273" y="6037162"/>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168376A5-44BA-B2D9-DD0D-CDB560807751}"/>
              </a:ext>
            </a:extLst>
          </p:cNvPr>
          <p:cNvGrpSpPr>
            <a:grpSpLocks/>
          </p:cNvGrpSpPr>
          <p:nvPr/>
        </p:nvGrpSpPr>
        <p:grpSpPr bwMode="auto">
          <a:xfrm>
            <a:off x="490063" y="1373471"/>
            <a:ext cx="11331006" cy="153429"/>
            <a:chOff x="1288" y="1676"/>
            <a:chExt cx="4445" cy="81"/>
          </a:xfrm>
        </p:grpSpPr>
        <p:sp>
          <p:nvSpPr>
            <p:cNvPr id="14" name="Line 56">
              <a:extLst>
                <a:ext uri="{FF2B5EF4-FFF2-40B4-BE49-F238E27FC236}">
                  <a16:creationId xmlns:a16="http://schemas.microsoft.com/office/drawing/2014/main" id="{849C0364-8236-FBC7-A2CF-30377ECF1F3D}"/>
                </a:ext>
              </a:extLst>
            </p:cNvPr>
            <p:cNvSpPr>
              <a:spLocks noChangeShapeType="1"/>
            </p:cNvSpPr>
            <p:nvPr>
              <p:custDataLst>
                <p:tags r:id="rId16"/>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9D3A5547-894E-1449-D763-FF4CC96616E3}"/>
                </a:ext>
              </a:extLst>
            </p:cNvPr>
            <p:cNvSpPr txBox="1">
              <a:spLocks noChangeArrowheads="1"/>
            </p:cNvSpPr>
            <p:nvPr>
              <p:custDataLst>
                <p:tags r:id="rId17"/>
              </p:custDataLst>
            </p:nvPr>
          </p:nvSpPr>
          <p:spPr bwMode="gray">
            <a:xfrm>
              <a:off x="1309" y="1676"/>
              <a:ext cx="4424" cy="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dirty="0">
                  <a:solidFill>
                    <a:srgbClr val="000000"/>
                  </a:solidFill>
                  <a:cs typeface="Arial" panose="020B0604020202020204" pitchFamily="34" charset="0"/>
                </a:rPr>
                <a:t>Razor-thin EBITDA margins (&lt;5%) across the industry prove that high operating costs remain the critical barrier to profitability for Spark to overcome</a:t>
              </a:r>
            </a:p>
          </p:txBody>
        </p:sp>
      </p:grpSp>
      <p:grpSp>
        <p:nvGrpSpPr>
          <p:cNvPr id="21" name="Subtitle [Placeholder]">
            <a:extLst>
              <a:ext uri="{FF2B5EF4-FFF2-40B4-BE49-F238E27FC236}">
                <a16:creationId xmlns:a16="http://schemas.microsoft.com/office/drawing/2014/main" id="{79EE436E-1770-6960-DC05-0BADFFDA1A2F}"/>
              </a:ext>
            </a:extLst>
          </p:cNvPr>
          <p:cNvGrpSpPr>
            <a:grpSpLocks/>
          </p:cNvGrpSpPr>
          <p:nvPr/>
        </p:nvGrpSpPr>
        <p:grpSpPr bwMode="auto">
          <a:xfrm>
            <a:off x="502273" y="1567253"/>
            <a:ext cx="5174627" cy="324467"/>
            <a:chOff x="902" y="-262948"/>
            <a:chExt cx="3832" cy="264697"/>
          </a:xfrm>
        </p:grpSpPr>
        <p:sp>
          <p:nvSpPr>
            <p:cNvPr id="22" name="Line 56">
              <a:extLst>
                <a:ext uri="{FF2B5EF4-FFF2-40B4-BE49-F238E27FC236}">
                  <a16:creationId xmlns:a16="http://schemas.microsoft.com/office/drawing/2014/main" id="{FFFE4518-20D9-056B-20DA-CEC9A791F65B}"/>
                </a:ext>
              </a:extLst>
            </p:cNvPr>
            <p:cNvSpPr>
              <a:spLocks noChangeShapeType="1"/>
            </p:cNvSpPr>
            <p:nvPr>
              <p:custDataLst>
                <p:tags r:id="rId14"/>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3" name="Text Box 57">
              <a:extLst>
                <a:ext uri="{FF2B5EF4-FFF2-40B4-BE49-F238E27FC236}">
                  <a16:creationId xmlns:a16="http://schemas.microsoft.com/office/drawing/2014/main" id="{185CC48B-2CDB-8824-A917-453A2FEAA287}"/>
                </a:ext>
              </a:extLst>
            </p:cNvPr>
            <p:cNvSpPr txBox="1">
              <a:spLocks noChangeArrowheads="1"/>
            </p:cNvSpPr>
            <p:nvPr>
              <p:custDataLst>
                <p:tags r:id="rId15"/>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Revenue Margins and Profitability Benchmarks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Single-digit margins demonstrate that there is virtually no room for operational error or inefficiency</a:t>
              </a:r>
            </a:p>
          </p:txBody>
        </p:sp>
      </p:grpSp>
      <p:grpSp>
        <p:nvGrpSpPr>
          <p:cNvPr id="43" name="Subtitle [Placeholder]">
            <a:extLst>
              <a:ext uri="{FF2B5EF4-FFF2-40B4-BE49-F238E27FC236}">
                <a16:creationId xmlns:a16="http://schemas.microsoft.com/office/drawing/2014/main" id="{0601BA3F-BE88-A3CF-2EDF-3D5E697B1D1A}"/>
              </a:ext>
            </a:extLst>
          </p:cNvPr>
          <p:cNvGrpSpPr>
            <a:grpSpLocks/>
          </p:cNvGrpSpPr>
          <p:nvPr/>
        </p:nvGrpSpPr>
        <p:grpSpPr bwMode="auto">
          <a:xfrm>
            <a:off x="6102561" y="1568471"/>
            <a:ext cx="5675311" cy="323203"/>
            <a:chOff x="902" y="-262948"/>
            <a:chExt cx="3832" cy="264697"/>
          </a:xfrm>
        </p:grpSpPr>
        <p:sp>
          <p:nvSpPr>
            <p:cNvPr id="44" name="Line 56">
              <a:extLst>
                <a:ext uri="{FF2B5EF4-FFF2-40B4-BE49-F238E27FC236}">
                  <a16:creationId xmlns:a16="http://schemas.microsoft.com/office/drawing/2014/main" id="{1F9C56E3-2D98-5502-113D-75B85B5FC20C}"/>
                </a:ext>
              </a:extLst>
            </p:cNvPr>
            <p:cNvSpPr>
              <a:spLocks noChangeShapeType="1"/>
            </p:cNvSpPr>
            <p:nvPr>
              <p:custDataLst>
                <p:tags r:id="rId1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45" name="Text Box 57">
              <a:extLst>
                <a:ext uri="{FF2B5EF4-FFF2-40B4-BE49-F238E27FC236}">
                  <a16:creationId xmlns:a16="http://schemas.microsoft.com/office/drawing/2014/main" id="{E4564E6C-CAE3-8551-37BE-78847D70C9EB}"/>
                </a:ext>
              </a:extLst>
            </p:cNvPr>
            <p:cNvSpPr txBox="1">
              <a:spLocks noChangeArrowheads="1"/>
            </p:cNvSpPr>
            <p:nvPr>
              <p:custDataLst>
                <p:tags r:id="rId13"/>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Key Competitive Metrics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Major platforms share vulnerability to regulatory action related to the classification of their drivers</a:t>
              </a:r>
            </a:p>
          </p:txBody>
        </p:sp>
      </p:grpSp>
      <p:graphicFrame>
        <p:nvGraphicFramePr>
          <p:cNvPr id="6" name="Table 5">
            <a:extLst>
              <a:ext uri="{FF2B5EF4-FFF2-40B4-BE49-F238E27FC236}">
                <a16:creationId xmlns:a16="http://schemas.microsoft.com/office/drawing/2014/main" id="{7A5B5E90-1F02-4864-848F-A54B363EB4EA}"/>
              </a:ext>
            </a:extLst>
          </p:cNvPr>
          <p:cNvGraphicFramePr>
            <a:graphicFrameLocks noGrp="1"/>
          </p:cNvGraphicFramePr>
          <p:nvPr/>
        </p:nvGraphicFramePr>
        <p:xfrm>
          <a:off x="6095838" y="2110581"/>
          <a:ext cx="5886822" cy="3772407"/>
        </p:xfrm>
        <a:graphic>
          <a:graphicData uri="http://schemas.openxmlformats.org/drawingml/2006/table">
            <a:tbl>
              <a:tblPr firstRow="1">
                <a:tableStyleId>{9D7B26C5-4107-4FEC-AEDC-1716B250A1EF}</a:tableStyleId>
              </a:tblPr>
              <a:tblGrid>
                <a:gridCol w="1429894">
                  <a:extLst>
                    <a:ext uri="{9D8B030D-6E8A-4147-A177-3AD203B41FA5}">
                      <a16:colId xmlns:a16="http://schemas.microsoft.com/office/drawing/2014/main" val="511556439"/>
                    </a:ext>
                  </a:extLst>
                </a:gridCol>
                <a:gridCol w="1252728">
                  <a:extLst>
                    <a:ext uri="{9D8B030D-6E8A-4147-A177-3AD203B41FA5}">
                      <a16:colId xmlns:a16="http://schemas.microsoft.com/office/drawing/2014/main" val="73131669"/>
                    </a:ext>
                  </a:extLst>
                </a:gridCol>
                <a:gridCol w="1797040">
                  <a:extLst>
                    <a:ext uri="{9D8B030D-6E8A-4147-A177-3AD203B41FA5}">
                      <a16:colId xmlns:a16="http://schemas.microsoft.com/office/drawing/2014/main" val="1954084836"/>
                    </a:ext>
                  </a:extLst>
                </a:gridCol>
                <a:gridCol w="1407160">
                  <a:extLst>
                    <a:ext uri="{9D8B030D-6E8A-4147-A177-3AD203B41FA5}">
                      <a16:colId xmlns:a16="http://schemas.microsoft.com/office/drawing/2014/main" val="924256809"/>
                    </a:ext>
                  </a:extLst>
                </a:gridCol>
              </a:tblGrid>
              <a:tr h="756029">
                <a:tc>
                  <a:txBody>
                    <a:bodyPr/>
                    <a:lstStyle/>
                    <a:p>
                      <a:pPr algn="l" fontAlgn="ctr">
                        <a:buNone/>
                      </a:pPr>
                      <a:r>
                        <a:rPr lang="en-US" sz="900" b="1" u="none" strike="noStrike">
                          <a:solidFill>
                            <a:schemeClr val="tx1"/>
                          </a:solidFill>
                          <a:effectLst/>
                        </a:rPr>
                        <a:t>Metric</a:t>
                      </a:r>
                      <a:endParaRPr lang="en-US" sz="900" b="1" i="0" u="none" strike="noStrike">
                        <a:solidFill>
                          <a:schemeClr val="tx1"/>
                        </a:solidFill>
                        <a:effectLst/>
                        <a:latin typeface="Google Sans Text"/>
                      </a:endParaRPr>
                    </a:p>
                  </a:txBody>
                  <a:tcPr marL="76200" marR="6350" marT="6350" marB="0" anchor="ctr"/>
                </a:tc>
                <a:tc>
                  <a:txBody>
                    <a:bodyPr/>
                    <a:lstStyle/>
                    <a:p>
                      <a:pPr algn="ctr" fontAlgn="ctr">
                        <a:buNone/>
                      </a:pPr>
                      <a:r>
                        <a:rPr lang="en-US" sz="900" b="1" u="none" strike="noStrike">
                          <a:solidFill>
                            <a:schemeClr val="tx1"/>
                          </a:solidFill>
                          <a:effectLst/>
                        </a:rPr>
                        <a:t>DoorDash</a:t>
                      </a:r>
                      <a:endParaRPr lang="en-US" sz="900" b="1" i="0" u="none" strike="noStrike">
                        <a:solidFill>
                          <a:schemeClr val="tx1"/>
                        </a:solidFill>
                        <a:effectLst/>
                        <a:latin typeface="Google Sans Text"/>
                      </a:endParaRPr>
                    </a:p>
                  </a:txBody>
                  <a:tcPr marL="76200" marR="6350" marT="6350" marB="0" anchor="ctr"/>
                </a:tc>
                <a:tc>
                  <a:txBody>
                    <a:bodyPr/>
                    <a:lstStyle/>
                    <a:p>
                      <a:pPr algn="ctr" fontAlgn="ctr">
                        <a:buNone/>
                      </a:pPr>
                      <a:r>
                        <a:rPr lang="en-US" sz="900" b="1" u="none" strike="noStrike">
                          <a:solidFill>
                            <a:schemeClr val="tx1"/>
                          </a:solidFill>
                          <a:effectLst/>
                        </a:rPr>
                        <a:t>Uber (Delivery Segment)</a:t>
                      </a:r>
                      <a:endParaRPr lang="en-US" sz="900" b="1" i="0" u="none" strike="noStrike">
                        <a:solidFill>
                          <a:schemeClr val="tx1"/>
                        </a:solidFill>
                        <a:effectLst/>
                        <a:latin typeface="Google Sans Text"/>
                      </a:endParaRPr>
                    </a:p>
                  </a:txBody>
                  <a:tcPr marL="76200" marR="6350" marT="6350" marB="0" anchor="ctr"/>
                </a:tc>
                <a:tc>
                  <a:txBody>
                    <a:bodyPr/>
                    <a:lstStyle/>
                    <a:p>
                      <a:pPr algn="ctr" fontAlgn="ctr">
                        <a:buNone/>
                      </a:pPr>
                      <a:r>
                        <a:rPr lang="en-US" sz="900" b="1" u="none" strike="noStrike">
                          <a:solidFill>
                            <a:schemeClr val="tx1"/>
                          </a:solidFill>
                          <a:effectLst/>
                        </a:rPr>
                        <a:t>Instacart</a:t>
                      </a:r>
                      <a:endParaRPr lang="en-US" sz="900" b="1" i="0" u="none" strike="noStrike">
                        <a:solidFill>
                          <a:schemeClr val="tx1"/>
                        </a:solidFill>
                        <a:effectLst/>
                        <a:latin typeface="Google Sans Text"/>
                      </a:endParaRPr>
                    </a:p>
                  </a:txBody>
                  <a:tcPr marL="76200" marR="6350" marT="6350" marB="0" anchor="ctr"/>
                </a:tc>
                <a:extLst>
                  <a:ext uri="{0D108BD9-81ED-4DB2-BD59-A6C34878D82A}">
                    <a16:rowId xmlns:a16="http://schemas.microsoft.com/office/drawing/2014/main" val="1073161242"/>
                  </a:ext>
                </a:extLst>
              </a:tr>
              <a:tr h="448974">
                <a:tc>
                  <a:txBody>
                    <a:bodyPr/>
                    <a:lstStyle/>
                    <a:p>
                      <a:pPr algn="l" fontAlgn="ctr">
                        <a:buNone/>
                      </a:pPr>
                      <a:r>
                        <a:rPr lang="en-US" sz="900" b="1" u="none" strike="noStrike">
                          <a:solidFill>
                            <a:srgbClr val="1B1C1D"/>
                          </a:solidFill>
                          <a:effectLst/>
                        </a:rPr>
                        <a:t>2024 Revenue ($B)</a:t>
                      </a:r>
                      <a:endParaRPr lang="en-US" sz="900" b="1"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$10.72 </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$13.70 </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$3.38 </a:t>
                      </a:r>
                      <a:endParaRPr lang="en-US" sz="900" b="0" i="0" u="none" strike="noStrike">
                        <a:solidFill>
                          <a:srgbClr val="1B1C1D"/>
                        </a:solidFill>
                        <a:effectLst/>
                        <a:latin typeface="Google Sans Text"/>
                      </a:endParaRPr>
                    </a:p>
                  </a:txBody>
                  <a:tcPr marL="76200" marR="6350" marT="6350" marB="0" anchor="ctr"/>
                </a:tc>
                <a:extLst>
                  <a:ext uri="{0D108BD9-81ED-4DB2-BD59-A6C34878D82A}">
                    <a16:rowId xmlns:a16="http://schemas.microsoft.com/office/drawing/2014/main" val="1818547552"/>
                  </a:ext>
                </a:extLst>
              </a:tr>
              <a:tr h="448974">
                <a:tc>
                  <a:txBody>
                    <a:bodyPr/>
                    <a:lstStyle/>
                    <a:p>
                      <a:pPr algn="l" fontAlgn="ctr">
                        <a:buNone/>
                      </a:pPr>
                      <a:r>
                        <a:rPr lang="en-US" sz="900" b="1" i="0" u="none" strike="noStrike">
                          <a:solidFill>
                            <a:srgbClr val="1B1C1D"/>
                          </a:solidFill>
                          <a:effectLst/>
                          <a:latin typeface="+mn-lt"/>
                        </a:rPr>
                        <a:t>2024 Gross Profit ($M)</a:t>
                      </a:r>
                    </a:p>
                  </a:txBody>
                  <a:tcPr marL="76200" marR="6350" marT="6350" marB="0" anchor="ctr"/>
                </a:tc>
                <a:tc>
                  <a:txBody>
                    <a:bodyPr/>
                    <a:lstStyle/>
                    <a:p>
                      <a:pPr algn="ctr" fontAlgn="ctr">
                        <a:buNone/>
                      </a:pPr>
                      <a:r>
                        <a:rPr lang="en-US" sz="900" b="0" i="0" u="none" strike="noStrike">
                          <a:solidFill>
                            <a:srgbClr val="1B1C1D"/>
                          </a:solidFill>
                          <a:effectLst/>
                          <a:latin typeface="Google Sans Text"/>
                        </a:rPr>
                        <a:t>$49.79</a:t>
                      </a:r>
                    </a:p>
                  </a:txBody>
                  <a:tcPr marL="76200" marR="6350" marT="6350" marB="0" anchor="ctr"/>
                </a:tc>
                <a:tc>
                  <a:txBody>
                    <a:bodyPr/>
                    <a:lstStyle/>
                    <a:p>
                      <a:pPr algn="ctr" fontAlgn="ctr">
                        <a:buNone/>
                      </a:pPr>
                      <a:r>
                        <a:rPr lang="en-US" sz="900" b="0" i="0" u="none" strike="noStrike">
                          <a:solidFill>
                            <a:srgbClr val="1B1C1D"/>
                          </a:solidFill>
                          <a:effectLst/>
                          <a:latin typeface="Google Sans Text"/>
                        </a:rPr>
                        <a:t>$8.16</a:t>
                      </a:r>
                    </a:p>
                  </a:txBody>
                  <a:tcPr marL="76200" marR="6350" marT="6350" marB="0" anchor="ctr"/>
                </a:tc>
                <a:tc>
                  <a:txBody>
                    <a:bodyPr/>
                    <a:lstStyle/>
                    <a:p>
                      <a:pPr algn="ctr" fontAlgn="ctr">
                        <a:buNone/>
                      </a:pPr>
                      <a:r>
                        <a:rPr lang="en-US" sz="900" b="0" i="0" u="none" strike="noStrike">
                          <a:solidFill>
                            <a:srgbClr val="1B1C1D"/>
                          </a:solidFill>
                          <a:effectLst/>
                          <a:latin typeface="Google Sans Text"/>
                        </a:rPr>
                        <a:t>$2.28</a:t>
                      </a:r>
                    </a:p>
                  </a:txBody>
                  <a:tcPr marL="76200" marR="6350" marT="6350" marB="0" anchor="ctr"/>
                </a:tc>
                <a:extLst>
                  <a:ext uri="{0D108BD9-81ED-4DB2-BD59-A6C34878D82A}">
                    <a16:rowId xmlns:a16="http://schemas.microsoft.com/office/drawing/2014/main" val="2627750412"/>
                  </a:ext>
                </a:extLst>
              </a:tr>
              <a:tr h="1034702">
                <a:tc>
                  <a:txBody>
                    <a:bodyPr/>
                    <a:lstStyle/>
                    <a:p>
                      <a:pPr algn="l" fontAlgn="ctr">
                        <a:buNone/>
                      </a:pPr>
                      <a:r>
                        <a:rPr lang="en-US" sz="900" b="1" u="none" strike="noStrike">
                          <a:solidFill>
                            <a:srgbClr val="1B1C1D"/>
                          </a:solidFill>
                          <a:effectLst/>
                        </a:rPr>
                        <a:t>Total Active Drivers/Couriers (Millions)</a:t>
                      </a:r>
                      <a:endParaRPr lang="en-US" sz="900" b="1"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~8.0 </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8.8 (Total Platform, Q2 2025) </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~0.6 </a:t>
                      </a:r>
                      <a:endParaRPr lang="en-US" sz="900" b="0" i="0" u="none" strike="noStrike">
                        <a:solidFill>
                          <a:srgbClr val="1B1C1D"/>
                        </a:solidFill>
                        <a:effectLst/>
                        <a:latin typeface="Google Sans Text"/>
                      </a:endParaRPr>
                    </a:p>
                  </a:txBody>
                  <a:tcPr marL="76200" marR="6350" marT="6350" marB="0" anchor="ctr"/>
                </a:tc>
                <a:extLst>
                  <a:ext uri="{0D108BD9-81ED-4DB2-BD59-A6C34878D82A}">
                    <a16:rowId xmlns:a16="http://schemas.microsoft.com/office/drawing/2014/main" val="721249147"/>
                  </a:ext>
                </a:extLst>
              </a:tr>
              <a:tr h="712164">
                <a:tc>
                  <a:txBody>
                    <a:bodyPr/>
                    <a:lstStyle/>
                    <a:p>
                      <a:pPr algn="l" fontAlgn="ctr">
                        <a:buNone/>
                      </a:pPr>
                      <a:r>
                        <a:rPr lang="en-US" sz="900" b="1" u="none" strike="noStrike">
                          <a:solidFill>
                            <a:srgbClr val="1B1C1D"/>
                          </a:solidFill>
                          <a:effectLst/>
                        </a:rPr>
                        <a:t>Monthly Active Users (Millions)</a:t>
                      </a:r>
                      <a:endParaRPr lang="en-US" sz="900" b="1"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42</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161 (Total Platform, Q3 2024) </a:t>
                      </a:r>
                      <a:endParaRPr lang="en-US" sz="900" b="0" i="0" u="none" strike="noStrike">
                        <a:solidFill>
                          <a:srgbClr val="1B1C1D"/>
                        </a:solidFill>
                        <a:effectLst/>
                        <a:latin typeface="Google Sans Text"/>
                      </a:endParaRPr>
                    </a:p>
                  </a:txBody>
                  <a:tcPr marL="76200" marR="6350" marT="6350" marB="0" anchor="ctr"/>
                </a:tc>
                <a:tc>
                  <a:txBody>
                    <a:bodyPr/>
                    <a:lstStyle/>
                    <a:p>
                      <a:pPr algn="ctr" fontAlgn="ctr">
                        <a:buNone/>
                      </a:pPr>
                      <a:r>
                        <a:rPr lang="en-US" sz="900" b="0" u="none" strike="noStrike">
                          <a:solidFill>
                            <a:srgbClr val="1B1C1D"/>
                          </a:solidFill>
                          <a:effectLst/>
                        </a:rPr>
                        <a:t>14.4</a:t>
                      </a:r>
                      <a:endParaRPr lang="en-US" sz="900" b="0" i="0" u="none" strike="noStrike">
                        <a:solidFill>
                          <a:srgbClr val="1B1C1D"/>
                        </a:solidFill>
                        <a:effectLst/>
                        <a:latin typeface="Google Sans Text"/>
                      </a:endParaRPr>
                    </a:p>
                  </a:txBody>
                  <a:tcPr marL="76200" marR="6350" marT="6350" marB="0" anchor="ctr"/>
                </a:tc>
                <a:extLst>
                  <a:ext uri="{0D108BD9-81ED-4DB2-BD59-A6C34878D82A}">
                    <a16:rowId xmlns:a16="http://schemas.microsoft.com/office/drawing/2014/main" val="3207160801"/>
                  </a:ext>
                </a:extLst>
              </a:tr>
              <a:tr h="371564">
                <a:tc gridSpan="4">
                  <a:txBody>
                    <a:bodyPr/>
                    <a:lstStyle/>
                    <a:p>
                      <a:pPr algn="l" fontAlgn="ctr">
                        <a:buNone/>
                      </a:pPr>
                      <a:endParaRPr lang="en-US" sz="1100" b="0" i="1" u="none" strike="noStrike">
                        <a:solidFill>
                          <a:srgbClr val="1B1C1D"/>
                        </a:solidFill>
                        <a:effectLst/>
                        <a:latin typeface="Google Sans Text"/>
                      </a:endParaRPr>
                    </a:p>
                  </a:txBody>
                  <a:tcPr marL="6350" marR="6350" marT="635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82096643"/>
                  </a:ext>
                </a:extLst>
              </a:tr>
            </a:tbl>
          </a:graphicData>
        </a:graphic>
      </p:graphicFrame>
      <p:sp>
        <p:nvSpPr>
          <p:cNvPr id="7" name="Rectangle 6">
            <a:extLst>
              <a:ext uri="{FF2B5EF4-FFF2-40B4-BE49-F238E27FC236}">
                <a16:creationId xmlns:a16="http://schemas.microsoft.com/office/drawing/2014/main" id="{53A57968-19C2-3D41-9666-EA4A728C3D8A}"/>
              </a:ext>
            </a:extLst>
          </p:cNvPr>
          <p:cNvSpPr/>
          <p:nvPr/>
        </p:nvSpPr>
        <p:spPr>
          <a:xfrm>
            <a:off x="6095838" y="5488667"/>
            <a:ext cx="5921328" cy="172555"/>
          </a:xfrm>
          <a:prstGeom prst="rect">
            <a:avLst/>
          </a:prstGeom>
          <a:solidFill>
            <a:schemeClr val="bg1"/>
          </a:solidFill>
          <a:ln w="9525" cap="flat" cmpd="sng" algn="ctr">
            <a:solidFill>
              <a:schemeClr val="tx2">
                <a:lumMod val="100000"/>
              </a:schemeClr>
            </a:solidFill>
            <a:prstDash val="sysDot"/>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fontAlgn="ctr"/>
            <a:r>
              <a:rPr lang="en-US" sz="800">
                <a:solidFill>
                  <a:srgbClr val="1B1C1D"/>
                </a:solidFill>
              </a:rPr>
              <a:t>Note: Some figures are calculated based on full-year or latest available quarterly data from the provided sources.</a:t>
            </a:r>
            <a:endParaRPr lang="en-US" sz="800" i="1">
              <a:solidFill>
                <a:srgbClr val="1B1C1D"/>
              </a:solidFill>
              <a:latin typeface="Google Sans Text"/>
            </a:endParaRPr>
          </a:p>
        </p:txBody>
      </p:sp>
      <p:sp>
        <p:nvSpPr>
          <p:cNvPr id="18" name="Rectangle 17">
            <a:extLst>
              <a:ext uri="{FF2B5EF4-FFF2-40B4-BE49-F238E27FC236}">
                <a16:creationId xmlns:a16="http://schemas.microsoft.com/office/drawing/2014/main" id="{C767EE8B-BF5E-AB6B-8665-AAFA74F680C4}"/>
              </a:ext>
            </a:extLst>
          </p:cNvPr>
          <p:cNvSpPr/>
          <p:nvPr/>
        </p:nvSpPr>
        <p:spPr>
          <a:xfrm>
            <a:off x="2555803" y="4016375"/>
            <a:ext cx="1317697" cy="152401"/>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338D"/>
                </a:solidFill>
                <a:effectLst/>
                <a:uLnTx/>
                <a:uFillTx/>
                <a:latin typeface="Arial"/>
                <a:ea typeface="+mn-ea"/>
                <a:cs typeface="+mn-cs"/>
              </a:rPr>
              <a:t>EBITDA Margin (%)</a:t>
            </a:r>
          </a:p>
        </p:txBody>
      </p:sp>
      <p:graphicFrame>
        <p:nvGraphicFramePr>
          <p:cNvPr id="1044" name="Chart 1043">
            <a:extLst>
              <a:ext uri="{FF2B5EF4-FFF2-40B4-BE49-F238E27FC236}">
                <a16:creationId xmlns:a16="http://schemas.microsoft.com/office/drawing/2014/main" id="{FB672D16-3C79-8527-C239-61C114583831}"/>
              </a:ext>
            </a:extLst>
          </p:cNvPr>
          <p:cNvGraphicFramePr/>
          <p:nvPr>
            <p:custDataLst>
              <p:tags r:id="rId2"/>
            </p:custDataLst>
          </p:nvPr>
        </p:nvGraphicFramePr>
        <p:xfrm>
          <a:off x="419100" y="4122738"/>
          <a:ext cx="5340350" cy="1463675"/>
        </p:xfrm>
        <a:graphic>
          <a:graphicData uri="http://schemas.openxmlformats.org/drawingml/2006/chart">
            <c:chart xmlns:c="http://schemas.openxmlformats.org/drawingml/2006/chart" xmlns:r="http://schemas.openxmlformats.org/officeDocument/2006/relationships" r:id="rId22"/>
          </a:graphicData>
        </a:graphic>
      </p:graphicFrame>
      <p:sp>
        <p:nvSpPr>
          <p:cNvPr id="20" name="Text Placeholder 2">
            <a:extLst>
              <a:ext uri="{FF2B5EF4-FFF2-40B4-BE49-F238E27FC236}">
                <a16:creationId xmlns:a16="http://schemas.microsoft.com/office/drawing/2014/main" id="{78E5021C-7D64-A902-D96B-22EEB76E6936}"/>
              </a:ext>
            </a:extLst>
          </p:cNvPr>
          <p:cNvSpPr>
            <a:spLocks noGrp="1"/>
          </p:cNvSpPr>
          <p:nvPr>
            <p:custDataLst>
              <p:tags r:id="rId3"/>
            </p:custDataLst>
          </p:nvPr>
        </p:nvSpPr>
        <p:spPr bwMode="auto">
          <a:xfrm>
            <a:off x="1558925" y="5434013"/>
            <a:ext cx="4714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CB5E17F4-40A9-48E6-A2D0-191677C40F06}" type="datetime'''''''''''''''''''''''''''''D''''o''''o''rD''a''s''''''h'''''">
              <a:rPr lang="en-US" altLang="en-US" sz="800" smtClean="0">
                <a:solidFill>
                  <a:srgbClr val="00338D"/>
                </a:solidFill>
              </a:rPr>
              <a:pPr lvl="1" algn="ctr">
                <a:spcBef>
                  <a:spcPct val="0"/>
                </a:spcBef>
                <a:spcAft>
                  <a:spcPct val="0"/>
                </a:spcAft>
                <a:defRPr/>
              </a:pPr>
              <a:t>DoorDash</a:t>
            </a:fld>
            <a:endParaRPr kumimoji="0" lang="en-US" sz="800" b="0" i="0" strike="noStrike" kern="1200" cap="none" spc="0" normalizeH="0" baseline="0" noProof="0">
              <a:ln>
                <a:noFill/>
              </a:ln>
              <a:solidFill>
                <a:srgbClr val="00338D"/>
              </a:solidFill>
              <a:effectLst/>
              <a:uLnTx/>
              <a:uFillTx/>
            </a:endParaRPr>
          </a:p>
        </p:txBody>
      </p:sp>
      <p:sp>
        <p:nvSpPr>
          <p:cNvPr id="24" name="Text Placeholder 2">
            <a:extLst>
              <a:ext uri="{FF2B5EF4-FFF2-40B4-BE49-F238E27FC236}">
                <a16:creationId xmlns:a16="http://schemas.microsoft.com/office/drawing/2014/main" id="{C1D0E8A7-7907-4D64-6A5D-C6AC9EEEBFCD}"/>
              </a:ext>
            </a:extLst>
          </p:cNvPr>
          <p:cNvSpPr>
            <a:spLocks noGrp="1"/>
          </p:cNvSpPr>
          <p:nvPr>
            <p:custDataLst>
              <p:tags r:id="rId4"/>
            </p:custDataLst>
          </p:nvPr>
        </p:nvSpPr>
        <p:spPr bwMode="auto">
          <a:xfrm>
            <a:off x="4265613" y="5434013"/>
            <a:ext cx="2333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83476273-EA46-4A0C-9886-BF2C7CB7E2B8}" type="datetime'''''''''''''''''''U''''''''''''b''''''''e''''''''r'''">
              <a:rPr lang="en-US" altLang="en-US" sz="800" smtClean="0">
                <a:solidFill>
                  <a:srgbClr val="00338D"/>
                </a:solidFill>
              </a:rPr>
              <a:pPr lvl="1" algn="ctr">
                <a:spcBef>
                  <a:spcPct val="0"/>
                </a:spcBef>
                <a:spcAft>
                  <a:spcPct val="0"/>
                </a:spcAft>
                <a:defRPr/>
              </a:pPr>
              <a:t>Uber</a:t>
            </a:fld>
            <a:endParaRPr kumimoji="0" lang="en-US" sz="800" b="0" i="0" strike="noStrike" kern="1200" cap="none" spc="0" normalizeH="0" baseline="0" noProof="0">
              <a:ln>
                <a:noFill/>
              </a:ln>
              <a:solidFill>
                <a:srgbClr val="00338D"/>
              </a:solidFill>
              <a:effectLst/>
              <a:uLnTx/>
              <a:uFillTx/>
            </a:endParaRPr>
          </a:p>
        </p:txBody>
      </p:sp>
      <p:sp>
        <p:nvSpPr>
          <p:cNvPr id="25" name="Rectangle 24">
            <a:extLst>
              <a:ext uri="{FF2B5EF4-FFF2-40B4-BE49-F238E27FC236}">
                <a16:creationId xmlns:a16="http://schemas.microsoft.com/office/drawing/2014/main" id="{C309898C-EE0C-35EC-8989-BE0A7EE8F798}"/>
              </a:ext>
            </a:extLst>
          </p:cNvPr>
          <p:cNvSpPr/>
          <p:nvPr/>
        </p:nvSpPr>
        <p:spPr>
          <a:xfrm>
            <a:off x="2555803" y="2140552"/>
            <a:ext cx="1120651" cy="106325"/>
          </a:xfrm>
          <a:prstGeom prst="rect">
            <a:avLst/>
          </a:prstGeom>
          <a:noFill/>
          <a:ln w="6350">
            <a:noFill/>
            <a:prstDash val="soli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900" b="1" i="0" u="none" strike="noStrike" kern="1200" cap="none" spc="0" normalizeH="0" baseline="0" noProof="0">
                <a:ln>
                  <a:noFill/>
                </a:ln>
                <a:solidFill>
                  <a:srgbClr val="00338D"/>
                </a:solidFill>
                <a:effectLst/>
                <a:uLnTx/>
                <a:uFillTx/>
                <a:latin typeface="Arial"/>
                <a:ea typeface="+mn-ea"/>
                <a:cs typeface="+mn-cs"/>
              </a:rPr>
              <a:t>Gross </a:t>
            </a:r>
            <a:r>
              <a:rPr lang="en-US" sz="900" b="1">
                <a:solidFill>
                  <a:srgbClr val="00338D"/>
                </a:solidFill>
                <a:latin typeface="Arial"/>
              </a:rPr>
              <a:t>M</a:t>
            </a:r>
            <a:r>
              <a:rPr kumimoji="0" lang="en-US" sz="900" b="1" i="0" u="none" strike="noStrike" kern="1200" cap="none" spc="0" normalizeH="0" baseline="0" noProof="0" err="1">
                <a:ln>
                  <a:noFill/>
                </a:ln>
                <a:solidFill>
                  <a:srgbClr val="00338D"/>
                </a:solidFill>
                <a:effectLst/>
                <a:uLnTx/>
                <a:uFillTx/>
                <a:latin typeface="Arial"/>
                <a:ea typeface="+mn-ea"/>
                <a:cs typeface="+mn-cs"/>
              </a:rPr>
              <a:t>argin</a:t>
            </a:r>
            <a:r>
              <a:rPr kumimoji="0" lang="en-US" sz="900" b="1" i="0" u="none" strike="noStrike" kern="1200" cap="none" spc="0" normalizeH="0" baseline="0" noProof="0">
                <a:ln>
                  <a:noFill/>
                </a:ln>
                <a:solidFill>
                  <a:srgbClr val="00338D"/>
                </a:solidFill>
                <a:effectLst/>
                <a:uLnTx/>
                <a:uFillTx/>
                <a:latin typeface="Arial"/>
                <a:ea typeface="+mn-ea"/>
                <a:cs typeface="+mn-cs"/>
              </a:rPr>
              <a:t> (%)</a:t>
            </a:r>
          </a:p>
        </p:txBody>
      </p:sp>
      <p:graphicFrame>
        <p:nvGraphicFramePr>
          <p:cNvPr id="62" name="Chart 61">
            <a:extLst>
              <a:ext uri="{FF2B5EF4-FFF2-40B4-BE49-F238E27FC236}">
                <a16:creationId xmlns:a16="http://schemas.microsoft.com/office/drawing/2014/main" id="{F0CEA751-1AAB-1BE7-970B-8A79E8E14B1B}"/>
              </a:ext>
            </a:extLst>
          </p:cNvPr>
          <p:cNvGraphicFramePr/>
          <p:nvPr>
            <p:custDataLst>
              <p:tags r:id="rId5"/>
            </p:custDataLst>
          </p:nvPr>
        </p:nvGraphicFramePr>
        <p:xfrm>
          <a:off x="419100" y="2319338"/>
          <a:ext cx="5340350" cy="1470025"/>
        </p:xfrm>
        <a:graphic>
          <a:graphicData uri="http://schemas.openxmlformats.org/drawingml/2006/chart">
            <c:chart xmlns:c="http://schemas.openxmlformats.org/drawingml/2006/chart" xmlns:r="http://schemas.openxmlformats.org/officeDocument/2006/relationships" r:id="rId23"/>
          </a:graphicData>
        </a:graphic>
      </p:graphicFrame>
      <p:sp>
        <p:nvSpPr>
          <p:cNvPr id="53" name="Text Placeholder 2">
            <a:extLst>
              <a:ext uri="{FF2B5EF4-FFF2-40B4-BE49-F238E27FC236}">
                <a16:creationId xmlns:a16="http://schemas.microsoft.com/office/drawing/2014/main" id="{A92A538C-7D0E-50EC-7FFF-5A9E2BCDB723}"/>
              </a:ext>
            </a:extLst>
          </p:cNvPr>
          <p:cNvSpPr>
            <a:spLocks noGrp="1"/>
          </p:cNvSpPr>
          <p:nvPr>
            <p:custDataLst>
              <p:tags r:id="rId6"/>
            </p:custDataLst>
          </p:nvPr>
        </p:nvSpPr>
        <p:spPr bwMode="auto">
          <a:xfrm>
            <a:off x="1566863" y="3636963"/>
            <a:ext cx="4556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FD95812D-148A-4ACB-9D07-D7B0E4CD24BB}" type="datetime'Do''o''''rd''''a''''''s''h'''''''''''''''''''''''''''''''''''">
              <a:rPr lang="en-US" altLang="en-US" sz="800" smtClean="0">
                <a:solidFill>
                  <a:srgbClr val="00338D"/>
                </a:solidFill>
              </a:rPr>
              <a:pPr lvl="1" algn="ctr">
                <a:spcBef>
                  <a:spcPct val="0"/>
                </a:spcBef>
                <a:spcAft>
                  <a:spcPct val="0"/>
                </a:spcAft>
                <a:defRPr/>
              </a:pPr>
              <a:t>Doordash</a:t>
            </a:fld>
            <a:endParaRPr kumimoji="0" lang="en-US" sz="800" b="0" i="0" strike="noStrike" kern="1200" cap="none" spc="0" normalizeH="0" baseline="0" noProof="0">
              <a:ln>
                <a:noFill/>
              </a:ln>
              <a:solidFill>
                <a:srgbClr val="00338D"/>
              </a:solidFill>
              <a:effectLst/>
              <a:uLnTx/>
              <a:uFillTx/>
            </a:endParaRPr>
          </a:p>
        </p:txBody>
      </p:sp>
      <p:sp>
        <p:nvSpPr>
          <p:cNvPr id="55" name="Text Placeholder 2">
            <a:extLst>
              <a:ext uri="{FF2B5EF4-FFF2-40B4-BE49-F238E27FC236}">
                <a16:creationId xmlns:a16="http://schemas.microsoft.com/office/drawing/2014/main" id="{5108636B-36D0-26E2-BFE1-8FD65F27646E}"/>
              </a:ext>
            </a:extLst>
          </p:cNvPr>
          <p:cNvSpPr>
            <a:spLocks noGrp="1"/>
          </p:cNvSpPr>
          <p:nvPr>
            <p:custDataLst>
              <p:tags r:id="rId7"/>
            </p:custDataLst>
          </p:nvPr>
        </p:nvSpPr>
        <p:spPr bwMode="auto">
          <a:xfrm>
            <a:off x="3814763" y="3636963"/>
            <a:ext cx="11334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55A8A3CC-64E3-4013-B635-1C350175DB8F}" type="datetime'''U''be''''r (Delive''''r''''y'''' ''Seg''''me''''nt)'''''''''">
              <a:rPr lang="en-US" altLang="en-US" sz="800" smtClean="0">
                <a:solidFill>
                  <a:srgbClr val="00338D"/>
                </a:solidFill>
              </a:rPr>
              <a:pPr/>
              <a:t>Uber (Delivery Segment)</a:t>
            </a:fld>
            <a:endParaRPr kumimoji="0" lang="en-US" sz="800" b="0" i="0" strike="noStrike" kern="1200" cap="none" spc="0" normalizeH="0" baseline="0" noProof="0">
              <a:ln>
                <a:noFill/>
              </a:ln>
              <a:solidFill>
                <a:srgbClr val="00338D"/>
              </a:solidFill>
              <a:effectLst/>
              <a:uLnTx/>
              <a:uFillTx/>
            </a:endParaRPr>
          </a:p>
        </p:txBody>
      </p:sp>
      <p:sp>
        <p:nvSpPr>
          <p:cNvPr id="839" name="Rectangle 838">
            <a:extLst>
              <a:ext uri="{FF2B5EF4-FFF2-40B4-BE49-F238E27FC236}">
                <a16:creationId xmlns:a16="http://schemas.microsoft.com/office/drawing/2014/main" id="{5762118B-9B40-9427-3FA2-FB2445371E2C}"/>
              </a:ext>
            </a:extLst>
          </p:cNvPr>
          <p:cNvSpPr/>
          <p:nvPr>
            <p:custDataLst>
              <p:tags r:id="rId8"/>
            </p:custDataLst>
          </p:nvPr>
        </p:nvSpPr>
        <p:spPr bwMode="auto">
          <a:xfrm>
            <a:off x="5143291" y="2097520"/>
            <a:ext cx="142875" cy="106362"/>
          </a:xfrm>
          <a:prstGeom prst="rect">
            <a:avLst/>
          </a:prstGeom>
          <a:solidFill>
            <a:srgbClr val="364D6E"/>
          </a:solidFill>
          <a:ln w="3175" cap="flat" cmpd="sng" algn="ctr">
            <a:solidFill>
              <a:schemeClr val="bg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err="1">
              <a:solidFill>
                <a:schemeClr val="bg1"/>
              </a:solidFill>
            </a:endParaRPr>
          </a:p>
        </p:txBody>
      </p:sp>
      <p:sp>
        <p:nvSpPr>
          <p:cNvPr id="60" name="Rectangle 59">
            <a:extLst>
              <a:ext uri="{FF2B5EF4-FFF2-40B4-BE49-F238E27FC236}">
                <a16:creationId xmlns:a16="http://schemas.microsoft.com/office/drawing/2014/main" id="{69571628-DBFF-8D3A-5652-A6F59F1D16E3}"/>
              </a:ext>
            </a:extLst>
          </p:cNvPr>
          <p:cNvSpPr/>
          <p:nvPr>
            <p:custDataLst>
              <p:tags r:id="rId9"/>
            </p:custDataLst>
          </p:nvPr>
        </p:nvSpPr>
        <p:spPr bwMode="auto">
          <a:xfrm>
            <a:off x="5143291" y="2270557"/>
            <a:ext cx="142875" cy="106363"/>
          </a:xfrm>
          <a:prstGeom prst="rect">
            <a:avLst/>
          </a:prstGeom>
          <a:solidFill>
            <a:srgbClr val="6F8DB9"/>
          </a:solidFill>
          <a:ln w="3175" cmpd="sng" algn="ctr">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835" name="Text Placeholder 2">
            <a:extLst>
              <a:ext uri="{FF2B5EF4-FFF2-40B4-BE49-F238E27FC236}">
                <a16:creationId xmlns:a16="http://schemas.microsoft.com/office/drawing/2014/main" id="{46BC2F9F-BA7F-67B2-B3FF-01BD21282E81}"/>
              </a:ext>
            </a:extLst>
          </p:cNvPr>
          <p:cNvSpPr>
            <a:spLocks noGrp="1"/>
          </p:cNvSpPr>
          <p:nvPr>
            <p:custDataLst>
              <p:tags r:id="rId10"/>
            </p:custDataLst>
          </p:nvPr>
        </p:nvSpPr>
        <p:spPr bwMode="auto">
          <a:xfrm>
            <a:off x="5336966" y="2092757"/>
            <a:ext cx="2286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4B74EE9D-9BA5-466E-BA4D-05FBC89BA61C}" type="datetime'''''''2''''''0''''''''''2''''''''''''''''''''''3'">
              <a:rPr lang="en-US" altLang="en-US" sz="800" smtClean="0">
                <a:solidFill>
                  <a:srgbClr val="00338D"/>
                </a:solidFill>
              </a:rPr>
              <a:pPr/>
              <a:t>2023</a:t>
            </a:fld>
            <a:endParaRPr kumimoji="0" lang="en-US" sz="800" b="0" i="0" strike="noStrike" kern="1200" cap="none" spc="0" normalizeH="0" baseline="0" noProof="0">
              <a:ln>
                <a:noFill/>
              </a:ln>
              <a:solidFill>
                <a:srgbClr val="00338D"/>
              </a:solidFill>
              <a:effectLst/>
              <a:uLnTx/>
              <a:uFillTx/>
            </a:endParaRPr>
          </a:p>
        </p:txBody>
      </p:sp>
      <p:sp>
        <p:nvSpPr>
          <p:cNvPr id="1024" name="Text Placeholder 2">
            <a:extLst>
              <a:ext uri="{FF2B5EF4-FFF2-40B4-BE49-F238E27FC236}">
                <a16:creationId xmlns:a16="http://schemas.microsoft.com/office/drawing/2014/main" id="{94AF4F52-6721-6954-A40C-2C17FE08D9CB}"/>
              </a:ext>
            </a:extLst>
          </p:cNvPr>
          <p:cNvSpPr>
            <a:spLocks noGrp="1"/>
          </p:cNvSpPr>
          <p:nvPr>
            <p:custDataLst>
              <p:tags r:id="rId11"/>
            </p:custDataLst>
          </p:nvPr>
        </p:nvSpPr>
        <p:spPr bwMode="auto">
          <a:xfrm>
            <a:off x="5336966" y="2265795"/>
            <a:ext cx="2286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23" rtl="0" eaLnBrk="1" latinLnBrk="0" hangingPunct="1">
              <a:lnSpc>
                <a:spcPct val="100000"/>
              </a:lnSpc>
              <a:spcBef>
                <a:spcPts val="0"/>
              </a:spcBef>
              <a:spcAft>
                <a:spcPts val="601"/>
              </a:spcAft>
              <a:buFont typeface="Arial" panose="020B0604020202020204" pitchFamily="34" charset="0"/>
              <a:buNone/>
              <a:defRPr sz="1200" b="1" kern="1200">
                <a:solidFill>
                  <a:srgbClr val="00338D"/>
                </a:solidFill>
                <a:latin typeface="+mn-lt"/>
                <a:ea typeface="+mn-ea"/>
                <a:cs typeface="+mn-cs"/>
              </a:defRPr>
            </a:lvl1pPr>
            <a:lvl2pPr marL="0" indent="0" algn="l" defTabSz="914423" rtl="0" eaLnBrk="1" latinLnBrk="0" hangingPunct="1">
              <a:lnSpc>
                <a:spcPct val="100000"/>
              </a:lnSpc>
              <a:spcBef>
                <a:spcPts val="0"/>
              </a:spcBef>
              <a:spcAft>
                <a:spcPts val="601"/>
              </a:spcAft>
              <a:buFontTx/>
              <a:buNone/>
              <a:defRPr sz="1200" b="0" kern="1200">
                <a:solidFill>
                  <a:schemeClr val="tx1"/>
                </a:solidFill>
                <a:latin typeface="+mn-lt"/>
                <a:ea typeface="+mn-ea"/>
                <a:cs typeface="+mn-cs"/>
              </a:defRPr>
            </a:lvl2pPr>
            <a:lvl3pPr marL="28575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3pPr>
            <a:lvl4pPr marL="466737"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a:solidFill>
                  <a:schemeClr val="tx1"/>
                </a:solidFill>
                <a:latin typeface="+mn-lt"/>
                <a:ea typeface="+mn-ea"/>
                <a:cs typeface="+mn-cs"/>
              </a:defRPr>
            </a:lvl4pPr>
            <a:lvl5pPr marL="647716" indent="-285757" algn="l" defTabSz="914423" rtl="0" eaLnBrk="1" latinLnBrk="0" hangingPunct="1">
              <a:lnSpc>
                <a:spcPct val="100000"/>
              </a:lnSpc>
              <a:spcBef>
                <a:spcPts val="0"/>
              </a:spcBef>
              <a:spcAft>
                <a:spcPts val="601"/>
              </a:spcAft>
              <a:buClrTx/>
              <a:buFont typeface="Arial" panose="020B0604020202020204" pitchFamily="34" charset="0"/>
              <a:buChar char="•"/>
              <a:defRPr sz="1200" b="0" kern="1200" baseline="0">
                <a:solidFill>
                  <a:schemeClr val="tx1"/>
                </a:solidFill>
                <a:latin typeface="+mn-lt"/>
                <a:ea typeface="+mn-ea"/>
                <a:cs typeface="+mn-cs"/>
              </a:defRPr>
            </a:lvl5pPr>
            <a:lvl6pPr marL="719156" indent="-180979"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6pPr>
            <a:lvl7pPr marL="896960"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7pPr>
            <a:lvl8pPr marL="1074765" indent="-177805" algn="l" defTabSz="914423" rtl="0" eaLnBrk="1" latinLnBrk="0" hangingPunct="1">
              <a:lnSpc>
                <a:spcPct val="100000"/>
              </a:lnSpc>
              <a:spcBef>
                <a:spcPts val="0"/>
              </a:spcBef>
              <a:spcAft>
                <a:spcPts val="601"/>
              </a:spcAft>
              <a:buClr>
                <a:schemeClr val="tx2"/>
              </a:buClr>
              <a:buFont typeface="Arial" panose="020B0604020202020204" pitchFamily="34" charset="0"/>
              <a:buChar char="-"/>
              <a:defRPr sz="1500" kern="1200">
                <a:solidFill>
                  <a:schemeClr val="tx2"/>
                </a:solidFill>
                <a:latin typeface="+mn-lt"/>
                <a:ea typeface="+mn-ea"/>
                <a:cs typeface="+mn-cs"/>
              </a:defRPr>
            </a:lvl8pPr>
            <a:lvl9pPr marL="1257331" indent="-182567" algn="l" defTabSz="914423"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defRPr/>
            </a:pPr>
            <a:fld id="{291EF4E3-863A-469F-A0AB-96C1510B52FB}" type="datetime'''''''''2''''0''2''''''''''''''''''''''''4'''''''''''''">
              <a:rPr lang="en-US" altLang="en-US" sz="800" smtClean="0">
                <a:solidFill>
                  <a:srgbClr val="00338D"/>
                </a:solidFill>
              </a:rPr>
              <a:pPr/>
              <a:t>2024</a:t>
            </a:fld>
            <a:endParaRPr kumimoji="0" lang="en-US" sz="800" b="0" i="0" strike="noStrike" kern="1200" cap="none" spc="0" normalizeH="0" baseline="0" noProof="0">
              <a:ln>
                <a:noFill/>
              </a:ln>
              <a:solidFill>
                <a:srgbClr val="00338D"/>
              </a:solidFill>
              <a:effectLst/>
              <a:uLnTx/>
              <a:uFillTx/>
            </a:endParaRPr>
          </a:p>
        </p:txBody>
      </p:sp>
    </p:spTree>
    <p:extLst>
      <p:ext uri="{BB962C8B-B14F-4D97-AF65-F5344CB8AC3E}">
        <p14:creationId xmlns:p14="http://schemas.microsoft.com/office/powerpoint/2010/main" val="18344509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29904-5215-A9C2-C8EC-6C4D87A0DF6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15B1340-9D43-FE05-4FF7-63E648A69E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5" name="think-cell data - do not delete" hidden="1">
                        <a:extLst>
                          <a:ext uri="{FF2B5EF4-FFF2-40B4-BE49-F238E27FC236}">
                            <a16:creationId xmlns:a16="http://schemas.microsoft.com/office/drawing/2014/main" id="{B15B1340-9D43-FE05-4FF7-63E648A69E6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7C01AF9A-0026-4E3E-A420-AE3174FFE6AC}"/>
              </a:ext>
            </a:extLst>
          </p:cNvPr>
          <p:cNvSpPr>
            <a:spLocks noGrp="1"/>
          </p:cNvSpPr>
          <p:nvPr>
            <p:ph type="body" sz="quarter" idx="19"/>
          </p:nvPr>
        </p:nvSpPr>
        <p:spPr/>
        <p:txBody>
          <a:bodyPr/>
          <a:lstStyle/>
          <a:p>
            <a:pPr marL="0" indent="0">
              <a:buNone/>
            </a:pPr>
            <a:r>
              <a:rPr lang="en-US" dirty="0">
                <a:cs typeface="Arial"/>
              </a:rPr>
              <a:t>Driver Operating model</a:t>
            </a:r>
          </a:p>
        </p:txBody>
      </p:sp>
      <p:sp>
        <p:nvSpPr>
          <p:cNvPr id="3" name="Title 2">
            <a:extLst>
              <a:ext uri="{FF2B5EF4-FFF2-40B4-BE49-F238E27FC236}">
                <a16:creationId xmlns:a16="http://schemas.microsoft.com/office/drawing/2014/main" id="{D089B583-86AC-CFDE-06D6-AEF75BF2354C}"/>
              </a:ext>
            </a:extLst>
          </p:cNvPr>
          <p:cNvSpPr>
            <a:spLocks noGrp="1"/>
          </p:cNvSpPr>
          <p:nvPr>
            <p:ph type="title"/>
          </p:nvPr>
        </p:nvSpPr>
        <p:spPr>
          <a:xfrm>
            <a:off x="495300" y="464083"/>
            <a:ext cx="11194427" cy="639611"/>
          </a:xfrm>
        </p:spPr>
        <p:txBody>
          <a:bodyPr vert="horz">
            <a:noAutofit/>
          </a:bodyPr>
          <a:lstStyle/>
          <a:p>
            <a:r>
              <a:rPr lang="en-US" sz="2800" dirty="0">
                <a:latin typeface="Calibri" panose="020F0502020204030204" pitchFamily="34" charset="0"/>
                <a:cs typeface="Calibri" panose="020F0502020204030204" pitchFamily="34" charset="0"/>
              </a:rPr>
              <a:t>Regulatory and Service Pressures are Forcing an Evolution from Gig-Only to Hybrid Labor Models</a:t>
            </a:r>
          </a:p>
        </p:txBody>
      </p:sp>
      <p:sp>
        <p:nvSpPr>
          <p:cNvPr id="837" name="TextBox 836">
            <a:extLst>
              <a:ext uri="{FF2B5EF4-FFF2-40B4-BE49-F238E27FC236}">
                <a16:creationId xmlns:a16="http://schemas.microsoft.com/office/drawing/2014/main" id="{B5332AC2-B555-9046-A1C3-AF19BE628DAD}"/>
              </a:ext>
            </a:extLst>
          </p:cNvPr>
          <p:cNvSpPr txBox="1"/>
          <p:nvPr/>
        </p:nvSpPr>
        <p:spPr>
          <a:xfrm>
            <a:off x="502273" y="6037162"/>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DF24D383-D30C-DDE8-2435-4339F27DECAB}"/>
              </a:ext>
            </a:extLst>
          </p:cNvPr>
          <p:cNvGrpSpPr>
            <a:grpSpLocks/>
          </p:cNvGrpSpPr>
          <p:nvPr/>
        </p:nvGrpSpPr>
        <p:grpSpPr bwMode="auto">
          <a:xfrm>
            <a:off x="495300" y="1376143"/>
            <a:ext cx="11282572" cy="365126"/>
            <a:chOff x="1288" y="1523"/>
            <a:chExt cx="4426" cy="230"/>
          </a:xfrm>
        </p:grpSpPr>
        <p:sp>
          <p:nvSpPr>
            <p:cNvPr id="14" name="Line 56">
              <a:extLst>
                <a:ext uri="{FF2B5EF4-FFF2-40B4-BE49-F238E27FC236}">
                  <a16:creationId xmlns:a16="http://schemas.microsoft.com/office/drawing/2014/main" id="{95E251B9-D6C6-9607-4B96-937C1F793D4F}"/>
                </a:ext>
              </a:extLst>
            </p:cNvPr>
            <p:cNvSpPr>
              <a:spLocks noChangeShapeType="1"/>
            </p:cNvSpPr>
            <p:nvPr>
              <p:custDataLst>
                <p:tags r:id="rId4"/>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36AD9AEA-9118-9B66-B498-F6FB735F5BC8}"/>
                </a:ext>
              </a:extLst>
            </p:cNvPr>
            <p:cNvSpPr txBox="1">
              <a:spLocks noChangeArrowheads="1"/>
            </p:cNvSpPr>
            <p:nvPr>
              <p:custDataLst>
                <p:tags r:id="rId5"/>
              </p:custDataLst>
            </p:nvPr>
          </p:nvSpPr>
          <p:spPr bwMode="gray">
            <a:xfrm>
              <a:off x="1288" y="1523"/>
              <a:ext cx="442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dirty="0">
                  <a:solidFill>
                    <a:srgbClr val="000000"/>
                  </a:solidFill>
                  <a:cs typeface="Arial" panose="020B0604020202020204" pitchFamily="34" charset="0"/>
                </a:rPr>
                <a:t>The U.S. last-mile delivery sector relies heavily on gig-based labor, with over 59 million users as of 2024. Most platforms use flexible contractor models, but regulatory changes and rising service expectations are driving a shift toward hybrid labor strategies.</a:t>
              </a:r>
            </a:p>
          </p:txBody>
        </p:sp>
      </p:grpSp>
      <p:sp>
        <p:nvSpPr>
          <p:cNvPr id="30" name="Rectangle: Rounded Corners 29">
            <a:extLst>
              <a:ext uri="{FF2B5EF4-FFF2-40B4-BE49-F238E27FC236}">
                <a16:creationId xmlns:a16="http://schemas.microsoft.com/office/drawing/2014/main" id="{F6D026AD-9BCC-0A8D-5924-429BD0B49F08}"/>
              </a:ext>
            </a:extLst>
          </p:cNvPr>
          <p:cNvSpPr/>
          <p:nvPr/>
        </p:nvSpPr>
        <p:spPr>
          <a:xfrm>
            <a:off x="495300" y="5610277"/>
            <a:ext cx="11282572" cy="380469"/>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r>
              <a:rPr lang="en-US" sz="1000" i="1">
                <a:solidFill>
                  <a:schemeClr val="tx1"/>
                </a:solidFill>
              </a:rPr>
              <a:t>Hybrid models combine employee drivers for core demand with gig drivers for peak periods. This approach is increasingly adopted to balance reliability, cost, and compliance. Walmart Spark is positioned to improve driver retention, service quality, and regulatory resilience as the market grows.</a:t>
            </a:r>
          </a:p>
        </p:txBody>
      </p:sp>
      <p:grpSp>
        <p:nvGrpSpPr>
          <p:cNvPr id="18" name="Subtitle [Placeholder]">
            <a:extLst>
              <a:ext uri="{FF2B5EF4-FFF2-40B4-BE49-F238E27FC236}">
                <a16:creationId xmlns:a16="http://schemas.microsoft.com/office/drawing/2014/main" id="{1384672A-E90B-68B3-8A8D-3CF9FCB5EE34}"/>
              </a:ext>
            </a:extLst>
          </p:cNvPr>
          <p:cNvGrpSpPr>
            <a:grpSpLocks/>
          </p:cNvGrpSpPr>
          <p:nvPr/>
        </p:nvGrpSpPr>
        <p:grpSpPr bwMode="auto">
          <a:xfrm>
            <a:off x="502273" y="1787274"/>
            <a:ext cx="6091164" cy="461703"/>
            <a:chOff x="902" y="-376377"/>
            <a:chExt cx="3832" cy="378126"/>
          </a:xfrm>
        </p:grpSpPr>
        <p:sp>
          <p:nvSpPr>
            <p:cNvPr id="19" name="Line 56">
              <a:extLst>
                <a:ext uri="{FF2B5EF4-FFF2-40B4-BE49-F238E27FC236}">
                  <a16:creationId xmlns:a16="http://schemas.microsoft.com/office/drawing/2014/main" id="{185BDC58-C2CE-5ADD-C5D6-C1B87DC68693}"/>
                </a:ext>
              </a:extLst>
            </p:cNvPr>
            <p:cNvSpPr>
              <a:spLocks noChangeShapeType="1"/>
            </p:cNvSpPr>
            <p:nvPr>
              <p:custDataLst>
                <p:tags r:id="rId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0" name="Text Box 57">
              <a:extLst>
                <a:ext uri="{FF2B5EF4-FFF2-40B4-BE49-F238E27FC236}">
                  <a16:creationId xmlns:a16="http://schemas.microsoft.com/office/drawing/2014/main" id="{9B312A03-A22C-0F38-42EE-D13366C799D5}"/>
                </a:ext>
              </a:extLst>
            </p:cNvPr>
            <p:cNvSpPr txBox="1">
              <a:spLocks noChangeArrowheads="1"/>
            </p:cNvSpPr>
            <p:nvPr>
              <p:custDataLst>
                <p:tags r:id="rId3"/>
              </p:custDataLst>
            </p:nvPr>
          </p:nvSpPr>
          <p:spPr bwMode="gray">
            <a:xfrm>
              <a:off x="902" y="-376377"/>
              <a:ext cx="3832" cy="378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338D"/>
                  </a:solidFill>
                </a:rPr>
                <a:t>Labor Model &amp; Operating Efficiency: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dirty="0">
                  <a:solidFill>
                    <a:schemeClr val="tx1"/>
                  </a:solidFill>
                </a:rPr>
                <a:t>Spark must transition from a pure-play gig model to a hybrid labor strategy, modeled after Amazon, that combines employee drivers for baseline reliability with gig workers for flexible capacity</a:t>
              </a:r>
            </a:p>
          </p:txBody>
        </p:sp>
      </p:grpSp>
      <p:grpSp>
        <p:nvGrpSpPr>
          <p:cNvPr id="6" name="Group 5">
            <a:extLst>
              <a:ext uri="{FF2B5EF4-FFF2-40B4-BE49-F238E27FC236}">
                <a16:creationId xmlns:a16="http://schemas.microsoft.com/office/drawing/2014/main" id="{90DB266D-226D-2455-2FF1-82C321E75207}"/>
              </a:ext>
            </a:extLst>
          </p:cNvPr>
          <p:cNvGrpSpPr/>
          <p:nvPr/>
        </p:nvGrpSpPr>
        <p:grpSpPr>
          <a:xfrm>
            <a:off x="509246" y="2287711"/>
            <a:ext cx="2004319" cy="3102110"/>
            <a:chOff x="824073" y="2110841"/>
            <a:chExt cx="2198162" cy="1476071"/>
          </a:xfrm>
        </p:grpSpPr>
        <p:sp>
          <p:nvSpPr>
            <p:cNvPr id="7" name="Rectangle 11">
              <a:extLst>
                <a:ext uri="{FF2B5EF4-FFF2-40B4-BE49-F238E27FC236}">
                  <a16:creationId xmlns:a16="http://schemas.microsoft.com/office/drawing/2014/main" id="{A83E3B8A-FAAF-AE5E-B9BD-78C3BC75C7D0}"/>
                </a:ext>
              </a:extLst>
            </p:cNvPr>
            <p:cNvSpPr/>
            <p:nvPr/>
          </p:nvSpPr>
          <p:spPr>
            <a:xfrm>
              <a:off x="824073" y="2319051"/>
              <a:ext cx="2194559" cy="126786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nchorCtr="0"/>
            <a:lstStyle/>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Flexible, on-demand workforce of independent contractors.</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 Fast onboarding (target: 48–72 hours from sign-up to first delivery).</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A</a:t>
              </a:r>
              <a:r>
                <a:rPr kumimoji="0" lang="en-US" sz="1000" b="0" i="0" u="none" strike="noStrike" kern="1200" cap="none" spc="0" normalizeH="0" baseline="0" noProof="0" err="1">
                  <a:ln>
                    <a:noFill/>
                  </a:ln>
                  <a:solidFill>
                    <a:schemeClr val="tx1"/>
                  </a:solidFill>
                  <a:effectLst/>
                  <a:uLnTx/>
                  <a:uFillTx/>
                  <a:latin typeface="Arial" panose="020B0604020202020204" pitchFamily="34" charset="0"/>
                  <a:ea typeface="+mn-ea"/>
                  <a:cs typeface="+mn-cs"/>
                </a:rPr>
                <a:t>ppeals</a:t>
              </a: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 to drivers seeking flexibility and supplemental income.</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High churn risk due to variable pay and lack of benefits.</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rPr>
                <a:t>Most common in last-mile delivery (DoorDash, Uber Eats, Instacart).</a:t>
              </a:r>
              <a:endParaRPr lang="en-US" sz="900">
                <a:solidFill>
                  <a:schemeClr val="tx1"/>
                </a:solidFill>
                <a:latin typeface="Arial" panose="020B0604020202020204" pitchFamily="34" charset="0"/>
              </a:endParaRPr>
            </a:p>
          </p:txBody>
        </p:sp>
        <p:sp>
          <p:nvSpPr>
            <p:cNvPr id="11" name="Rectangle 11">
              <a:extLst>
                <a:ext uri="{FF2B5EF4-FFF2-40B4-BE49-F238E27FC236}">
                  <a16:creationId xmlns:a16="http://schemas.microsoft.com/office/drawing/2014/main" id="{EBFAB7E0-0077-D13D-21D9-7DCAAB7A06AB}"/>
                </a:ext>
              </a:extLst>
            </p:cNvPr>
            <p:cNvSpPr/>
            <p:nvPr/>
          </p:nvSpPr>
          <p:spPr>
            <a:xfrm>
              <a:off x="827675" y="2110841"/>
              <a:ext cx="2194560" cy="206452"/>
            </a:xfrm>
            <a:prstGeom prst="round2SameRect">
              <a:avLst/>
            </a:prstGeom>
            <a:solidFill>
              <a:srgbClr val="364D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Gig-Based Model</a:t>
              </a:r>
            </a:p>
          </p:txBody>
        </p:sp>
      </p:grpSp>
      <p:grpSp>
        <p:nvGrpSpPr>
          <p:cNvPr id="12" name="Group 11">
            <a:extLst>
              <a:ext uri="{FF2B5EF4-FFF2-40B4-BE49-F238E27FC236}">
                <a16:creationId xmlns:a16="http://schemas.microsoft.com/office/drawing/2014/main" id="{91894853-18CF-EA69-BA9B-54293F2A611F}"/>
              </a:ext>
            </a:extLst>
          </p:cNvPr>
          <p:cNvGrpSpPr/>
          <p:nvPr/>
        </p:nvGrpSpPr>
        <p:grpSpPr>
          <a:xfrm>
            <a:off x="2642718" y="2287711"/>
            <a:ext cx="1917329" cy="3102110"/>
            <a:chOff x="3668547" y="2110840"/>
            <a:chExt cx="2042530" cy="2928353"/>
          </a:xfrm>
        </p:grpSpPr>
        <p:sp>
          <p:nvSpPr>
            <p:cNvPr id="16" name="Rectangle 15">
              <a:extLst>
                <a:ext uri="{FF2B5EF4-FFF2-40B4-BE49-F238E27FC236}">
                  <a16:creationId xmlns:a16="http://schemas.microsoft.com/office/drawing/2014/main" id="{F562771A-9FC4-B6CC-FEE7-ACC68981050A}"/>
                </a:ext>
              </a:extLst>
            </p:cNvPr>
            <p:cNvSpPr/>
            <p:nvPr/>
          </p:nvSpPr>
          <p:spPr>
            <a:xfrm>
              <a:off x="3668547" y="2476785"/>
              <a:ext cx="2042530" cy="2562408"/>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nchorCtr="0"/>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a:solidFill>
                    <a:schemeClr val="tx1"/>
                  </a:solidFill>
                  <a:latin typeface="Arial" panose="020B0604020202020204" pitchFamily="34" charset="0"/>
                </a:rPr>
                <a:t>Combines employee drivers for baseline demand with gig drivers for peak/flexible capacity.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a:solidFill>
                    <a:schemeClr val="tx1"/>
                  </a:solidFill>
                  <a:latin typeface="Arial" panose="020B0604020202020204" pitchFamily="34" charset="0"/>
                </a:rPr>
                <a:t> Inspired by Amazon DSP/Flex model.</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a:solidFill>
                    <a:schemeClr val="tx1"/>
                  </a:solidFill>
                  <a:latin typeface="Arial" panose="020B0604020202020204" pitchFamily="34" charset="0"/>
                </a:rPr>
                <a:t>Employee drivers provide reliability and brand consistency.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a:solidFill>
                    <a:schemeClr val="tx1"/>
                  </a:solidFill>
                  <a:latin typeface="Arial" panose="020B0604020202020204" pitchFamily="34" charset="0"/>
                </a:rPr>
                <a:t> Gig drivers offer scalability and cost control.</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000">
                  <a:solidFill>
                    <a:schemeClr val="tx1"/>
                  </a:solidFill>
                  <a:latin typeface="Arial" panose="020B0604020202020204" pitchFamily="34" charset="0"/>
                </a:rPr>
                <a:t>Mitigates regulatory risk and supports service quality</a:t>
              </a:r>
              <a:r>
                <a:rPr lang="en-US" sz="1000">
                  <a:solidFill>
                    <a:srgbClr val="00338D"/>
                  </a:solidFill>
                  <a:latin typeface="Arial" panose="020B0604020202020204" pitchFamily="34" charset="0"/>
                </a:rPr>
                <a:t>.</a:t>
              </a:r>
              <a:endParaRPr lang="en-US" sz="900">
                <a:solidFill>
                  <a:srgbClr val="00338D"/>
                </a:solidFill>
                <a:latin typeface="Arial" panose="020B0604020202020204" pitchFamily="34" charset="0"/>
              </a:endParaRPr>
            </a:p>
          </p:txBody>
        </p:sp>
        <p:sp>
          <p:nvSpPr>
            <p:cNvPr id="17" name="Rectangle 15">
              <a:extLst>
                <a:ext uri="{FF2B5EF4-FFF2-40B4-BE49-F238E27FC236}">
                  <a16:creationId xmlns:a16="http://schemas.microsoft.com/office/drawing/2014/main" id="{F30B87C7-515F-2320-6DE1-39BBC469D2AB}"/>
                </a:ext>
              </a:extLst>
            </p:cNvPr>
            <p:cNvSpPr/>
            <p:nvPr/>
          </p:nvSpPr>
          <p:spPr>
            <a:xfrm>
              <a:off x="3672149" y="2110840"/>
              <a:ext cx="2038928" cy="365760"/>
            </a:xfrm>
            <a:prstGeom prst="round2SameRect">
              <a:avLst/>
            </a:prstGeom>
            <a:solidFill>
              <a:srgbClr val="6F8DB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Hybrid Model</a:t>
              </a:r>
            </a:p>
          </p:txBody>
        </p:sp>
      </p:grpSp>
      <p:grpSp>
        <p:nvGrpSpPr>
          <p:cNvPr id="21" name="Group 20">
            <a:extLst>
              <a:ext uri="{FF2B5EF4-FFF2-40B4-BE49-F238E27FC236}">
                <a16:creationId xmlns:a16="http://schemas.microsoft.com/office/drawing/2014/main" id="{2B22E373-6051-92CC-17E2-D2F84B649F85}"/>
              </a:ext>
            </a:extLst>
          </p:cNvPr>
          <p:cNvGrpSpPr/>
          <p:nvPr/>
        </p:nvGrpSpPr>
        <p:grpSpPr>
          <a:xfrm>
            <a:off x="4679489" y="2287713"/>
            <a:ext cx="1913948" cy="3102108"/>
            <a:chOff x="6231050" y="2110840"/>
            <a:chExt cx="2194560" cy="2928351"/>
          </a:xfrm>
        </p:grpSpPr>
        <p:sp>
          <p:nvSpPr>
            <p:cNvPr id="22" name="Rectangle 17">
              <a:extLst>
                <a:ext uri="{FF2B5EF4-FFF2-40B4-BE49-F238E27FC236}">
                  <a16:creationId xmlns:a16="http://schemas.microsoft.com/office/drawing/2014/main" id="{F894A682-215B-07A9-0B84-AE24265F828A}"/>
                </a:ext>
              </a:extLst>
            </p:cNvPr>
            <p:cNvSpPr/>
            <p:nvPr/>
          </p:nvSpPr>
          <p:spPr>
            <a:xfrm>
              <a:off x="6231050" y="2476784"/>
              <a:ext cx="2194560" cy="256240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nchorCtr="0"/>
            <a:lstStyle/>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Traditional employment relationship.</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 Drivers are classified as employees.</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Eligible for benefits (healthcare, PTO, retirement).</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Lower churn, higher retention.- Higher fixed costs, less flexibility.</a:t>
              </a:r>
            </a:p>
            <a:p>
              <a:pPr marL="228599" marR="0" lvl="0" indent="-171450" algn="l" defTabSz="554261" rtl="0" eaLnBrk="1" fontAlgn="auto" latinLnBrk="0" hangingPunct="1">
                <a:lnSpc>
                  <a:spcPct val="100000"/>
                </a:lnSpc>
                <a:spcBef>
                  <a:spcPts val="0"/>
                </a:spcBef>
                <a:spcAft>
                  <a:spcPts val="600"/>
                </a:spcAft>
                <a:buClrTx/>
                <a:buSzPts val="1200"/>
                <a:buFont typeface="Arial" panose="020B0604020202020204" pitchFamily="34" charset="0"/>
                <a:buChar char="•"/>
                <a:tabLst/>
                <a:defRPr/>
              </a:pPr>
              <a:r>
                <a:rPr lang="en-US" sz="1000">
                  <a:solidFill>
                    <a:schemeClr val="tx1"/>
                  </a:solidFill>
                  <a:latin typeface="Arial" panose="020B0604020202020204" pitchFamily="34" charset="0"/>
                </a:rPr>
                <a:t>Used for predictable, high-density routes.</a:t>
              </a:r>
              <a:endParaRPr kumimoji="0" lang="en-US" sz="10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3" name="Rectangle 17">
              <a:extLst>
                <a:ext uri="{FF2B5EF4-FFF2-40B4-BE49-F238E27FC236}">
                  <a16:creationId xmlns:a16="http://schemas.microsoft.com/office/drawing/2014/main" id="{1B2EE00A-D1DC-8BA0-0A0E-59C487DF04F1}"/>
                </a:ext>
              </a:extLst>
            </p:cNvPr>
            <p:cNvSpPr/>
            <p:nvPr/>
          </p:nvSpPr>
          <p:spPr>
            <a:xfrm>
              <a:off x="6231050" y="2110840"/>
              <a:ext cx="2194560" cy="365760"/>
            </a:xfrm>
            <a:prstGeom prst="round2SameRect">
              <a:avLst/>
            </a:prstGeom>
            <a:solidFill>
              <a:srgbClr val="C3CFE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mn-cs"/>
                </a:rPr>
                <a:t>Employee Model</a:t>
              </a:r>
            </a:p>
          </p:txBody>
        </p:sp>
      </p:grpSp>
      <p:sp>
        <p:nvSpPr>
          <p:cNvPr id="24" name="Rectangle 23">
            <a:extLst>
              <a:ext uri="{FF2B5EF4-FFF2-40B4-BE49-F238E27FC236}">
                <a16:creationId xmlns:a16="http://schemas.microsoft.com/office/drawing/2014/main" id="{4D513D79-DE05-D72E-CF03-60634DAA77A0}"/>
              </a:ext>
            </a:extLst>
          </p:cNvPr>
          <p:cNvSpPr/>
          <p:nvPr/>
        </p:nvSpPr>
        <p:spPr>
          <a:xfrm>
            <a:off x="7167671" y="2248939"/>
            <a:ext cx="4118418" cy="3096528"/>
          </a:xfrm>
          <a:prstGeom prst="rect">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171450" indent="-171450">
              <a:buFont typeface="Arial" panose="020B0604020202020204" pitchFamily="34" charset="0"/>
              <a:buChar char="•"/>
            </a:pPr>
            <a:r>
              <a:rPr lang="en-US" sz="1000">
                <a:solidFill>
                  <a:schemeClr val="tx1"/>
                </a:solidFill>
              </a:rPr>
              <a:t>The U.S. gig economy workforce is estimated at 59 million to 78 million Americans in 2024, with last-mile delivery accounting for over 50% of total supply chain costs. The market is projected to exceed $300 billion within five years, making labor strategy a key driver of operational efficiency and profitability. The growth of gig-based platforms has been fueled by consumer demand for speed and flexibility but also faces increasing regulatory scrutiny. </a:t>
            </a:r>
          </a:p>
          <a:p>
            <a:endParaRPr lang="en-US" sz="1000">
              <a:solidFill>
                <a:schemeClr val="tx1"/>
              </a:solidFill>
            </a:endParaRPr>
          </a:p>
          <a:p>
            <a:pPr marL="171450" indent="-171450">
              <a:buFont typeface="Arial" panose="020B0604020202020204" pitchFamily="34" charset="0"/>
              <a:buChar char="•"/>
            </a:pPr>
            <a:r>
              <a:rPr lang="en-US" sz="1000">
                <a:solidFill>
                  <a:schemeClr val="tx1"/>
                </a:solidFill>
              </a:rPr>
              <a:t>Currently, most competitors rely on gig-based models, which offer rapid scaling and flexibility but suffer from high driver churn and negative customer satisfaction scores. Benchmarking reveals that platforms with poor driver experience have deeply negative Net Promoter Scores, highlighting the link between labor model and service quality.</a:t>
            </a:r>
          </a:p>
          <a:p>
            <a:endParaRPr lang="en-US" sz="1000">
              <a:solidFill>
                <a:schemeClr val="tx1"/>
              </a:solidFill>
            </a:endParaRPr>
          </a:p>
          <a:p>
            <a:pPr marL="171450" indent="-171450">
              <a:buFont typeface="Arial" panose="020B0604020202020204" pitchFamily="34" charset="0"/>
              <a:buChar char="•"/>
            </a:pPr>
            <a:r>
              <a:rPr lang="en-US" sz="1000">
                <a:solidFill>
                  <a:schemeClr val="tx1"/>
                </a:solidFill>
              </a:rPr>
              <a:t>A tiered rewards program and competitive base pay ($18–$22/</a:t>
            </a:r>
            <a:r>
              <a:rPr lang="en-US" sz="1000" err="1">
                <a:solidFill>
                  <a:schemeClr val="tx1"/>
                </a:solidFill>
              </a:rPr>
              <a:t>hr</a:t>
            </a:r>
            <a:r>
              <a:rPr lang="en-US" sz="1000">
                <a:solidFill>
                  <a:schemeClr val="tx1"/>
                </a:solidFill>
              </a:rPr>
              <a:t>) will help attract and retain drivers, while proactive compliance and ongoing modeling of alternative labor structures will mitigate regulatory risk and support long-term sustainability</a:t>
            </a:r>
            <a:r>
              <a:rPr lang="en-US" sz="1000">
                <a:solidFill>
                  <a:srgbClr val="00338D"/>
                </a:solidFill>
              </a:rPr>
              <a:t>.</a:t>
            </a:r>
            <a:endParaRPr lang="en-US" sz="1000" b="1">
              <a:solidFill>
                <a:srgbClr val="00338D"/>
              </a:solidFill>
            </a:endParaRPr>
          </a:p>
        </p:txBody>
      </p:sp>
    </p:spTree>
    <p:extLst>
      <p:ext uri="{BB962C8B-B14F-4D97-AF65-F5344CB8AC3E}">
        <p14:creationId xmlns:p14="http://schemas.microsoft.com/office/powerpoint/2010/main" val="1581412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7A9DC-AD33-22F3-2EFB-13B5EFBD06EE}"/>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99AC59D5-CF50-747F-974C-727748C28F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5" name="think-cell data - do not delete" hidden="1">
                        <a:extLst>
                          <a:ext uri="{FF2B5EF4-FFF2-40B4-BE49-F238E27FC236}">
                            <a16:creationId xmlns:a16="http://schemas.microsoft.com/office/drawing/2014/main" id="{99AC59D5-CF50-747F-974C-727748C28F23}"/>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E62AD10B-DD71-8626-D0DD-D8A0FE69FCDA}"/>
              </a:ext>
            </a:extLst>
          </p:cNvPr>
          <p:cNvSpPr>
            <a:spLocks noGrp="1"/>
          </p:cNvSpPr>
          <p:nvPr>
            <p:ph type="body" sz="quarter" idx="19"/>
          </p:nvPr>
        </p:nvSpPr>
        <p:spPr/>
        <p:txBody>
          <a:bodyPr/>
          <a:lstStyle/>
          <a:p>
            <a:pPr marL="0" indent="0">
              <a:buNone/>
            </a:pPr>
            <a:r>
              <a:rPr lang="en-US" dirty="0">
                <a:cs typeface="Arial"/>
              </a:rPr>
              <a:t>Driver operating model: onboarding</a:t>
            </a:r>
          </a:p>
        </p:txBody>
      </p:sp>
      <p:sp>
        <p:nvSpPr>
          <p:cNvPr id="3" name="Title 2">
            <a:extLst>
              <a:ext uri="{FF2B5EF4-FFF2-40B4-BE49-F238E27FC236}">
                <a16:creationId xmlns:a16="http://schemas.microsoft.com/office/drawing/2014/main" id="{F798F77E-ABB9-65D1-A94A-F38963EAEE5A}"/>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Reducing Onboarding Friction is the First Battle in Winning Driver Retention</a:t>
            </a:r>
          </a:p>
        </p:txBody>
      </p:sp>
      <p:sp>
        <p:nvSpPr>
          <p:cNvPr id="837" name="TextBox 836">
            <a:extLst>
              <a:ext uri="{FF2B5EF4-FFF2-40B4-BE49-F238E27FC236}">
                <a16:creationId xmlns:a16="http://schemas.microsoft.com/office/drawing/2014/main" id="{C398A48F-710A-34AC-ED16-9150702D34E6}"/>
              </a:ext>
            </a:extLst>
          </p:cNvPr>
          <p:cNvSpPr txBox="1"/>
          <p:nvPr/>
        </p:nvSpPr>
        <p:spPr>
          <a:xfrm>
            <a:off x="502273" y="6037162"/>
            <a:ext cx="10567337" cy="212993"/>
          </a:xfrm>
          <a:prstGeom prst="rect">
            <a:avLst/>
          </a:prstGeom>
        </p:spPr>
        <p:txBody>
          <a:bodyPr vert="horz" wrap="square" lIns="0" tIns="0" rIns="0" bIns="0" rtlCol="0" anchor="ctr" anchorCtr="0">
            <a:noAutofit/>
          </a:bodyPr>
          <a:lstStyle/>
          <a:p>
            <a:r>
              <a:rPr lang="en-US" sz="600" i="1">
                <a:solidFill>
                  <a:schemeClr val="tx2"/>
                </a:solidFill>
                <a:ea typeface="+mj-ea"/>
                <a:cs typeface="+mj-cs"/>
              </a:rPr>
              <a:t>Source: </a:t>
            </a:r>
            <a:r>
              <a:rPr kumimoji="0" lang="en-US" sz="600" b="0" i="1" u="none" strike="noStrike" kern="1200" cap="none" spc="0" normalizeH="0" baseline="0" noProof="0">
                <a:ln>
                  <a:noFill/>
                </a:ln>
                <a:solidFill>
                  <a:srgbClr val="00338D"/>
                </a:solidFill>
                <a:effectLst/>
                <a:uLnTx/>
                <a:uFillTx/>
                <a:latin typeface="Arial"/>
                <a:ea typeface="+mn-ea"/>
                <a:cs typeface="+mn-cs"/>
              </a:rPr>
              <a:t>Secondary research; all accessed in October 2025.</a:t>
            </a:r>
            <a:endParaRPr lang="en-US" sz="600" i="1">
              <a:solidFill>
                <a:schemeClr val="tx2"/>
              </a:solidFill>
              <a:ea typeface="+mj-ea"/>
              <a:cs typeface="+mj-cs"/>
            </a:endParaRPr>
          </a:p>
        </p:txBody>
      </p:sp>
      <p:grpSp>
        <p:nvGrpSpPr>
          <p:cNvPr id="13" name="Subtitle [Placeholder]">
            <a:extLst>
              <a:ext uri="{FF2B5EF4-FFF2-40B4-BE49-F238E27FC236}">
                <a16:creationId xmlns:a16="http://schemas.microsoft.com/office/drawing/2014/main" id="{95ACCED8-8678-B8A9-DD83-00CC76A7F731}"/>
              </a:ext>
            </a:extLst>
          </p:cNvPr>
          <p:cNvGrpSpPr>
            <a:grpSpLocks/>
          </p:cNvGrpSpPr>
          <p:nvPr/>
        </p:nvGrpSpPr>
        <p:grpSpPr bwMode="auto">
          <a:xfrm>
            <a:off x="495300" y="991833"/>
            <a:ext cx="11282572" cy="211138"/>
            <a:chOff x="1288" y="1620"/>
            <a:chExt cx="4426" cy="133"/>
          </a:xfrm>
        </p:grpSpPr>
        <p:sp>
          <p:nvSpPr>
            <p:cNvPr id="14" name="Line 56">
              <a:extLst>
                <a:ext uri="{FF2B5EF4-FFF2-40B4-BE49-F238E27FC236}">
                  <a16:creationId xmlns:a16="http://schemas.microsoft.com/office/drawing/2014/main" id="{8EEC99EE-ADAB-A8AD-E932-462D6BCEC9A6}"/>
                </a:ext>
              </a:extLst>
            </p:cNvPr>
            <p:cNvSpPr>
              <a:spLocks noChangeShapeType="1"/>
            </p:cNvSpPr>
            <p:nvPr>
              <p:custDataLst>
                <p:tags r:id="rId4"/>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05765E34-183D-A51C-D446-237FA5EB545A}"/>
                </a:ext>
              </a:extLst>
            </p:cNvPr>
            <p:cNvSpPr txBox="1">
              <a:spLocks noChangeArrowheads="1"/>
            </p:cNvSpPr>
            <p:nvPr>
              <p:custDataLst>
                <p:tags r:id="rId5"/>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Driver onboarding speed is a critical differentiator in a competitive labor market, making rapid activation essential for engagement and retention</a:t>
              </a:r>
            </a:p>
          </p:txBody>
        </p:sp>
      </p:grpSp>
      <p:grpSp>
        <p:nvGrpSpPr>
          <p:cNvPr id="18" name="Subtitle [Placeholder]">
            <a:extLst>
              <a:ext uri="{FF2B5EF4-FFF2-40B4-BE49-F238E27FC236}">
                <a16:creationId xmlns:a16="http://schemas.microsoft.com/office/drawing/2014/main" id="{822EBD25-460F-0089-91E6-5F0B38C81BD0}"/>
              </a:ext>
            </a:extLst>
          </p:cNvPr>
          <p:cNvGrpSpPr>
            <a:grpSpLocks/>
          </p:cNvGrpSpPr>
          <p:nvPr/>
        </p:nvGrpSpPr>
        <p:grpSpPr bwMode="auto">
          <a:xfrm>
            <a:off x="495301" y="1451053"/>
            <a:ext cx="6091164" cy="461703"/>
            <a:chOff x="902" y="-376377"/>
            <a:chExt cx="3832" cy="378126"/>
          </a:xfrm>
        </p:grpSpPr>
        <p:sp>
          <p:nvSpPr>
            <p:cNvPr id="19" name="Line 56">
              <a:extLst>
                <a:ext uri="{FF2B5EF4-FFF2-40B4-BE49-F238E27FC236}">
                  <a16:creationId xmlns:a16="http://schemas.microsoft.com/office/drawing/2014/main" id="{4EB54B2D-129A-0B88-A535-32688CA5BC89}"/>
                </a:ext>
              </a:extLst>
            </p:cNvPr>
            <p:cNvSpPr>
              <a:spLocks noChangeShapeType="1"/>
            </p:cNvSpPr>
            <p:nvPr>
              <p:custDataLst>
                <p:tags r:id="rId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0" name="Text Box 57">
              <a:extLst>
                <a:ext uri="{FF2B5EF4-FFF2-40B4-BE49-F238E27FC236}">
                  <a16:creationId xmlns:a16="http://schemas.microsoft.com/office/drawing/2014/main" id="{6A66EA90-3CB5-473A-A049-FA3AC68E2035}"/>
                </a:ext>
              </a:extLst>
            </p:cNvPr>
            <p:cNvSpPr txBox="1">
              <a:spLocks noChangeArrowheads="1"/>
            </p:cNvSpPr>
            <p:nvPr>
              <p:custDataLst>
                <p:tags r:id="rId3"/>
              </p:custDataLst>
            </p:nvPr>
          </p:nvSpPr>
          <p:spPr bwMode="gray">
            <a:xfrm>
              <a:off x="902" y="-376377"/>
              <a:ext cx="3832" cy="378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Typical Onboarding Workflow: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In the gig economy, driver acquisition is a continuous process, and the platform that can onboard new talent the fastest has a distinct advantage</a:t>
              </a:r>
            </a:p>
          </p:txBody>
        </p:sp>
      </p:grpSp>
      <p:sp>
        <p:nvSpPr>
          <p:cNvPr id="11" name="Rectangle 11">
            <a:extLst>
              <a:ext uri="{FF2B5EF4-FFF2-40B4-BE49-F238E27FC236}">
                <a16:creationId xmlns:a16="http://schemas.microsoft.com/office/drawing/2014/main" id="{1B3321CB-D347-E9F6-A1A3-CD6AB7383225}"/>
              </a:ext>
            </a:extLst>
          </p:cNvPr>
          <p:cNvSpPr/>
          <p:nvPr/>
        </p:nvSpPr>
        <p:spPr>
          <a:xfrm>
            <a:off x="505557" y="2073985"/>
            <a:ext cx="2001035" cy="433879"/>
          </a:xfrm>
          <a:prstGeom prst="round2SameRect">
            <a:avLst/>
          </a:prstGeom>
          <a:solidFill>
            <a:srgbClr val="364D6E"/>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Online Application</a:t>
            </a:r>
          </a:p>
        </p:txBody>
      </p:sp>
      <p:sp>
        <p:nvSpPr>
          <p:cNvPr id="17" name="Rectangle 15">
            <a:extLst>
              <a:ext uri="{FF2B5EF4-FFF2-40B4-BE49-F238E27FC236}">
                <a16:creationId xmlns:a16="http://schemas.microsoft.com/office/drawing/2014/main" id="{FDDFD20D-F355-50FF-C137-CB05EAEE47D9}"/>
              </a:ext>
            </a:extLst>
          </p:cNvPr>
          <p:cNvSpPr/>
          <p:nvPr/>
        </p:nvSpPr>
        <p:spPr>
          <a:xfrm>
            <a:off x="502273" y="3103102"/>
            <a:ext cx="2002536" cy="387463"/>
          </a:xfrm>
          <a:prstGeom prst="round2SameRect">
            <a:avLst/>
          </a:prstGeom>
          <a:solidFill>
            <a:srgbClr val="6F8DB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Document Upload &amp; Background Check</a:t>
            </a:r>
          </a:p>
        </p:txBody>
      </p:sp>
      <p:sp>
        <p:nvSpPr>
          <p:cNvPr id="23" name="Rectangle 17">
            <a:extLst>
              <a:ext uri="{FF2B5EF4-FFF2-40B4-BE49-F238E27FC236}">
                <a16:creationId xmlns:a16="http://schemas.microsoft.com/office/drawing/2014/main" id="{50DD8562-ECBE-2F93-6AC3-2925D5681510}"/>
              </a:ext>
            </a:extLst>
          </p:cNvPr>
          <p:cNvSpPr/>
          <p:nvPr/>
        </p:nvSpPr>
        <p:spPr>
          <a:xfrm>
            <a:off x="502273" y="4085803"/>
            <a:ext cx="2002536" cy="387463"/>
          </a:xfrm>
          <a:prstGeom prst="round2SameRect">
            <a:avLst/>
          </a:prstGeom>
          <a:solidFill>
            <a:srgbClr val="C3CFE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panose="020B0604020202020204" pitchFamily="34" charset="0"/>
                <a:ea typeface="+mn-ea"/>
                <a:cs typeface="+mn-cs"/>
              </a:rPr>
              <a:t>Digital Training Module</a:t>
            </a:r>
          </a:p>
        </p:txBody>
      </p:sp>
      <p:sp>
        <p:nvSpPr>
          <p:cNvPr id="8" name="Rectangle: Rounded Corners 7">
            <a:extLst>
              <a:ext uri="{FF2B5EF4-FFF2-40B4-BE49-F238E27FC236}">
                <a16:creationId xmlns:a16="http://schemas.microsoft.com/office/drawing/2014/main" id="{AC1B8A0A-0FD0-522A-7818-70210C00AE10}"/>
              </a:ext>
            </a:extLst>
          </p:cNvPr>
          <p:cNvSpPr/>
          <p:nvPr/>
        </p:nvSpPr>
        <p:spPr>
          <a:xfrm>
            <a:off x="6800459" y="1858927"/>
            <a:ext cx="5057156" cy="4039544"/>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Industry Activation Benchmarks: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DoorDash, Uber, and Instacart activate new drivers in </a:t>
            </a:r>
            <a:r>
              <a:rPr kumimoji="0" lang="en-US" sz="1000" b="1" i="0" u="none" strike="noStrike" kern="1200" cap="none" spc="0" normalizeH="0" baseline="0" noProof="0">
                <a:ln>
                  <a:noFill/>
                </a:ln>
                <a:solidFill>
                  <a:schemeClr val="tx1"/>
                </a:solidFill>
                <a:effectLst/>
                <a:uLnTx/>
                <a:uFillTx/>
                <a:latin typeface="Arial"/>
                <a:ea typeface="+mn-ea"/>
                <a:cs typeface="+mn-cs"/>
              </a:rPr>
              <a:t>24–48 hours </a:t>
            </a:r>
            <a:r>
              <a:rPr kumimoji="0" lang="en-US" sz="1000" i="0" u="none" strike="noStrike" kern="1200" cap="none" spc="0" normalizeH="0" baseline="0" noProof="0">
                <a:ln>
                  <a:noFill/>
                </a:ln>
                <a:solidFill>
                  <a:schemeClr val="tx1"/>
                </a:solidFill>
                <a:effectLst/>
                <a:uLnTx/>
                <a:uFillTx/>
                <a:latin typeface="Arial"/>
                <a:ea typeface="+mn-ea"/>
                <a:cs typeface="+mn-cs"/>
              </a:rPr>
              <a:t>in major markets, using digital applications, instant document uploads, and automated background checks.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Amazon Logistics onboards Flex drivers in </a:t>
            </a:r>
            <a:r>
              <a:rPr kumimoji="0" lang="en-US" sz="1000" b="1" i="0" u="none" strike="noStrike" kern="1200" cap="none" spc="0" normalizeH="0" baseline="0" noProof="0">
                <a:ln>
                  <a:noFill/>
                </a:ln>
                <a:solidFill>
                  <a:schemeClr val="tx1"/>
                </a:solidFill>
                <a:effectLst/>
                <a:uLnTx/>
                <a:uFillTx/>
                <a:latin typeface="Arial"/>
                <a:ea typeface="+mn-ea"/>
                <a:cs typeface="+mn-cs"/>
              </a:rPr>
              <a:t>2–5 days </a:t>
            </a:r>
            <a:r>
              <a:rPr kumimoji="0" lang="en-US" sz="1000" i="0" u="none" strike="noStrike" kern="1200" cap="none" spc="0" normalizeH="0" baseline="0" noProof="0">
                <a:ln>
                  <a:noFill/>
                </a:ln>
                <a:solidFill>
                  <a:schemeClr val="tx1"/>
                </a:solidFill>
                <a:effectLst/>
                <a:uLnTx/>
                <a:uFillTx/>
                <a:latin typeface="Arial"/>
                <a:ea typeface="+mn-ea"/>
                <a:cs typeface="+mn-cs"/>
              </a:rPr>
              <a:t>and DSP drivers via streamlined partner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solidFill>
                <a:schemeClr val="tx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Volume &amp; Scale: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DoorDash and Uber each support </a:t>
            </a:r>
            <a:r>
              <a:rPr kumimoji="0" lang="en-US" sz="1000" b="1" i="0" u="none" strike="noStrike" kern="1200" cap="none" spc="0" normalizeH="0" baseline="0" noProof="0">
                <a:ln>
                  <a:noFill/>
                </a:ln>
                <a:solidFill>
                  <a:schemeClr val="tx1"/>
                </a:solidFill>
                <a:effectLst/>
                <a:uLnTx/>
                <a:uFillTx/>
                <a:latin typeface="Arial"/>
                <a:ea typeface="+mn-ea"/>
                <a:cs typeface="+mn-cs"/>
              </a:rPr>
              <a:t>8M+ active drivers/couriers annually</a:t>
            </a:r>
            <a:r>
              <a:rPr kumimoji="0" lang="en-US" sz="1000" i="0" u="none" strike="noStrike" kern="1200" cap="none" spc="0" normalizeH="0" baseline="0" noProof="0">
                <a:ln>
                  <a:noFill/>
                </a:ln>
                <a:solidFill>
                  <a:schemeClr val="tx1"/>
                </a:solidFill>
                <a:effectLst/>
                <a:uLnTx/>
                <a:uFillTx/>
                <a:latin typeface="Arial"/>
                <a:ea typeface="+mn-ea"/>
                <a:cs typeface="+mn-cs"/>
              </a:rPr>
              <a:t>, requiring robust, scalable onboarding systems.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Instacart’s focused model onboards </a:t>
            </a:r>
            <a:r>
              <a:rPr kumimoji="0" lang="en-US" sz="1000" b="1" i="0" u="none" strike="noStrike" kern="1200" cap="none" spc="0" normalizeH="0" baseline="0" noProof="0">
                <a:ln>
                  <a:noFill/>
                </a:ln>
                <a:solidFill>
                  <a:schemeClr val="tx1"/>
                </a:solidFill>
                <a:effectLst/>
                <a:uLnTx/>
                <a:uFillTx/>
                <a:latin typeface="Arial"/>
                <a:ea typeface="+mn-ea"/>
                <a:cs typeface="+mn-cs"/>
              </a:rPr>
              <a:t>~0.6M shoppers</a:t>
            </a:r>
            <a:r>
              <a:rPr kumimoji="0" lang="en-US" sz="1000" i="0" u="none" strike="noStrike" kern="1200" cap="none" spc="0" normalizeH="0" baseline="0" noProof="0">
                <a:ln>
                  <a:noFill/>
                </a:ln>
                <a:solidFill>
                  <a:schemeClr val="tx1"/>
                </a:solidFill>
                <a:effectLst/>
                <a:uLnTx/>
                <a:uFillTx/>
                <a:latin typeface="Arial"/>
                <a:ea typeface="+mn-ea"/>
                <a:cs typeface="+mn-cs"/>
              </a:rPr>
              <a:t>, emphasizing specialization and reliability.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solidFill>
                <a:schemeClr val="tx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Process Efficiency: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Platforms leverage app-based training, automated notifications, and real-time support to minimize friction and reduce onboarding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Continuous process optimization is essential to maintain service quality and meet surges in demand.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b="1">
              <a:solidFill>
                <a:schemeClr val="tx1"/>
              </a:solidFill>
              <a:latin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Strategic Implications for Spark: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To compete, Spark must match or exceed industry onboarding speed, leveraging automation and digital workflows.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Rapid activation enables Spark to scale quickly, respond to peak demand, and maintain high service levels.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i="0" u="none" strike="noStrike" kern="1200" cap="none" spc="0" normalizeH="0" baseline="0" noProof="0">
                <a:ln>
                  <a:noFill/>
                </a:ln>
                <a:solidFill>
                  <a:schemeClr val="tx1"/>
                </a:solidFill>
                <a:effectLst/>
                <a:uLnTx/>
                <a:uFillTx/>
                <a:latin typeface="Arial"/>
                <a:ea typeface="+mn-ea"/>
                <a:cs typeface="+mn-cs"/>
              </a:rPr>
              <a:t>Investing in onboarding experience improves driver satisfaction and retention, strengthening Spark’s network.</a:t>
            </a:r>
          </a:p>
        </p:txBody>
      </p:sp>
      <p:sp>
        <p:nvSpPr>
          <p:cNvPr id="9" name="Rectangle 17">
            <a:extLst>
              <a:ext uri="{FF2B5EF4-FFF2-40B4-BE49-F238E27FC236}">
                <a16:creationId xmlns:a16="http://schemas.microsoft.com/office/drawing/2014/main" id="{A161B513-4884-D69E-5F30-A462E05DD3DF}"/>
              </a:ext>
            </a:extLst>
          </p:cNvPr>
          <p:cNvSpPr/>
          <p:nvPr/>
        </p:nvSpPr>
        <p:spPr>
          <a:xfrm>
            <a:off x="502273" y="5068504"/>
            <a:ext cx="2002536" cy="387463"/>
          </a:xfrm>
          <a:prstGeom prst="round2SameRect">
            <a:avLst/>
          </a:prstGeom>
          <a:solidFill>
            <a:srgbClr val="E5E5E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914377"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0" normalizeH="0" baseline="0" noProof="0">
                <a:ln>
                  <a:noFill/>
                </a:ln>
                <a:solidFill>
                  <a:schemeClr val="tx1"/>
                </a:solidFill>
                <a:effectLst/>
                <a:uLnTx/>
                <a:uFillTx/>
                <a:latin typeface="Arial" panose="020B0604020202020204" pitchFamily="34" charset="0"/>
                <a:ea typeface="+mn-ea"/>
                <a:cs typeface="+mn-cs"/>
              </a:rPr>
              <a:t>First Delivery Assignment</a:t>
            </a:r>
          </a:p>
        </p:txBody>
      </p:sp>
      <p:sp>
        <p:nvSpPr>
          <p:cNvPr id="10" name="Rectangle 9">
            <a:extLst>
              <a:ext uri="{FF2B5EF4-FFF2-40B4-BE49-F238E27FC236}">
                <a16:creationId xmlns:a16="http://schemas.microsoft.com/office/drawing/2014/main" id="{1C2D6B87-074B-335A-10D8-4607F19A1EDC}"/>
              </a:ext>
            </a:extLst>
          </p:cNvPr>
          <p:cNvSpPr/>
          <p:nvPr/>
        </p:nvSpPr>
        <p:spPr>
          <a:xfrm>
            <a:off x="502273" y="2521907"/>
            <a:ext cx="6091164" cy="374763"/>
          </a:xfrm>
          <a:prstGeom prst="rect">
            <a:avLst/>
          </a:prstGeom>
          <a:ln/>
        </p:spPr>
        <p:style>
          <a:lnRef idx="2">
            <a:schemeClr val="dk1"/>
          </a:lnRef>
          <a:fillRef idx="1">
            <a:schemeClr val="lt1"/>
          </a:fillRef>
          <a:effectRef idx="0">
            <a:schemeClr val="dk1"/>
          </a:effectRef>
          <a:fontRef idx="minor">
            <a:schemeClr val="dk1"/>
          </a:fontRef>
        </p:style>
        <p:txBody>
          <a:bodyPr lIns="54610" tIns="54610" rIns="54610" bIns="54610" rtlCol="0" anchor="ctr"/>
          <a:lstStyle/>
          <a:p>
            <a:pPr algn="l"/>
            <a:r>
              <a:rPr lang="en-US" sz="900">
                <a:solidFill>
                  <a:schemeClr val="tx1"/>
                </a:solidFill>
              </a:rPr>
              <a:t>Prospective driver submits application via app or website</a:t>
            </a:r>
          </a:p>
        </p:txBody>
      </p:sp>
      <p:sp>
        <p:nvSpPr>
          <p:cNvPr id="28" name="Rectangle 27">
            <a:extLst>
              <a:ext uri="{FF2B5EF4-FFF2-40B4-BE49-F238E27FC236}">
                <a16:creationId xmlns:a16="http://schemas.microsoft.com/office/drawing/2014/main" id="{1AE9F19F-41FB-31C1-43F4-30019A79B599}"/>
              </a:ext>
            </a:extLst>
          </p:cNvPr>
          <p:cNvSpPr/>
          <p:nvPr/>
        </p:nvSpPr>
        <p:spPr>
          <a:xfrm>
            <a:off x="495300" y="3503936"/>
            <a:ext cx="6091164" cy="374763"/>
          </a:xfrm>
          <a:prstGeom prst="rect">
            <a:avLst/>
          </a:prstGeom>
          <a:ln/>
        </p:spPr>
        <p:style>
          <a:lnRef idx="2">
            <a:schemeClr val="dk1"/>
          </a:lnRef>
          <a:fillRef idx="1">
            <a:schemeClr val="lt1"/>
          </a:fillRef>
          <a:effectRef idx="0">
            <a:schemeClr val="dk1"/>
          </a:effectRef>
          <a:fontRef idx="minor">
            <a:schemeClr val="dk1"/>
          </a:fontRef>
        </p:style>
        <p:txBody>
          <a:bodyPr lIns="54610" tIns="54610" rIns="54610" bIns="54610" rtlCol="0" anchor="ctr"/>
          <a:lstStyle/>
          <a:p>
            <a:pPr algn="l"/>
            <a:r>
              <a:rPr lang="en-US" sz="900">
                <a:solidFill>
                  <a:schemeClr val="tx1"/>
                </a:solidFill>
              </a:rPr>
              <a:t>Instant upload of ID, insurance, vehicle information. Automated background screening (minutes to hours) </a:t>
            </a:r>
          </a:p>
        </p:txBody>
      </p:sp>
      <p:sp>
        <p:nvSpPr>
          <p:cNvPr id="29" name="Rectangle 28">
            <a:extLst>
              <a:ext uri="{FF2B5EF4-FFF2-40B4-BE49-F238E27FC236}">
                <a16:creationId xmlns:a16="http://schemas.microsoft.com/office/drawing/2014/main" id="{B579D724-2842-AE30-7726-1C6F1605A13B}"/>
              </a:ext>
            </a:extLst>
          </p:cNvPr>
          <p:cNvSpPr/>
          <p:nvPr/>
        </p:nvSpPr>
        <p:spPr>
          <a:xfrm>
            <a:off x="495300" y="4506983"/>
            <a:ext cx="6091164" cy="374763"/>
          </a:xfrm>
          <a:prstGeom prst="rect">
            <a:avLst/>
          </a:prstGeom>
          <a:ln/>
        </p:spPr>
        <p:style>
          <a:lnRef idx="2">
            <a:schemeClr val="dk1"/>
          </a:lnRef>
          <a:fillRef idx="1">
            <a:schemeClr val="lt1"/>
          </a:fillRef>
          <a:effectRef idx="0">
            <a:schemeClr val="dk1"/>
          </a:effectRef>
          <a:fontRef idx="minor">
            <a:schemeClr val="dk1"/>
          </a:fontRef>
        </p:style>
        <p:txBody>
          <a:bodyPr lIns="54610" tIns="54610" rIns="54610" bIns="54610" rtlCol="0" anchor="ctr"/>
          <a:lstStyle/>
          <a:p>
            <a:pPr algn="l"/>
            <a:r>
              <a:rPr lang="en-US" sz="900">
                <a:solidFill>
                  <a:schemeClr val="tx1"/>
                </a:solidFill>
              </a:rPr>
              <a:t>App based training, completed in hours</a:t>
            </a:r>
          </a:p>
        </p:txBody>
      </p:sp>
      <p:sp>
        <p:nvSpPr>
          <p:cNvPr id="31" name="Rectangle 30">
            <a:extLst>
              <a:ext uri="{FF2B5EF4-FFF2-40B4-BE49-F238E27FC236}">
                <a16:creationId xmlns:a16="http://schemas.microsoft.com/office/drawing/2014/main" id="{B659AC59-5209-9F63-BE7E-E6FC77B51C09}"/>
              </a:ext>
            </a:extLst>
          </p:cNvPr>
          <p:cNvSpPr/>
          <p:nvPr/>
        </p:nvSpPr>
        <p:spPr>
          <a:xfrm>
            <a:off x="495300" y="5491404"/>
            <a:ext cx="6091164" cy="374763"/>
          </a:xfrm>
          <a:prstGeom prst="rect">
            <a:avLst/>
          </a:prstGeom>
          <a:ln/>
        </p:spPr>
        <p:style>
          <a:lnRef idx="2">
            <a:schemeClr val="dk1"/>
          </a:lnRef>
          <a:fillRef idx="1">
            <a:schemeClr val="lt1"/>
          </a:fillRef>
          <a:effectRef idx="0">
            <a:schemeClr val="dk1"/>
          </a:effectRef>
          <a:fontRef idx="minor">
            <a:schemeClr val="dk1"/>
          </a:fontRef>
        </p:style>
        <p:txBody>
          <a:bodyPr lIns="54610" tIns="54610" rIns="54610" bIns="54610" rtlCol="0" anchor="ctr"/>
          <a:lstStyle/>
          <a:p>
            <a:pPr algn="l"/>
            <a:r>
              <a:rPr lang="en-US" sz="900">
                <a:solidFill>
                  <a:schemeClr val="tx1"/>
                </a:solidFill>
              </a:rPr>
              <a:t>Driver receives activation notification and is onboarded to the platform</a:t>
            </a:r>
          </a:p>
        </p:txBody>
      </p:sp>
    </p:spTree>
    <p:extLst>
      <p:ext uri="{BB962C8B-B14F-4D97-AF65-F5344CB8AC3E}">
        <p14:creationId xmlns:p14="http://schemas.microsoft.com/office/powerpoint/2010/main" val="2223525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C45E9-5144-0C27-0913-0CE69196D4D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ECF59C9-7472-2F09-4577-71AC248177C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3" progId="TCLayout.ActiveDocument.1">
                  <p:embed/>
                </p:oleObj>
              </mc:Choice>
              <mc:Fallback>
                <p:oleObj name="think-cell Slide" r:id="rId8" imgW="473" imgH="473" progId="TCLayout.ActiveDocument.1">
                  <p:embed/>
                  <p:pic>
                    <p:nvPicPr>
                      <p:cNvPr id="5" name="think-cell data - do not delete" hidden="1">
                        <a:extLst>
                          <a:ext uri="{FF2B5EF4-FFF2-40B4-BE49-F238E27FC236}">
                            <a16:creationId xmlns:a16="http://schemas.microsoft.com/office/drawing/2014/main" id="{BECF59C9-7472-2F09-4577-71AC248177C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5B147425-FF3A-5CCF-60FD-CEA0987802FD}"/>
              </a:ext>
            </a:extLst>
          </p:cNvPr>
          <p:cNvSpPr>
            <a:spLocks noGrp="1"/>
          </p:cNvSpPr>
          <p:nvPr>
            <p:ph type="body" sz="quarter" idx="19"/>
          </p:nvPr>
        </p:nvSpPr>
        <p:spPr/>
        <p:txBody>
          <a:bodyPr/>
          <a:lstStyle/>
          <a:p>
            <a:r>
              <a:rPr lang="en-US">
                <a:cs typeface="Arial"/>
              </a:rPr>
              <a:t>Driver operating model: Regulatory Risks</a:t>
            </a:r>
          </a:p>
        </p:txBody>
      </p:sp>
      <p:sp>
        <p:nvSpPr>
          <p:cNvPr id="3" name="Title 2">
            <a:extLst>
              <a:ext uri="{FF2B5EF4-FFF2-40B4-BE49-F238E27FC236}">
                <a16:creationId xmlns:a16="http://schemas.microsoft.com/office/drawing/2014/main" id="{E1EE1DC7-400F-0FCA-3597-F38E4A44A1E2}"/>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Regulatory Risks and Worker Classification Challenges</a:t>
            </a:r>
          </a:p>
        </p:txBody>
      </p:sp>
      <p:grpSp>
        <p:nvGrpSpPr>
          <p:cNvPr id="13" name="Subtitle [Placeholder]">
            <a:extLst>
              <a:ext uri="{FF2B5EF4-FFF2-40B4-BE49-F238E27FC236}">
                <a16:creationId xmlns:a16="http://schemas.microsoft.com/office/drawing/2014/main" id="{009A4600-16DD-FAB9-84B0-5E03194549E4}"/>
              </a:ext>
            </a:extLst>
          </p:cNvPr>
          <p:cNvGrpSpPr>
            <a:grpSpLocks/>
          </p:cNvGrpSpPr>
          <p:nvPr/>
        </p:nvGrpSpPr>
        <p:grpSpPr bwMode="auto">
          <a:xfrm>
            <a:off x="495300" y="991833"/>
            <a:ext cx="11282572" cy="211138"/>
            <a:chOff x="1288" y="1620"/>
            <a:chExt cx="4426" cy="133"/>
          </a:xfrm>
        </p:grpSpPr>
        <p:sp>
          <p:nvSpPr>
            <p:cNvPr id="14" name="Line 56">
              <a:extLst>
                <a:ext uri="{FF2B5EF4-FFF2-40B4-BE49-F238E27FC236}">
                  <a16:creationId xmlns:a16="http://schemas.microsoft.com/office/drawing/2014/main" id="{A8F402C8-71CC-DA17-FF79-06AFA546FB58}"/>
                </a:ext>
              </a:extLst>
            </p:cNvPr>
            <p:cNvSpPr>
              <a:spLocks noChangeShapeType="1"/>
            </p:cNvSpPr>
            <p:nvPr>
              <p:custDataLst>
                <p:tags r:id="rId4"/>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596A844F-ADFE-0164-23F4-055A34CABE37}"/>
                </a:ext>
              </a:extLst>
            </p:cNvPr>
            <p:cNvSpPr txBox="1">
              <a:spLocks noChangeArrowheads="1"/>
            </p:cNvSpPr>
            <p:nvPr>
              <p:custDataLst>
                <p:tags r:id="rId5"/>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With increasing  regulatory scrutiny and new rules, misclassifying drivers causes  costly legal settlements and financial penalties for gig platforms.</a:t>
              </a:r>
            </a:p>
          </p:txBody>
        </p:sp>
      </p:grpSp>
      <p:grpSp>
        <p:nvGrpSpPr>
          <p:cNvPr id="18" name="Subtitle [Placeholder]">
            <a:extLst>
              <a:ext uri="{FF2B5EF4-FFF2-40B4-BE49-F238E27FC236}">
                <a16:creationId xmlns:a16="http://schemas.microsoft.com/office/drawing/2014/main" id="{D5299D6C-D409-D4F5-365F-15441478068E}"/>
              </a:ext>
            </a:extLst>
          </p:cNvPr>
          <p:cNvGrpSpPr>
            <a:grpSpLocks/>
          </p:cNvGrpSpPr>
          <p:nvPr/>
        </p:nvGrpSpPr>
        <p:grpSpPr bwMode="auto">
          <a:xfrm>
            <a:off x="495301" y="1451053"/>
            <a:ext cx="6091164" cy="461703"/>
            <a:chOff x="902" y="-376377"/>
            <a:chExt cx="3832" cy="378126"/>
          </a:xfrm>
        </p:grpSpPr>
        <p:sp>
          <p:nvSpPr>
            <p:cNvPr id="19" name="Line 56">
              <a:extLst>
                <a:ext uri="{FF2B5EF4-FFF2-40B4-BE49-F238E27FC236}">
                  <a16:creationId xmlns:a16="http://schemas.microsoft.com/office/drawing/2014/main" id="{B15C0720-C83E-6306-CE20-947CBA7A00E8}"/>
                </a:ext>
              </a:extLst>
            </p:cNvPr>
            <p:cNvSpPr>
              <a:spLocks noChangeShapeType="1"/>
            </p:cNvSpPr>
            <p:nvPr>
              <p:custDataLst>
                <p:tags r:id="rId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0" name="Text Box 57">
              <a:extLst>
                <a:ext uri="{FF2B5EF4-FFF2-40B4-BE49-F238E27FC236}">
                  <a16:creationId xmlns:a16="http://schemas.microsoft.com/office/drawing/2014/main" id="{5C52E5AD-6ACE-55D2-E56C-65DADCA6E042}"/>
                </a:ext>
              </a:extLst>
            </p:cNvPr>
            <p:cNvSpPr txBox="1">
              <a:spLocks noChangeArrowheads="1"/>
            </p:cNvSpPr>
            <p:nvPr>
              <p:custDataLst>
                <p:tags r:id="rId3"/>
              </p:custDataLst>
            </p:nvPr>
          </p:nvSpPr>
          <p:spPr bwMode="gray">
            <a:xfrm>
              <a:off x="902" y="-376377"/>
              <a:ext cx="3832" cy="3780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Known Regulatory Risks: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When workers are misclassified, companies are exposed to significant financial risk and legal liability, which can extend far beyond the settlement amounts themselves</a:t>
              </a:r>
            </a:p>
          </p:txBody>
        </p:sp>
      </p:grpSp>
      <p:grpSp>
        <p:nvGrpSpPr>
          <p:cNvPr id="6" name="Group 5">
            <a:extLst>
              <a:ext uri="{FF2B5EF4-FFF2-40B4-BE49-F238E27FC236}">
                <a16:creationId xmlns:a16="http://schemas.microsoft.com/office/drawing/2014/main" id="{B3D470DC-9D77-EC21-2439-E0D53059E646}"/>
              </a:ext>
            </a:extLst>
          </p:cNvPr>
          <p:cNvGrpSpPr/>
          <p:nvPr/>
        </p:nvGrpSpPr>
        <p:grpSpPr>
          <a:xfrm>
            <a:off x="510104" y="2160800"/>
            <a:ext cx="2096631" cy="3560331"/>
            <a:chOff x="1045515" y="1645050"/>
            <a:chExt cx="5050485" cy="3560331"/>
          </a:xfrm>
        </p:grpSpPr>
        <p:sp>
          <p:nvSpPr>
            <p:cNvPr id="7" name="Rectangle 6">
              <a:extLst>
                <a:ext uri="{FF2B5EF4-FFF2-40B4-BE49-F238E27FC236}">
                  <a16:creationId xmlns:a16="http://schemas.microsoft.com/office/drawing/2014/main" id="{87BC5487-78E3-42E2-FB08-C50405900544}"/>
                </a:ext>
              </a:extLst>
            </p:cNvPr>
            <p:cNvSpPr/>
            <p:nvPr/>
          </p:nvSpPr>
          <p:spPr>
            <a:xfrm>
              <a:off x="1045515" y="1645050"/>
              <a:ext cx="5050485" cy="409575"/>
            </a:xfrm>
            <a:prstGeom prst="rect">
              <a:avLst/>
            </a:prstGeom>
            <a:solidFill>
              <a:srgbClr val="364D6E"/>
            </a:solidFill>
            <a:ln>
              <a:solidFill>
                <a:srgbClr val="364D6E"/>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200" b="1">
                  <a:solidFill>
                    <a:schemeClr val="bg1"/>
                  </a:solidFill>
                </a:rPr>
                <a:t>DOL Regulatory Risks</a:t>
              </a:r>
            </a:p>
          </p:txBody>
        </p:sp>
        <p:sp>
          <p:nvSpPr>
            <p:cNvPr id="12" name="Rectangle 11">
              <a:extLst>
                <a:ext uri="{FF2B5EF4-FFF2-40B4-BE49-F238E27FC236}">
                  <a16:creationId xmlns:a16="http://schemas.microsoft.com/office/drawing/2014/main" id="{408CAA64-818B-C15A-B21C-F3503489F104}"/>
                </a:ext>
              </a:extLst>
            </p:cNvPr>
            <p:cNvSpPr/>
            <p:nvPr/>
          </p:nvSpPr>
          <p:spPr>
            <a:xfrm>
              <a:off x="1045515" y="2054625"/>
              <a:ext cx="5050485" cy="315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b="1">
                <a:solidFill>
                  <a:srgbClr val="00338D"/>
                </a:solidFill>
              </a:endParaRPr>
            </a:p>
            <a:p>
              <a:pPr marL="285750" indent="-285750" algn="l">
                <a:buFont typeface="Arial" panose="020B0604020202020204" pitchFamily="34" charset="0"/>
                <a:buChar char="•"/>
              </a:pPr>
              <a:r>
                <a:rPr lang="en-US" sz="1000">
                  <a:solidFill>
                    <a:schemeClr val="tx1"/>
                  </a:solidFill>
                </a:rPr>
                <a:t>The Department of Labor’s new six-factor “economic realities” test makes it harder to classify drivers as independent contractors.</a:t>
              </a:r>
            </a:p>
            <a:p>
              <a:pPr algn="l"/>
              <a:endParaRPr lang="en-US" sz="1000">
                <a:solidFill>
                  <a:schemeClr val="tx1"/>
                </a:solidFill>
              </a:endParaRPr>
            </a:p>
            <a:p>
              <a:pPr marL="285750" indent="-285750" algn="l">
                <a:buFont typeface="Arial" panose="020B0604020202020204" pitchFamily="34" charset="0"/>
                <a:buChar char="•"/>
              </a:pPr>
              <a:r>
                <a:rPr lang="en-US" sz="1000">
                  <a:solidFill>
                    <a:schemeClr val="tx1"/>
                  </a:solidFill>
                </a:rPr>
                <a:t>Key factors: profit/loss opportunity, investments, permanence, control, integration, skill/initiative.</a:t>
              </a:r>
            </a:p>
            <a:p>
              <a:pPr algn="l"/>
              <a:endParaRPr lang="en-US" sz="1000">
                <a:solidFill>
                  <a:schemeClr val="tx1"/>
                </a:solidFill>
              </a:endParaRPr>
            </a:p>
            <a:p>
              <a:pPr marL="285750" indent="-285750" algn="l">
                <a:buFont typeface="Arial" panose="020B0604020202020204" pitchFamily="34" charset="0"/>
                <a:buChar char="•"/>
              </a:pPr>
              <a:r>
                <a:rPr lang="en-US" sz="1000">
                  <a:solidFill>
                    <a:schemeClr val="tx1"/>
                  </a:solidFill>
                </a:rPr>
                <a:t>Platforms must show drivers are truly independent, not economically dependent.</a:t>
              </a:r>
            </a:p>
            <a:p>
              <a:pPr algn="l"/>
              <a:endParaRPr lang="en-US" sz="1000">
                <a:solidFill>
                  <a:srgbClr val="00338D"/>
                </a:solidFill>
              </a:endParaRPr>
            </a:p>
          </p:txBody>
        </p:sp>
      </p:grpSp>
      <p:grpSp>
        <p:nvGrpSpPr>
          <p:cNvPr id="16" name="Group 15">
            <a:extLst>
              <a:ext uri="{FF2B5EF4-FFF2-40B4-BE49-F238E27FC236}">
                <a16:creationId xmlns:a16="http://schemas.microsoft.com/office/drawing/2014/main" id="{55460DFD-101D-955E-6FD6-FA38D8F272A1}"/>
              </a:ext>
            </a:extLst>
          </p:cNvPr>
          <p:cNvGrpSpPr/>
          <p:nvPr/>
        </p:nvGrpSpPr>
        <p:grpSpPr>
          <a:xfrm>
            <a:off x="4904319" y="2168044"/>
            <a:ext cx="2383362" cy="3560331"/>
            <a:chOff x="8044873" y="1645050"/>
            <a:chExt cx="3169036" cy="3560331"/>
          </a:xfrm>
        </p:grpSpPr>
        <p:sp>
          <p:nvSpPr>
            <p:cNvPr id="21" name="Rectangle 20">
              <a:extLst>
                <a:ext uri="{FF2B5EF4-FFF2-40B4-BE49-F238E27FC236}">
                  <a16:creationId xmlns:a16="http://schemas.microsoft.com/office/drawing/2014/main" id="{672E8760-F5BA-B28F-3BA7-377CB9A98B7E}"/>
                </a:ext>
              </a:extLst>
            </p:cNvPr>
            <p:cNvSpPr/>
            <p:nvPr/>
          </p:nvSpPr>
          <p:spPr>
            <a:xfrm>
              <a:off x="8044873" y="1645050"/>
              <a:ext cx="3169036" cy="409575"/>
            </a:xfrm>
            <a:prstGeom prst="rect">
              <a:avLst/>
            </a:prstGeom>
            <a:solidFill>
              <a:srgbClr val="364D6E"/>
            </a:solidFill>
            <a:ln>
              <a:solidFill>
                <a:srgbClr val="364D6E"/>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200" b="1">
                  <a:solidFill>
                    <a:schemeClr val="bg1"/>
                  </a:solidFill>
                </a:rPr>
                <a:t>California Proposition 22</a:t>
              </a:r>
            </a:p>
          </p:txBody>
        </p:sp>
        <p:sp>
          <p:nvSpPr>
            <p:cNvPr id="22" name="Rectangle 21">
              <a:extLst>
                <a:ext uri="{FF2B5EF4-FFF2-40B4-BE49-F238E27FC236}">
                  <a16:creationId xmlns:a16="http://schemas.microsoft.com/office/drawing/2014/main" id="{734A3C67-B6A8-6513-4B51-C22AA44792F5}"/>
                </a:ext>
              </a:extLst>
            </p:cNvPr>
            <p:cNvSpPr/>
            <p:nvPr/>
          </p:nvSpPr>
          <p:spPr>
            <a:xfrm>
              <a:off x="8044873" y="2054625"/>
              <a:ext cx="3169036" cy="315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285750" indent="-285750">
                <a:buFont typeface="Arial" panose="020B0604020202020204" pitchFamily="34" charset="0"/>
                <a:buChar char="•"/>
              </a:pPr>
              <a:r>
                <a:rPr lang="en-US" sz="1000">
                  <a:solidFill>
                    <a:schemeClr val="tx1"/>
                  </a:solidFill>
                </a:rPr>
                <a:t>Created a new legal category for app-based drivers, with alternative benefits.</a:t>
              </a:r>
            </a:p>
            <a:p>
              <a:endParaRPr lang="en-US" sz="1000">
                <a:solidFill>
                  <a:schemeClr val="tx1"/>
                </a:solidFill>
              </a:endParaRPr>
            </a:p>
            <a:p>
              <a:pPr marL="285750" indent="-285750">
                <a:buFont typeface="Arial" panose="020B0604020202020204" pitchFamily="34" charset="0"/>
                <a:buChar char="•"/>
              </a:pPr>
              <a:r>
                <a:rPr lang="en-US" sz="1000">
                  <a:solidFill>
                    <a:schemeClr val="tx1"/>
                  </a:solidFill>
                </a:rPr>
                <a:t>Earnings guarantee applies only to “engaged time,” not waiting.</a:t>
              </a:r>
            </a:p>
            <a:p>
              <a:endParaRPr lang="en-US" sz="1000">
                <a:solidFill>
                  <a:schemeClr val="tx1"/>
                </a:solidFill>
              </a:endParaRPr>
            </a:p>
            <a:p>
              <a:pPr marL="285750" indent="-285750">
                <a:buFont typeface="Arial" panose="020B0604020202020204" pitchFamily="34" charset="0"/>
                <a:buChar char="•"/>
              </a:pPr>
              <a:r>
                <a:rPr lang="en-US" sz="1000">
                  <a:solidFill>
                    <a:schemeClr val="tx1"/>
                  </a:solidFill>
                </a:rPr>
                <a:t>Healthcare stipends are hard to qualify for; effective hourly wage can be much lower than advertised.</a:t>
              </a:r>
            </a:p>
            <a:p>
              <a:endParaRPr lang="en-US" sz="1000">
                <a:solidFill>
                  <a:schemeClr val="tx1"/>
                </a:solidFill>
              </a:endParaRPr>
            </a:p>
            <a:p>
              <a:pPr marL="285750" indent="-285750">
                <a:buFont typeface="Arial" panose="020B0604020202020204" pitchFamily="34" charset="0"/>
                <a:buChar char="•"/>
              </a:pPr>
              <a:r>
                <a:rPr lang="en-US" sz="1000">
                  <a:solidFill>
                    <a:schemeClr val="tx1"/>
                  </a:solidFill>
                </a:rPr>
                <a:t>Prop 22 is costly, contentious, and not a permanent solution.</a:t>
              </a:r>
            </a:p>
          </p:txBody>
        </p:sp>
      </p:grpSp>
      <p:grpSp>
        <p:nvGrpSpPr>
          <p:cNvPr id="24" name="Group 23">
            <a:extLst>
              <a:ext uri="{FF2B5EF4-FFF2-40B4-BE49-F238E27FC236}">
                <a16:creationId xmlns:a16="http://schemas.microsoft.com/office/drawing/2014/main" id="{C02B5869-6D43-A0F5-C589-C7805D8552C2}"/>
              </a:ext>
            </a:extLst>
          </p:cNvPr>
          <p:cNvGrpSpPr/>
          <p:nvPr/>
        </p:nvGrpSpPr>
        <p:grpSpPr>
          <a:xfrm>
            <a:off x="2767928" y="2181592"/>
            <a:ext cx="2003393" cy="3546783"/>
            <a:chOff x="8044873" y="1624014"/>
            <a:chExt cx="3169036" cy="3546783"/>
          </a:xfrm>
        </p:grpSpPr>
        <p:sp>
          <p:nvSpPr>
            <p:cNvPr id="25" name="Rectangle 24">
              <a:extLst>
                <a:ext uri="{FF2B5EF4-FFF2-40B4-BE49-F238E27FC236}">
                  <a16:creationId xmlns:a16="http://schemas.microsoft.com/office/drawing/2014/main" id="{97A90D49-F166-78CE-3497-A895A8279B0B}"/>
                </a:ext>
              </a:extLst>
            </p:cNvPr>
            <p:cNvSpPr/>
            <p:nvPr/>
          </p:nvSpPr>
          <p:spPr>
            <a:xfrm>
              <a:off x="8044873" y="1624014"/>
              <a:ext cx="3169036" cy="421375"/>
            </a:xfrm>
            <a:prstGeom prst="rect">
              <a:avLst/>
            </a:prstGeom>
            <a:solidFill>
              <a:srgbClr val="364D6E"/>
            </a:solidFill>
            <a:ln>
              <a:solidFill>
                <a:srgbClr val="364D6E"/>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200" b="1">
                  <a:solidFill>
                    <a:schemeClr val="bg1"/>
                  </a:solidFill>
                </a:rPr>
                <a:t>IRS Regulatory Risk</a:t>
              </a:r>
            </a:p>
          </p:txBody>
        </p:sp>
        <p:sp>
          <p:nvSpPr>
            <p:cNvPr id="26" name="Rectangle 25">
              <a:extLst>
                <a:ext uri="{FF2B5EF4-FFF2-40B4-BE49-F238E27FC236}">
                  <a16:creationId xmlns:a16="http://schemas.microsoft.com/office/drawing/2014/main" id="{0C9F0BFE-359F-6BE6-B403-D85B35B11E40}"/>
                </a:ext>
              </a:extLst>
            </p:cNvPr>
            <p:cNvSpPr/>
            <p:nvPr/>
          </p:nvSpPr>
          <p:spPr>
            <a:xfrm>
              <a:off x="8044873" y="2020041"/>
              <a:ext cx="3169036" cy="31507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171450" indent="-171450">
                <a:buFont typeface="Arial" panose="020B0604020202020204" pitchFamily="34" charset="0"/>
                <a:buChar char="•"/>
              </a:pPr>
              <a:r>
                <a:rPr lang="en-US" sz="1000">
                  <a:solidFill>
                    <a:schemeClr val="tx1"/>
                  </a:solidFill>
                </a:rPr>
                <a:t>IRS uses its own criteria, focusing on behavioral and financial control.</a:t>
              </a:r>
            </a:p>
            <a:p>
              <a:pPr marL="171450" indent="-171450">
                <a:buFont typeface="Arial" panose="020B0604020202020204" pitchFamily="34" charset="0"/>
                <a:buChar char="•"/>
              </a:pPr>
              <a:endParaRPr lang="en-US" sz="1000">
                <a:solidFill>
                  <a:schemeClr val="tx1"/>
                </a:solidFill>
              </a:endParaRPr>
            </a:p>
            <a:p>
              <a:pPr marL="171450" indent="-171450">
                <a:buFont typeface="Arial" panose="020B0604020202020204" pitchFamily="34" charset="0"/>
                <a:buChar char="•"/>
              </a:pPr>
              <a:r>
                <a:rPr lang="en-US" sz="1000">
                  <a:solidFill>
                    <a:schemeClr val="tx1"/>
                  </a:solidFill>
                </a:rPr>
                <a:t>Gig workers are generally considered self-employed for tax purposes, responsible for their own taxes</a:t>
              </a:r>
              <a:r>
                <a:rPr lang="en-US" sz="1000">
                  <a:solidFill>
                    <a:srgbClr val="00338D"/>
                  </a:solidFill>
                </a:rPr>
                <a:t>.</a:t>
              </a:r>
            </a:p>
          </p:txBody>
        </p:sp>
      </p:grpSp>
      <p:grpSp>
        <p:nvGrpSpPr>
          <p:cNvPr id="46" name="Group 45">
            <a:extLst>
              <a:ext uri="{FF2B5EF4-FFF2-40B4-BE49-F238E27FC236}">
                <a16:creationId xmlns:a16="http://schemas.microsoft.com/office/drawing/2014/main" id="{D2CB6377-133E-525D-227C-9A48EFD1739C}"/>
              </a:ext>
            </a:extLst>
          </p:cNvPr>
          <p:cNvGrpSpPr/>
          <p:nvPr/>
        </p:nvGrpSpPr>
        <p:grpSpPr>
          <a:xfrm>
            <a:off x="8371768" y="2195330"/>
            <a:ext cx="3310128" cy="1162477"/>
            <a:chOff x="6163424" y="1649596"/>
            <a:chExt cx="5078380" cy="1207189"/>
          </a:xfrm>
        </p:grpSpPr>
        <p:grpSp>
          <p:nvGrpSpPr>
            <p:cNvPr id="47" name="Group 46">
              <a:extLst>
                <a:ext uri="{FF2B5EF4-FFF2-40B4-BE49-F238E27FC236}">
                  <a16:creationId xmlns:a16="http://schemas.microsoft.com/office/drawing/2014/main" id="{6A83CA08-9043-FE4A-B525-ECF80C11B228}"/>
                </a:ext>
              </a:extLst>
            </p:cNvPr>
            <p:cNvGrpSpPr/>
            <p:nvPr/>
          </p:nvGrpSpPr>
          <p:grpSpPr>
            <a:xfrm>
              <a:off x="6163424" y="1815781"/>
              <a:ext cx="5078380" cy="1041004"/>
              <a:chOff x="6163424" y="1815781"/>
              <a:chExt cx="5078380" cy="1041004"/>
            </a:xfrm>
          </p:grpSpPr>
          <p:sp>
            <p:nvSpPr>
              <p:cNvPr id="49" name="Rectangle 48">
                <a:extLst>
                  <a:ext uri="{FF2B5EF4-FFF2-40B4-BE49-F238E27FC236}">
                    <a16:creationId xmlns:a16="http://schemas.microsoft.com/office/drawing/2014/main" id="{503AE14E-4A84-CBEB-528F-43D48DFE82AE}"/>
                  </a:ext>
                </a:extLst>
              </p:cNvPr>
              <p:cNvSpPr/>
              <p:nvPr/>
            </p:nvSpPr>
            <p:spPr>
              <a:xfrm>
                <a:off x="6163424" y="1815781"/>
                <a:ext cx="5050485" cy="9776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50">
                  <a:solidFill>
                    <a:schemeClr val="bg1"/>
                  </a:solidFill>
                </a:endParaRPr>
              </a:p>
            </p:txBody>
          </p:sp>
          <p:sp>
            <p:nvSpPr>
              <p:cNvPr id="50" name="TextBox 49">
                <a:extLst>
                  <a:ext uri="{FF2B5EF4-FFF2-40B4-BE49-F238E27FC236}">
                    <a16:creationId xmlns:a16="http://schemas.microsoft.com/office/drawing/2014/main" id="{A95508FA-210B-1B04-92E0-326DEBB3FE08}"/>
                  </a:ext>
                </a:extLst>
              </p:cNvPr>
              <p:cNvSpPr txBox="1"/>
              <p:nvPr/>
            </p:nvSpPr>
            <p:spPr>
              <a:xfrm>
                <a:off x="7567307" y="1914692"/>
                <a:ext cx="3674497" cy="942093"/>
              </a:xfrm>
              <a:prstGeom prst="rect">
                <a:avLst/>
              </a:prstGeom>
            </p:spPr>
            <p:txBody>
              <a:bodyPr vert="horz" wrap="square" lIns="0" tIns="0" rIns="0" bIns="0" rtlCol="0" anchor="ctr" anchorCtr="0">
                <a:noAutofit/>
              </a:bodyPr>
              <a:lstStyle/>
              <a:p>
                <a:pPr>
                  <a:spcAft>
                    <a:spcPts val="600"/>
                  </a:spcAft>
                </a:pPr>
                <a:r>
                  <a:rPr lang="en-US" sz="1000" b="1"/>
                  <a:t>Paid by FedEx across two settlement due to misclassifying drivers</a:t>
                </a:r>
              </a:p>
            </p:txBody>
          </p:sp>
        </p:grpSp>
        <p:sp>
          <p:nvSpPr>
            <p:cNvPr id="48" name="TextBox 47">
              <a:extLst>
                <a:ext uri="{FF2B5EF4-FFF2-40B4-BE49-F238E27FC236}">
                  <a16:creationId xmlns:a16="http://schemas.microsoft.com/office/drawing/2014/main" id="{736ED389-13E0-8C1D-F50D-1E43E1AE9A02}"/>
                </a:ext>
              </a:extLst>
            </p:cNvPr>
            <p:cNvSpPr txBox="1"/>
            <p:nvPr/>
          </p:nvSpPr>
          <p:spPr>
            <a:xfrm>
              <a:off x="6163425" y="1649596"/>
              <a:ext cx="1106056" cy="1143791"/>
            </a:xfrm>
            <a:prstGeom prst="rect">
              <a:avLst/>
            </a:prstGeom>
          </p:spPr>
          <p:txBody>
            <a:bodyPr vert="horz" wrap="square" lIns="0" tIns="0" rIns="0" bIns="0" rtlCol="0" anchor="ctr" anchorCtr="0">
              <a:noAutofit/>
            </a:bodyPr>
            <a:lstStyle/>
            <a:p>
              <a:pPr algn="ctr">
                <a:spcAft>
                  <a:spcPts val="600"/>
                </a:spcAft>
              </a:pPr>
              <a:r>
                <a:rPr lang="en-US" b="1" dirty="0">
                  <a:latin typeface="+mj-lt"/>
                </a:rPr>
                <a:t>$468M</a:t>
              </a:r>
            </a:p>
          </p:txBody>
        </p:sp>
      </p:grpSp>
      <p:grpSp>
        <p:nvGrpSpPr>
          <p:cNvPr id="51" name="Group 50">
            <a:extLst>
              <a:ext uri="{FF2B5EF4-FFF2-40B4-BE49-F238E27FC236}">
                <a16:creationId xmlns:a16="http://schemas.microsoft.com/office/drawing/2014/main" id="{77E64C6C-9CBF-47D7-ED85-D538B3D0663A}"/>
              </a:ext>
            </a:extLst>
          </p:cNvPr>
          <p:cNvGrpSpPr/>
          <p:nvPr/>
        </p:nvGrpSpPr>
        <p:grpSpPr>
          <a:xfrm>
            <a:off x="8371766" y="3186345"/>
            <a:ext cx="3308741" cy="1143851"/>
            <a:chOff x="6163424" y="1649596"/>
            <a:chExt cx="5050485" cy="1143851"/>
          </a:xfrm>
        </p:grpSpPr>
        <p:grpSp>
          <p:nvGrpSpPr>
            <p:cNvPr id="52" name="Group 51">
              <a:extLst>
                <a:ext uri="{FF2B5EF4-FFF2-40B4-BE49-F238E27FC236}">
                  <a16:creationId xmlns:a16="http://schemas.microsoft.com/office/drawing/2014/main" id="{F5F92C38-9065-9F46-751B-7DA58EED8B50}"/>
                </a:ext>
              </a:extLst>
            </p:cNvPr>
            <p:cNvGrpSpPr/>
            <p:nvPr/>
          </p:nvGrpSpPr>
          <p:grpSpPr>
            <a:xfrm>
              <a:off x="6163424" y="1815779"/>
              <a:ext cx="5050485" cy="977668"/>
              <a:chOff x="6163424" y="1815779"/>
              <a:chExt cx="5050485" cy="977668"/>
            </a:xfrm>
          </p:grpSpPr>
          <p:sp>
            <p:nvSpPr>
              <p:cNvPr id="54" name="Rectangle 53">
                <a:extLst>
                  <a:ext uri="{FF2B5EF4-FFF2-40B4-BE49-F238E27FC236}">
                    <a16:creationId xmlns:a16="http://schemas.microsoft.com/office/drawing/2014/main" id="{EE7094B2-8764-E8D6-145F-605D5679B96D}"/>
                  </a:ext>
                </a:extLst>
              </p:cNvPr>
              <p:cNvSpPr/>
              <p:nvPr/>
            </p:nvSpPr>
            <p:spPr>
              <a:xfrm>
                <a:off x="6163424" y="1815781"/>
                <a:ext cx="5022588" cy="9776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50">
                  <a:solidFill>
                    <a:schemeClr val="bg1"/>
                  </a:solidFill>
                </a:endParaRPr>
              </a:p>
            </p:txBody>
          </p:sp>
          <p:sp>
            <p:nvSpPr>
              <p:cNvPr id="55" name="TextBox 54">
                <a:extLst>
                  <a:ext uri="{FF2B5EF4-FFF2-40B4-BE49-F238E27FC236}">
                    <a16:creationId xmlns:a16="http://schemas.microsoft.com/office/drawing/2014/main" id="{4013A320-406F-5673-AD0A-42C610E14A13}"/>
                  </a:ext>
                </a:extLst>
              </p:cNvPr>
              <p:cNvSpPr txBox="1"/>
              <p:nvPr/>
            </p:nvSpPr>
            <p:spPr>
              <a:xfrm>
                <a:off x="7539412" y="1815779"/>
                <a:ext cx="3674497" cy="942093"/>
              </a:xfrm>
              <a:prstGeom prst="rect">
                <a:avLst/>
              </a:prstGeom>
            </p:spPr>
            <p:txBody>
              <a:bodyPr vert="horz" wrap="square" lIns="0" tIns="0" rIns="0" bIns="0" rtlCol="0" anchor="ctr" anchorCtr="0">
                <a:noAutofit/>
              </a:bodyPr>
              <a:lstStyle/>
              <a:p>
                <a:pPr>
                  <a:spcAft>
                    <a:spcPts val="600"/>
                  </a:spcAft>
                </a:pPr>
                <a:r>
                  <a:rPr lang="en-US" sz="1000" b="1"/>
                  <a:t>Lyft and Uber faced continuous legal challenges and paid settlements due to misclassification </a:t>
                </a:r>
              </a:p>
            </p:txBody>
          </p:sp>
        </p:grpSp>
        <p:sp>
          <p:nvSpPr>
            <p:cNvPr id="53" name="TextBox 52">
              <a:extLst>
                <a:ext uri="{FF2B5EF4-FFF2-40B4-BE49-F238E27FC236}">
                  <a16:creationId xmlns:a16="http://schemas.microsoft.com/office/drawing/2014/main" id="{3B45657F-A19B-9516-D157-580362E9AD23}"/>
                </a:ext>
              </a:extLst>
            </p:cNvPr>
            <p:cNvSpPr txBox="1"/>
            <p:nvPr/>
          </p:nvSpPr>
          <p:spPr>
            <a:xfrm>
              <a:off x="6163425" y="1649596"/>
              <a:ext cx="1106056" cy="1143791"/>
            </a:xfrm>
            <a:prstGeom prst="rect">
              <a:avLst/>
            </a:prstGeom>
          </p:spPr>
          <p:txBody>
            <a:bodyPr vert="horz" wrap="square" lIns="0" tIns="0" rIns="0" bIns="0" rtlCol="0" anchor="ctr" anchorCtr="0">
              <a:noAutofit/>
            </a:bodyPr>
            <a:lstStyle/>
            <a:p>
              <a:pPr algn="ctr">
                <a:spcAft>
                  <a:spcPts val="600"/>
                </a:spcAft>
              </a:pPr>
              <a:r>
                <a:rPr lang="en-US" b="1" dirty="0">
                  <a:latin typeface="+mj-lt"/>
                </a:rPr>
                <a:t>$147M</a:t>
              </a:r>
            </a:p>
          </p:txBody>
        </p:sp>
      </p:grpSp>
      <p:grpSp>
        <p:nvGrpSpPr>
          <p:cNvPr id="56" name="Group 55">
            <a:extLst>
              <a:ext uri="{FF2B5EF4-FFF2-40B4-BE49-F238E27FC236}">
                <a16:creationId xmlns:a16="http://schemas.microsoft.com/office/drawing/2014/main" id="{41827131-AFAC-815F-5262-C608C4E73398}"/>
              </a:ext>
            </a:extLst>
          </p:cNvPr>
          <p:cNvGrpSpPr/>
          <p:nvPr/>
        </p:nvGrpSpPr>
        <p:grpSpPr>
          <a:xfrm>
            <a:off x="8371766" y="4414207"/>
            <a:ext cx="3310128" cy="977666"/>
            <a:chOff x="6163424" y="1815781"/>
            <a:chExt cx="5110499" cy="977666"/>
          </a:xfrm>
          <a:solidFill>
            <a:schemeClr val="bg1"/>
          </a:solidFill>
        </p:grpSpPr>
        <p:grpSp>
          <p:nvGrpSpPr>
            <p:cNvPr id="57" name="Group 56">
              <a:extLst>
                <a:ext uri="{FF2B5EF4-FFF2-40B4-BE49-F238E27FC236}">
                  <a16:creationId xmlns:a16="http://schemas.microsoft.com/office/drawing/2014/main" id="{82674B63-0DBE-D21D-D138-7FF3E69F76C1}"/>
                </a:ext>
              </a:extLst>
            </p:cNvPr>
            <p:cNvGrpSpPr/>
            <p:nvPr/>
          </p:nvGrpSpPr>
          <p:grpSpPr>
            <a:xfrm>
              <a:off x="6163424" y="1815781"/>
              <a:ext cx="5110499" cy="977666"/>
              <a:chOff x="6163424" y="1815781"/>
              <a:chExt cx="5110499" cy="977666"/>
            </a:xfrm>
            <a:grpFill/>
          </p:grpSpPr>
          <p:sp>
            <p:nvSpPr>
              <p:cNvPr id="59" name="Rectangle 58">
                <a:extLst>
                  <a:ext uri="{FF2B5EF4-FFF2-40B4-BE49-F238E27FC236}">
                    <a16:creationId xmlns:a16="http://schemas.microsoft.com/office/drawing/2014/main" id="{76EFD07F-024D-8CDD-B1EB-7401FE754CF1}"/>
                  </a:ext>
                </a:extLst>
              </p:cNvPr>
              <p:cNvSpPr/>
              <p:nvPr/>
            </p:nvSpPr>
            <p:spPr>
              <a:xfrm>
                <a:off x="6163424" y="1815781"/>
                <a:ext cx="5110499" cy="97766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50">
                  <a:solidFill>
                    <a:schemeClr val="bg1"/>
                  </a:solidFill>
                </a:endParaRPr>
              </a:p>
            </p:txBody>
          </p:sp>
          <p:sp>
            <p:nvSpPr>
              <p:cNvPr id="60" name="TextBox 59">
                <a:extLst>
                  <a:ext uri="{FF2B5EF4-FFF2-40B4-BE49-F238E27FC236}">
                    <a16:creationId xmlns:a16="http://schemas.microsoft.com/office/drawing/2014/main" id="{E542DDFA-3412-99E1-B0A0-6E6264A75081}"/>
                  </a:ext>
                </a:extLst>
              </p:cNvPr>
              <p:cNvSpPr txBox="1"/>
              <p:nvPr/>
            </p:nvSpPr>
            <p:spPr>
              <a:xfrm>
                <a:off x="7539411" y="1885385"/>
                <a:ext cx="3674497" cy="838458"/>
              </a:xfrm>
              <a:prstGeom prst="rect">
                <a:avLst/>
              </a:prstGeom>
              <a:grpFill/>
              <a:ln>
                <a:noFill/>
              </a:ln>
            </p:spPr>
            <p:txBody>
              <a:bodyPr vert="horz" wrap="square" lIns="0" tIns="0" rIns="0" bIns="0" rtlCol="0" anchor="ctr" anchorCtr="0">
                <a:noAutofit/>
              </a:bodyPr>
              <a:lstStyle/>
              <a:p>
                <a:pPr>
                  <a:spcAft>
                    <a:spcPts val="600"/>
                  </a:spcAft>
                </a:pPr>
                <a:r>
                  <a:rPr lang="en-US" sz="1000" b="1"/>
                  <a:t>Grubhub paid in a class-action settlement</a:t>
                </a:r>
              </a:p>
            </p:txBody>
          </p:sp>
        </p:grpSp>
        <p:sp>
          <p:nvSpPr>
            <p:cNvPr id="58" name="TextBox 57">
              <a:extLst>
                <a:ext uri="{FF2B5EF4-FFF2-40B4-BE49-F238E27FC236}">
                  <a16:creationId xmlns:a16="http://schemas.microsoft.com/office/drawing/2014/main" id="{B6B7873D-F15D-F261-555C-AEFF26E4205D}"/>
                </a:ext>
              </a:extLst>
            </p:cNvPr>
            <p:cNvSpPr txBox="1"/>
            <p:nvPr/>
          </p:nvSpPr>
          <p:spPr>
            <a:xfrm>
              <a:off x="6236952" y="1851354"/>
              <a:ext cx="1106056" cy="838458"/>
            </a:xfrm>
            <a:prstGeom prst="rect">
              <a:avLst/>
            </a:prstGeom>
            <a:grpFill/>
            <a:ln>
              <a:noFill/>
            </a:ln>
          </p:spPr>
          <p:txBody>
            <a:bodyPr vert="horz" wrap="square" lIns="0" tIns="0" rIns="0" bIns="0" rtlCol="0" anchor="ctr" anchorCtr="0">
              <a:noAutofit/>
            </a:bodyPr>
            <a:lstStyle/>
            <a:p>
              <a:pPr algn="ctr">
                <a:spcAft>
                  <a:spcPts val="600"/>
                </a:spcAft>
              </a:pPr>
              <a:r>
                <a:rPr lang="en-US" b="1" dirty="0">
                  <a:latin typeface="+mj-lt"/>
                </a:rPr>
                <a:t>$25M</a:t>
              </a:r>
            </a:p>
          </p:txBody>
        </p:sp>
      </p:grpSp>
      <p:sp>
        <p:nvSpPr>
          <p:cNvPr id="61" name="Rectangle 60">
            <a:extLst>
              <a:ext uri="{FF2B5EF4-FFF2-40B4-BE49-F238E27FC236}">
                <a16:creationId xmlns:a16="http://schemas.microsoft.com/office/drawing/2014/main" id="{44A3EFE2-A98E-926E-98BA-93822D14C817}"/>
              </a:ext>
            </a:extLst>
          </p:cNvPr>
          <p:cNvSpPr/>
          <p:nvPr/>
        </p:nvSpPr>
        <p:spPr>
          <a:xfrm>
            <a:off x="8363970" y="1912718"/>
            <a:ext cx="3316537" cy="345665"/>
          </a:xfrm>
          <a:prstGeom prst="rect">
            <a:avLst/>
          </a:prstGeom>
          <a:solidFill>
            <a:srgbClr val="6F8DB9"/>
          </a:solidFill>
          <a:ln>
            <a:solidFill>
              <a:srgbClr val="6F8DB9"/>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1200" b="1">
                <a:solidFill>
                  <a:schemeClr val="bg1"/>
                </a:solidFill>
              </a:rPr>
              <a:t>Major Legal Settlements</a:t>
            </a:r>
          </a:p>
        </p:txBody>
      </p:sp>
    </p:spTree>
    <p:extLst>
      <p:ext uri="{BB962C8B-B14F-4D97-AF65-F5344CB8AC3E}">
        <p14:creationId xmlns:p14="http://schemas.microsoft.com/office/powerpoint/2010/main" val="2156297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12378-F8DE-FF24-A8E9-4E0E2BCAEFD1}"/>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E1CD676-01EB-37FF-C465-C6A6BB0DF7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473" imgH="473" progId="TCLayout.ActiveDocument.1">
                  <p:embed/>
                </p:oleObj>
              </mc:Choice>
              <mc:Fallback>
                <p:oleObj name="think-cell Slide" r:id="rId18" imgW="473" imgH="473" progId="TCLayout.ActiveDocument.1">
                  <p:embed/>
                  <p:pic>
                    <p:nvPicPr>
                      <p:cNvPr id="5" name="think-cell data - do not delete" hidden="1">
                        <a:extLst>
                          <a:ext uri="{FF2B5EF4-FFF2-40B4-BE49-F238E27FC236}">
                            <a16:creationId xmlns:a16="http://schemas.microsoft.com/office/drawing/2014/main" id="{5E1CD676-01EB-37FF-C465-C6A6BB0DF7AF}"/>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4" name="Text Placeholder 1">
            <a:extLst>
              <a:ext uri="{FF2B5EF4-FFF2-40B4-BE49-F238E27FC236}">
                <a16:creationId xmlns:a16="http://schemas.microsoft.com/office/drawing/2014/main" id="{961A67D3-8FC9-5824-E2CE-3A6858A92811}"/>
              </a:ext>
            </a:extLst>
          </p:cNvPr>
          <p:cNvSpPr>
            <a:spLocks noGrp="1"/>
          </p:cNvSpPr>
          <p:nvPr>
            <p:ph type="body" sz="quarter" idx="19"/>
          </p:nvPr>
        </p:nvSpPr>
        <p:spPr/>
        <p:txBody>
          <a:bodyPr/>
          <a:lstStyle/>
          <a:p>
            <a:pPr marL="0" indent="0">
              <a:buNone/>
            </a:pPr>
            <a:r>
              <a:rPr lang="en-US" dirty="0">
                <a:cs typeface="Arial"/>
              </a:rPr>
              <a:t>Brand sentiment</a:t>
            </a:r>
          </a:p>
        </p:txBody>
      </p:sp>
      <p:sp>
        <p:nvSpPr>
          <p:cNvPr id="3" name="Title 2">
            <a:extLst>
              <a:ext uri="{FF2B5EF4-FFF2-40B4-BE49-F238E27FC236}">
                <a16:creationId xmlns:a16="http://schemas.microsoft.com/office/drawing/2014/main" id="{EFC32E9D-5ADC-4A40-8B72-617FC9A93C7C}"/>
              </a:ext>
            </a:extLst>
          </p:cNvPr>
          <p:cNvSpPr>
            <a:spLocks noGrp="1"/>
          </p:cNvSpPr>
          <p:nvPr>
            <p:ph type="title"/>
          </p:nvPr>
        </p:nvSpPr>
        <p:spPr/>
        <p:txBody>
          <a:bodyPr vert="horz"/>
          <a:lstStyle/>
          <a:p>
            <a:r>
              <a:rPr lang="en-US" sz="2800" dirty="0">
                <a:latin typeface="Calibri" panose="020F0502020204030204" pitchFamily="34" charset="0"/>
                <a:cs typeface="Calibri" panose="020F0502020204030204" pitchFamily="34" charset="0"/>
              </a:rPr>
              <a:t>Worker Satisfaction</a:t>
            </a:r>
          </a:p>
        </p:txBody>
      </p:sp>
      <p:grpSp>
        <p:nvGrpSpPr>
          <p:cNvPr id="13" name="Subtitle [Placeholder]">
            <a:extLst>
              <a:ext uri="{FF2B5EF4-FFF2-40B4-BE49-F238E27FC236}">
                <a16:creationId xmlns:a16="http://schemas.microsoft.com/office/drawing/2014/main" id="{C3B0A32B-AA90-D5B2-16B3-65B165C62081}"/>
              </a:ext>
            </a:extLst>
          </p:cNvPr>
          <p:cNvGrpSpPr>
            <a:grpSpLocks/>
          </p:cNvGrpSpPr>
          <p:nvPr/>
        </p:nvGrpSpPr>
        <p:grpSpPr bwMode="auto">
          <a:xfrm>
            <a:off x="495300" y="991833"/>
            <a:ext cx="11282572" cy="211138"/>
            <a:chOff x="1288" y="1620"/>
            <a:chExt cx="4426" cy="133"/>
          </a:xfrm>
        </p:grpSpPr>
        <p:sp>
          <p:nvSpPr>
            <p:cNvPr id="14" name="Line 56">
              <a:extLst>
                <a:ext uri="{FF2B5EF4-FFF2-40B4-BE49-F238E27FC236}">
                  <a16:creationId xmlns:a16="http://schemas.microsoft.com/office/drawing/2014/main" id="{4F4A6663-E7BB-178F-E265-4B48B6245C96}"/>
                </a:ext>
              </a:extLst>
            </p:cNvPr>
            <p:cNvSpPr>
              <a:spLocks noChangeShapeType="1"/>
            </p:cNvSpPr>
            <p:nvPr>
              <p:custDataLst>
                <p:tags r:id="rId14"/>
              </p:custDataLst>
            </p:nvPr>
          </p:nvSpPr>
          <p:spPr bwMode="gray">
            <a:xfrm flipV="1">
              <a:off x="1288" y="1749"/>
              <a:ext cx="4426" cy="4"/>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5" name="Text Box 57">
              <a:extLst>
                <a:ext uri="{FF2B5EF4-FFF2-40B4-BE49-F238E27FC236}">
                  <a16:creationId xmlns:a16="http://schemas.microsoft.com/office/drawing/2014/main" id="{06560AD4-3A1D-DF77-A38B-7C00EA561C72}"/>
                </a:ext>
              </a:extLst>
            </p:cNvPr>
            <p:cNvSpPr txBox="1">
              <a:spLocks noChangeArrowheads="1"/>
            </p:cNvSpPr>
            <p:nvPr>
              <p:custDataLst>
                <p:tags r:id="rId15"/>
              </p:custDataLst>
            </p:nvPr>
          </p:nvSpPr>
          <p:spPr bwMode="gray">
            <a:xfrm>
              <a:off x="1288" y="1620"/>
              <a:ext cx="4424" cy="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a:defRPr/>
              </a:pPr>
              <a:r>
                <a:rPr lang="en-US" i="1">
                  <a:solidFill>
                    <a:srgbClr val="000000"/>
                  </a:solidFill>
                  <a:cs typeface="Arial" panose="020B0604020202020204" pitchFamily="34" charset="0"/>
                </a:rPr>
                <a:t>When pay and flexibility are comparable, Spark’s driver-centric approach creates a clear advantage, leading to greater driver satisfaction and fewer dissatisfied customers than other platforms.</a:t>
              </a:r>
            </a:p>
          </p:txBody>
        </p:sp>
      </p:grpSp>
      <p:grpSp>
        <p:nvGrpSpPr>
          <p:cNvPr id="18" name="Subtitle [Placeholder]">
            <a:extLst>
              <a:ext uri="{FF2B5EF4-FFF2-40B4-BE49-F238E27FC236}">
                <a16:creationId xmlns:a16="http://schemas.microsoft.com/office/drawing/2014/main" id="{083759AD-AC76-C4B8-5CC5-EDC91110B9F0}"/>
              </a:ext>
            </a:extLst>
          </p:cNvPr>
          <p:cNvGrpSpPr>
            <a:grpSpLocks/>
          </p:cNvGrpSpPr>
          <p:nvPr/>
        </p:nvGrpSpPr>
        <p:grpSpPr bwMode="auto">
          <a:xfrm>
            <a:off x="495301" y="1589553"/>
            <a:ext cx="6091164" cy="323203"/>
            <a:chOff x="902" y="-262948"/>
            <a:chExt cx="3832" cy="264697"/>
          </a:xfrm>
        </p:grpSpPr>
        <p:sp>
          <p:nvSpPr>
            <p:cNvPr id="19" name="Line 56">
              <a:extLst>
                <a:ext uri="{FF2B5EF4-FFF2-40B4-BE49-F238E27FC236}">
                  <a16:creationId xmlns:a16="http://schemas.microsoft.com/office/drawing/2014/main" id="{893CF022-DB1E-E11E-A139-C9708F048C34}"/>
                </a:ext>
              </a:extLst>
            </p:cNvPr>
            <p:cNvSpPr>
              <a:spLocks noChangeShapeType="1"/>
            </p:cNvSpPr>
            <p:nvPr>
              <p:custDataLst>
                <p:tags r:id="rId12"/>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20" name="Text Box 57">
              <a:extLst>
                <a:ext uri="{FF2B5EF4-FFF2-40B4-BE49-F238E27FC236}">
                  <a16:creationId xmlns:a16="http://schemas.microsoft.com/office/drawing/2014/main" id="{662E6693-5DAE-21A3-5B9D-4E157B3A2945}"/>
                </a:ext>
              </a:extLst>
            </p:cNvPr>
            <p:cNvSpPr txBox="1">
              <a:spLocks noChangeArrowheads="1"/>
            </p:cNvSpPr>
            <p:nvPr>
              <p:custDataLst>
                <p:tags r:id="rId13"/>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Worker Pay Satisfaction: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Amazon Flex leads the way in pay satisfaction surveys</a:t>
              </a:r>
            </a:p>
          </p:txBody>
        </p:sp>
      </p:grpSp>
      <p:graphicFrame>
        <p:nvGraphicFramePr>
          <p:cNvPr id="59" name="Chart 58">
            <a:extLst>
              <a:ext uri="{FF2B5EF4-FFF2-40B4-BE49-F238E27FC236}">
                <a16:creationId xmlns:a16="http://schemas.microsoft.com/office/drawing/2014/main" id="{1DBD09D2-8645-D1D2-6767-843660B99D48}"/>
              </a:ext>
            </a:extLst>
          </p:cNvPr>
          <p:cNvGraphicFramePr/>
          <p:nvPr>
            <p:custDataLst>
              <p:tags r:id="rId2"/>
            </p:custDataLst>
          </p:nvPr>
        </p:nvGraphicFramePr>
        <p:xfrm>
          <a:off x="577850" y="2089150"/>
          <a:ext cx="6091238" cy="3743325"/>
        </p:xfrm>
        <a:graphic>
          <a:graphicData uri="http://schemas.openxmlformats.org/drawingml/2006/chart">
            <c:chart xmlns:c="http://schemas.openxmlformats.org/drawingml/2006/chart" xmlns:r="http://schemas.openxmlformats.org/officeDocument/2006/relationships" r:id="rId20"/>
          </a:graphicData>
        </a:graphic>
      </p:graphicFrame>
      <p:sp>
        <p:nvSpPr>
          <p:cNvPr id="9" name="Text Placeholder 2">
            <a:extLst>
              <a:ext uri="{FF2B5EF4-FFF2-40B4-BE49-F238E27FC236}">
                <a16:creationId xmlns:a16="http://schemas.microsoft.com/office/drawing/2014/main" id="{49F9DCBA-FAB0-9C2E-9DDE-784C0039EADA}"/>
              </a:ext>
            </a:extLst>
          </p:cNvPr>
          <p:cNvSpPr>
            <a:spLocks noGrp="1"/>
          </p:cNvSpPr>
          <p:nvPr>
            <p:custDataLst>
              <p:tags r:id="rId3"/>
            </p:custDataLst>
          </p:nvPr>
        </p:nvSpPr>
        <p:spPr bwMode="auto">
          <a:xfrm>
            <a:off x="1344613" y="5680075"/>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277DDBDA-C5E5-45B8-92C1-C1F94D6AB415}" type="datetime'''''''''''''''A''ma''zo''''''''n'''''' ''''''Fl''e''''x'''''">
              <a:rPr lang="en-US" altLang="en-US" sz="800" smtClean="0">
                <a:solidFill>
                  <a:srgbClr val="000000"/>
                </a:solidFill>
              </a:rPr>
              <a:pPr lvl="1" algn="ctr">
                <a:spcBef>
                  <a:spcPct val="0"/>
                </a:spcBef>
                <a:spcAft>
                  <a:spcPct val="0"/>
                </a:spcAft>
                <a:defRPr/>
              </a:pPr>
              <a:t>Amazon Flex</a:t>
            </a:fld>
            <a:endParaRPr kumimoji="0" lang="en-US" sz="800" b="0" i="0" strike="noStrike" kern="1200" cap="none" spc="0" normalizeH="0" baseline="0" noProof="0">
              <a:ln>
                <a:noFill/>
              </a:ln>
              <a:solidFill>
                <a:srgbClr val="000000"/>
              </a:solidFill>
              <a:effectLst/>
              <a:uLnTx/>
              <a:uFillTx/>
            </a:endParaRPr>
          </a:p>
        </p:txBody>
      </p:sp>
      <p:sp>
        <p:nvSpPr>
          <p:cNvPr id="10" name="Text Placeholder 2">
            <a:extLst>
              <a:ext uri="{FF2B5EF4-FFF2-40B4-BE49-F238E27FC236}">
                <a16:creationId xmlns:a16="http://schemas.microsoft.com/office/drawing/2014/main" id="{DB656630-51C7-CBB7-5B9F-96A0C4B0ABA9}"/>
              </a:ext>
            </a:extLst>
          </p:cNvPr>
          <p:cNvSpPr>
            <a:spLocks noGrp="1"/>
          </p:cNvSpPr>
          <p:nvPr>
            <p:custDataLst>
              <p:tags r:id="rId4"/>
            </p:custDataLst>
          </p:nvPr>
        </p:nvSpPr>
        <p:spPr bwMode="auto">
          <a:xfrm>
            <a:off x="3417888" y="5680075"/>
            <a:ext cx="4111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7E60560B-C05B-4A53-A34D-E2057CB13ECC}" type="datetime'''G''r''''''''u''''''''''''''b''''''''''''h''''''''ub'''">
              <a:rPr lang="en-US" altLang="en-US" sz="800" smtClean="0">
                <a:solidFill>
                  <a:srgbClr val="000000"/>
                </a:solidFill>
              </a:rPr>
              <a:pPr lvl="1" algn="ctr">
                <a:spcBef>
                  <a:spcPct val="0"/>
                </a:spcBef>
                <a:spcAft>
                  <a:spcPct val="0"/>
                </a:spcAft>
                <a:defRPr/>
              </a:pPr>
              <a:t>Grubhub</a:t>
            </a:fld>
            <a:endParaRPr kumimoji="0" lang="en-US" sz="800" b="0" i="0" strike="noStrike" kern="1200" cap="none" spc="0" normalizeH="0" baseline="0" noProof="0">
              <a:ln>
                <a:noFill/>
              </a:ln>
              <a:solidFill>
                <a:srgbClr val="000000"/>
              </a:solidFill>
              <a:effectLst/>
              <a:uLnTx/>
              <a:uFillTx/>
            </a:endParaRPr>
          </a:p>
        </p:txBody>
      </p:sp>
      <p:sp>
        <p:nvSpPr>
          <p:cNvPr id="11" name="Text Placeholder 2">
            <a:extLst>
              <a:ext uri="{FF2B5EF4-FFF2-40B4-BE49-F238E27FC236}">
                <a16:creationId xmlns:a16="http://schemas.microsoft.com/office/drawing/2014/main" id="{EED36914-20DB-A103-DAF2-36CEC5332E4A}"/>
              </a:ext>
            </a:extLst>
          </p:cNvPr>
          <p:cNvSpPr>
            <a:spLocks noGrp="1"/>
          </p:cNvSpPr>
          <p:nvPr>
            <p:custDataLst>
              <p:tags r:id="rId5"/>
            </p:custDataLst>
          </p:nvPr>
        </p:nvSpPr>
        <p:spPr bwMode="auto">
          <a:xfrm>
            <a:off x="5510213" y="5680075"/>
            <a:ext cx="1778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E7243157-E299-49FD-ADDA-1CF1970651E6}" type="datetime'''''''''''''''''''''''''''''L''''''y''''''''''f''''t'">
              <a:rPr lang="en-US" altLang="en-US" sz="800" smtClean="0">
                <a:solidFill>
                  <a:srgbClr val="000000"/>
                </a:solidFill>
              </a:rPr>
              <a:pPr lvl="1" algn="ctr">
                <a:spcBef>
                  <a:spcPct val="0"/>
                </a:spcBef>
                <a:spcAft>
                  <a:spcPct val="0"/>
                </a:spcAft>
                <a:defRPr/>
              </a:pPr>
              <a:t>Lyft</a:t>
            </a:fld>
            <a:endParaRPr kumimoji="0" lang="en-US" sz="800" b="0" i="0" strike="noStrike" kern="1200" cap="none" spc="0" normalizeH="0" baseline="0" noProof="0">
              <a:ln>
                <a:noFill/>
              </a:ln>
              <a:solidFill>
                <a:srgbClr val="000000"/>
              </a:solidFill>
              <a:effectLst/>
              <a:uLnTx/>
              <a:uFillTx/>
            </a:endParaRPr>
          </a:p>
        </p:txBody>
      </p:sp>
      <p:sp>
        <p:nvSpPr>
          <p:cNvPr id="17" name="Text Placeholder 2">
            <a:extLst>
              <a:ext uri="{FF2B5EF4-FFF2-40B4-BE49-F238E27FC236}">
                <a16:creationId xmlns:a16="http://schemas.microsoft.com/office/drawing/2014/main" id="{BA1BA6EB-B6C2-6851-957F-7D013EF527E1}"/>
              </a:ext>
            </a:extLst>
          </p:cNvPr>
          <p:cNvSpPr>
            <a:spLocks noGrp="1"/>
          </p:cNvSpPr>
          <p:nvPr>
            <p:custDataLst>
              <p:tags r:id="rId6"/>
            </p:custDataLst>
          </p:nvPr>
        </p:nvSpPr>
        <p:spPr bwMode="auto">
          <a:xfrm>
            <a:off x="895350" y="3489325"/>
            <a:ext cx="122238" cy="10287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vert270" wrap="none" lIns="0" tIns="0" rIns="0" bIns="0" rtlCol="0" anchor="b"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defRPr/>
            </a:pPr>
            <a:fld id="{8A883AC1-AEC6-43F9-A962-8BCE311D7506}" type="datetime'P''a''''''''y ''Sati''sfac''ti''o''n Sco''re'''''''''''''''">
              <a:rPr lang="en-US" altLang="en-US" sz="800" smtClean="0">
                <a:solidFill>
                  <a:srgbClr val="000000"/>
                </a:solidFill>
              </a:rPr>
              <a:pPr lvl="1" algn="ctr">
                <a:spcBef>
                  <a:spcPct val="0"/>
                </a:spcBef>
                <a:spcAft>
                  <a:spcPct val="0"/>
                </a:spcAft>
                <a:defRPr/>
              </a:pPr>
              <a:t>Pay Satisfaction Score</a:t>
            </a:fld>
            <a:endParaRPr kumimoji="0" lang="en-US" sz="800" b="0" i="0" strike="noStrike" kern="1200" cap="none" spc="0" normalizeH="0" baseline="0" noProof="0">
              <a:ln>
                <a:noFill/>
              </a:ln>
              <a:solidFill>
                <a:srgbClr val="000000"/>
              </a:solidFill>
              <a:effectLst/>
              <a:uLnTx/>
              <a:uFillTx/>
            </a:endParaRPr>
          </a:p>
        </p:txBody>
      </p:sp>
      <p:grpSp>
        <p:nvGrpSpPr>
          <p:cNvPr id="48" name="Subtitle [Placeholder]">
            <a:extLst>
              <a:ext uri="{FF2B5EF4-FFF2-40B4-BE49-F238E27FC236}">
                <a16:creationId xmlns:a16="http://schemas.microsoft.com/office/drawing/2014/main" id="{A4B280C7-E89A-2891-1B98-A690DD84591E}"/>
              </a:ext>
            </a:extLst>
          </p:cNvPr>
          <p:cNvGrpSpPr>
            <a:grpSpLocks/>
          </p:cNvGrpSpPr>
          <p:nvPr/>
        </p:nvGrpSpPr>
        <p:grpSpPr bwMode="auto">
          <a:xfrm>
            <a:off x="7123916" y="1596165"/>
            <a:ext cx="4648858" cy="323203"/>
            <a:chOff x="902" y="-262948"/>
            <a:chExt cx="3832" cy="264697"/>
          </a:xfrm>
        </p:grpSpPr>
        <p:sp>
          <p:nvSpPr>
            <p:cNvPr id="49" name="Line 56">
              <a:extLst>
                <a:ext uri="{FF2B5EF4-FFF2-40B4-BE49-F238E27FC236}">
                  <a16:creationId xmlns:a16="http://schemas.microsoft.com/office/drawing/2014/main" id="{2216E4EF-F725-36DD-50AF-A20CB94FEF68}"/>
                </a:ext>
              </a:extLst>
            </p:cNvPr>
            <p:cNvSpPr>
              <a:spLocks noChangeShapeType="1"/>
            </p:cNvSpPr>
            <p:nvPr>
              <p:custDataLst>
                <p:tags r:id="rId10"/>
              </p:custDataLst>
            </p:nvPr>
          </p:nvSpPr>
          <p:spPr bwMode="gray">
            <a:xfrm flipV="1">
              <a:off x="902" y="1718"/>
              <a:ext cx="3832" cy="31"/>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50" name="Text Box 57">
              <a:extLst>
                <a:ext uri="{FF2B5EF4-FFF2-40B4-BE49-F238E27FC236}">
                  <a16:creationId xmlns:a16="http://schemas.microsoft.com/office/drawing/2014/main" id="{2B1699E9-E965-AF3E-8017-F5D59FAE2CA6}"/>
                </a:ext>
              </a:extLst>
            </p:cNvPr>
            <p:cNvSpPr txBox="1">
              <a:spLocks noChangeArrowheads="1"/>
            </p:cNvSpPr>
            <p:nvPr>
              <p:custDataLst>
                <p:tags r:id="rId11"/>
              </p:custDataLst>
            </p:nvPr>
          </p:nvSpPr>
          <p:spPr bwMode="gray">
            <a:xfrm>
              <a:off x="902" y="-262948"/>
              <a:ext cx="3832" cy="26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rgbClr val="00338D"/>
                  </a:solidFill>
                </a:rPr>
                <a:t>Worker Pay Satisfaction: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i="1">
                  <a:solidFill>
                    <a:schemeClr val="tx1"/>
                  </a:solidFill>
                </a:rPr>
                <a:t>Amazon Flex leads the way in pay satisfaction surveys</a:t>
              </a:r>
            </a:p>
          </p:txBody>
        </p:sp>
      </p:grpSp>
      <p:graphicFrame>
        <p:nvGraphicFramePr>
          <p:cNvPr id="67" name="Chart 66">
            <a:extLst>
              <a:ext uri="{FF2B5EF4-FFF2-40B4-BE49-F238E27FC236}">
                <a16:creationId xmlns:a16="http://schemas.microsoft.com/office/drawing/2014/main" id="{F254D773-6A62-AE44-A8F8-B4EFFDE78332}"/>
              </a:ext>
            </a:extLst>
          </p:cNvPr>
          <p:cNvGraphicFramePr/>
          <p:nvPr>
            <p:custDataLst>
              <p:tags r:id="rId7"/>
            </p:custDataLst>
          </p:nvPr>
        </p:nvGraphicFramePr>
        <p:xfrm>
          <a:off x="7042150" y="2117725"/>
          <a:ext cx="4737100" cy="2463800"/>
        </p:xfrm>
        <a:graphic>
          <a:graphicData uri="http://schemas.openxmlformats.org/drawingml/2006/chart">
            <c:chart xmlns:c="http://schemas.openxmlformats.org/drawingml/2006/chart" xmlns:r="http://schemas.openxmlformats.org/officeDocument/2006/relationships" r:id="rId21"/>
          </a:graphicData>
        </a:graphic>
      </p:graphicFrame>
      <p:sp>
        <p:nvSpPr>
          <p:cNvPr id="52" name="Text Placeholder 2">
            <a:extLst>
              <a:ext uri="{FF2B5EF4-FFF2-40B4-BE49-F238E27FC236}">
                <a16:creationId xmlns:a16="http://schemas.microsoft.com/office/drawing/2014/main" id="{276AB62A-5332-3555-D401-290891A0F2B8}"/>
              </a:ext>
            </a:extLst>
          </p:cNvPr>
          <p:cNvSpPr>
            <a:spLocks noGrp="1"/>
          </p:cNvSpPr>
          <p:nvPr>
            <p:custDataLst>
              <p:tags r:id="rId8"/>
            </p:custDataLst>
          </p:nvPr>
        </p:nvSpPr>
        <p:spPr bwMode="auto">
          <a:xfrm>
            <a:off x="8151813" y="4429125"/>
            <a:ext cx="2333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92BDB226-A439-4331-B46D-103C788DF675}" type="datetime'''''''''''''U''''''''''''''''b''''''''''e''r'''''''">
              <a:rPr lang="en-US" altLang="en-US" sz="800" smtClean="0"/>
              <a:pPr lvl="1" algn="ctr">
                <a:spcBef>
                  <a:spcPct val="0"/>
                </a:spcBef>
                <a:spcAft>
                  <a:spcPct val="0"/>
                </a:spcAft>
              </a:pPr>
              <a:t>Uber</a:t>
            </a:fld>
            <a:endParaRPr lang="en-US" sz="800"/>
          </a:p>
        </p:txBody>
      </p:sp>
      <p:sp>
        <p:nvSpPr>
          <p:cNvPr id="53" name="Text Placeholder 2">
            <a:extLst>
              <a:ext uri="{FF2B5EF4-FFF2-40B4-BE49-F238E27FC236}">
                <a16:creationId xmlns:a16="http://schemas.microsoft.com/office/drawing/2014/main" id="{A094F026-7F6E-B256-8EBD-02FDDFB374C8}"/>
              </a:ext>
            </a:extLst>
          </p:cNvPr>
          <p:cNvSpPr>
            <a:spLocks noGrp="1"/>
          </p:cNvSpPr>
          <p:nvPr>
            <p:custDataLst>
              <p:tags r:id="rId9"/>
            </p:custDataLst>
          </p:nvPr>
        </p:nvSpPr>
        <p:spPr bwMode="auto">
          <a:xfrm>
            <a:off x="10318750" y="4429125"/>
            <a:ext cx="4714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ctr">
              <a:spcBef>
                <a:spcPct val="0"/>
              </a:spcBef>
              <a:spcAft>
                <a:spcPct val="0"/>
              </a:spcAft>
            </a:pPr>
            <a:fld id="{95A90875-CFDC-4300-B1F4-DD18C6B412C0}" type="datetime'Do''o''r''''Da''''''''''''''''''s''''''''''h'">
              <a:rPr lang="en-US" altLang="en-US" sz="800" smtClean="0"/>
              <a:pPr lvl="1" algn="ctr">
                <a:spcBef>
                  <a:spcPct val="0"/>
                </a:spcBef>
                <a:spcAft>
                  <a:spcPct val="0"/>
                </a:spcAft>
              </a:pPr>
              <a:t>DoorDash</a:t>
            </a:fld>
            <a:endParaRPr lang="en-US" sz="800"/>
          </a:p>
        </p:txBody>
      </p:sp>
      <p:sp>
        <p:nvSpPr>
          <p:cNvPr id="68" name="Rectangle: Rounded Corners 67">
            <a:extLst>
              <a:ext uri="{FF2B5EF4-FFF2-40B4-BE49-F238E27FC236}">
                <a16:creationId xmlns:a16="http://schemas.microsoft.com/office/drawing/2014/main" id="{32440B8C-4B60-AC74-D62F-27E95F9A9FA7}"/>
              </a:ext>
            </a:extLst>
          </p:cNvPr>
          <p:cNvSpPr/>
          <p:nvPr/>
        </p:nvSpPr>
        <p:spPr>
          <a:xfrm>
            <a:off x="6977856" y="4689244"/>
            <a:ext cx="4865687" cy="864185"/>
          </a:xfrm>
          <a:prstGeom prst="roundRect">
            <a:avLst>
              <a:gd name="adj" fmla="val 3757"/>
            </a:avLst>
          </a:prstGeom>
          <a:noFill/>
          <a:ln>
            <a:solidFill>
              <a:schemeClr val="tx2"/>
            </a:solidFill>
            <a:prstDash val="dash"/>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1" tIns="54611" rIns="54611" bIns="54611"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a:ln>
                  <a:noFill/>
                </a:ln>
                <a:solidFill>
                  <a:schemeClr val="tx1"/>
                </a:solidFill>
                <a:effectLst/>
                <a:uLnTx/>
                <a:uFillTx/>
                <a:latin typeface="Arial"/>
                <a:ea typeface="+mn-ea"/>
                <a:cs typeface="+mn-cs"/>
              </a:rPr>
              <a:t>Platforms with poor driver satisfaction often see negative customer outcomes, reflected in low Net Promoter Scores (NPS) and high percentages of detractors. For Spark, investing in driver satisfaction is a strategic lever to improve customer experience, achieve positive NPS, and build a defensible competitive advantage based on quality and reliability.</a:t>
            </a:r>
          </a:p>
        </p:txBody>
      </p:sp>
    </p:spTree>
    <p:extLst>
      <p:ext uri="{BB962C8B-B14F-4D97-AF65-F5344CB8AC3E}">
        <p14:creationId xmlns:p14="http://schemas.microsoft.com/office/powerpoint/2010/main" val="1478105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FFFC7403-7F0A-B581-E9DD-9CEA915883A1}"/>
              </a:ext>
            </a:extLst>
          </p:cNvPr>
          <p:cNvSpPr>
            <a:spLocks noGrp="1"/>
          </p:cNvSpPr>
          <p:nvPr>
            <p:ph type="title"/>
          </p:nvPr>
        </p:nvSpPr>
        <p:spPr>
          <a:xfrm>
            <a:off x="501520" y="539496"/>
            <a:ext cx="11192256" cy="603504"/>
          </a:xfrm>
        </p:spPr>
        <p:txBody>
          <a:bodyPr vert="horz">
            <a:noAutofit/>
          </a:bodyPr>
          <a:lstStyle/>
          <a:p>
            <a:r>
              <a:rPr lang="en-US" sz="2800" dirty="0">
                <a:solidFill>
                  <a:srgbClr val="3A5479"/>
                </a:solidFill>
                <a:latin typeface="Calibri" panose="020F0502020204030204" pitchFamily="34" charset="0"/>
                <a:cs typeface="Calibri" panose="020F0502020204030204" pitchFamily="34" charset="0"/>
              </a:rPr>
              <a:t>Strategic shift: Walmart Spark Delivery is executing a focused transformation to enhance profitability, operational agility, and long-term growth</a:t>
            </a:r>
          </a:p>
        </p:txBody>
      </p:sp>
      <p:graphicFrame>
        <p:nvGraphicFramePr>
          <p:cNvPr id="5" name="Table 4">
            <a:extLst>
              <a:ext uri="{FF2B5EF4-FFF2-40B4-BE49-F238E27FC236}">
                <a16:creationId xmlns:a16="http://schemas.microsoft.com/office/drawing/2014/main" id="{1C8DB49D-881F-7308-F2C8-7A22BA8BFDBD}"/>
              </a:ext>
            </a:extLst>
          </p:cNvPr>
          <p:cNvGraphicFramePr>
            <a:graphicFrameLocks noGrp="1"/>
          </p:cNvGraphicFramePr>
          <p:nvPr>
            <p:extLst>
              <p:ext uri="{D42A27DB-BD31-4B8C-83A1-F6EECF244321}">
                <p14:modId xmlns:p14="http://schemas.microsoft.com/office/powerpoint/2010/main" val="1272187242"/>
              </p:ext>
            </p:extLst>
          </p:nvPr>
        </p:nvGraphicFramePr>
        <p:xfrm>
          <a:off x="501520" y="1527007"/>
          <a:ext cx="11192256" cy="4334213"/>
        </p:xfrm>
        <a:graphic>
          <a:graphicData uri="http://schemas.openxmlformats.org/drawingml/2006/table">
            <a:tbl>
              <a:tblPr firstRow="1">
                <a:tableStyleId>{9D7B26C5-4107-4FEC-AEDC-1716B250A1EF}</a:tableStyleId>
              </a:tblPr>
              <a:tblGrid>
                <a:gridCol w="681197">
                  <a:extLst>
                    <a:ext uri="{9D8B030D-6E8A-4147-A177-3AD203B41FA5}">
                      <a16:colId xmlns:a16="http://schemas.microsoft.com/office/drawing/2014/main" val="850035363"/>
                    </a:ext>
                  </a:extLst>
                </a:gridCol>
                <a:gridCol w="1758143">
                  <a:extLst>
                    <a:ext uri="{9D8B030D-6E8A-4147-A177-3AD203B41FA5}">
                      <a16:colId xmlns:a16="http://schemas.microsoft.com/office/drawing/2014/main" val="33148868"/>
                    </a:ext>
                  </a:extLst>
                </a:gridCol>
                <a:gridCol w="5902036">
                  <a:extLst>
                    <a:ext uri="{9D8B030D-6E8A-4147-A177-3AD203B41FA5}">
                      <a16:colId xmlns:a16="http://schemas.microsoft.com/office/drawing/2014/main" val="1615171091"/>
                    </a:ext>
                  </a:extLst>
                </a:gridCol>
                <a:gridCol w="2850880">
                  <a:extLst>
                    <a:ext uri="{9D8B030D-6E8A-4147-A177-3AD203B41FA5}">
                      <a16:colId xmlns:a16="http://schemas.microsoft.com/office/drawing/2014/main" val="1074856119"/>
                    </a:ext>
                  </a:extLst>
                </a:gridCol>
              </a:tblGrid>
              <a:tr h="39985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a:solidFill>
                          <a:schemeClr val="bg1">
                            <a:lumMod val="100000"/>
                          </a:schemeClr>
                        </a:solidFill>
                      </a:endParaRPr>
                    </a:p>
                  </a:txBody>
                  <a:tcPr anchor="ctr">
                    <a:lnB w="12700" cap="flat" cmpd="sng" algn="ctr">
                      <a:solidFill>
                        <a:schemeClr val="tx1"/>
                      </a:solidFill>
                      <a:prstDash val="solid"/>
                      <a:round/>
                      <a:headEnd type="none" w="med" len="med"/>
                      <a:tailEnd type="none" w="med" len="med"/>
                    </a:lnB>
                    <a:solidFill>
                      <a:srgbClr val="364D6E"/>
                    </a:solidFill>
                  </a:tcPr>
                </a:tc>
                <a:tc>
                  <a:txBody>
                    <a:bodyPr/>
                    <a:lstStyle/>
                    <a:p>
                      <a:pPr>
                        <a:buNone/>
                      </a:pPr>
                      <a:r>
                        <a:rPr lang="en-US" sz="1200" b="1">
                          <a:solidFill>
                            <a:schemeClr val="bg1"/>
                          </a:solidFill>
                        </a:rPr>
                        <a:t>Spark Goal</a:t>
                      </a:r>
                      <a:endParaRPr lang="en-US" sz="1200">
                        <a:solidFill>
                          <a:schemeClr val="bg1"/>
                        </a:solidFill>
                      </a:endParaRPr>
                    </a:p>
                  </a:txBody>
                  <a:tcPr anchor="ctr">
                    <a:lnB w="12700" cap="flat" cmpd="sng" algn="ctr">
                      <a:solidFill>
                        <a:schemeClr val="tx1"/>
                      </a:solidFill>
                      <a:prstDash val="solid"/>
                      <a:round/>
                      <a:headEnd type="none" w="med" len="med"/>
                      <a:tailEnd type="none" w="med" len="med"/>
                    </a:lnB>
                    <a:solidFill>
                      <a:srgbClr val="364D6E"/>
                    </a:solidFill>
                  </a:tcPr>
                </a:tc>
                <a:tc>
                  <a:txBody>
                    <a:bodyPr/>
                    <a:lstStyle/>
                    <a:p>
                      <a:pPr>
                        <a:buNone/>
                      </a:pPr>
                      <a:r>
                        <a:rPr lang="en-US" sz="1200" b="1">
                          <a:solidFill>
                            <a:schemeClr val="bg1"/>
                          </a:solidFill>
                        </a:rPr>
                        <a:t>Spark Strategic Shift</a:t>
                      </a:r>
                      <a:endParaRPr lang="en-US" sz="1200">
                        <a:solidFill>
                          <a:schemeClr val="bg1"/>
                        </a:solidFill>
                      </a:endParaRPr>
                    </a:p>
                  </a:txBody>
                  <a:tcPr anchor="ctr">
                    <a:lnB w="12700" cap="flat" cmpd="sng" algn="ctr">
                      <a:solidFill>
                        <a:schemeClr val="tx1"/>
                      </a:solidFill>
                      <a:prstDash val="solid"/>
                      <a:round/>
                      <a:headEnd type="none" w="med" len="med"/>
                      <a:tailEnd type="none" w="med" len="med"/>
                    </a:lnB>
                    <a:solidFill>
                      <a:srgbClr val="364D6E"/>
                    </a:solidFill>
                  </a:tcPr>
                </a:tc>
                <a:tc>
                  <a:txBody>
                    <a:bodyPr/>
                    <a:lstStyle/>
                    <a:p>
                      <a:pPr>
                        <a:buNone/>
                      </a:pPr>
                      <a:r>
                        <a:rPr lang="en-US" sz="1200" b="1">
                          <a:solidFill>
                            <a:schemeClr val="bg1"/>
                          </a:solidFill>
                        </a:rPr>
                        <a:t>Potential Challenges</a:t>
                      </a:r>
                      <a:endParaRPr lang="en-US" sz="1200">
                        <a:solidFill>
                          <a:schemeClr val="bg1"/>
                        </a:solidFill>
                      </a:endParaRPr>
                    </a:p>
                  </a:txBody>
                  <a:tcPr anchor="ctr">
                    <a:lnB w="12700" cap="flat" cmpd="sng" algn="ctr">
                      <a:solidFill>
                        <a:schemeClr val="tx1"/>
                      </a:solidFill>
                      <a:prstDash val="solid"/>
                      <a:round/>
                      <a:headEnd type="none" w="med" len="med"/>
                      <a:tailEnd type="none" w="med" len="med"/>
                    </a:lnB>
                    <a:solidFill>
                      <a:srgbClr val="364D6E"/>
                    </a:solidFill>
                  </a:tcPr>
                </a:tc>
                <a:extLst>
                  <a:ext uri="{0D108BD9-81ED-4DB2-BD59-A6C34878D82A}">
                    <a16:rowId xmlns:a16="http://schemas.microsoft.com/office/drawing/2014/main" val="3176767549"/>
                  </a:ext>
                </a:extLst>
              </a:tr>
              <a:tr h="983589">
                <a:tc>
                  <a:txBody>
                    <a:bodyPr/>
                    <a:lstStyle/>
                    <a:p>
                      <a:pPr algn="ctr"/>
                      <a:r>
                        <a:rPr lang="en-US" sz="1600">
                          <a:latin typeface="+mj-lt"/>
                        </a:rPr>
                        <a:t>1</a:t>
                      </a:r>
                    </a:p>
                  </a:txBody>
                  <a:tcPr anchor="ct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Deliver Competitive Compensation &amp; Incentives</a:t>
                      </a:r>
                      <a:endParaRPr lang="en-US" sz="1000" b="0" i="0" u="none" strike="noStrike">
                        <a:solidFill>
                          <a:srgbClr val="000000"/>
                        </a:solidFill>
                        <a:effectLst/>
                        <a:latin typeface="Calibri" panose="020F0502020204030204" pitchFamily="34" charset="0"/>
                      </a:endParaRPr>
                    </a:p>
                  </a:txBody>
                  <a:tcPr marL="5638" marR="5638" marT="5638" marB="0" anchor="ctr">
                    <a:lnR w="12700" cap="flat" cmpd="sng" algn="ctr">
                      <a:solidFill>
                        <a:schemeClr val="bg2">
                          <a:lumMod val="5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marL="171450" indent="-171450" algn="l" fontAlgn="t">
                        <a:buFont typeface="Arial" panose="020B0604020202020204" pitchFamily="34" charset="0"/>
                        <a:buChar char="•"/>
                      </a:pPr>
                      <a:r>
                        <a:rPr lang="en-US" sz="1000" b="0" u="none" strike="noStrike">
                          <a:solidFill>
                            <a:srgbClr val="000000"/>
                          </a:solidFill>
                          <a:effectLst/>
                        </a:rPr>
                        <a:t>Move beyond hourly wage to a Total Value Proposition (TVP) model. </a:t>
                      </a:r>
                    </a:p>
                    <a:p>
                      <a:pPr marL="171450" indent="-171450" algn="l" fontAlgn="t">
                        <a:buFont typeface="Arial" panose="020B0604020202020204" pitchFamily="34" charset="0"/>
                        <a:buChar char="•"/>
                      </a:pPr>
                      <a:r>
                        <a:rPr lang="en-US" sz="1000" b="0" u="none" strike="noStrike">
                          <a:solidFill>
                            <a:srgbClr val="000000"/>
                          </a:solidFill>
                          <a:effectLst/>
                        </a:rPr>
                        <a:t>Implement tiered loyalty program (Bronze, Silver, Gold, Platinum) based on deliveries, performance, and ratings. </a:t>
                      </a:r>
                    </a:p>
                    <a:p>
                      <a:pPr marL="171450" indent="-171450" algn="l" fontAlgn="t">
                        <a:buFont typeface="Arial" panose="020B0604020202020204" pitchFamily="34" charset="0"/>
                        <a:buChar char="•"/>
                      </a:pPr>
                      <a:r>
                        <a:rPr lang="en-US" sz="1000" b="0" u="none" strike="noStrike">
                          <a:solidFill>
                            <a:srgbClr val="000000"/>
                          </a:solidFill>
                          <a:effectLst/>
                        </a:rPr>
                        <a:t>Offer fuel cash back (2%–6%), vehicle maintenance discounts, mobile data plans, and preferred scheduling for top drivers.</a:t>
                      </a:r>
                    </a:p>
                    <a:p>
                      <a:pPr algn="l" fontAlgn="t">
                        <a:buNone/>
                      </a:pP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R w="12700" cap="flat" cmpd="sng" algn="ctr">
                      <a:solidFill>
                        <a:schemeClr val="bg2">
                          <a:lumMod val="50000"/>
                        </a:schemeClr>
                      </a:solidFill>
                      <a:prstDash val="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Requires investment in rewards infrastructure and partnerships. Must balance cost of incentives with margin pressures and avoid complexity that could confuse or demotivate drivers.</a:t>
                      </a: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bg2">
                          <a:lumMod val="50000"/>
                        </a:schemeClr>
                      </a:solidFill>
                      <a:prstDash val="dash"/>
                      <a:round/>
                      <a:headEnd type="none" w="med" len="med"/>
                      <a:tailEnd type="none" w="med" len="med"/>
                    </a:lnB>
                  </a:tcPr>
                </a:tc>
                <a:extLst>
                  <a:ext uri="{0D108BD9-81ED-4DB2-BD59-A6C34878D82A}">
                    <a16:rowId xmlns:a16="http://schemas.microsoft.com/office/drawing/2014/main" val="3446941601"/>
                  </a:ext>
                </a:extLst>
              </a:tr>
              <a:tr h="983589">
                <a:tc>
                  <a:txBody>
                    <a:bodyPr/>
                    <a:lstStyle/>
                    <a:p>
                      <a:pPr algn="ctr"/>
                      <a:r>
                        <a:rPr lang="en-US" sz="1600">
                          <a:latin typeface="+mj-lt"/>
                        </a:rPr>
                        <a:t>2</a:t>
                      </a:r>
                    </a:p>
                  </a:txBody>
                  <a:tcPr anchor="ct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Optimize Driver Lifecycle for Speed &amp; Quality</a:t>
                      </a:r>
                      <a:endParaRPr lang="en-US" sz="1000" b="0" i="0" u="none" strike="noStrike">
                        <a:solidFill>
                          <a:srgbClr val="000000"/>
                        </a:solidFill>
                        <a:effectLst/>
                        <a:latin typeface="Calibri" panose="020F0502020204030204" pitchFamily="34" charset="0"/>
                      </a:endParaRPr>
                    </a:p>
                  </a:txBody>
                  <a:tcPr marL="5638" marR="5638" marT="5638" marB="0" anchor="ctr">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marL="171450" indent="-171450" algn="l" fontAlgn="t">
                        <a:buFont typeface="Arial" panose="020B0604020202020204" pitchFamily="34" charset="0"/>
                        <a:buChar char="•"/>
                      </a:pPr>
                      <a:r>
                        <a:rPr lang="en-US" sz="1000" b="0" u="none" strike="noStrike">
                          <a:solidFill>
                            <a:srgbClr val="000000"/>
                          </a:solidFill>
                          <a:effectLst/>
                        </a:rPr>
                        <a:t>Engineer the fastest, most transparent onboarding (target: 48–72 hours). Partner with tech-forward screening providers for rapid background checks. </a:t>
                      </a:r>
                    </a:p>
                    <a:p>
                      <a:pPr marL="171450" indent="-171450" algn="l" fontAlgn="t">
                        <a:buFont typeface="Arial" panose="020B0604020202020204" pitchFamily="34" charset="0"/>
                        <a:buChar char="•"/>
                      </a:pPr>
                      <a:r>
                        <a:rPr lang="en-US" sz="1000" b="0" u="none" strike="noStrike">
                          <a:solidFill>
                            <a:srgbClr val="000000"/>
                          </a:solidFill>
                          <a:effectLst/>
                        </a:rPr>
                        <a:t>Implement ongoing driver feedback and automated performance nudges.</a:t>
                      </a: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Rapid onboarding may require process redesign and technology upgrades. Maintaining high service quality as scale increases can be challenging.</a:t>
                      </a: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extLst>
                  <a:ext uri="{0D108BD9-81ED-4DB2-BD59-A6C34878D82A}">
                    <a16:rowId xmlns:a16="http://schemas.microsoft.com/office/drawing/2014/main" val="28566870"/>
                  </a:ext>
                </a:extLst>
              </a:tr>
              <a:tr h="983589">
                <a:tc>
                  <a:txBody>
                    <a:bodyPr/>
                    <a:lstStyle/>
                    <a:p>
                      <a:pPr algn="ctr"/>
                      <a:r>
                        <a:rPr lang="en-US" sz="1600">
                          <a:latin typeface="+mj-lt"/>
                        </a:rPr>
                        <a:t>3</a:t>
                      </a:r>
                    </a:p>
                  </a:txBody>
                  <a:tcPr anchor="ct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dirty="0">
                          <a:solidFill>
                            <a:srgbClr val="000000"/>
                          </a:solidFill>
                          <a:effectLst/>
                        </a:rPr>
                        <a:t>Mitigate Regulatory Risk &amp; Enable Flexibility</a:t>
                      </a:r>
                      <a:endParaRPr lang="en-US" sz="1000" b="0" i="0" u="none" strike="noStrike" dirty="0">
                        <a:solidFill>
                          <a:srgbClr val="000000"/>
                        </a:solidFill>
                        <a:effectLst/>
                        <a:latin typeface="Calibri" panose="020F0502020204030204" pitchFamily="34" charset="0"/>
                      </a:endParaRPr>
                    </a:p>
                  </a:txBody>
                  <a:tcPr marL="5638" marR="5638" marT="5638" marB="0" anchor="ctr">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marL="171450" indent="-171450" algn="l" fontAlgn="t">
                        <a:buFont typeface="Arial" panose="020B0604020202020204" pitchFamily="34" charset="0"/>
                        <a:buChar char="•"/>
                      </a:pPr>
                      <a:r>
                        <a:rPr lang="en-US" sz="1000" b="0" u="none" strike="noStrike">
                          <a:solidFill>
                            <a:srgbClr val="000000"/>
                          </a:solidFill>
                          <a:effectLst/>
                        </a:rPr>
                        <a:t>Proactively design for compliance: minimize platform control, maximize autonomy, provide transparent order info, and objective deactivation policies.</a:t>
                      </a:r>
                    </a:p>
                    <a:p>
                      <a:pPr marL="171450" indent="-171450" algn="l" fontAlgn="t">
                        <a:buFont typeface="Arial" panose="020B0604020202020204" pitchFamily="34" charset="0"/>
                        <a:buChar char="•"/>
                      </a:pPr>
                      <a:r>
                        <a:rPr lang="en-US" sz="1000" b="0" u="none" strike="noStrike">
                          <a:solidFill>
                            <a:srgbClr val="000000"/>
                          </a:solidFill>
                          <a:effectLst/>
                        </a:rPr>
                        <a:t>Pilot hybrid workforce (employee drivers for core routes, contractors for flexible capacity). Develop state-by-state compliance strategies with legal experts.</a:t>
                      </a:r>
                    </a:p>
                    <a:p>
                      <a:pPr algn="l" fontAlgn="t">
                        <a:buNone/>
                      </a:pP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Regulatory landscape is fragmented and evolving. Hybrid workforce models may increase operational complexity and require new HR capabilities.</a:t>
                      </a: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extLst>
                  <a:ext uri="{0D108BD9-81ED-4DB2-BD59-A6C34878D82A}">
                    <a16:rowId xmlns:a16="http://schemas.microsoft.com/office/drawing/2014/main" val="3186904785"/>
                  </a:ext>
                </a:extLst>
              </a:tr>
              <a:tr h="983589">
                <a:tc>
                  <a:txBody>
                    <a:bodyPr/>
                    <a:lstStyle/>
                    <a:p>
                      <a:pPr algn="ctr"/>
                      <a:r>
                        <a:rPr lang="en-US" sz="1600">
                          <a:latin typeface="+mj-lt"/>
                        </a:rPr>
                        <a:t>4</a:t>
                      </a:r>
                    </a:p>
                  </a:txBody>
                  <a:tcPr anchor="ct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a:solidFill>
                            <a:srgbClr val="000000"/>
                          </a:solidFill>
                          <a:effectLst/>
                        </a:rPr>
                        <a:t>Win the Customer through Driver Experience</a:t>
                      </a:r>
                      <a:endParaRPr lang="en-US" sz="1000" b="0" i="0" u="none" strike="noStrike">
                        <a:solidFill>
                          <a:srgbClr val="000000"/>
                        </a:solidFill>
                        <a:effectLst/>
                        <a:latin typeface="Calibri" panose="020F0502020204030204" pitchFamily="34" charset="0"/>
                      </a:endParaRPr>
                    </a:p>
                  </a:txBody>
                  <a:tcPr marL="5638" marR="5638" marT="5638" marB="0" anchor="ctr">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marL="171450" indent="-171450" algn="l" fontAlgn="t">
                        <a:buFont typeface="Arial" panose="020B0604020202020204" pitchFamily="34" charset="0"/>
                        <a:buChar char="•"/>
                      </a:pPr>
                      <a:r>
                        <a:rPr lang="en-US" sz="1000" b="0" u="none" strike="noStrike">
                          <a:solidFill>
                            <a:srgbClr val="000000"/>
                          </a:solidFill>
                          <a:effectLst/>
                        </a:rPr>
                        <a:t>Make driver experience a strategic differentiator. Market Spark’s commitment to drivers and superior earnings. Invest in responsive, U.S.-based driver support. </a:t>
                      </a:r>
                    </a:p>
                    <a:p>
                      <a:pPr marL="171450" indent="-171450" algn="l" fontAlgn="t">
                        <a:buFont typeface="Arial" panose="020B0604020202020204" pitchFamily="34" charset="0"/>
                        <a:buChar char="•"/>
                      </a:pPr>
                      <a:br>
                        <a:rPr lang="en-US" sz="1000" b="0" u="none" strike="noStrike">
                          <a:solidFill>
                            <a:srgbClr val="000000"/>
                          </a:solidFill>
                          <a:effectLst/>
                        </a:rPr>
                      </a:br>
                      <a:r>
                        <a:rPr lang="en-US" sz="1000" b="0" u="none" strike="noStrike">
                          <a:solidFill>
                            <a:srgbClr val="000000"/>
                          </a:solidFill>
                          <a:effectLst/>
                        </a:rPr>
                        <a:t>Set and pursue positive Net Promoter Score (NPS) within 24 months.</a:t>
                      </a:r>
                      <a:endParaRPr lang="en-US" sz="1000" b="0" i="0" u="none" strike="noStrike">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R w="12700" cap="flat" cmpd="sng" algn="ctr">
                      <a:solidFill>
                        <a:schemeClr val="bg2">
                          <a:lumMod val="50000"/>
                        </a:schemeClr>
                      </a:solidFill>
                      <a:prstDash val="dash"/>
                      <a:round/>
                      <a:headEnd type="none" w="med" len="med"/>
                      <a:tailEnd type="none" w="med" len="med"/>
                    </a:lnR>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tc>
                  <a:txBody>
                    <a:bodyPr/>
                    <a:lstStyle/>
                    <a:p>
                      <a:pPr algn="l" fontAlgn="t">
                        <a:buNone/>
                      </a:pPr>
                      <a:r>
                        <a:rPr lang="en-US" sz="1000" b="0" u="none" strike="noStrike" dirty="0">
                          <a:solidFill>
                            <a:srgbClr val="000000"/>
                          </a:solidFill>
                          <a:effectLst/>
                        </a:rPr>
                        <a:t>Achieving high NPS requires sustained investment in support and culture. Leadership buy-in and incentive alignment are critical for long-term success.</a:t>
                      </a:r>
                      <a:endParaRPr lang="en-US" sz="1000" b="0" i="0" u="none" strike="noStrike" dirty="0">
                        <a:solidFill>
                          <a:srgbClr val="000000"/>
                        </a:solidFill>
                        <a:effectLst/>
                        <a:latin typeface="Calibri" panose="020F0502020204030204" pitchFamily="34" charset="0"/>
                      </a:endParaRPr>
                    </a:p>
                  </a:txBody>
                  <a:tcPr marL="5638" marR="5638" marT="5638" marB="0" anchor="ctr">
                    <a:lnL w="12700" cap="flat" cmpd="sng" algn="ctr">
                      <a:solidFill>
                        <a:schemeClr val="bg2">
                          <a:lumMod val="50000"/>
                        </a:schemeClr>
                      </a:solidFill>
                      <a:prstDash val="dash"/>
                      <a:round/>
                      <a:headEnd type="none" w="med" len="med"/>
                      <a:tailEnd type="none" w="med" len="med"/>
                    </a:lnL>
                    <a:lnT w="12700" cap="flat" cmpd="sng" algn="ctr">
                      <a:solidFill>
                        <a:schemeClr val="bg2">
                          <a:lumMod val="50000"/>
                        </a:schemeClr>
                      </a:solidFill>
                      <a:prstDash val="dash"/>
                      <a:round/>
                      <a:headEnd type="none" w="med" len="med"/>
                      <a:tailEnd type="none" w="med" len="med"/>
                    </a:lnT>
                    <a:lnB w="12700" cap="flat" cmpd="sng" algn="ctr">
                      <a:solidFill>
                        <a:schemeClr val="bg2">
                          <a:lumMod val="50000"/>
                        </a:schemeClr>
                      </a:solidFill>
                      <a:prstDash val="dash"/>
                      <a:round/>
                      <a:headEnd type="none" w="med" len="med"/>
                      <a:tailEnd type="none" w="med" len="med"/>
                    </a:lnB>
                  </a:tcPr>
                </a:tc>
                <a:extLst>
                  <a:ext uri="{0D108BD9-81ED-4DB2-BD59-A6C34878D82A}">
                    <a16:rowId xmlns:a16="http://schemas.microsoft.com/office/drawing/2014/main" val="2998513521"/>
                  </a:ext>
                </a:extLst>
              </a:tr>
            </a:tbl>
          </a:graphicData>
        </a:graphic>
      </p:graphicFrame>
      <p:sp>
        <p:nvSpPr>
          <p:cNvPr id="6" name="Text Placeholder 1">
            <a:extLst>
              <a:ext uri="{FF2B5EF4-FFF2-40B4-BE49-F238E27FC236}">
                <a16:creationId xmlns:a16="http://schemas.microsoft.com/office/drawing/2014/main" id="{8806A533-1FBF-5A85-A64D-F8647DC72441}"/>
              </a:ext>
            </a:extLst>
          </p:cNvPr>
          <p:cNvSpPr txBox="1">
            <a:spLocks/>
          </p:cNvSpPr>
          <p:nvPr/>
        </p:nvSpPr>
        <p:spPr>
          <a:xfrm>
            <a:off x="502857" y="162444"/>
            <a:ext cx="11192256" cy="12199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700" dirty="0">
                <a:solidFill>
                  <a:srgbClr val="3A5479"/>
                </a:solidFill>
                <a:latin typeface="Aptos" panose="020B0004020202020204" pitchFamily="34" charset="0"/>
                <a:cs typeface="Calibri" panose="020F0502020204030204" pitchFamily="34" charset="0"/>
              </a:rPr>
              <a:t>SPARK PROGRAM STRATEGIC GOALS</a:t>
            </a:r>
          </a:p>
        </p:txBody>
      </p:sp>
    </p:spTree>
    <p:extLst>
      <p:ext uri="{BB962C8B-B14F-4D97-AF65-F5344CB8AC3E}">
        <p14:creationId xmlns:p14="http://schemas.microsoft.com/office/powerpoint/2010/main" val="953165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B8A03A3-DD78-BA1A-39A0-2893F7963647}"/>
              </a:ext>
            </a:extLst>
          </p:cNvPr>
          <p:cNvSpPr>
            <a:spLocks noGrp="1"/>
          </p:cNvSpPr>
          <p:nvPr>
            <p:ph type="title"/>
          </p:nvPr>
        </p:nvSpPr>
        <p:spPr>
          <a:xfrm>
            <a:off x="501520" y="441590"/>
            <a:ext cx="11192256" cy="701410"/>
          </a:xfrm>
        </p:spPr>
        <p:txBody>
          <a:bodyPr/>
          <a:lstStyle/>
          <a:p>
            <a:r>
              <a:rPr lang="en-US" sz="2800" dirty="0">
                <a:solidFill>
                  <a:srgbClr val="3A5479"/>
                </a:solidFill>
                <a:latin typeface="Calibri" panose="020F0502020204030204" pitchFamily="34" charset="0"/>
                <a:cs typeface="Calibri" panose="020F0502020204030204" pitchFamily="34" charset="0"/>
              </a:rPr>
              <a:t>Data Sources Used</a:t>
            </a:r>
          </a:p>
        </p:txBody>
      </p:sp>
      <p:sp>
        <p:nvSpPr>
          <p:cNvPr id="5" name="TextBox 4">
            <a:extLst>
              <a:ext uri="{FF2B5EF4-FFF2-40B4-BE49-F238E27FC236}">
                <a16:creationId xmlns:a16="http://schemas.microsoft.com/office/drawing/2014/main" id="{3A5ED8A3-5938-2DBE-E461-FABDD2A923CB}"/>
              </a:ext>
            </a:extLst>
          </p:cNvPr>
          <p:cNvSpPr txBox="1"/>
          <p:nvPr/>
        </p:nvSpPr>
        <p:spPr>
          <a:xfrm>
            <a:off x="653846" y="1239302"/>
            <a:ext cx="10937647" cy="276998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200" b="1" dirty="0"/>
              <a:t>Secondary Research Sources:</a:t>
            </a:r>
            <a:endParaRPr lang="en-US" sz="1200" dirty="0">
              <a:cs typeface="Arial"/>
            </a:endParaRPr>
          </a:p>
          <a:p>
            <a:r>
              <a:rPr lang="en-US" sz="1200" dirty="0">
                <a:ea typeface="+mn-lt"/>
                <a:cs typeface="+mn-lt"/>
              </a:rPr>
              <a:t>Publicly available reports and articles used to triangulate market, labor, and platform insights.</a:t>
            </a:r>
            <a:endParaRPr lang="en-US" sz="1200" dirty="0">
              <a:cs typeface="Arial"/>
            </a:endParaRPr>
          </a:p>
          <a:p>
            <a:r>
              <a:rPr lang="en-US" sz="1200" dirty="0">
                <a:ea typeface="+mn-lt"/>
                <a:cs typeface="+mn-lt"/>
              </a:rPr>
              <a:t> Key themes covered:</a:t>
            </a:r>
            <a:endParaRPr lang="en-US" sz="1200" dirty="0">
              <a:cs typeface="Arial"/>
            </a:endParaRPr>
          </a:p>
          <a:p>
            <a:pPr marL="628650" lvl="1" indent="-171450">
              <a:buFont typeface="Courier New"/>
              <a:buChar char="o"/>
            </a:pPr>
            <a:r>
              <a:rPr lang="en-US" sz="1200" b="1" dirty="0">
                <a:ea typeface="+mn-lt"/>
                <a:cs typeface="+mn-lt"/>
              </a:rPr>
              <a:t>Gig Economy Trends</a:t>
            </a:r>
            <a:r>
              <a:rPr lang="en-US" sz="1200" dirty="0">
                <a:ea typeface="+mn-lt"/>
                <a:cs typeface="+mn-lt"/>
              </a:rPr>
              <a:t>: Worker demographics, income reliance, platform preferences</a:t>
            </a:r>
            <a:endParaRPr lang="en-US" sz="1200" dirty="0">
              <a:cs typeface="Arial"/>
            </a:endParaRPr>
          </a:p>
          <a:p>
            <a:pPr marL="628650" lvl="1" indent="-171450">
              <a:buFont typeface="Courier New"/>
              <a:buChar char="o"/>
            </a:pPr>
            <a:r>
              <a:rPr lang="en-US" sz="1200" b="1" dirty="0">
                <a:ea typeface="+mn-lt"/>
                <a:cs typeface="+mn-lt"/>
              </a:rPr>
              <a:t>Last-Mile Delivery Dynamics</a:t>
            </a:r>
            <a:r>
              <a:rPr lang="en-US" sz="1200" dirty="0">
                <a:ea typeface="+mn-lt"/>
                <a:cs typeface="+mn-lt"/>
              </a:rPr>
              <a:t>: Market growth, retailer partnerships, competitive landscape</a:t>
            </a:r>
            <a:endParaRPr lang="en-US" sz="1200" dirty="0">
              <a:cs typeface="Arial"/>
            </a:endParaRPr>
          </a:p>
          <a:p>
            <a:pPr marL="628650" lvl="1" indent="-171450">
              <a:buFont typeface="Courier New"/>
              <a:buChar char="o"/>
            </a:pPr>
            <a:r>
              <a:rPr lang="en-US" sz="1200" b="1" dirty="0">
                <a:ea typeface="+mn-lt"/>
                <a:cs typeface="+mn-lt"/>
              </a:rPr>
              <a:t>Platform Performance</a:t>
            </a:r>
            <a:r>
              <a:rPr lang="en-US" sz="1200" dirty="0">
                <a:ea typeface="+mn-lt"/>
                <a:cs typeface="+mn-lt"/>
              </a:rPr>
              <a:t>: Financials and usage stats for DoorDash, Uber, Instacart, Amazon Flex</a:t>
            </a:r>
            <a:endParaRPr lang="en-US" sz="1200" dirty="0">
              <a:cs typeface="Arial"/>
            </a:endParaRPr>
          </a:p>
          <a:p>
            <a:pPr marL="628650" lvl="1" indent="-171450">
              <a:buFont typeface="Courier New"/>
              <a:buChar char="o"/>
            </a:pPr>
            <a:r>
              <a:rPr lang="en-US" sz="1200" b="1" dirty="0">
                <a:ea typeface="+mn-lt"/>
                <a:cs typeface="+mn-lt"/>
              </a:rPr>
              <a:t>Regulatory Landscape</a:t>
            </a:r>
            <a:r>
              <a:rPr lang="en-US" sz="1200" dirty="0">
                <a:ea typeface="+mn-lt"/>
                <a:cs typeface="+mn-lt"/>
              </a:rPr>
              <a:t>: Prop 22, DOL guidance, worker classification</a:t>
            </a:r>
            <a:endParaRPr lang="en-US" sz="1200" dirty="0">
              <a:cs typeface="Arial"/>
            </a:endParaRPr>
          </a:p>
          <a:p>
            <a:pPr marL="628650" lvl="1" indent="-171450">
              <a:buFont typeface="Courier New"/>
              <a:buChar char="o"/>
            </a:pPr>
            <a:r>
              <a:rPr lang="en-US" sz="1200" b="1" dirty="0">
                <a:ea typeface="+mn-lt"/>
                <a:cs typeface="+mn-lt"/>
              </a:rPr>
              <a:t>Customer Experience</a:t>
            </a:r>
            <a:r>
              <a:rPr lang="en-US" sz="1200" dirty="0">
                <a:ea typeface="+mn-lt"/>
                <a:cs typeface="+mn-lt"/>
              </a:rPr>
              <a:t>: NPS scores, service quality benchmarks</a:t>
            </a:r>
            <a:endParaRPr lang="en-US" sz="1200" dirty="0">
              <a:cs typeface="Arial"/>
            </a:endParaRPr>
          </a:p>
          <a:p>
            <a:endParaRPr lang="en-US" sz="1200" dirty="0">
              <a:ea typeface="+mn-lt"/>
              <a:cs typeface="+mn-lt"/>
            </a:endParaRPr>
          </a:p>
          <a:p>
            <a:r>
              <a:rPr lang="en-US" sz="1200" dirty="0">
                <a:ea typeface="+mn-lt"/>
                <a:cs typeface="+mn-lt"/>
              </a:rPr>
              <a:t>Sources included:</a:t>
            </a:r>
            <a:endParaRPr lang="en-US" sz="1200" dirty="0">
              <a:cs typeface="Arial"/>
            </a:endParaRPr>
          </a:p>
          <a:p>
            <a:pPr marL="628650" lvl="1" indent="-171450">
              <a:buFont typeface="Courier New"/>
              <a:buChar char="o"/>
            </a:pPr>
            <a:r>
              <a:rPr lang="en-US" sz="1200" dirty="0">
                <a:ea typeface="+mn-lt"/>
                <a:cs typeface="+mn-lt"/>
              </a:rPr>
              <a:t>Grand View Research, Straits Research, </a:t>
            </a:r>
            <a:r>
              <a:rPr lang="en-US" sz="1200" dirty="0" err="1">
                <a:ea typeface="+mn-lt"/>
                <a:cs typeface="+mn-lt"/>
              </a:rPr>
              <a:t>MarketGrowthReports</a:t>
            </a:r>
            <a:endParaRPr lang="en-US" sz="1200" dirty="0">
              <a:cs typeface="Arial"/>
            </a:endParaRPr>
          </a:p>
          <a:p>
            <a:pPr marL="628650" lvl="1" indent="-171450">
              <a:buFont typeface="Courier New"/>
              <a:buChar char="o"/>
            </a:pPr>
            <a:r>
              <a:rPr lang="en-US" sz="1200" dirty="0">
                <a:ea typeface="+mn-lt"/>
                <a:cs typeface="+mn-lt"/>
              </a:rPr>
              <a:t>Business of Apps, </a:t>
            </a:r>
            <a:r>
              <a:rPr lang="en-US" sz="1200" dirty="0" err="1">
                <a:ea typeface="+mn-lt"/>
                <a:cs typeface="+mn-lt"/>
              </a:rPr>
              <a:t>TradingView</a:t>
            </a:r>
            <a:r>
              <a:rPr lang="en-US" sz="1200" dirty="0">
                <a:ea typeface="+mn-lt"/>
                <a:cs typeface="+mn-lt"/>
              </a:rPr>
              <a:t>, Retail Brew</a:t>
            </a:r>
            <a:endParaRPr lang="en-US" sz="1200" dirty="0">
              <a:cs typeface="Arial"/>
            </a:endParaRPr>
          </a:p>
          <a:p>
            <a:pPr marL="628650" lvl="1" indent="-171450">
              <a:buFont typeface="Courier New"/>
              <a:buChar char="o"/>
            </a:pPr>
            <a:r>
              <a:rPr lang="en-US" sz="1200" dirty="0">
                <a:ea typeface="+mn-lt"/>
                <a:cs typeface="+mn-lt"/>
              </a:rPr>
              <a:t>World Economic Forum, IRS, Department of Labor</a:t>
            </a:r>
            <a:endParaRPr lang="en-US" sz="1200" dirty="0">
              <a:cs typeface="Arial"/>
            </a:endParaRPr>
          </a:p>
          <a:p>
            <a:pPr marL="628650" lvl="1" indent="-171450">
              <a:buFont typeface="Courier New"/>
              <a:buChar char="o"/>
            </a:pPr>
            <a:r>
              <a:rPr lang="en-US" sz="1200" dirty="0">
                <a:ea typeface="+mn-lt"/>
                <a:cs typeface="+mn-lt"/>
              </a:rPr>
              <a:t>Comparably, Stanford GSB, PMC PubMed Central</a:t>
            </a:r>
            <a:endParaRPr lang="en-US" sz="1200" dirty="0">
              <a:cs typeface="Arial"/>
            </a:endParaRPr>
          </a:p>
          <a:p>
            <a:pPr algn="l">
              <a:spcAft>
                <a:spcPts val="600"/>
              </a:spcAft>
            </a:pPr>
            <a:endParaRPr lang="en-US" sz="1200" b="1" dirty="0">
              <a:solidFill>
                <a:schemeClr val="tx2"/>
              </a:solidFill>
              <a:cs typeface="Arial"/>
            </a:endParaRPr>
          </a:p>
        </p:txBody>
      </p:sp>
      <p:sp>
        <p:nvSpPr>
          <p:cNvPr id="6" name="TextBox 5">
            <a:extLst>
              <a:ext uri="{FF2B5EF4-FFF2-40B4-BE49-F238E27FC236}">
                <a16:creationId xmlns:a16="http://schemas.microsoft.com/office/drawing/2014/main" id="{7FE575DE-8069-1F34-1E8B-E89B2D5759EC}"/>
              </a:ext>
            </a:extLst>
          </p:cNvPr>
          <p:cNvSpPr txBox="1"/>
          <p:nvPr/>
        </p:nvSpPr>
        <p:spPr>
          <a:xfrm>
            <a:off x="501520" y="193384"/>
            <a:ext cx="1628626" cy="200055"/>
          </a:xfrm>
          <a:prstGeom prst="rect">
            <a:avLst/>
          </a:prstGeom>
          <a:noFill/>
        </p:spPr>
        <p:txBody>
          <a:bodyPr wrap="square" rtlCol="0">
            <a:spAutoFit/>
          </a:bodyPr>
          <a:lstStyle/>
          <a:p>
            <a:r>
              <a:rPr lang="en-US" sz="700" dirty="0">
                <a:solidFill>
                  <a:srgbClr val="3A5479"/>
                </a:solidFill>
                <a:latin typeface="Aptos" panose="020B0004020202020204" pitchFamily="34" charset="0"/>
                <a:cs typeface="Calibri" panose="020F0502020204030204" pitchFamily="34" charset="0"/>
              </a:rPr>
              <a:t>REFERENCES</a:t>
            </a:r>
          </a:p>
        </p:txBody>
      </p:sp>
    </p:spTree>
    <p:extLst>
      <p:ext uri="{BB962C8B-B14F-4D97-AF65-F5344CB8AC3E}">
        <p14:creationId xmlns:p14="http://schemas.microsoft.com/office/powerpoint/2010/main" val="37007343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w72EE9M3Qsi61nqy71pNB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w72EE9M3Qsi61nqy71pNB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_C2n4man3CvYeUoKPsP01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TgMJhU5OYs3VEIZHjRomc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lVhGJXQHEl73MeTVAmiX1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LJ3Wu.D83huuXOMUYpyjD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XShqR3tHOQtVKroNgVKL0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2Xqf2XWx8dbuUf.SPr5bT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1bQ5u18bTspC.xqVt_q5a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sSLspohXgayTKiAXn3n_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IYbxCau11dKC3wc_IovNX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oph6g74w8gigWHA7JMHwp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M.bITI0XcPxkPuOfYmDWE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kGf3iLSnjYMRGUtDd5V10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UbwoVizR6H1b9sOKo2o4u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BgZSFJaaie1KCxC2tno1Z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Zl.GKbk2nR5c5eUyAR8Kz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dGXobvDIYIajOvgoB_ROz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5W_DVLFsFyFbtEGyky5y5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quGPUwdGwpYhz8aG9TNpv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xHdjeyOSxK7qCssCN61jT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FGld46vHjKyFhciUROfzC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3_PdPgrWywo2d_lopZo4z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pWV2IwhBdbEd8gzFo1DOy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UnSHLcUw0jQP0b8BS_OkR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ew4Vtr_BwhxdkO2ttuxov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t7frAbnF2TG.9oasfcuHE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8I4QyzW5lJMMd0kZ3ZLZj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xWqHiC_hE_OZEQdrICWhH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EcTaphxrJ1ZMPKQNUNt8_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iOkKXOcfWGWOCdciVYl3V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BZXIOxBVL17h5WOIIrUM.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16uD.J6HbKm_21BBzFeTw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DHP8e2KRt_GaZh8ndhPCdg"/>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SGmCw3LTxDQC8vQUmPsAf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P.AHJ1FenLJYKLLnbiluf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Kg9gP8Z1rqRAsDZQWf.v7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3MYq_891.OH4NyveDyrj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Zy2lExiRWBFL4JCh_.VlH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9_UXYrb8GMpik4NZGRp9F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emNPFT.2I9ZloK4NS98Gq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ta7B_SNx4QsFc2N5ckgXP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G7JmZW6.iAYEF.pp9AXXy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_jnL164HreWqaaFmiNEgj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CZMYeNDCjhLLOBO7KLlcW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pRcVevxk0Bf2XNymXyGvVA"/>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79fqiDceq.RBa_q2BDaA0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k9ge10CUTmwVZ7gpUruizQ"/>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aqWBjexZRSCqU5jYVVWJVA"/>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Boq3Duptru1ear3jEG5VN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ZTQXps0lJZ839vBv5SUhP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4En6Ljfe8RFWQ_2FXtk3nA"/>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xWdRm1QhqPvMQlhTCz2JX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ZwnSJv1sbX2dQY7UUR.bpg"/>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io7KkNMCpqS8YiJCpTFuA"/>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QxS6uEaGBgUQa7fWjekF8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GULKr8FLAZftXoZdRZ2Mt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KnxPO.vx6H2tZmyBRPDySg"/>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5NBHh_vBOQKEvOYZbrG_J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7iu_rRjM2rOKRP6Q0muoi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YJukDS5n44ekwMVBzC_lW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hjxDo85.2AybPErkeYVB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C.FHncmiOJ.WWuBapczdFw"/>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sGUZSRx9ynmodii4_SRay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Da3ma5f0Kn0_mwxk9Xwt0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60vTHAvz5RdezzKDfMMTm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_jfasDlMmiMSgcvQ.jCvuQ"/>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ABZNFI1wy3NI5H8SUqRRf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7UG61YgCIr.DIKXDu6LcqQ"/>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ZVq2UVvsrL.AEItpHS3QQQ"/>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ogqVpyDMbvP4GyutmSGbf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mo8vaiyW2ywyHzX2b7LfT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wQ3_zzWP11VIlVLhQ1L1bw"/>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35RIg6aDIe_sEX4.7cl8x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1DQsmfHSYxY6eSBaqGGOW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zow_9zNNe44ztbP0LgNLi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f3hYepSkR8tnrlFw8vEAe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NFVYk7OoAvblaEcapPXOcQ"/>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lLWX3ZypxLkNrVfUupbhNA"/>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YeBKnS0jOeDzF65c4poCCQ"/>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Nk4zOqPEtgE.u2pd3NGb0w"/>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Ch_liEoKb49cyEAqJshf5Q"/>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wpkWH3_KMXk8_BY2IRy7fw"/>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7hiANjeAv6KiKRiooBtFQ"/>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TrIEMEztt9Y2OCVEwp_JVQ"/>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xe1WORepXsVgncQh8vB0k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3567</Words>
  <Application>Microsoft Macintosh PowerPoint</Application>
  <PresentationFormat>Widescreen</PresentationFormat>
  <Paragraphs>355</Paragraphs>
  <Slides>14</Slides>
  <Notes>9</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3" baseType="lpstr">
      <vt:lpstr>Aptos</vt:lpstr>
      <vt:lpstr>Aptos Display</vt:lpstr>
      <vt:lpstr>Arial</vt:lpstr>
      <vt:lpstr>Arial Regular</vt:lpstr>
      <vt:lpstr>Calibri</vt:lpstr>
      <vt:lpstr>Courier New</vt:lpstr>
      <vt:lpstr>Google Sans Text</vt:lpstr>
      <vt:lpstr>Office Theme</vt:lpstr>
      <vt:lpstr>think-cell Slide</vt:lpstr>
      <vt:lpstr>Walmart Spark Driver Research</vt:lpstr>
      <vt:lpstr>Winning the Last Mile: Leveraging Walmart's Scale for a Defensible Market Position</vt:lpstr>
      <vt:lpstr>Key Trends Driving the Last-Mile Delivery Industry </vt:lpstr>
      <vt:lpstr> Last-Mile Delivery Market to Reach $317 Billion by 2030, Growing at a CAGR of ~10.9%</vt:lpstr>
      <vt:lpstr>Navigating the Trade-Offs Between Driver Flexibility, Stability, and Cost</vt:lpstr>
      <vt:lpstr>Deconstructing Driver Pay: A Mix of Dynamic Base, Promotions, and Tips</vt:lpstr>
      <vt:lpstr>Market Leaders Deploy Distinct Models of Scale to Carve Out Dominance</vt:lpstr>
      <vt:lpstr>The Industry's Profitability Paradox: High Gross Margins Mask Razor-Thin Net Profitability</vt:lpstr>
      <vt:lpstr>Regulatory and Service Pressures are Forcing an Evolution from Gig-Only to Hybrid Labor Models</vt:lpstr>
      <vt:lpstr>Reducing Onboarding Friction is the First Battle in Winning Driver Retention</vt:lpstr>
      <vt:lpstr>Regulatory Risks and Worker Classification Challenges</vt:lpstr>
      <vt:lpstr>Worker Satisfaction</vt:lpstr>
      <vt:lpstr>Strategic shift: Walmart Spark Delivery is executing a focused transformation to enhance profitability, operational agility, and long-term growth</vt:lpstr>
      <vt:lpstr>Data Sources Used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Samin Bahizad</dc:creator>
  <cp:lastModifiedBy>Samin Bahizad</cp:lastModifiedBy>
  <cp:revision>2</cp:revision>
  <dcterms:created xsi:type="dcterms:W3CDTF">2026-05-11T16:38:53Z</dcterms:created>
  <dcterms:modified xsi:type="dcterms:W3CDTF">2026-05-11T16:57:41Z</dcterms:modified>
</cp:coreProperties>
</file>